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Archivo Medium"/>
      <p:regular r:id="rId28"/>
      <p:bold r:id="rId29"/>
      <p:italic r:id="rId30"/>
      <p:boldItalic r:id="rId31"/>
    </p:embeddedFont>
    <p:embeddedFont>
      <p:font typeface="Inter ExtraBold"/>
      <p:bold r:id="rId32"/>
      <p:boldItalic r:id="rId33"/>
    </p:embeddedFont>
    <p:embeddedFont>
      <p:font typeface="Mulish Medium"/>
      <p:regular r:id="rId34"/>
      <p:bold r:id="rId35"/>
      <p:italic r:id="rId36"/>
      <p:boldItalic r:id="rId37"/>
    </p:embeddedFont>
    <p:embeddedFont>
      <p:font typeface="Inter Medium"/>
      <p:regular r:id="rId38"/>
      <p:bold r:id="rId39"/>
      <p:italic r:id="rId40"/>
      <p:boldItalic r:id="rId41"/>
    </p:embeddedFont>
    <p:embeddedFont>
      <p:font typeface="Archivo"/>
      <p:regular r:id="rId42"/>
      <p:bold r:id="rId43"/>
      <p:italic r:id="rId44"/>
      <p:boldItalic r:id="rId45"/>
    </p:embeddedFont>
    <p:embeddedFont>
      <p:font typeface="Archivo SemiBol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italic.fntdata"/><Relationship Id="rId42" Type="http://schemas.openxmlformats.org/officeDocument/2006/relationships/font" Target="fonts/Archivo-regular.fntdata"/><Relationship Id="rId41" Type="http://schemas.openxmlformats.org/officeDocument/2006/relationships/font" Target="fonts/InterMedium-boldItalic.fntdata"/><Relationship Id="rId44" Type="http://schemas.openxmlformats.org/officeDocument/2006/relationships/font" Target="fonts/Archivo-italic.fntdata"/><Relationship Id="rId43" Type="http://schemas.openxmlformats.org/officeDocument/2006/relationships/font" Target="fonts/Archivo-bold.fntdata"/><Relationship Id="rId46" Type="http://schemas.openxmlformats.org/officeDocument/2006/relationships/font" Target="fonts/ArchivoSemiBold-regular.fntdata"/><Relationship Id="rId45" Type="http://schemas.openxmlformats.org/officeDocument/2006/relationships/font" Target="fonts/Archivo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ArchivoSemiBold-italic.fntdata"/><Relationship Id="rId47" Type="http://schemas.openxmlformats.org/officeDocument/2006/relationships/font" Target="fonts/ArchivoSemiBold-bold.fntdata"/><Relationship Id="rId49" Type="http://schemas.openxmlformats.org/officeDocument/2006/relationships/font" Target="fonts/Archivo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chivoMedium-boldItalic.fntdata"/><Relationship Id="rId30" Type="http://schemas.openxmlformats.org/officeDocument/2006/relationships/font" Target="fonts/ArchivoMedium-italic.fntdata"/><Relationship Id="rId33" Type="http://schemas.openxmlformats.org/officeDocument/2006/relationships/font" Target="fonts/InterExtraBold-boldItalic.fntdata"/><Relationship Id="rId32" Type="http://schemas.openxmlformats.org/officeDocument/2006/relationships/font" Target="fonts/InterExtraBold-bold.fntdata"/><Relationship Id="rId35" Type="http://schemas.openxmlformats.org/officeDocument/2006/relationships/font" Target="fonts/MulishMedium-bold.fntdata"/><Relationship Id="rId34" Type="http://schemas.openxmlformats.org/officeDocument/2006/relationships/font" Target="fonts/MulishMedium-regular.fntdata"/><Relationship Id="rId37" Type="http://schemas.openxmlformats.org/officeDocument/2006/relationships/font" Target="fonts/MulishMedium-boldItalic.fntdata"/><Relationship Id="rId36" Type="http://schemas.openxmlformats.org/officeDocument/2006/relationships/font" Target="fonts/MulishMedium-italic.fntdata"/><Relationship Id="rId39" Type="http://schemas.openxmlformats.org/officeDocument/2006/relationships/font" Target="fonts/InterMedium-bold.fntdata"/><Relationship Id="rId38" Type="http://schemas.openxmlformats.org/officeDocument/2006/relationships/font" Target="fonts/InterMedium-regular.fntdata"/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ArchivoMedium-regular.fntdata"/><Relationship Id="rId27" Type="http://schemas.openxmlformats.org/officeDocument/2006/relationships/font" Target="fonts/Inter-boldItalic.fntdata"/><Relationship Id="rId29" Type="http://schemas.openxmlformats.org/officeDocument/2006/relationships/font" Target="fonts/Archivo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26c3cb319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a26c3cb319_0_5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108a19007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108a19007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108a19007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108a19007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108a19007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108a19007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108a19007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108a1900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f472149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f472149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6f472149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6f472149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f472149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f472149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8b7103c6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8b7103c6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8b7103c6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8b7103c6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8b7103c6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8b7103c6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8b7103c6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8b7103c6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6f472149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6f472149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108a19007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108a19007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DEFAUL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4"/>
          <p:cNvCxnSpPr/>
          <p:nvPr/>
        </p:nvCxnSpPr>
        <p:spPr>
          <a:xfrm>
            <a:off x="-7300" y="4673817"/>
            <a:ext cx="918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14"/>
          <p:cNvSpPr txBox="1"/>
          <p:nvPr>
            <p:ph type="title"/>
          </p:nvPr>
        </p:nvSpPr>
        <p:spPr>
          <a:xfrm>
            <a:off x="171950" y="272275"/>
            <a:ext cx="490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ter Medium"/>
              <a:buNone/>
              <a:defRPr sz="24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535050" y="1074900"/>
            <a:ext cx="46722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●"/>
              <a:defRPr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○"/>
              <a:defRPr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■"/>
              <a:defRPr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●"/>
              <a:defRPr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○"/>
              <a:defRPr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chivo"/>
              <a:buChar char="■"/>
              <a:defRPr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chivo"/>
              <a:buChar char="●"/>
              <a:defRPr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○"/>
              <a:defRPr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chivo"/>
              <a:buChar char="■"/>
              <a:defRPr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pic>
        <p:nvPicPr>
          <p:cNvPr id="55" name="Google Shape;55;p14" title="W Full blk tx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4475" y="4804579"/>
            <a:ext cx="826800" cy="19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/>
        </p:nvSpPr>
        <p:spPr>
          <a:xfrm>
            <a:off x="477400" y="4808225"/>
            <a:ext cx="106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2025</a:t>
            </a:r>
            <a:endParaRPr sz="9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58" name="Google Shape;58;p15"/>
          <p:cNvSpPr txBox="1"/>
          <p:nvPr/>
        </p:nvSpPr>
        <p:spPr>
          <a:xfrm flipH="1">
            <a:off x="4295890" y="4808230"/>
            <a:ext cx="55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rPr>
              <a:t>‹#›</a:t>
            </a:fld>
            <a:endParaRPr b="0" sz="900">
              <a:solidFill>
                <a:schemeClr val="lt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cxnSp>
        <p:nvCxnSpPr>
          <p:cNvPr id="59" name="Google Shape;59;p15"/>
          <p:cNvCxnSpPr/>
          <p:nvPr/>
        </p:nvCxnSpPr>
        <p:spPr>
          <a:xfrm>
            <a:off x="-7300" y="4673817"/>
            <a:ext cx="918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0" name="Google Shape;60;p15" title="W Full blk tx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4475" y="4804579"/>
            <a:ext cx="826800" cy="1984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>
            <p:ph type="title"/>
          </p:nvPr>
        </p:nvSpPr>
        <p:spPr>
          <a:xfrm>
            <a:off x="171950" y="272275"/>
            <a:ext cx="490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ter Medium"/>
              <a:buNone/>
              <a:defRPr sz="24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535050" y="1074900"/>
            <a:ext cx="46722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●"/>
              <a:defRPr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○"/>
              <a:defRPr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■"/>
              <a:defRPr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●"/>
              <a:defRPr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○"/>
              <a:defRPr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chivo"/>
              <a:buChar char="■"/>
              <a:defRPr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chivo"/>
              <a:buChar char="●"/>
              <a:defRPr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○"/>
              <a:defRPr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chivo"/>
              <a:buChar char="■"/>
              <a:defRPr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1" showMasterSp="0">
  <p:cSld name="1_Title Slide_1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5876200" y="-119475"/>
            <a:ext cx="3296700" cy="5322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/>
        </p:nvSpPr>
        <p:spPr>
          <a:xfrm>
            <a:off x="477400" y="4808225"/>
            <a:ext cx="106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2025</a:t>
            </a:r>
            <a:endParaRPr sz="9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66" name="Google Shape;66;p16"/>
          <p:cNvSpPr txBox="1"/>
          <p:nvPr/>
        </p:nvSpPr>
        <p:spPr>
          <a:xfrm flipH="1">
            <a:off x="4295890" y="4808230"/>
            <a:ext cx="55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rPr>
              <a:t>‹#›</a:t>
            </a:fld>
            <a:endParaRPr b="0" sz="900">
              <a:solidFill>
                <a:schemeClr val="lt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pic>
        <p:nvPicPr>
          <p:cNvPr id="67" name="Google Shape;67;p16" title="W Full blk tx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4475" y="4804579"/>
            <a:ext cx="826800" cy="198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6"/>
          <p:cNvCxnSpPr/>
          <p:nvPr/>
        </p:nvCxnSpPr>
        <p:spPr>
          <a:xfrm>
            <a:off x="-7300" y="4673817"/>
            <a:ext cx="918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171950" y="272275"/>
            <a:ext cx="490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ter Medium"/>
              <a:buNone/>
              <a:defRPr sz="24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535050" y="1074900"/>
            <a:ext cx="46722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●"/>
              <a:defRPr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○"/>
              <a:defRPr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■"/>
              <a:defRPr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●"/>
              <a:defRPr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○"/>
              <a:defRPr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chivo"/>
              <a:buChar char="■"/>
              <a:defRPr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chivo"/>
              <a:buChar char="●"/>
              <a:defRPr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Font typeface="Archivo"/>
              <a:buChar char="○"/>
              <a:defRPr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chivo"/>
              <a:buChar char="■"/>
              <a:defRPr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517025" y="2953525"/>
            <a:ext cx="51054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200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Building durable organic </a:t>
            </a:r>
            <a:r>
              <a:rPr lang="en" sz="1200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performance</a:t>
            </a:r>
            <a:r>
              <a:rPr lang="en" sz="1200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with purpose. </a:t>
            </a:r>
            <a:endParaRPr i="0" sz="1200" u="none" cap="none" strike="noStrike">
              <a:solidFill>
                <a:srgbClr val="141413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i="0" lang="en" sz="1200" u="none" cap="none" strike="noStrike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Date:</a:t>
            </a:r>
            <a:r>
              <a:rPr lang="en" sz="1200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Jan 20, 2026</a:t>
            </a:r>
            <a:endParaRPr i="0" sz="1200" u="none" cap="none" strike="noStrike">
              <a:solidFill>
                <a:srgbClr val="141413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568263" y="1589500"/>
            <a:ext cx="7410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250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Content &amp; SEO Mid-</a:t>
            </a:r>
            <a:r>
              <a:rPr lang="en" sz="1250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Strategy Check-in</a:t>
            </a:r>
            <a:r>
              <a:rPr lang="en" sz="1250">
                <a:solidFill>
                  <a:srgbClr val="141413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</a:t>
            </a:r>
            <a:endParaRPr i="0" sz="1250" u="none" cap="none" strike="noStrike">
              <a:solidFill>
                <a:srgbClr val="141413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73088" y="1935963"/>
            <a:ext cx="74106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5250">
                <a:solidFill>
                  <a:srgbClr val="141413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Ojai Recovery</a:t>
            </a:r>
            <a:endParaRPr i="0" sz="5250" u="none" cap="none" strike="noStrike">
              <a:solidFill>
                <a:srgbClr val="141413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pic>
        <p:nvPicPr>
          <p:cNvPr id="78" name="Google Shape;78;p17" title="W Full blk t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275" y="447625"/>
            <a:ext cx="1026251" cy="2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297020" y="287909"/>
            <a:ext cx="49017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Mid-Strategy Agenda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60128" y="1090525"/>
            <a:ext cx="7121100" cy="26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Competitive</a:t>
            </a:r>
            <a:r>
              <a:rPr lang="en"/>
              <a:t> Benchmarking 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January Core Focus: Core Services, Conversions, &amp; Structural Cleanup 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Risk Flag: Cannibalization &amp; Low-impact URLs 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What’s next  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18"/>
          <p:cNvCxnSpPr/>
          <p:nvPr/>
        </p:nvCxnSpPr>
        <p:spPr>
          <a:xfrm flipH="1">
            <a:off x="572920" y="1112834"/>
            <a:ext cx="14700" cy="19548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171950" y="272275"/>
            <a:ext cx="90711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Month: Next Checkpoint</a:t>
            </a:r>
            <a:endParaRPr/>
          </a:p>
        </p:txBody>
      </p:sp>
      <p:sp>
        <p:nvSpPr>
          <p:cNvPr id="91" name="Google Shape;91;p19"/>
          <p:cNvSpPr txBox="1"/>
          <p:nvPr/>
        </p:nvSpPr>
        <p:spPr>
          <a:xfrm>
            <a:off x="171950" y="912482"/>
            <a:ext cx="8604300" cy="17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075" lIns="109075" spcFirstLastPara="1" rIns="109075" wrap="square" tIns="1090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4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Launch Strategy &amp; Roadmap Review - Date TBD (Week of Feb 2) </a:t>
            </a:r>
            <a:endParaRPr b="1" sz="954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3348" lvl="0" marL="545480" rtl="0" algn="l">
              <a:lnSpc>
                <a:spcPct val="100000"/>
              </a:lnSpc>
              <a:spcBef>
                <a:spcPts val="1193"/>
              </a:spcBef>
              <a:spcAft>
                <a:spcPts val="0"/>
              </a:spcAft>
              <a:buClr>
                <a:srgbClr val="FF2F0A"/>
              </a:buClr>
              <a:buSzPts val="954"/>
              <a:buFont typeface="Archivo"/>
              <a:buChar char="●"/>
            </a:pPr>
            <a:r>
              <a:rPr lang="en" sz="954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Finalizes goals, North Star Metrics, and success benchmarks</a:t>
            </a:r>
            <a:endParaRPr sz="954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3348" lvl="0" marL="545480" rtl="0" algn="l">
              <a:lnSpc>
                <a:spcPct val="100000"/>
              </a:lnSpc>
              <a:spcBef>
                <a:spcPts val="1193"/>
              </a:spcBef>
              <a:spcAft>
                <a:spcPts val="0"/>
              </a:spcAft>
              <a:buClr>
                <a:srgbClr val="FF2F0A"/>
              </a:buClr>
              <a:buSzPts val="954"/>
              <a:buFont typeface="Archivo"/>
              <a:buChar char="●"/>
            </a:pPr>
            <a:r>
              <a:rPr lang="en" sz="954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Aligns on the execution plan across content, SEO, and site improvements</a:t>
            </a:r>
            <a:endParaRPr sz="954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3348" lvl="0" marL="545480" rtl="0" algn="l">
              <a:lnSpc>
                <a:spcPct val="100000"/>
              </a:lnSpc>
              <a:spcBef>
                <a:spcPts val="1193"/>
              </a:spcBef>
              <a:spcAft>
                <a:spcPts val="0"/>
              </a:spcAft>
              <a:buClr>
                <a:srgbClr val="FF2F0A"/>
              </a:buClr>
              <a:buSzPts val="954"/>
              <a:buFont typeface="Archivo"/>
              <a:buChar char="●"/>
            </a:pPr>
            <a:r>
              <a:rPr lang="en" sz="954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Confirms launch-ready priorities for the next phase</a:t>
            </a:r>
            <a:endParaRPr sz="954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33348" lvl="0" marL="545480" rtl="0" algn="l">
              <a:lnSpc>
                <a:spcPct val="100000"/>
              </a:lnSpc>
              <a:spcBef>
                <a:spcPts val="1193"/>
              </a:spcBef>
              <a:spcAft>
                <a:spcPts val="1193"/>
              </a:spcAft>
              <a:buClr>
                <a:srgbClr val="FF2F0A"/>
              </a:buClr>
              <a:buSzPts val="954"/>
              <a:buFont typeface="Archivo"/>
              <a:buChar char="●"/>
            </a:pPr>
            <a:r>
              <a:rPr lang="en" sz="954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Signals the transition from planning → active execution</a:t>
            </a:r>
            <a:br>
              <a:rPr lang="en" sz="954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954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/>
          <p:nvPr/>
        </p:nvSpPr>
        <p:spPr>
          <a:xfrm>
            <a:off x="-30775" y="0"/>
            <a:ext cx="9144000" cy="132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/>
        </p:nvSpPr>
        <p:spPr>
          <a:xfrm>
            <a:off x="570500" y="579550"/>
            <a:ext cx="666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Where you stand vs. everybody else</a:t>
            </a:r>
            <a:endParaRPr sz="24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584671" y="278550"/>
            <a:ext cx="33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2F0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COMPETITIVE ANALYSIS BASELINE</a:t>
            </a:r>
            <a:endParaRPr b="1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271400" y="1368700"/>
            <a:ext cx="27975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95959"/>
                </a:solidFill>
              </a:rPr>
              <a:t>Top competitors have established authority through years of consistent publishing. They own more indexed pages and stronger domains.</a:t>
            </a:r>
            <a:endParaRPr sz="11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95959"/>
                </a:solidFill>
              </a:rPr>
              <a:t>Ojai Recovery’s smaller footprint isn’t a weakness. It means we can grow faster by focusing resources on the pages and clusters that matter most.</a:t>
            </a:r>
            <a:endParaRPr sz="11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595959"/>
                </a:solidFill>
              </a:rPr>
              <a:t>We’ll use this benchmark to prioritize where to scale content deliberately — building authority efficiently instead of chasing volume. Showing progress each QBR. </a:t>
            </a:r>
            <a:endParaRPr sz="1100">
              <a:solidFill>
                <a:srgbClr val="595959"/>
              </a:solidFill>
            </a:endParaRPr>
          </a:p>
        </p:txBody>
      </p:sp>
      <p:pic>
        <p:nvPicPr>
          <p:cNvPr id="100" name="Google Shape;100;p2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1700" y="1411025"/>
            <a:ext cx="5105253" cy="315423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/>
          <p:nvPr/>
        </p:nvSpPr>
        <p:spPr>
          <a:xfrm>
            <a:off x="4617950" y="2979325"/>
            <a:ext cx="422400" cy="1170600"/>
          </a:xfrm>
          <a:prstGeom prst="rect">
            <a:avLst/>
          </a:prstGeom>
          <a:noFill/>
          <a:ln cap="flat" cmpd="sng" w="9525">
            <a:solidFill>
              <a:srgbClr val="FF2F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/>
          <p:nvPr/>
        </p:nvSpPr>
        <p:spPr>
          <a:xfrm>
            <a:off x="-1125" y="-4100"/>
            <a:ext cx="9144000" cy="132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/>
        </p:nvSpPr>
        <p:spPr>
          <a:xfrm>
            <a:off x="570500" y="579550"/>
            <a:ext cx="666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Where you stand vs. everybody else</a:t>
            </a:r>
            <a:endParaRPr sz="24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251150" y="1747650"/>
            <a:ext cx="2823300" cy="25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95959"/>
                </a:solidFill>
              </a:rPr>
              <a:t>Competitors ranking for thousands of keywords don’t always convert that into visibility — many have shallow Top 10 presence</a:t>
            </a:r>
            <a:endParaRPr sz="11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95959"/>
                </a:solidFill>
              </a:rPr>
              <a:t>Ojai Recovery</a:t>
            </a:r>
            <a:r>
              <a:rPr lang="en" sz="1100">
                <a:solidFill>
                  <a:srgbClr val="595959"/>
                </a:solidFill>
              </a:rPr>
              <a:t> has a good mix of both, which we can use to leverage growth. </a:t>
            </a:r>
            <a:endParaRPr sz="11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595959"/>
                </a:solidFill>
              </a:rPr>
              <a:t>We’ll use this visibility data to target content clusters with low Top 10 competition and high growth potential.</a:t>
            </a:r>
            <a:endParaRPr b="1"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95959"/>
              </a:solidFill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584671" y="278550"/>
            <a:ext cx="33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2F0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COMPETITIVE ANALYSIS BASELINE</a:t>
            </a:r>
            <a:endParaRPr b="1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2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575" y="1321000"/>
            <a:ext cx="5321301" cy="329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/>
          <p:nvPr/>
        </p:nvSpPr>
        <p:spPr>
          <a:xfrm>
            <a:off x="4764625" y="2755900"/>
            <a:ext cx="414900" cy="1040400"/>
          </a:xfrm>
          <a:prstGeom prst="rect">
            <a:avLst/>
          </a:prstGeom>
          <a:noFill/>
          <a:ln cap="flat" cmpd="sng" w="9525">
            <a:solidFill>
              <a:srgbClr val="FF2F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/>
          <p:nvPr/>
        </p:nvSpPr>
        <p:spPr>
          <a:xfrm>
            <a:off x="-1125" y="-4100"/>
            <a:ext cx="9144000" cy="132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570500" y="579550"/>
            <a:ext cx="666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Where you stand vs. everybody else</a:t>
            </a:r>
            <a:endParaRPr sz="24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300575" y="1517375"/>
            <a:ext cx="2460000" cy="25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95959"/>
                </a:solidFill>
              </a:rPr>
              <a:t>A few competitors appear in AI-generated results — an early sign of structured, information-rich content.</a:t>
            </a:r>
            <a:endParaRPr sz="11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595959"/>
                </a:solidFill>
              </a:rPr>
              <a:t>Ojai Recovery</a:t>
            </a:r>
            <a:r>
              <a:rPr lang="en" sz="1100">
                <a:solidFill>
                  <a:srgbClr val="595959"/>
                </a:solidFill>
              </a:rPr>
              <a:t> strong AI visibility today compared to competitors. </a:t>
            </a:r>
            <a:endParaRPr sz="11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95959"/>
                </a:solidFill>
              </a:rPr>
              <a:t>We’ll focus our efforts on appearing more in Google snippets by providing concise, direct answers to common questions [FAQs].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584671" y="278550"/>
            <a:ext cx="33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2F0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COMPETITIVE ANALYSIS BASELINE</a:t>
            </a:r>
            <a:endParaRPr b="1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0" name="Google Shape;120;p2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9751" y="1321002"/>
            <a:ext cx="5394249" cy="33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/>
          <p:nvPr/>
        </p:nvSpPr>
        <p:spPr>
          <a:xfrm>
            <a:off x="4636075" y="2471175"/>
            <a:ext cx="422400" cy="1325100"/>
          </a:xfrm>
          <a:prstGeom prst="rect">
            <a:avLst/>
          </a:prstGeom>
          <a:noFill/>
          <a:ln cap="flat" cmpd="sng" w="9525">
            <a:solidFill>
              <a:srgbClr val="FF2F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71950" y="272275"/>
            <a:ext cx="49017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/>
          <p:nvPr/>
        </p:nvSpPr>
        <p:spPr>
          <a:xfrm>
            <a:off x="-1125" y="-4100"/>
            <a:ext cx="9144000" cy="132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 txBox="1"/>
          <p:nvPr/>
        </p:nvSpPr>
        <p:spPr>
          <a:xfrm>
            <a:off x="570500" y="579550"/>
            <a:ext cx="666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Where you stand vs. everybody else</a:t>
            </a:r>
            <a:endParaRPr sz="24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474650" y="1496450"/>
            <a:ext cx="8205900" cy="2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Across all key metrics: authority, visibility, and AI readiness, </a:t>
            </a:r>
            <a:r>
              <a:rPr lang="en">
                <a:latin typeface="Inter"/>
                <a:ea typeface="Inter"/>
                <a:cs typeface="Inter"/>
                <a:sym typeface="Inter"/>
              </a:rPr>
              <a:t>Ojai Recovery</a:t>
            </a:r>
            <a:r>
              <a:rPr lang="en">
                <a:latin typeface="Inter"/>
                <a:ea typeface="Inter"/>
                <a:cs typeface="Inter"/>
                <a:sym typeface="Inter"/>
              </a:rPr>
              <a:t> currently ranks near the bottom of the pack, giving us a clear benchmark for where to close the gap.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300B"/>
                </a:solidFill>
                <a:latin typeface="Inter"/>
                <a:ea typeface="Inter"/>
                <a:cs typeface="Inter"/>
                <a:sym typeface="Inter"/>
              </a:rPr>
              <a:t>Ojai Recovery</a:t>
            </a:r>
            <a:r>
              <a:rPr b="1" lang="en" sz="1100">
                <a:solidFill>
                  <a:srgbClr val="FF300B"/>
                </a:solidFill>
                <a:latin typeface="Inter"/>
                <a:ea typeface="Inter"/>
                <a:cs typeface="Inter"/>
                <a:sym typeface="Inter"/>
              </a:rPr>
              <a:t> Competitive Efficiency Score:</a:t>
            </a:r>
            <a:r>
              <a:rPr b="1" lang="en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100"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lang="en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0th percentile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The data shows our fastest growth levers are structure, and depth. 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Not just more pages, but smarter ones that earn visibility and trust across both traditional and </a:t>
            </a:r>
            <a:r>
              <a:rPr lang="en">
                <a:latin typeface="Inter"/>
                <a:ea typeface="Inter"/>
                <a:cs typeface="Inter"/>
                <a:sym typeface="Inter"/>
              </a:rPr>
              <a:t>AI search.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584671" y="278550"/>
            <a:ext cx="33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2F0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COMPETITIVE ANALYSIS BASELINE</a:t>
            </a:r>
            <a:endParaRPr b="1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171950" y="272275"/>
            <a:ext cx="49017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25000" y="0"/>
            <a:ext cx="9144000" cy="132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 txBox="1"/>
          <p:nvPr/>
        </p:nvSpPr>
        <p:spPr>
          <a:xfrm>
            <a:off x="570500" y="579550"/>
            <a:ext cx="785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Services, Conversions &amp; Structural Cleanup</a:t>
            </a:r>
            <a:endParaRPr sz="24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430600" y="1972900"/>
            <a:ext cx="8332800" cy="26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January priorities are centered on clarity, consolidation, and conversion.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Defining and strengthening Ojai Recovery’s </a:t>
            </a:r>
            <a:r>
              <a:rPr b="1" lang="en" sz="1100">
                <a:solidFill>
                  <a:schemeClr val="dk1"/>
                </a:solidFill>
              </a:rPr>
              <a:t>primary service pages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Detox Services (Ventura County)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Residential Treatment (Ventura County)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Fixing </a:t>
            </a:r>
            <a:r>
              <a:rPr b="1" lang="en" sz="1100">
                <a:solidFill>
                  <a:schemeClr val="dk1"/>
                </a:solidFill>
              </a:rPr>
              <a:t>conversion gaps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Verify Insurance CRO updates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Launching a clear, standalone Contact Us page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Addressing </a:t>
            </a:r>
            <a:r>
              <a:rPr b="1" lang="en" sz="1100">
                <a:solidFill>
                  <a:schemeClr val="dk1"/>
                </a:solidFill>
              </a:rPr>
              <a:t>structural SEO issues</a:t>
            </a:r>
            <a:r>
              <a:rPr lang="en" sz="1100">
                <a:solidFill>
                  <a:schemeClr val="dk1"/>
                </a:solidFill>
              </a:rPr>
              <a:t> that are currently suppressing performance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Phase 1 navigation cleanup (conversion-focused)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Moving Admissions-related pages under </a:t>
            </a:r>
            <a:r>
              <a:rPr b="1" lang="en" sz="1100">
                <a:solidFill>
                  <a:schemeClr val="dk1"/>
                </a:solidFill>
              </a:rPr>
              <a:t>About Us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Replacing the Admissions nav item with </a:t>
            </a:r>
            <a:r>
              <a:rPr b="1" lang="en" sz="1100">
                <a:solidFill>
                  <a:schemeClr val="dk1"/>
                </a:solidFill>
              </a:rPr>
              <a:t>Verify Insurance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Ensuring </a:t>
            </a:r>
            <a:r>
              <a:rPr b="1" lang="en" sz="1100">
                <a:solidFill>
                  <a:schemeClr val="dk1"/>
                </a:solidFill>
              </a:rPr>
              <a:t>Contact Us</a:t>
            </a:r>
            <a:r>
              <a:rPr lang="en" sz="1100">
                <a:solidFill>
                  <a:schemeClr val="dk1"/>
                </a:solidFill>
              </a:rPr>
              <a:t> links directly to the new contact page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584671" y="278550"/>
            <a:ext cx="33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2F0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IMMEDIATE FOCUS</a:t>
            </a:r>
            <a:endParaRPr b="1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396150" y="1495200"/>
            <a:ext cx="386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2F0A"/>
                </a:solidFill>
                <a:latin typeface="Archivo"/>
                <a:ea typeface="Archivo"/>
                <a:cs typeface="Archivo"/>
                <a:sym typeface="Archivo"/>
              </a:rPr>
              <a:t>On-Page </a:t>
            </a:r>
            <a:endParaRPr b="1" sz="2200">
              <a:solidFill>
                <a:srgbClr val="FF2F0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/>
        </p:nvSpPr>
        <p:spPr>
          <a:xfrm>
            <a:off x="73975" y="696300"/>
            <a:ext cx="90699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FF2F0A"/>
                </a:solidFill>
                <a:latin typeface="Inter"/>
                <a:ea typeface="Inter"/>
                <a:cs typeface="Inter"/>
                <a:sym typeface="Inter"/>
              </a:rPr>
              <a:t>Phase 1 is designed to improve conversions</a:t>
            </a:r>
            <a:r>
              <a:rPr lang="en" sz="1700">
                <a:solidFill>
                  <a:srgbClr val="0E0E0E"/>
                </a:solidFill>
                <a:latin typeface="Inter Medium"/>
                <a:ea typeface="Inter Medium"/>
                <a:cs typeface="Inter Medium"/>
                <a:sym typeface="Inter Medium"/>
              </a:rPr>
              <a:t> by giving users direct access to Verify Insurance and a true Contact page, while moving Admissions and How to Get Started into About Us for a clearer, more logical path to care.</a:t>
            </a:r>
            <a:endParaRPr sz="1700">
              <a:solidFill>
                <a:srgbClr val="0E0E0E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5"/>
          <p:cNvSpPr txBox="1"/>
          <p:nvPr/>
        </p:nvSpPr>
        <p:spPr>
          <a:xfrm>
            <a:off x="214875" y="2187625"/>
            <a:ext cx="15777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Inter"/>
                <a:ea typeface="Inter"/>
                <a:cs typeface="Inter"/>
                <a:sym typeface="Inter"/>
              </a:rPr>
              <a:t>About us</a:t>
            </a:r>
            <a:endParaRPr sz="700">
              <a:latin typeface="Inter"/>
              <a:ea typeface="Inter"/>
              <a:cs typeface="Inter"/>
              <a:sym typeface="Inter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300B"/>
              </a:buClr>
              <a:buSzPts val="700"/>
              <a:buFont typeface="Inter"/>
              <a:buChar char="-"/>
            </a:pPr>
            <a:r>
              <a:rPr lang="en" sz="700">
                <a:solidFill>
                  <a:srgbClr val="FF300B"/>
                </a:solidFill>
                <a:latin typeface="Inter"/>
                <a:ea typeface="Inter"/>
                <a:cs typeface="Inter"/>
                <a:sym typeface="Inter"/>
              </a:rPr>
              <a:t>How to get started</a:t>
            </a:r>
            <a:endParaRPr sz="700">
              <a:solidFill>
                <a:srgbClr val="FF300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FF300B"/>
              </a:buClr>
              <a:buSzPts val="700"/>
              <a:buFont typeface="Inter"/>
              <a:buChar char="-"/>
            </a:pPr>
            <a:r>
              <a:rPr lang="en" sz="700">
                <a:solidFill>
                  <a:srgbClr val="FF300B"/>
                </a:solidFill>
                <a:latin typeface="Inter"/>
                <a:ea typeface="Inter"/>
                <a:cs typeface="Inter"/>
                <a:sym typeface="Inter"/>
              </a:rPr>
              <a:t>Admissions</a:t>
            </a:r>
            <a:endParaRPr sz="700">
              <a:solidFill>
                <a:srgbClr val="FF300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Font typeface="Inter"/>
              <a:buChar char="-"/>
            </a:pPr>
            <a:r>
              <a:rPr lang="en" sz="700">
                <a:latin typeface="Inter"/>
                <a:ea typeface="Inter"/>
                <a:cs typeface="Inter"/>
                <a:sym typeface="Inter"/>
              </a:rPr>
              <a:t>Leadership clinical team</a:t>
            </a:r>
            <a:endParaRPr sz="700">
              <a:latin typeface="Inter"/>
              <a:ea typeface="Inter"/>
              <a:cs typeface="Inter"/>
              <a:sym typeface="Inter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Font typeface="Inter"/>
              <a:buChar char="-"/>
            </a:pPr>
            <a:r>
              <a:rPr lang="en" sz="700">
                <a:latin typeface="Inter"/>
                <a:ea typeface="Inter"/>
                <a:cs typeface="Inter"/>
                <a:sym typeface="Inter"/>
              </a:rPr>
              <a:t>Tour Our Facility </a:t>
            </a:r>
            <a:endParaRPr sz="700">
              <a:latin typeface="Inter"/>
              <a:ea typeface="Inter"/>
              <a:cs typeface="Inter"/>
              <a:sym typeface="Inter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Font typeface="Inter"/>
              <a:buChar char="-"/>
            </a:pPr>
            <a:r>
              <a:rPr lang="en" sz="700">
                <a:latin typeface="Inter"/>
                <a:ea typeface="Inter"/>
                <a:cs typeface="Inter"/>
                <a:sym typeface="Inter"/>
              </a:rPr>
              <a:t>Testimonials</a:t>
            </a:r>
            <a:endParaRPr sz="7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1810979" y="2187625"/>
            <a:ext cx="6345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Inter"/>
                <a:ea typeface="Inter"/>
                <a:cs typeface="Inter"/>
                <a:sym typeface="Inter"/>
              </a:rPr>
              <a:t>Programs</a:t>
            </a:r>
            <a:endParaRPr sz="7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Inter"/>
                <a:ea typeface="Inter"/>
                <a:cs typeface="Inter"/>
                <a:sym typeface="Inter"/>
              </a:rPr>
              <a:t>(no change) </a:t>
            </a:r>
            <a:endParaRPr sz="7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2463883" y="2187625"/>
            <a:ext cx="11607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Inter"/>
                <a:ea typeface="Inter"/>
                <a:cs typeface="Inter"/>
                <a:sym typeface="Inter"/>
              </a:rPr>
              <a:t>Mental Health Support</a:t>
            </a:r>
            <a:endParaRPr sz="7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(no change)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3642988" y="2187625"/>
            <a:ext cx="9807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Inter"/>
                <a:ea typeface="Inter"/>
                <a:cs typeface="Inter"/>
                <a:sym typeface="Inter"/>
              </a:rPr>
              <a:t>Addictions Treated</a:t>
            </a:r>
            <a:endParaRPr sz="7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(no change)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4642092" y="2187625"/>
            <a:ext cx="14427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Inter"/>
                <a:ea typeface="Inter"/>
                <a:cs typeface="Inter"/>
                <a:sym typeface="Inter"/>
              </a:rPr>
              <a:t>Therapies &amp; Experiences</a:t>
            </a:r>
            <a:endParaRPr sz="7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(no change)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6103196" y="2187625"/>
            <a:ext cx="14427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2F0A"/>
                </a:solidFill>
                <a:latin typeface="Inter"/>
                <a:ea typeface="Inter"/>
                <a:cs typeface="Inter"/>
                <a:sym typeface="Inter"/>
              </a:rPr>
              <a:t>Verify Insurance </a:t>
            </a:r>
            <a:endParaRPr sz="700">
              <a:solidFill>
                <a:srgbClr val="FF2F0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2F0A"/>
                </a:solidFill>
                <a:latin typeface="Inter"/>
                <a:ea typeface="Inter"/>
                <a:cs typeface="Inter"/>
                <a:sym typeface="Inter"/>
              </a:rPr>
              <a:t>/verify-insurance/</a:t>
            </a:r>
            <a:endParaRPr sz="700">
              <a:solidFill>
                <a:srgbClr val="FF2F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2" name="Google Shape;152;p25"/>
          <p:cNvGrpSpPr/>
          <p:nvPr/>
        </p:nvGrpSpPr>
        <p:grpSpPr>
          <a:xfrm>
            <a:off x="7195050" y="2187625"/>
            <a:ext cx="1579700" cy="1410750"/>
            <a:chOff x="7564300" y="1113425"/>
            <a:chExt cx="1579700" cy="1410750"/>
          </a:xfrm>
        </p:grpSpPr>
        <p:pic>
          <p:nvPicPr>
            <p:cNvPr id="153" name="Google Shape;153;p25" title="Screenshot 2026-01-17 at 10.32.53 A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64300" y="1113425"/>
              <a:ext cx="1277600" cy="583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25"/>
            <p:cNvSpPr txBox="1"/>
            <p:nvPr/>
          </p:nvSpPr>
          <p:spPr>
            <a:xfrm>
              <a:off x="7701300" y="1529675"/>
              <a:ext cx="1442700" cy="99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FF2F0A"/>
                  </a:solidFill>
                  <a:latin typeface="Inter"/>
                  <a:ea typeface="Inter"/>
                  <a:cs typeface="Inter"/>
                  <a:sym typeface="Inter"/>
                </a:rPr>
                <a:t>/contact-us/</a:t>
              </a:r>
              <a:endParaRPr sz="700">
                <a:solidFill>
                  <a:srgbClr val="FF2F0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171950" y="272275"/>
            <a:ext cx="49017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6"/>
          <p:cNvSpPr/>
          <p:nvPr/>
        </p:nvSpPr>
        <p:spPr>
          <a:xfrm>
            <a:off x="25000" y="0"/>
            <a:ext cx="9144000" cy="132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6"/>
          <p:cNvSpPr txBox="1"/>
          <p:nvPr/>
        </p:nvSpPr>
        <p:spPr>
          <a:xfrm>
            <a:off x="570500" y="579550"/>
            <a:ext cx="785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Services, Conversions &amp; Structural Cleanup</a:t>
            </a:r>
            <a:endParaRPr sz="24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584671" y="278550"/>
            <a:ext cx="33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2F0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IMMEDIATE FOCUS</a:t>
            </a:r>
            <a:endParaRPr b="1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523800" y="2196650"/>
            <a:ext cx="35046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Ojai Recovery currently has </a:t>
            </a:r>
            <a:r>
              <a:rPr b="1" lang="en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dozens of overlapping URLs competing for the same keywords</a:t>
            </a:r>
            <a:r>
              <a:rPr lang="en" sz="15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, many of which were created historically to target “near me,” duplicate location, or thin service variations.</a:t>
            </a:r>
            <a:endParaRPr sz="15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342600" y="1595900"/>
            <a:ext cx="386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2F0A"/>
                </a:solidFill>
                <a:latin typeface="Archivo"/>
                <a:ea typeface="Archivo"/>
                <a:cs typeface="Archivo"/>
                <a:sym typeface="Archivo"/>
              </a:rPr>
              <a:t>Risk flag:</a:t>
            </a:r>
            <a:endParaRPr b="1" sz="2200">
              <a:solidFill>
                <a:srgbClr val="FF2F0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65" name="Google Shape;165;p26" title="Screenshot 2026-01-17 at 10.36.4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697" y="2107000"/>
            <a:ext cx="4601500" cy="20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/>
        </p:nvSpPr>
        <p:spPr>
          <a:xfrm>
            <a:off x="312750" y="190475"/>
            <a:ext cx="8518500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Key insight:</a:t>
            </a:r>
            <a:endParaRPr b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Despite the volume of pages, their actual performance is extremely low.</a:t>
            </a:r>
            <a:endParaRPr sz="11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The pages identified for removal generated only 54 organic sessions total over the last 3 months</a:t>
            </a:r>
            <a:endParaRPr sz="11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 Medium"/>
              <a:buChar char="●"/>
            </a:pPr>
            <a:r>
              <a:rPr lang="en" sz="11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This confirms:</a:t>
            </a:r>
            <a:endParaRPr sz="11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 Medium"/>
              <a:buChar char="○"/>
            </a:pPr>
            <a:r>
              <a:rPr lang="en" sz="11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They are not meaningful traffic drivers</a:t>
            </a:r>
            <a:endParaRPr sz="11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 Medium"/>
              <a:buChar char="○"/>
            </a:pPr>
            <a:r>
              <a:rPr lang="en" sz="11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They are not revenue-critical pages</a:t>
            </a:r>
            <a:endParaRPr sz="11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Their removal carries minimal risk</a:t>
            </a:r>
            <a:endParaRPr sz="11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The real issue isn’t traffic loss — </a:t>
            </a:r>
            <a:r>
              <a:rPr b="1" lang="en" sz="1300">
                <a:solidFill>
                  <a:srgbClr val="FF2F0A"/>
                </a:solidFill>
                <a:latin typeface="Archivo"/>
                <a:ea typeface="Archivo"/>
                <a:cs typeface="Archivo"/>
                <a:sym typeface="Archivo"/>
              </a:rPr>
              <a:t>it’s structural drag</a:t>
            </a:r>
            <a:endParaRPr b="1" sz="1300">
              <a:solidFill>
                <a:srgbClr val="FF2F0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These low-performing pages:</a:t>
            </a:r>
            <a:endParaRPr sz="11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 Medium"/>
              <a:buChar char="●"/>
            </a:pPr>
            <a:r>
              <a:rPr b="1"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Dilute authority</a:t>
            </a:r>
            <a:r>
              <a:rPr lang="en" sz="11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across dozens of URLs</a:t>
            </a:r>
            <a:endParaRPr sz="11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 Medium"/>
              <a:buChar char="●"/>
            </a:pPr>
            <a:r>
              <a:rPr b="1"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Create internal competition</a:t>
            </a:r>
            <a:r>
              <a:rPr lang="en" sz="11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for high-value keywords</a:t>
            </a:r>
            <a:endParaRPr sz="11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 Medium"/>
              <a:buChar char="●"/>
            </a:pPr>
            <a:r>
              <a:rPr b="1"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Slow down or block ranking gains</a:t>
            </a:r>
            <a:r>
              <a:rPr lang="en" sz="11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for core Detox and Residential pages</a:t>
            </a:r>
            <a:endParaRPr sz="110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b="1"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Add unnecessary crawl and index bloat</a:t>
            </a:r>
            <a:br>
              <a:rPr b="1"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b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/>
        </p:nvSpPr>
        <p:spPr>
          <a:xfrm>
            <a:off x="312750" y="881975"/>
            <a:ext cx="8518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January action:</a:t>
            </a:r>
            <a:endParaRPr b="1"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We are </a:t>
            </a:r>
            <a:r>
              <a:rPr b="1"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deleting and 301-redirecting low-impact, cannibalizing URLs, each averaging less than one organic visit</a:t>
            </a: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over the past three months</a:t>
            </a: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so authority consolidates into the correct primary service pages.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This approach:</a:t>
            </a:r>
            <a:endParaRPr b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Reduces internal competition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Improves clarity for Google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Protects existing performance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Creates a stronger foundation for future content</a:t>
            </a:r>
            <a:br>
              <a:rPr lang="en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-1125" y="-4100"/>
            <a:ext cx="9144000" cy="132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"/>
          <p:cNvSpPr txBox="1"/>
          <p:nvPr/>
        </p:nvSpPr>
        <p:spPr>
          <a:xfrm>
            <a:off x="380850" y="480275"/>
            <a:ext cx="81156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725" lIns="112725" spcFirstLastPara="1" rIns="112725" wrap="square" tIns="112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6"/>
              <a:buFont typeface="Arial"/>
              <a:buNone/>
            </a:pPr>
            <a:r>
              <a:rPr lang="en" sz="2958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What’s Next:</a:t>
            </a:r>
            <a:endParaRPr sz="2958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6"/>
              <a:buFont typeface="Arial"/>
              <a:buNone/>
            </a:pPr>
            <a:r>
              <a:t/>
            </a:r>
            <a:endParaRPr sz="2958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6"/>
              <a:buFont typeface="Arial"/>
              <a:buNone/>
            </a:pPr>
            <a:r>
              <a:t/>
            </a:r>
            <a:endParaRPr sz="2958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82" name="Google Shape;182;p29"/>
          <p:cNvSpPr txBox="1"/>
          <p:nvPr/>
        </p:nvSpPr>
        <p:spPr>
          <a:xfrm>
            <a:off x="613888" y="1599733"/>
            <a:ext cx="7982700" cy="29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725" lIns="112725" spcFirstLastPara="1" rIns="112725" wrap="square" tIns="1127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Redirect Review &amp; Confirmation: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We’ll share a list of the URLs identified for removal along with their corresponding redirect targets. This gives you full visibility into what’s being consolidated and where authority will flow before implementation.</a:t>
            </a:r>
            <a:b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Continued Content Planning: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In parallel, we’re continuing to map out the next phase of content and site expansion. This will include a clear roadmap for February and March focused on supporting core services, strengthening topical authority, and improving conversions.</a:t>
            </a:r>
            <a:b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Local SEO &amp; Visibility Foundations: 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 we move beyond initial cleanup and core service work, we’ll also begin laying the groundwork for local SEO initiatives, including location relevance, GBP optimization, and supporting infrastructure.</a:t>
            </a:r>
            <a:endParaRPr sz="145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79"/>
              </a:spcBef>
              <a:spcAft>
                <a:spcPts val="1479"/>
              </a:spcAft>
              <a:buNone/>
            </a:pPr>
            <a:r>
              <a:t/>
            </a:r>
            <a:endParaRPr sz="145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171950" y="272275"/>
            <a:ext cx="49017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535050" y="1074900"/>
            <a:ext cx="7055700" cy="26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Webserv</a:t>
            </a:r>
            <a:r>
              <a:rPr lang="en"/>
              <a:t>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Char char="●"/>
            </a:pPr>
            <a:r>
              <a:rPr lang="en"/>
              <a:t>Content planning for the rest of Q1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Char char="●"/>
            </a:pPr>
            <a:r>
              <a:rPr lang="en"/>
              <a:t>Defining and strengthening Ojai Recovery’s primary service pages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Char char="●"/>
            </a:pPr>
            <a:r>
              <a:rPr lang="en"/>
              <a:t>Fixing conversion gaps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Char char="●"/>
            </a:pPr>
            <a:r>
              <a:rPr lang="en"/>
              <a:t>Phase 1 navigation cleanup (conversion-focused)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Char char="●"/>
            </a:pPr>
            <a:r>
              <a:rPr lang="en"/>
              <a:t>Redirect &amp; Archiving cannibalizing URLs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Ojai Team</a:t>
            </a:r>
            <a:r>
              <a:rPr lang="en"/>
              <a:t>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Confirm the redirect plan for the cannibalizing urls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2F0A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Confirm the phase 1 menu adjustment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ebServ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