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Inter"/>
      <p:regular r:id="rId36"/>
      <p:bold r:id="rId37"/>
      <p:italic r:id="rId38"/>
      <p:boldItalic r:id="rId39"/>
    </p:embeddedFont>
    <p:embeddedFont>
      <p:font typeface="Archivo Medium"/>
      <p:regular r:id="rId40"/>
      <p:bold r:id="rId41"/>
      <p:italic r:id="rId42"/>
      <p:boldItalic r:id="rId43"/>
    </p:embeddedFont>
    <p:embeddedFont>
      <p:font typeface="Manrope"/>
      <p:regular r:id="rId44"/>
      <p:bold r:id="rId45"/>
    </p:embeddedFont>
    <p:embeddedFont>
      <p:font typeface="Archivo"/>
      <p:regular r:id="rId46"/>
      <p:bold r:id="rId47"/>
      <p:italic r:id="rId48"/>
      <p:boldItalic r:id="rId49"/>
    </p:embeddedFont>
    <p:embeddedFont>
      <p:font typeface="Archivo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EE94DB-0206-4185-989E-C597D3E152F6}">
  <a:tblStyle styleId="{7CEE94DB-0206-4185-989E-C597D3E152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chivoMedium-regular.fntdata"/><Relationship Id="rId42" Type="http://schemas.openxmlformats.org/officeDocument/2006/relationships/font" Target="fonts/ArchivoMedium-italic.fntdata"/><Relationship Id="rId41" Type="http://schemas.openxmlformats.org/officeDocument/2006/relationships/font" Target="fonts/ArchivoMedium-bold.fntdata"/><Relationship Id="rId44" Type="http://schemas.openxmlformats.org/officeDocument/2006/relationships/font" Target="fonts/Manrope-regular.fntdata"/><Relationship Id="rId43" Type="http://schemas.openxmlformats.org/officeDocument/2006/relationships/font" Target="fonts/ArchivoMedium-boldItalic.fntdata"/><Relationship Id="rId46" Type="http://schemas.openxmlformats.org/officeDocument/2006/relationships/font" Target="fonts/Archivo-regular.fntdata"/><Relationship Id="rId45" Type="http://schemas.openxmlformats.org/officeDocument/2006/relationships/font" Target="fonts/Manrop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Archivo-italic.fntdata"/><Relationship Id="rId47" Type="http://schemas.openxmlformats.org/officeDocument/2006/relationships/font" Target="fonts/Archivo-bold.fntdata"/><Relationship Id="rId49" Type="http://schemas.openxmlformats.org/officeDocument/2006/relationships/font" Target="fonts/Archiv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Inter-bold.fntdata"/><Relationship Id="rId36" Type="http://schemas.openxmlformats.org/officeDocument/2006/relationships/font" Target="fonts/Inter-regular.fntdata"/><Relationship Id="rId39" Type="http://schemas.openxmlformats.org/officeDocument/2006/relationships/font" Target="fonts/Inter-boldItalic.fntdata"/><Relationship Id="rId38" Type="http://schemas.openxmlformats.org/officeDocument/2006/relationships/font" Target="fonts/Inter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rchivoSemiBold-bold.fntdata"/><Relationship Id="rId50" Type="http://schemas.openxmlformats.org/officeDocument/2006/relationships/font" Target="fonts/ArchivoSemiBold-regular.fntdata"/><Relationship Id="rId53" Type="http://schemas.openxmlformats.org/officeDocument/2006/relationships/font" Target="fonts/ArchivoSemiBold-boldItalic.fntdata"/><Relationship Id="rId52" Type="http://schemas.openxmlformats.org/officeDocument/2006/relationships/font" Target="fonts/Archivo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1839acaa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61839acaa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6fc88bd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6fc88bd2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801fe06c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801fe06ce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fc88bd2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6fc88bd2e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fc88bd2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6fc88bd2e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20b76c3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20b76c3a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fc88bd2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6fc88bd2e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fc88bd2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6fc88bd2e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801fe06ce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801fe06ce_1_3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6fc88bd2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6fc88bd2e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6fc88bd2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6fc88bd2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6fc88bd2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a6fc88bd2e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fc88bd2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6fc88bd2e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61839aca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61839acaa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6fc88bd2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a6fc88bd2e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6fc88bd2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a6fc88bd2e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801fe06ce_1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a801fe06ce_1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6fc88bd2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6fc88bd2e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6fc88bd2e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a6fc88bd2e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6fc88bd2e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a6fc88bd2e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6fc88bd2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6fc88bd2e_0_3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801fe06ce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801fe06ce_1_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6fc88bd2e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a6fc88bd2e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6fc88bd2e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a6fc88bd2e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6fc88bd2e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6fc88bd2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6fc88bd2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a6fc88bd2e_0_3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801fe06ce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a801fe06ce_1_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6fc88bd2e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6fc88bd2e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801fe06ce_1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a801fe06ce_1_5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showMasterSp="0">
  <p:cSld name="3_Title Slide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7"/>
          <p:cNvPicPr preferRelativeResize="0"/>
          <p:nvPr/>
        </p:nvPicPr>
        <p:blipFill rotWithShape="1">
          <a:blip r:embed="rId2">
            <a:alphaModFix/>
          </a:blip>
          <a:srcRect b="0" l="29274" r="29278" t="0"/>
          <a:stretch/>
        </p:blipFill>
        <p:spPr>
          <a:xfrm>
            <a:off x="630473" y="1750764"/>
            <a:ext cx="4070950" cy="5525034"/>
          </a:xfrm>
          <a:custGeom>
            <a:rect b="b" l="l" r="r" t="t"/>
            <a:pathLst>
              <a:path extrusionOk="0" h="7366712" w="5427933">
                <a:moveTo>
                  <a:pt x="187589" y="0"/>
                </a:moveTo>
                <a:lnTo>
                  <a:pt x="5240344" y="0"/>
                </a:lnTo>
                <a:cubicBezTo>
                  <a:pt x="5343947" y="0"/>
                  <a:pt x="5427933" y="83986"/>
                  <a:pt x="5427933" y="187589"/>
                </a:cubicBezTo>
                <a:lnTo>
                  <a:pt x="5427933" y="7179123"/>
                </a:lnTo>
                <a:cubicBezTo>
                  <a:pt x="5427933" y="7282726"/>
                  <a:pt x="5343947" y="7366712"/>
                  <a:pt x="5240344" y="7366712"/>
                </a:cubicBezTo>
                <a:lnTo>
                  <a:pt x="187589" y="7366712"/>
                </a:lnTo>
                <a:cubicBezTo>
                  <a:pt x="83986" y="7366712"/>
                  <a:pt x="0" y="7282726"/>
                  <a:pt x="0" y="7179123"/>
                </a:cubicBezTo>
                <a:lnTo>
                  <a:pt x="0" y="187589"/>
                </a:lnTo>
                <a:cubicBezTo>
                  <a:pt x="0" y="83986"/>
                  <a:pt x="83986" y="0"/>
                  <a:pt x="187589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/>
          <p:nvPr/>
        </p:nvSpPr>
        <p:spPr>
          <a:xfrm>
            <a:off x="259950" y="3991348"/>
            <a:ext cx="51054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Confidential Recovery </a:t>
            </a:r>
            <a:endParaRPr sz="1200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2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Paid Media and Content &amp; SEO</a:t>
            </a:r>
            <a:endParaRPr i="0" sz="1200" u="none" cap="none" strike="noStrike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i="0" lang="en" sz="1200" u="none" cap="none" strike="noStrik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Date: 1</a:t>
            </a:r>
            <a:r>
              <a:rPr lang="en" sz="12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2</a:t>
            </a:r>
            <a:r>
              <a:rPr i="0" lang="en" sz="1200" u="none" cap="none" strike="noStrik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/</a:t>
            </a:r>
            <a:r>
              <a:rPr lang="en" sz="120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10/2025</a:t>
            </a:r>
            <a:endParaRPr i="0" sz="1200" u="none" cap="none" strike="noStrike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1" name="Google Shape;61;p18"/>
          <p:cNvSpPr/>
          <p:nvPr/>
        </p:nvSpPr>
        <p:spPr>
          <a:xfrm>
            <a:off x="259950" y="3012375"/>
            <a:ext cx="39465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b="1" lang="en" sz="16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Q4 2025</a:t>
            </a:r>
            <a:r>
              <a:rPr lang="en" sz="1650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  <a:r>
              <a:rPr lang="en" sz="16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Review &amp; Strategic Roadmap</a:t>
            </a:r>
            <a:endParaRPr i="0" sz="165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" name="Google Shape;62;p18"/>
          <p:cNvSpPr/>
          <p:nvPr/>
        </p:nvSpPr>
        <p:spPr>
          <a:xfrm>
            <a:off x="259950" y="338475"/>
            <a:ext cx="7692000" cy="26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Q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UARTERLY </a:t>
            </a: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B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USINESS </a:t>
            </a:r>
            <a:r>
              <a:rPr lang="en" sz="80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</a:t>
            </a:r>
            <a:r>
              <a:rPr lang="en" sz="80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EVIEW</a:t>
            </a:r>
            <a:endParaRPr i="0" sz="80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pic>
        <p:nvPicPr>
          <p:cNvPr id="63" name="Google Shape;63;p18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425" y="4620789"/>
            <a:ext cx="1026250" cy="24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8" title="ChatGPT Image Nov 26, 2025, 12_42_54 PM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1775" y="4485325"/>
            <a:ext cx="1275052" cy="5174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/>
          <p:nvPr/>
        </p:nvSpPr>
        <p:spPr>
          <a:xfrm>
            <a:off x="6341225" y="4223925"/>
            <a:ext cx="130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7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(PPC Data from The Grove)</a:t>
            </a:r>
            <a:endParaRPr sz="700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7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(SEO Data is Mock Data)</a:t>
            </a:r>
            <a:endParaRPr sz="700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/>
          <p:nvPr/>
        </p:nvSpPr>
        <p:spPr>
          <a:xfrm>
            <a:off x="283350" y="266675"/>
            <a:ext cx="35595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46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Agenda </a:t>
            </a:r>
            <a:endParaRPr i="0" sz="46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71" name="Google Shape;71;p19"/>
          <p:cNvSpPr/>
          <p:nvPr/>
        </p:nvSpPr>
        <p:spPr>
          <a:xfrm>
            <a:off x="533850" y="2132325"/>
            <a:ext cx="2614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Performance Review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A transparent look at last quarter’s results, funnel movement, and NSM alignment.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3270825" y="2140150"/>
            <a:ext cx="2614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Strategy Overview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The external factors shaping performance and where the market is heading.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6021575" y="2147025"/>
            <a:ext cx="261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Strategic Plan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Data-backed initiatives designed to accelerate next-quarter performance.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507625" y="3751700"/>
            <a:ext cx="26148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Roadmap &amp; Alignment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A clear path forward with prioritized actions, timelines, and ownership.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3298450" y="3692150"/>
            <a:ext cx="2843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Partnership Items</a:t>
            </a:r>
            <a:endParaRPr b="1" sz="155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Strengthening our partnership through shared goals, referrals, and collaboration.</a:t>
            </a:r>
            <a:endParaRPr sz="1133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559891" y="1763086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77" name="Google Shape;77;p19"/>
          <p:cNvSpPr/>
          <p:nvPr/>
        </p:nvSpPr>
        <p:spPr>
          <a:xfrm>
            <a:off x="664357" y="1704523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01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78" name="Google Shape;78;p19"/>
          <p:cNvCxnSpPr/>
          <p:nvPr/>
        </p:nvCxnSpPr>
        <p:spPr>
          <a:xfrm>
            <a:off x="559891" y="1964198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9"/>
          <p:cNvSpPr/>
          <p:nvPr/>
        </p:nvSpPr>
        <p:spPr>
          <a:xfrm>
            <a:off x="3298508" y="176687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0" name="Google Shape;80;p19"/>
          <p:cNvSpPr/>
          <p:nvPr/>
        </p:nvSpPr>
        <p:spPr>
          <a:xfrm>
            <a:off x="3402974" y="170830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02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1" name="Google Shape;81;p19"/>
          <p:cNvCxnSpPr/>
          <p:nvPr/>
        </p:nvCxnSpPr>
        <p:spPr>
          <a:xfrm>
            <a:off x="3298508" y="1967983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9"/>
          <p:cNvSpPr/>
          <p:nvPr/>
        </p:nvSpPr>
        <p:spPr>
          <a:xfrm>
            <a:off x="6037125" y="1771324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3" name="Google Shape;83;p19"/>
          <p:cNvSpPr/>
          <p:nvPr/>
        </p:nvSpPr>
        <p:spPr>
          <a:xfrm>
            <a:off x="6141591" y="1712761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03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4" name="Google Shape;84;p19"/>
          <p:cNvCxnSpPr/>
          <p:nvPr/>
        </p:nvCxnSpPr>
        <p:spPr>
          <a:xfrm>
            <a:off x="6037125" y="1972436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9"/>
          <p:cNvSpPr/>
          <p:nvPr/>
        </p:nvSpPr>
        <p:spPr>
          <a:xfrm>
            <a:off x="559832" y="337737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6" name="Google Shape;86;p19"/>
          <p:cNvSpPr/>
          <p:nvPr/>
        </p:nvSpPr>
        <p:spPr>
          <a:xfrm>
            <a:off x="664298" y="331880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04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87" name="Google Shape;87;p19"/>
          <p:cNvCxnSpPr/>
          <p:nvPr/>
        </p:nvCxnSpPr>
        <p:spPr>
          <a:xfrm>
            <a:off x="559832" y="3578484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9"/>
          <p:cNvSpPr/>
          <p:nvPr/>
        </p:nvSpPr>
        <p:spPr>
          <a:xfrm>
            <a:off x="3298449" y="3381156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89" name="Google Shape;89;p19"/>
          <p:cNvSpPr/>
          <p:nvPr/>
        </p:nvSpPr>
        <p:spPr>
          <a:xfrm>
            <a:off x="3402915" y="3322593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05 </a:t>
            </a:r>
            <a:endParaRPr i="1" sz="1239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90" name="Google Shape;90;p19"/>
          <p:cNvCxnSpPr/>
          <p:nvPr/>
        </p:nvCxnSpPr>
        <p:spPr>
          <a:xfrm>
            <a:off x="3298449" y="3582269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9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>
            <a:off x="1343374" y="200151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97" name="Google Shape;97;p20"/>
          <p:cNvSpPr/>
          <p:nvPr/>
        </p:nvSpPr>
        <p:spPr>
          <a:xfrm>
            <a:off x="1525936" y="189916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01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98" name="Google Shape;98;p20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Performance Review</a:t>
            </a:r>
            <a:endParaRPr b="1" i="0" sz="52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2598750" y="2963161"/>
            <a:ext cx="394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Key data and insights from</a:t>
            </a:r>
            <a:r>
              <a:rPr b="1"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Q3</a:t>
            </a:r>
            <a:endParaRPr i="0" sz="2000" u="none" cap="none" strike="noStrike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972300" y="4040550"/>
            <a:ext cx="3815700" cy="7047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/>
          <p:nvPr/>
        </p:nvSpPr>
        <p:spPr>
          <a:xfrm>
            <a:off x="5088900" y="4117400"/>
            <a:ext cx="35538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114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Top-of-funnel demand grew meaningfully in Q4, but conversion tightened as insurance quality declined and deductible cycles hit.</a:t>
            </a:r>
            <a:endParaRPr i="1" sz="1114">
              <a:solidFill>
                <a:srgbClr val="31AA9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479925" y="509388"/>
            <a:ext cx="1459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</a:t>
            </a: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NSM Overview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221750" y="813263"/>
            <a:ext cx="42111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Search demand for treatment-focused queries lifted overall top-of-funnel activity</a:t>
            </a:r>
            <a:endParaRPr b="1" sz="2622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299550" y="555727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299550" y="246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{7CEE94DB-0206-4185-989E-C597D3E152F6}</a:tableStyleId>
              </a:tblPr>
              <a:tblGrid>
                <a:gridCol w="987350"/>
                <a:gridCol w="987350"/>
                <a:gridCol w="987350"/>
                <a:gridCol w="987350"/>
              </a:tblGrid>
              <a:tr h="2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KPI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Q4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1">
                          <a:solidFill>
                            <a:schemeClr val="lt1"/>
                          </a:solidFill>
                          <a:latin typeface="Archivo Medium"/>
                          <a:ea typeface="Archivo Medium"/>
                          <a:cs typeface="Archivo Medium"/>
                          <a:sym typeface="Archivo Medium"/>
                        </a:rPr>
                        <a:t>Delta Δ</a:t>
                      </a:r>
                      <a:endParaRPr sz="10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solidFill>
                      <a:srgbClr val="080808"/>
                    </a:solidFill>
                  </a:tcPr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Leads (Calls)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1,160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1,237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1AA9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+6.6%</a:t>
                      </a:r>
                      <a:endParaRPr sz="900">
                        <a:solidFill>
                          <a:srgbClr val="31AA9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VOBs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240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252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31AA9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+5.0%</a:t>
                      </a:r>
                      <a:endParaRPr sz="900">
                        <a:solidFill>
                          <a:srgbClr val="31AA9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Viable VOBs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101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96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94C2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–5.0%</a:t>
                      </a:r>
                      <a:endParaRPr sz="900">
                        <a:solidFill>
                          <a:srgbClr val="F94C2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  <a:tr h="32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Admits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94C2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–30.0%</a:t>
                      </a:r>
                      <a:endParaRPr sz="900">
                        <a:solidFill>
                          <a:srgbClr val="F94C2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1" name="Google Shape;111;p21" title="Group (1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125" y="284200"/>
            <a:ext cx="3815701" cy="3597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505400" y="2153300"/>
            <a:ext cx="3462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Quarter-over-quarter organic calls increased due to stronger performance in high-intent sources such as Google Organic and GMB.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7" name="Google Shape;117;p22"/>
          <p:cNvSpPr/>
          <p:nvPr/>
        </p:nvSpPr>
        <p:spPr>
          <a:xfrm>
            <a:off x="453538" y="1295313"/>
            <a:ext cx="3639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Call Volume by Organic Source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505400" y="1013002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119" name="Google Shape;119;p22"/>
          <p:cNvSpPr/>
          <p:nvPr/>
        </p:nvSpPr>
        <p:spPr>
          <a:xfrm>
            <a:off x="588216" y="966550"/>
            <a:ext cx="2475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Performance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453550" y="3033950"/>
            <a:ext cx="3639300" cy="10296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563321" y="3152414"/>
            <a:ext cx="297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GMB Optimization Fueled the Largest Lift</a:t>
            </a:r>
            <a:endParaRPr i="1" sz="1214">
              <a:solidFill>
                <a:srgbClr val="31AA9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563325" y="3358249"/>
            <a:ext cx="34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Improved Map Pack rankings and GMB profile activity drove a sharp increase in calls, making GMB the fastest-growing source.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23" name="Google Shape;123;p22" title="Group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250" y="120600"/>
            <a:ext cx="42372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505400" y="2153300"/>
            <a:ext cx="3462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Quarter-over-quarter organic calls increased due to stronger performance in high-intent sources such as Google Organic and GMB.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453538" y="1295313"/>
            <a:ext cx="3639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Call Volume by Organic Source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505400" y="1013002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131" name="Google Shape;131;p23"/>
          <p:cNvSpPr/>
          <p:nvPr/>
        </p:nvSpPr>
        <p:spPr>
          <a:xfrm>
            <a:off x="588216" y="966550"/>
            <a:ext cx="2475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Performance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453550" y="3033950"/>
            <a:ext cx="3639300" cy="10296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563321" y="3152414"/>
            <a:ext cx="2979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GMB Optimization Fueled the Largest Lift</a:t>
            </a:r>
            <a:endParaRPr i="1" sz="1214">
              <a:solidFill>
                <a:srgbClr val="31AA9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563325" y="3358249"/>
            <a:ext cx="34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Improved Map Pack rankings and GMB profile activity drove a sharp increase in calls, making GMB the fastest-growing source.</a:t>
            </a:r>
            <a:endParaRPr sz="12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5" name="Google Shape;135;p23" title="Group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250" y="120600"/>
            <a:ext cx="42372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326150" y="856875"/>
            <a:ext cx="41610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Quarter-over-Quarter Volume Breakdown</a:t>
            </a:r>
            <a:endParaRPr b="1" i="0" sz="3022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419150" y="1934050"/>
            <a:ext cx="4026900" cy="1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Compared to Q3, Q4 generated more leads</a:t>
            </a:r>
            <a:r>
              <a:rPr lang="en" sz="12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 sz="12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(+51.9%)</a:t>
            </a: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and VOBs</a:t>
            </a:r>
            <a:r>
              <a:rPr lang="en" sz="12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 (+55.7%</a:t>
            </a:r>
            <a:r>
              <a:rPr lang="en" sz="12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)</a:t>
            </a: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and an increase in viable VOBs</a:t>
            </a: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n" sz="12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(+81%).</a:t>
            </a: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A</a:t>
            </a:r>
            <a:r>
              <a:rPr lang="en" sz="12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dmits increased by +50%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- keep in mind these numbers are volume only and are mostly driven by significant budget increases. 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9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93200" y="681075"/>
            <a:ext cx="1732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 Performance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143" name="Google Shape;143;p24" title="refine_volume_metric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475" y="1533650"/>
            <a:ext cx="4393152" cy="2928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/>
        </p:nvSpPr>
        <p:spPr>
          <a:xfrm>
            <a:off x="323575" y="1297275"/>
            <a:ext cx="3720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While Volume rose for Q3 vs Q4, mostly due to budget increases, cost efficiency declined - a lot of this can be attributed to seasonality.  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259975" y="421875"/>
            <a:ext cx="43365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Quarter over Quarter Cost Efficiency Breakdown</a:t>
            </a:r>
            <a:endParaRPr b="1" i="0" sz="2622" u="none" cap="none" strike="noStrike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4596375" y="535600"/>
            <a:ext cx="4183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We were less efficient across the board on all metrics in Q4.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323575" y="246075"/>
            <a:ext cx="21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 NSM Performance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152" name="Google Shape;152;p25" title="refine_cost_efficienc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25" y="1803975"/>
            <a:ext cx="3955950" cy="26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323575" y="2275700"/>
            <a:ext cx="3720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We saw a 31.6%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increase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in cost per lead, a 28.4% increase in cost per VOB, a 10.5% increase in cost per viable (not as bad as the other numbers), and a 33.3% increase in CPA.  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	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/>
          <p:nvPr/>
        </p:nvSpPr>
        <p:spPr>
          <a:xfrm>
            <a:off x="1727576" y="200151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159" name="Google Shape;159;p26"/>
          <p:cNvSpPr/>
          <p:nvPr/>
        </p:nvSpPr>
        <p:spPr>
          <a:xfrm>
            <a:off x="1910138" y="189916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02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160" name="Google Shape;160;p26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Strategy Overview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2598750" y="2963161"/>
            <a:ext cx="394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2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Factors shaping performance</a:t>
            </a:r>
            <a:endParaRPr sz="20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>
            <a:off x="435875" y="1734688"/>
            <a:ext cx="41952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8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AI Overviews Are Reshaping Recovery Search Behavior</a:t>
            </a:r>
            <a:endParaRPr b="1" i="0" sz="28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435877" y="1451688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Market Insights - SEO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5179925" y="1069038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INSIGHTS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70" name="Google Shape;170;p27"/>
          <p:cNvCxnSpPr/>
          <p:nvPr/>
        </p:nvCxnSpPr>
        <p:spPr>
          <a:xfrm flipH="1">
            <a:off x="5988425" y="1159788"/>
            <a:ext cx="2184000" cy="33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/>
        </p:nvSpPr>
        <p:spPr>
          <a:xfrm>
            <a:off x="5065325" y="1361545"/>
            <a:ext cx="34545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 Overviews now appear across many treatment-related searches such as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“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residential rehab near me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”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and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“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IOP mental health programs.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”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Sites with comprehensive service content, strong local SEO signals, and clear insurance information tend to be referenced more frequently.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This shift emphasizes the need for content clarity, local authority, and structured metadata to ensure visibility.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521675" y="3060488"/>
            <a:ext cx="4023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Google’s early rollout of AI-generated summaries is changing how patients discover treatment options.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570500" y="579550"/>
            <a:ext cx="58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Who’s Winning AI Overview Visibility</a:t>
            </a:r>
            <a:endParaRPr sz="24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846250" y="411600"/>
            <a:ext cx="17904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</a:t>
            </a: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Competitive Snapshot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665875" y="45795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>
              <a:solidFill>
                <a:srgbClr val="080808"/>
              </a:solidFill>
            </a:endParaRPr>
          </a:p>
        </p:txBody>
      </p:sp>
      <p:pic>
        <p:nvPicPr>
          <p:cNvPr id="180" name="Google Shape;180;p28" title="Desktop.png"/>
          <p:cNvPicPr preferRelativeResize="0"/>
          <p:nvPr/>
        </p:nvPicPr>
        <p:blipFill rotWithShape="1">
          <a:blip r:embed="rId3">
            <a:alphaModFix/>
          </a:blip>
          <a:srcRect b="0" l="0" r="27573" t="0"/>
          <a:stretch/>
        </p:blipFill>
        <p:spPr>
          <a:xfrm>
            <a:off x="4639550" y="1581425"/>
            <a:ext cx="4532850" cy="325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/>
          <p:nvPr/>
        </p:nvSpPr>
        <p:spPr>
          <a:xfrm>
            <a:off x="453650" y="3375600"/>
            <a:ext cx="3656100" cy="996900"/>
          </a:xfrm>
          <a:prstGeom prst="roundRect">
            <a:avLst>
              <a:gd fmla="val 16667" name="adj"/>
            </a:avLst>
          </a:prstGeom>
          <a:solidFill>
            <a:srgbClr val="FF2F0A">
              <a:alpha val="15000"/>
            </a:srgbClr>
          </a:solidFill>
          <a:ln cap="flat" cmpd="sng" w="9525">
            <a:solidFill>
              <a:srgbClr val="FF2F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563288" y="3454206"/>
            <a:ext cx="179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214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Key Insight</a:t>
            </a:r>
            <a:endParaRPr i="1" sz="1214">
              <a:solidFill>
                <a:srgbClr val="FF2F0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555275" y="3693705"/>
            <a:ext cx="34740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873"/>
              <a:buFont typeface="Inter"/>
              <a:buNone/>
            </a:pPr>
            <a:r>
              <a:rPr lang="en" sz="11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Without showing up in these summaries, Confidential Recovery is missing high-intent opportunities now being redirected to competing facilities.</a:t>
            </a:r>
            <a:endParaRPr sz="11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569525" y="1639825"/>
            <a:ext cx="54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85" name="Google Shape;185;p28"/>
          <p:cNvCxnSpPr>
            <a:endCxn id="184" idx="3"/>
          </p:cNvCxnSpPr>
          <p:nvPr/>
        </p:nvCxnSpPr>
        <p:spPr>
          <a:xfrm flipH="1">
            <a:off x="1112225" y="1730425"/>
            <a:ext cx="2449800" cy="18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8"/>
          <p:cNvSpPr txBox="1"/>
          <p:nvPr/>
        </p:nvSpPr>
        <p:spPr>
          <a:xfrm>
            <a:off x="468575" y="1950075"/>
            <a:ext cx="3807000" cy="1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AI-generated summaries now highlight facilities like Make Believe Recovery, Fake Mental Health Center, and Rehabs R Us for recovery searches.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Your competitors are receiving disproportionate visibility and early click-share.</a:t>
            </a:r>
            <a:endParaRPr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/>
        </p:nvSpPr>
        <p:spPr>
          <a:xfrm>
            <a:off x="248000" y="795900"/>
            <a:ext cx="34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Why we aren’t appearing in AI overviews</a:t>
            </a:r>
            <a:endParaRPr sz="2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523750" y="627950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 Challenge - SEO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343375" y="674288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194" name="Google Shape;194;p29"/>
          <p:cNvSpPr txBox="1"/>
          <p:nvPr/>
        </p:nvSpPr>
        <p:spPr>
          <a:xfrm>
            <a:off x="303450" y="1771450"/>
            <a:ext cx="3249600" cy="27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Current content depth and update frequency limit AI Overview eligibility.</a:t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Confidential Recovery isn’t appearing in AI Overviews because priority service pages don’t yet have the depth, structure, and topical authority signals.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Content credits are spread thin, </a:t>
            </a:r>
            <a:r>
              <a:rPr lang="en" sz="11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limiting our ability to produce the long-form Signature Content AI Overviews favor.</a:t>
            </a:r>
            <a:endParaRPr sz="11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984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100"/>
              <a:buFont typeface="Inter"/>
              <a:buChar char="●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Competitors have been publishing content more frequently,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reinforcing them as trusted sources.</a:t>
            </a:r>
            <a:endParaRPr sz="1200">
              <a:solidFill>
                <a:srgbClr val="2B2B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95" name="Google Shape;195;p29" title="ChatGPT Image Dec 10, 2025, 12_27_22 PM.png"/>
          <p:cNvPicPr preferRelativeResize="0"/>
          <p:nvPr/>
        </p:nvPicPr>
        <p:blipFill rotWithShape="1">
          <a:blip r:embed="rId3">
            <a:alphaModFix/>
          </a:blip>
          <a:srcRect b="4059" l="6063" r="7079" t="4105"/>
          <a:stretch/>
        </p:blipFill>
        <p:spPr>
          <a:xfrm>
            <a:off x="4125887" y="349800"/>
            <a:ext cx="2801838" cy="4443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7169050" y="485988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Challenges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197" name="Google Shape;197;p29"/>
          <p:cNvCxnSpPr/>
          <p:nvPr/>
        </p:nvCxnSpPr>
        <p:spPr>
          <a:xfrm flipH="1">
            <a:off x="8032900" y="577150"/>
            <a:ext cx="803700" cy="18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9"/>
          <p:cNvSpPr txBox="1"/>
          <p:nvPr/>
        </p:nvSpPr>
        <p:spPr>
          <a:xfrm>
            <a:off x="7118050" y="778225"/>
            <a:ext cx="17979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Too thin to qualify for AI Overview inclusion.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Missing the content depth competitors have.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Insufficient structured information for AI summarization.</a:t>
            </a:r>
            <a:endParaRPr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569725" y="493575"/>
            <a:ext cx="1369200" cy="246600"/>
          </a:xfrm>
          <a:prstGeom prst="roundRect">
            <a:avLst>
              <a:gd fmla="val 16667" name="adj"/>
            </a:avLst>
          </a:prstGeom>
          <a:solidFill>
            <a:srgbClr val="FF2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0"/>
          <p:cNvSpPr txBox="1"/>
          <p:nvPr/>
        </p:nvSpPr>
        <p:spPr>
          <a:xfrm>
            <a:off x="569713" y="1934988"/>
            <a:ext cx="41196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We recommend re-allocating content credits toward deeper, more authoritative content that aligns with AI Overview requirements.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506124" y="1012250"/>
            <a:ext cx="43794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Shift Current Content Credits for AI Overviews</a:t>
            </a:r>
            <a:endParaRPr b="1" i="0" sz="26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663627" y="528975"/>
            <a:ext cx="1176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- </a:t>
            </a: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Opportunity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5001888" y="941213"/>
            <a:ext cx="101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KEY POINTS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208" name="Google Shape;208;p30"/>
          <p:cNvCxnSpPr/>
          <p:nvPr/>
        </p:nvCxnSpPr>
        <p:spPr>
          <a:xfrm flipH="1">
            <a:off x="6057338" y="1027063"/>
            <a:ext cx="2466300" cy="81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30"/>
          <p:cNvSpPr txBox="1"/>
          <p:nvPr/>
        </p:nvSpPr>
        <p:spPr>
          <a:xfrm>
            <a:off x="5001900" y="1281450"/>
            <a:ext cx="37590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Foundational SEO is in place: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baseline rankings, technical improvements are now established.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AI Overviews demand depth, freshness, and structured expertise,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reallocating credits lets us strengthen core service pages without increasing spend.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0" name="Google Shape;210;p30"/>
          <p:cNvGrpSpPr/>
          <p:nvPr/>
        </p:nvGrpSpPr>
        <p:grpSpPr>
          <a:xfrm>
            <a:off x="445462" y="3123343"/>
            <a:ext cx="2210879" cy="1651519"/>
            <a:chOff x="569724" y="3188290"/>
            <a:chExt cx="2210879" cy="1651519"/>
          </a:xfrm>
        </p:grpSpPr>
        <p:sp>
          <p:nvSpPr>
            <p:cNvPr id="211" name="Google Shape;211;p30"/>
            <p:cNvSpPr/>
            <p:nvPr/>
          </p:nvSpPr>
          <p:spPr>
            <a:xfrm>
              <a:off x="569724" y="3188290"/>
              <a:ext cx="20667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Current Credit Allocation</a:t>
              </a:r>
              <a:endParaRPr b="1" i="0" sz="1216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640640" y="3553925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640640" y="3796484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640640" y="4039044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640640" y="4281603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831875" y="3553925"/>
              <a:ext cx="11073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1875503" y="355392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831875" y="3800225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1875503" y="380022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831875" y="4046525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1875503" y="404651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1 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831875" y="4281600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1875503" y="428159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224" name="Google Shape;224;p30"/>
            <p:cNvCxnSpPr/>
            <p:nvPr/>
          </p:nvCxnSpPr>
          <p:spPr>
            <a:xfrm>
              <a:off x="653810" y="4603516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" name="Google Shape;225;p30"/>
            <p:cNvSpPr/>
            <p:nvPr/>
          </p:nvSpPr>
          <p:spPr>
            <a:xfrm>
              <a:off x="569724" y="469191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5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grpSp>
        <p:nvGrpSpPr>
          <p:cNvPr id="226" name="Google Shape;226;p30"/>
          <p:cNvGrpSpPr/>
          <p:nvPr/>
        </p:nvGrpSpPr>
        <p:grpSpPr>
          <a:xfrm>
            <a:off x="3345237" y="3123352"/>
            <a:ext cx="2332201" cy="1651510"/>
            <a:chOff x="3530624" y="3117950"/>
            <a:chExt cx="2332201" cy="1651510"/>
          </a:xfrm>
        </p:grpSpPr>
        <p:sp>
          <p:nvSpPr>
            <p:cNvPr id="227" name="Google Shape;227;p30"/>
            <p:cNvSpPr/>
            <p:nvPr/>
          </p:nvSpPr>
          <p:spPr>
            <a:xfrm>
              <a:off x="3530625" y="3117950"/>
              <a:ext cx="23322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Recommended Reallocation</a:t>
              </a:r>
              <a:endParaRPr b="1" sz="1216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3601540" y="3483575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3601540" y="3726134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3601540" y="3968694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3601540" y="4211253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3792776" y="3483575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4836403" y="348357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3792772" y="372987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4836403" y="372987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3792772" y="397616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4836403" y="3976164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0 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3792775" y="4211250"/>
              <a:ext cx="10215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 (x6)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4836403" y="421124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3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240" name="Google Shape;240;p30"/>
            <p:cNvCxnSpPr/>
            <p:nvPr/>
          </p:nvCxnSpPr>
          <p:spPr>
            <a:xfrm>
              <a:off x="3614710" y="4533166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1" name="Google Shape;241;p30"/>
            <p:cNvSpPr/>
            <p:nvPr/>
          </p:nvSpPr>
          <p:spPr>
            <a:xfrm>
              <a:off x="3530624" y="462156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5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4545225" y="4621550"/>
              <a:ext cx="11964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25" lIns="82400" spcFirstLastPara="1" rIns="82400" wrap="square" tIns="4122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CC0C5"/>
                </a:buClr>
                <a:buSzPts val="946"/>
                <a:buFont typeface="Inter"/>
                <a:buNone/>
              </a:pP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(No Additional Investment)</a:t>
              </a:r>
              <a:endParaRPr i="1" sz="666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endParaRPr>
            </a:p>
          </p:txBody>
        </p:sp>
      </p:grpSp>
      <p:grpSp>
        <p:nvGrpSpPr>
          <p:cNvPr id="243" name="Google Shape;243;p30"/>
          <p:cNvGrpSpPr/>
          <p:nvPr/>
        </p:nvGrpSpPr>
        <p:grpSpPr>
          <a:xfrm>
            <a:off x="6366337" y="3123352"/>
            <a:ext cx="2332201" cy="1651510"/>
            <a:chOff x="6166999" y="3081875"/>
            <a:chExt cx="2332201" cy="1651510"/>
          </a:xfrm>
        </p:grpSpPr>
        <p:sp>
          <p:nvSpPr>
            <p:cNvPr id="244" name="Google Shape;244;p30"/>
            <p:cNvSpPr/>
            <p:nvPr/>
          </p:nvSpPr>
          <p:spPr>
            <a:xfrm>
              <a:off x="6167000" y="3081875"/>
              <a:ext cx="2332200" cy="2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1216">
                  <a:solidFill>
                    <a:srgbClr val="31AA98"/>
                  </a:solidFill>
                  <a:latin typeface="Archivo"/>
                  <a:ea typeface="Archivo"/>
                  <a:cs typeface="Archivo"/>
                  <a:sym typeface="Archivo"/>
                </a:rPr>
                <a:t>Grow Faster</a:t>
              </a:r>
              <a:endParaRPr b="1" sz="1216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6237915" y="3447500"/>
              <a:ext cx="147900" cy="147900"/>
            </a:xfrm>
            <a:prstGeom prst="rect">
              <a:avLst/>
            </a:prstGeom>
            <a:solidFill>
              <a:srgbClr val="FF2F0A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6237915" y="3690059"/>
              <a:ext cx="147900" cy="147900"/>
            </a:xfrm>
            <a:prstGeom prst="rect">
              <a:avLst/>
            </a:prstGeom>
            <a:solidFill>
              <a:srgbClr val="31AA98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6237915" y="3932619"/>
              <a:ext cx="147900" cy="147900"/>
            </a:xfrm>
            <a:prstGeom prst="rect">
              <a:avLst/>
            </a:prstGeom>
            <a:solidFill>
              <a:srgbClr val="F94C25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6237915" y="4175178"/>
              <a:ext cx="147900" cy="147900"/>
            </a:xfrm>
            <a:prstGeom prst="rect">
              <a:avLst/>
            </a:prstGeom>
            <a:solidFill>
              <a:srgbClr val="715DC0"/>
            </a:solidFill>
            <a:ln>
              <a:noFill/>
            </a:ln>
          </p:spPr>
          <p:txBody>
            <a:bodyPr anchorCtr="0" anchor="ctr" bIns="77050" lIns="77050" spcFirstLastPara="1" rIns="77050" wrap="square" tIns="77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9"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6429151" y="3447500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Signature Content (x1)</a:t>
              </a:r>
              <a:endParaRPr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7472778" y="3447500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6429151" y="3693800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Service Content (x1)</a:t>
              </a:r>
              <a:endParaRPr sz="674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7472778" y="369379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2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6429150" y="3940100"/>
              <a:ext cx="9966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Scale Content (x1)</a:t>
              </a:r>
              <a:endParaRPr sz="674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4" name="Google Shape;254;p30"/>
            <p:cNvSpPr/>
            <p:nvPr/>
          </p:nvSpPr>
          <p:spPr>
            <a:xfrm>
              <a:off x="7472778" y="3940089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1 Credit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5" name="Google Shape;255;p30"/>
            <p:cNvSpPr/>
            <p:nvPr/>
          </p:nvSpPr>
          <p:spPr>
            <a:xfrm>
              <a:off x="6429150" y="4175175"/>
              <a:ext cx="10215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Content Updates (x6)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6" name="Google Shape;256;p30"/>
            <p:cNvSpPr/>
            <p:nvPr/>
          </p:nvSpPr>
          <p:spPr>
            <a:xfrm>
              <a:off x="7472778" y="417516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674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3 Credits</a:t>
              </a:r>
              <a:endParaRPr b="1" i="0" sz="674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cxnSp>
          <p:nvCxnSpPr>
            <p:cNvPr id="257" name="Google Shape;257;p30"/>
            <p:cNvCxnSpPr/>
            <p:nvPr/>
          </p:nvCxnSpPr>
          <p:spPr>
            <a:xfrm>
              <a:off x="6251085" y="4497091"/>
              <a:ext cx="2076300" cy="0"/>
            </a:xfrm>
            <a:prstGeom prst="straightConnector1">
              <a:avLst/>
            </a:prstGeom>
            <a:noFill/>
            <a:ln cap="flat" cmpd="sng" w="10325">
              <a:solidFill>
                <a:srgbClr val="B8B7B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8" name="Google Shape;258;p30"/>
            <p:cNvSpPr/>
            <p:nvPr/>
          </p:nvSpPr>
          <p:spPr>
            <a:xfrm>
              <a:off x="6166999" y="4585485"/>
              <a:ext cx="905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375" lIns="84800" spcFirstLastPara="1" rIns="84800" wrap="square" tIns="42375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68"/>
                <a:buFont typeface="Inter"/>
                <a:buNone/>
              </a:pPr>
              <a:r>
                <a:rPr b="1" lang="en" sz="782">
                  <a:solidFill>
                    <a:srgbClr val="080808"/>
                  </a:solidFill>
                  <a:latin typeface="Archivo"/>
                  <a:ea typeface="Archivo"/>
                  <a:cs typeface="Archivo"/>
                  <a:sym typeface="Archivo"/>
                </a:rPr>
                <a:t>Total: 8 Credits</a:t>
              </a:r>
              <a:endParaRPr b="1" i="0" sz="782" u="none" cap="none" strike="noStrike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7263275" y="4585475"/>
              <a:ext cx="1064100" cy="1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25" lIns="82400" spcFirstLastPara="1" rIns="82400" wrap="square" tIns="4122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CC0C5"/>
                </a:buClr>
                <a:buSzPts val="946"/>
                <a:buFont typeface="Inter"/>
                <a:buNone/>
              </a:pPr>
              <a:r>
                <a:rPr lang="en" sz="666">
                  <a:solidFill>
                    <a:srgbClr val="2B2B2A"/>
                  </a:solidFill>
                  <a:latin typeface="Archivo Medium"/>
                  <a:ea typeface="Archivo Medium"/>
                  <a:cs typeface="Archivo Medium"/>
                  <a:sym typeface="Archivo Medium"/>
                </a:rPr>
                <a:t>(Additional Investment)</a:t>
              </a:r>
              <a:endParaRPr i="1" sz="666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/>
          <p:nvPr/>
        </p:nvSpPr>
        <p:spPr>
          <a:xfrm>
            <a:off x="288725" y="1146346"/>
            <a:ext cx="41952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4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Industry Benchmarks Show Strong Relative Efficiency</a:t>
            </a:r>
            <a:endParaRPr b="1" i="0" sz="24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326075" y="863350"/>
            <a:ext cx="1821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Market Insights - Paid Media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374525" y="2746553"/>
            <a:ext cx="34545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23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Cost per Lead is higher</a:t>
            </a:r>
            <a:r>
              <a:rPr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, which is expected for high-competition markets like San Diego</a:t>
            </a:r>
            <a:endParaRPr sz="10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23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Cost per VOB is outperforming the industry</a:t>
            </a:r>
            <a:endParaRPr b="1" sz="10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23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Cost per Viable is high</a:t>
            </a:r>
            <a:r>
              <a:rPr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, indicating that improving lead quality is a key opportunity.</a:t>
            </a:r>
            <a:endParaRPr sz="10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23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Cost per Admit</a:t>
            </a:r>
            <a:r>
              <a:rPr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is exactly on par with industry norms</a:t>
            </a:r>
            <a:endParaRPr sz="10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374525" y="1927855"/>
            <a:ext cx="40236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Your current funnel performance outperforms the industry average across key acquisition metrics for OON residential programs.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68" name="Google Shape;268;p31" title="Group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275" y="535301"/>
            <a:ext cx="3973347" cy="338695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/>
          <p:nvPr/>
        </p:nvSpPr>
        <p:spPr>
          <a:xfrm>
            <a:off x="4709275" y="4046000"/>
            <a:ext cx="3973200" cy="5622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9525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1"/>
          <p:cNvSpPr/>
          <p:nvPr/>
        </p:nvSpPr>
        <p:spPr>
          <a:xfrm>
            <a:off x="4805800" y="4109600"/>
            <a:ext cx="3780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025" lIns="76025" spcFirstLastPara="1" rIns="76025" wrap="square" tIns="380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14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OON residential acquisition costs continue to rise nationally due to increased auction competition and stricter insurance requirements. </a:t>
            </a:r>
            <a:endParaRPr sz="914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353075" y="1395475"/>
            <a:ext cx="383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Declining Funnel Viability Is Limiting Admit Growth</a:t>
            </a:r>
            <a:endParaRPr b="1" sz="220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621025" y="1227525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The Paid Media Challenge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448450" y="1273863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278" name="Google Shape;278;p32"/>
          <p:cNvSpPr txBox="1"/>
          <p:nvPr/>
        </p:nvSpPr>
        <p:spPr>
          <a:xfrm>
            <a:off x="448450" y="2356800"/>
            <a:ext cx="3830100" cy="18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Lower VOB-to-Viable rates reduce qualified admission opportunities.</a:t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Although lead and VOB volume stayed consistent, fewer VOBs converted into Viable VOBs this quarter. PMAX contributes volume, but with weaker viable output than Search, further constraining late-funnel performance.</a:t>
            </a:r>
            <a:endParaRPr sz="1200">
              <a:solidFill>
                <a:srgbClr val="2B2B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739500" y="535450"/>
            <a:ext cx="3691500" cy="204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B8B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2"/>
          <p:cNvSpPr txBox="1"/>
          <p:nvPr/>
        </p:nvSpPr>
        <p:spPr>
          <a:xfrm>
            <a:off x="4893100" y="2863750"/>
            <a:ext cx="353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Lower VOB → Viable VOB conversion reduces admit-ready opportunities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Higher cost per viable increases CPA sensitivity</a:t>
            </a:r>
            <a:endParaRPr b="1"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Search delivers </a:t>
            </a:r>
            <a:r>
              <a:rPr b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stronger viability; 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PMAX underperforms in quality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1" name="Google Shape;281;p32"/>
          <p:cNvSpPr txBox="1"/>
          <p:nvPr/>
        </p:nvSpPr>
        <p:spPr>
          <a:xfrm>
            <a:off x="4648475" y="1908900"/>
            <a:ext cx="37599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823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EAE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Admits grew</a:t>
            </a:r>
            <a:r>
              <a:rPr b="1" lang="en" sz="1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n" sz="10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+22%</a:t>
            </a: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, but from fewer viable opportunities</a:t>
            </a:r>
            <a:endParaRPr b="1" sz="10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823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AEAEA"/>
              </a:buClr>
              <a:buSzPts val="1000"/>
              <a:buFont typeface="Archivo"/>
              <a:buChar char="■"/>
            </a:pP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PMAX viability often below</a:t>
            </a:r>
            <a:r>
              <a:rPr b="1" lang="en" sz="10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n" sz="1000">
                <a:solidFill>
                  <a:srgbClr val="FDAC56"/>
                </a:solidFill>
                <a:latin typeface="Archivo"/>
                <a:ea typeface="Archivo"/>
                <a:cs typeface="Archivo"/>
                <a:sym typeface="Archivo"/>
              </a:rPr>
              <a:t>20-25%</a:t>
            </a:r>
            <a:r>
              <a:rPr b="1" lang="en" sz="10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vs Search at </a:t>
            </a:r>
            <a:r>
              <a:rPr b="1" lang="en" sz="1000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30-40%</a:t>
            </a:r>
            <a:endParaRPr b="1" sz="1000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82" name="Google Shape;282;p32"/>
          <p:cNvSpPr/>
          <p:nvPr/>
        </p:nvSpPr>
        <p:spPr>
          <a:xfrm>
            <a:off x="5311775" y="722100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Q2 → Q3 Data Spotlight 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5644250" y="1029300"/>
            <a:ext cx="168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Viable VOBs</a:t>
            </a:r>
            <a:endParaRPr sz="1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284" name="Google Shape;284;p32"/>
          <p:cNvCxnSpPr/>
          <p:nvPr/>
        </p:nvCxnSpPr>
        <p:spPr>
          <a:xfrm>
            <a:off x="5244250" y="1019250"/>
            <a:ext cx="2508900" cy="17100"/>
          </a:xfrm>
          <a:prstGeom prst="straightConnector1">
            <a:avLst/>
          </a:prstGeom>
          <a:noFill/>
          <a:ln cap="flat" cmpd="sng" w="952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2"/>
          <p:cNvCxnSpPr/>
          <p:nvPr/>
        </p:nvCxnSpPr>
        <p:spPr>
          <a:xfrm>
            <a:off x="4938125" y="1734107"/>
            <a:ext cx="3180600" cy="16800"/>
          </a:xfrm>
          <a:prstGeom prst="straightConnector1">
            <a:avLst/>
          </a:prstGeom>
          <a:noFill/>
          <a:ln cap="flat" cmpd="sng" w="952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2"/>
          <p:cNvSpPr txBox="1"/>
          <p:nvPr/>
        </p:nvSpPr>
        <p:spPr>
          <a:xfrm>
            <a:off x="5648546" y="1241230"/>
            <a:ext cx="1683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94C25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-13% QoQ</a:t>
            </a:r>
            <a:endParaRPr sz="1900">
              <a:solidFill>
                <a:srgbClr val="F94C25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541282" y="452650"/>
            <a:ext cx="1617600" cy="246600"/>
          </a:xfrm>
          <a:prstGeom prst="roundRect">
            <a:avLst>
              <a:gd fmla="val 16667" name="adj"/>
            </a:avLst>
          </a:prstGeom>
          <a:solidFill>
            <a:srgbClr val="FF2F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541275" y="1808925"/>
            <a:ext cx="38007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Reallocating spend strengthens viable VOB quality and improves admit consistency.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477675" y="886175"/>
            <a:ext cx="41364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26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Shift Budget Toward High-Performing Search</a:t>
            </a:r>
            <a:endParaRPr b="1" i="0" sz="26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94" name="Google Shape;294;p33"/>
          <p:cNvSpPr/>
          <p:nvPr/>
        </p:nvSpPr>
        <p:spPr>
          <a:xfrm>
            <a:off x="620850" y="488050"/>
            <a:ext cx="14679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 Opportunity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95" name="Google Shape;295;p33"/>
          <p:cNvSpPr txBox="1"/>
          <p:nvPr/>
        </p:nvSpPr>
        <p:spPr>
          <a:xfrm>
            <a:off x="477673" y="2646600"/>
            <a:ext cx="80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INSIGHTS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296" name="Google Shape;296;p33"/>
          <p:cNvCxnSpPr>
            <a:endCxn id="295" idx="3"/>
          </p:cNvCxnSpPr>
          <p:nvPr/>
        </p:nvCxnSpPr>
        <p:spPr>
          <a:xfrm flipH="1">
            <a:off x="1286173" y="2732400"/>
            <a:ext cx="2713200" cy="660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3"/>
          <p:cNvSpPr txBox="1"/>
          <p:nvPr/>
        </p:nvSpPr>
        <p:spPr>
          <a:xfrm>
            <a:off x="477675" y="2986829"/>
            <a:ext cx="3593400" cy="17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Current spend is weighted heavily toward PMAX, which delivers inexpensive VOBs but lower viable output.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By shifting 15–20% of that budget into high-performing Search campaigns, </a:t>
            </a:r>
            <a:r>
              <a:rPr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without increasing total spend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, we can expand qualified opportunities and improve CPA.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98" name="Google Shape;298;p33" title="Group 100000137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225" y="2847510"/>
            <a:ext cx="3470400" cy="17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3" title="Group 1000001372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225" y="583304"/>
            <a:ext cx="3470399" cy="176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/>
          <p:nvPr/>
        </p:nvSpPr>
        <p:spPr>
          <a:xfrm>
            <a:off x="2370101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305" name="Google Shape;305;p34"/>
          <p:cNvSpPr/>
          <p:nvPr/>
        </p:nvSpPr>
        <p:spPr>
          <a:xfrm>
            <a:off x="2552663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03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306" name="Google Shape;306;p34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4"/>
          <p:cNvSpPr/>
          <p:nvPr/>
        </p:nvSpPr>
        <p:spPr>
          <a:xfrm>
            <a:off x="1126200" y="2119736"/>
            <a:ext cx="68916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Strategic Plan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2190750" y="2963150"/>
            <a:ext cx="47625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Initiatives that drive next quarter’s outcomes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/>
        </p:nvSpPr>
        <p:spPr>
          <a:xfrm>
            <a:off x="220050" y="1430113"/>
            <a:ext cx="34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Projected Growth for Calls + VOBs</a:t>
            </a:r>
            <a:endParaRPr sz="2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495800" y="1262163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Updated SEO NSM for 2026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315425" y="130850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316" name="Google Shape;316;p35"/>
          <p:cNvSpPr txBox="1"/>
          <p:nvPr/>
        </p:nvSpPr>
        <p:spPr>
          <a:xfrm>
            <a:off x="315425" y="2391438"/>
            <a:ext cx="3249600" cy="14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Based on Q4 performance and steady quarter-over-quarter momentum, we’re forecasting continued growth in both Calls and VOBs throughout 2026. This projection reflects the impact of stronger local visibility, improved service-page depth, and increased eligibility-focused content.</a:t>
            </a:r>
            <a:endParaRPr sz="1200">
              <a:solidFill>
                <a:srgbClr val="2B2B2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17" name="Google Shape;317;p35" title="Group 10000013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600" y="303101"/>
            <a:ext cx="4422375" cy="36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5" title="Group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600" y="4104550"/>
            <a:ext cx="4422376" cy="72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 txBox="1"/>
          <p:nvPr/>
        </p:nvSpPr>
        <p:spPr>
          <a:xfrm>
            <a:off x="439200" y="2166625"/>
            <a:ext cx="27756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Increase total call volume and VOB generation by strengthening visibility in AI Overviews and improving performance on high-intent local searches.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Build on Q4’s foundational wins by reallocating content credits toward </a:t>
            </a:r>
            <a:r>
              <a:rPr b="1" i="1"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higher-impact updates</a:t>
            </a: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 designed to rank for predictive “summary-style” AI result formats.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3550600" y="2166625"/>
            <a:ext cx="25902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Strengthen AI Overview eligibility by expanding thin content and adding structured schema.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 local call volume through GBP optimization and targeted city-level content.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6138500" y="2166627"/>
            <a:ext cx="2607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Reallocate credits toward 1 signature piece + recurring updates to modernize priority pages.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Optimize conversion pathways with clearer insurance CTAs to increase VOB-ready intent.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33950" y="177561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327" name="Google Shape;327;p36"/>
          <p:cNvCxnSpPr>
            <a:endCxn id="326" idx="3"/>
          </p:cNvCxnSpPr>
          <p:nvPr/>
        </p:nvCxnSpPr>
        <p:spPr>
          <a:xfrm rot="10800000">
            <a:off x="960150" y="1868013"/>
            <a:ext cx="20940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6"/>
          <p:cNvSpPr txBox="1"/>
          <p:nvPr/>
        </p:nvSpPr>
        <p:spPr>
          <a:xfrm>
            <a:off x="3554300" y="177561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329" name="Google Shape;329;p36"/>
          <p:cNvCxnSpPr>
            <a:endCxn id="328" idx="3"/>
          </p:cNvCxnSpPr>
          <p:nvPr/>
        </p:nvCxnSpPr>
        <p:spPr>
          <a:xfrm rot="10800000">
            <a:off x="4080500" y="1868013"/>
            <a:ext cx="46665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6"/>
          <p:cNvSpPr/>
          <p:nvPr/>
        </p:nvSpPr>
        <p:spPr>
          <a:xfrm>
            <a:off x="433950" y="681950"/>
            <a:ext cx="65448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Scaling Calls &amp; VOBs Through AI Visibility &amp; Local Expansion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397002" y="3793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SEO Q1 Tactics</a:t>
            </a:r>
            <a:endParaRPr i="1" sz="983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332" name="Google Shape;332;p36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550" y="4671325"/>
            <a:ext cx="1026251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6"/>
          <p:cNvSpPr/>
          <p:nvPr/>
        </p:nvSpPr>
        <p:spPr>
          <a:xfrm>
            <a:off x="373350" y="364725"/>
            <a:ext cx="164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Content &amp; SEO</a:t>
            </a: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Q1 Tactics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/>
        </p:nvSpPr>
        <p:spPr>
          <a:xfrm>
            <a:off x="247425" y="1481675"/>
            <a:ext cx="3416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NSM Q1: 36 Quarterly Admissions</a:t>
            </a:r>
            <a:endParaRPr sz="2200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523175" y="1313725"/>
            <a:ext cx="24333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Updated Paid Media NSM for Q1 2026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342800" y="1360063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  <p:sp>
        <p:nvSpPr>
          <p:cNvPr id="341" name="Google Shape;341;p37"/>
          <p:cNvSpPr txBox="1"/>
          <p:nvPr/>
        </p:nvSpPr>
        <p:spPr>
          <a:xfrm>
            <a:off x="342800" y="2343575"/>
            <a:ext cx="34164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Our NSM model shows exactly what it will take to hit your quarterly admit target.</a:t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Using your Q4 performance data and real funnel conversion rates, we built a forward-looking admissions model for Q1. With a quarterly budget of $400,000, the required Cost per Admit is $11,111.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2" name="Google Shape;342;p37"/>
          <p:cNvSpPr/>
          <p:nvPr/>
        </p:nvSpPr>
        <p:spPr>
          <a:xfrm>
            <a:off x="4285800" y="236975"/>
            <a:ext cx="2407800" cy="116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900">
            <a:solidFill>
              <a:srgbClr val="B8B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400" lIns="85400" spcFirstLastPara="1" rIns="85400" wrap="square" tIns="8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/>
          </a:p>
        </p:txBody>
      </p:sp>
      <p:sp>
        <p:nvSpPr>
          <p:cNvPr id="343" name="Google Shape;343;p37"/>
          <p:cNvSpPr/>
          <p:nvPr/>
        </p:nvSpPr>
        <p:spPr>
          <a:xfrm>
            <a:off x="4383782" y="378577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i="1" lang="en" sz="918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Goal Type: </a:t>
            </a: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Admissions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37"/>
          <p:cNvSpPr/>
          <p:nvPr/>
        </p:nvSpPr>
        <p:spPr>
          <a:xfrm>
            <a:off x="4382474" y="1079703"/>
            <a:ext cx="1453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Cost Per Admit Needed: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5" name="Google Shape;345;p37"/>
          <p:cNvSpPr/>
          <p:nvPr/>
        </p:nvSpPr>
        <p:spPr>
          <a:xfrm>
            <a:off x="5978816" y="1079703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$11,111</a:t>
            </a:r>
            <a:endParaRPr b="1" sz="918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4382778" y="860019"/>
            <a:ext cx="1453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Quarterly Budget: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5891435" y="860019"/>
            <a:ext cx="7053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$400,000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4382778" y="627802"/>
            <a:ext cx="1453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Admissions Goal: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5979119" y="627802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36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0" name="Google Shape;350;p37"/>
          <p:cNvSpPr/>
          <p:nvPr/>
        </p:nvSpPr>
        <p:spPr>
          <a:xfrm>
            <a:off x="4285650" y="1551049"/>
            <a:ext cx="4322400" cy="1409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900">
            <a:solidFill>
              <a:srgbClr val="B8B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400" lIns="85400" spcFirstLastPara="1" rIns="85400" wrap="square" tIns="8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/>
          </a:p>
        </p:txBody>
      </p:sp>
      <p:sp>
        <p:nvSpPr>
          <p:cNvPr id="351" name="Google Shape;351;p37"/>
          <p:cNvSpPr/>
          <p:nvPr/>
        </p:nvSpPr>
        <p:spPr>
          <a:xfrm>
            <a:off x="4383772" y="1967861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Target CTR &amp; CVR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2" name="Google Shape;352;p37"/>
          <p:cNvSpPr/>
          <p:nvPr/>
        </p:nvSpPr>
        <p:spPr>
          <a:xfrm>
            <a:off x="4382768" y="2449302"/>
            <a:ext cx="1595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Landing Page Conv. Rate: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3" name="Google Shape;353;p37"/>
          <p:cNvSpPr/>
          <p:nvPr/>
        </p:nvSpPr>
        <p:spPr>
          <a:xfrm>
            <a:off x="5978666" y="2451311"/>
            <a:ext cx="434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9%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4382768" y="2242599"/>
            <a:ext cx="1453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Ad Click-through Rate: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5" name="Google Shape;355;p37"/>
          <p:cNvSpPr/>
          <p:nvPr/>
        </p:nvSpPr>
        <p:spPr>
          <a:xfrm>
            <a:off x="5795288" y="2244608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6%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6735014" y="1967861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Conversion Rates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6733707" y="2660482"/>
            <a:ext cx="1453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Viable → Admit: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8" name="Google Shape;358;p37"/>
          <p:cNvSpPr/>
          <p:nvPr/>
        </p:nvSpPr>
        <p:spPr>
          <a:xfrm>
            <a:off x="7853431" y="2660482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40%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6734010" y="2449302"/>
            <a:ext cx="1163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VOB→ Viable: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7766051" y="2449302"/>
            <a:ext cx="7053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30%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1" name="Google Shape;361;p37"/>
          <p:cNvSpPr/>
          <p:nvPr/>
        </p:nvSpPr>
        <p:spPr>
          <a:xfrm>
            <a:off x="6734010" y="2242611"/>
            <a:ext cx="9864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Lead → VOB: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7853735" y="2242599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16%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5510332" y="1661200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1011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Q4 Performance Data</a:t>
            </a:r>
            <a:endParaRPr b="1" sz="1011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64" name="Google Shape;364;p37"/>
          <p:cNvCxnSpPr/>
          <p:nvPr/>
        </p:nvCxnSpPr>
        <p:spPr>
          <a:xfrm>
            <a:off x="4453499" y="1862079"/>
            <a:ext cx="4019400" cy="0"/>
          </a:xfrm>
          <a:prstGeom prst="straightConnector1">
            <a:avLst/>
          </a:prstGeom>
          <a:noFill/>
          <a:ln cap="flat" cmpd="sng" w="8900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7"/>
          <p:cNvSpPr/>
          <p:nvPr/>
        </p:nvSpPr>
        <p:spPr>
          <a:xfrm>
            <a:off x="4285575" y="3113526"/>
            <a:ext cx="4322400" cy="17421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 cap="flat" cmpd="sng" w="8900">
            <a:solidFill>
              <a:srgbClr val="31AA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400" lIns="85400" spcFirstLastPara="1" rIns="85400" wrap="square" tIns="8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/>
          </a:p>
        </p:txBody>
      </p:sp>
      <p:sp>
        <p:nvSpPr>
          <p:cNvPr id="366" name="Google Shape;366;p37"/>
          <p:cNvSpPr/>
          <p:nvPr/>
        </p:nvSpPr>
        <p:spPr>
          <a:xfrm>
            <a:off x="4536778" y="3479301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Metric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4544282" y="3711529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Leads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6734939" y="3572858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t/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5510257" y="3223675"/>
            <a:ext cx="18729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1011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Projections</a:t>
            </a:r>
            <a:endParaRPr b="1" sz="1011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70" name="Google Shape;370;p37"/>
          <p:cNvCxnSpPr/>
          <p:nvPr/>
        </p:nvCxnSpPr>
        <p:spPr>
          <a:xfrm>
            <a:off x="4453424" y="3424554"/>
            <a:ext cx="4019400" cy="0"/>
          </a:xfrm>
          <a:prstGeom prst="straightConnector1">
            <a:avLst/>
          </a:prstGeom>
          <a:noFill/>
          <a:ln cap="flat" cmpd="sng" w="8900">
            <a:solidFill>
              <a:srgbClr val="31AA9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7"/>
          <p:cNvSpPr/>
          <p:nvPr/>
        </p:nvSpPr>
        <p:spPr>
          <a:xfrm>
            <a:off x="6025698" y="3488054"/>
            <a:ext cx="6177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Goal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4544282" y="3942729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VOBs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4544282" y="4173929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Viables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4" name="Google Shape;374;p37"/>
          <p:cNvSpPr/>
          <p:nvPr/>
        </p:nvSpPr>
        <p:spPr>
          <a:xfrm>
            <a:off x="4453575" y="4388657"/>
            <a:ext cx="4019400" cy="348000"/>
          </a:xfrm>
          <a:prstGeom prst="roundRect">
            <a:avLst>
              <a:gd fmla="val 16667" name="adj"/>
            </a:avLst>
          </a:prstGeom>
          <a:solidFill>
            <a:srgbClr val="31AA98">
              <a:alpha val="1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7"/>
          <p:cNvSpPr/>
          <p:nvPr/>
        </p:nvSpPr>
        <p:spPr>
          <a:xfrm>
            <a:off x="4544282" y="4491208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Admissions</a:t>
            </a:r>
            <a:endParaRPr b="1" sz="918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6025702" y="37071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1,875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6025702" y="39383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300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6025702" y="41695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90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6025702" y="4486862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36</a:t>
            </a:r>
            <a:endParaRPr b="1" sz="918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0" name="Google Shape;380;p37"/>
          <p:cNvSpPr/>
          <p:nvPr/>
        </p:nvSpPr>
        <p:spPr>
          <a:xfrm>
            <a:off x="7394000" y="3488050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Cost-Per</a:t>
            </a:r>
            <a:endParaRPr b="1" sz="918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1" name="Google Shape;381;p37"/>
          <p:cNvSpPr/>
          <p:nvPr/>
        </p:nvSpPr>
        <p:spPr>
          <a:xfrm>
            <a:off x="7394002" y="37071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$213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2" name="Google Shape;382;p37"/>
          <p:cNvSpPr/>
          <p:nvPr/>
        </p:nvSpPr>
        <p:spPr>
          <a:xfrm>
            <a:off x="7394002" y="39383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$1,333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3" name="Google Shape;383;p37"/>
          <p:cNvSpPr/>
          <p:nvPr/>
        </p:nvSpPr>
        <p:spPr>
          <a:xfrm>
            <a:off x="7394002" y="4169583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lang="en" sz="918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$4,444</a:t>
            </a:r>
            <a:endParaRPr b="1" sz="918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4" name="Google Shape;384;p37"/>
          <p:cNvSpPr/>
          <p:nvPr/>
        </p:nvSpPr>
        <p:spPr>
          <a:xfrm>
            <a:off x="7394002" y="4486862"/>
            <a:ext cx="793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850" lIns="63675" spcFirstLastPara="1" rIns="63675" wrap="square" tIns="318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31"/>
              <a:buFont typeface="Inter"/>
              <a:buNone/>
            </a:pPr>
            <a:r>
              <a:rPr b="1" lang="en" sz="918">
                <a:solidFill>
                  <a:srgbClr val="31AA98"/>
                </a:solidFill>
                <a:latin typeface="Archivo"/>
                <a:ea typeface="Archivo"/>
                <a:cs typeface="Archivo"/>
                <a:sym typeface="Archivo"/>
              </a:rPr>
              <a:t>$11,111</a:t>
            </a:r>
            <a:endParaRPr b="1" sz="918">
              <a:solidFill>
                <a:srgbClr val="31AA9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385" name="Google Shape;385;p37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425" y="266675"/>
            <a:ext cx="1026251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8"/>
          <p:cNvSpPr txBox="1"/>
          <p:nvPr/>
        </p:nvSpPr>
        <p:spPr>
          <a:xfrm>
            <a:off x="439200" y="2161475"/>
            <a:ext cx="2931900" cy="23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 Cost per Admit by shifting budget toward campaigns with stronger Viable → Admit performance and reducing spend in low-viability segments.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Archivo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Strengthen late-stage conversion by improving the quality of traffic entering the funnel and tightening targeting around high-intent insurance + residential queries.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3550600" y="2161478"/>
            <a:ext cx="25902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Reallocate a larger share of budget to rehab campaigns showing higher admit efficiency, while reducing allocation to detox locator traffic with weaker viability.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Expand high-intent search coverage (insurance terms, location-based residential searches) to increase VOB-ready opportunities.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6138500" y="2161478"/>
            <a:ext cx="26073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95072" lvl="0" marL="292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Improve landing page clarity and CTAs for insurance verification to lift VOB and viable rates at the mid-funnel.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95072" lvl="0" marL="292608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B2B2A"/>
              </a:buClr>
              <a:buSzPts val="1200"/>
              <a:buFont typeface="Manrope"/>
              <a:buChar char="■"/>
            </a:pPr>
            <a:r>
              <a:rPr lang="en" sz="1200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Deploy structured A/B tests on headlines, audience signals, and sitelinks to combat rising CPL and stabilize viable volume.</a:t>
            </a:r>
            <a:endParaRPr sz="1200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433950" y="177046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394" name="Google Shape;394;p38"/>
          <p:cNvCxnSpPr>
            <a:endCxn id="393" idx="3"/>
          </p:cNvCxnSpPr>
          <p:nvPr/>
        </p:nvCxnSpPr>
        <p:spPr>
          <a:xfrm rot="10800000">
            <a:off x="960150" y="1862863"/>
            <a:ext cx="20940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" name="Google Shape;395;p38"/>
          <p:cNvSpPr txBox="1"/>
          <p:nvPr/>
        </p:nvSpPr>
        <p:spPr>
          <a:xfrm>
            <a:off x="3554300" y="1770463"/>
            <a:ext cx="52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</a:t>
            </a:r>
            <a:endParaRPr sz="1200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cxnSp>
        <p:nvCxnSpPr>
          <p:cNvPr id="396" name="Google Shape;396;p38"/>
          <p:cNvCxnSpPr>
            <a:endCxn id="395" idx="3"/>
          </p:cNvCxnSpPr>
          <p:nvPr/>
        </p:nvCxnSpPr>
        <p:spPr>
          <a:xfrm rot="10800000">
            <a:off x="4080500" y="1862863"/>
            <a:ext cx="4666500" cy="0"/>
          </a:xfrm>
          <a:prstGeom prst="straightConnector1">
            <a:avLst/>
          </a:prstGeom>
          <a:noFill/>
          <a:ln cap="flat" cmpd="sng" w="19050">
            <a:solidFill>
              <a:srgbClr val="FF2F0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8"/>
          <p:cNvSpPr/>
          <p:nvPr/>
        </p:nvSpPr>
        <p:spPr>
          <a:xfrm>
            <a:off x="433950" y="676800"/>
            <a:ext cx="65448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100" lIns="78225" spcFirstLastPara="1" rIns="78225" wrap="square" tIns="391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91"/>
              <a:buFont typeface="Inter"/>
              <a:buNone/>
            </a:pPr>
            <a:r>
              <a:rPr b="1" lang="en" sz="3022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Reducing CPA Through Budget Allocation &amp; Funnel Optimization</a:t>
            </a:r>
            <a:endParaRPr b="1" i="0" sz="3022" u="none" cap="none" strike="noStrike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373352" y="3647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 Q1 Tactics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399" name="Google Shape;399;p38" title="W Full blk t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350" y="4709300"/>
            <a:ext cx="1026251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/>
          <p:nvPr/>
        </p:nvSpPr>
        <p:spPr>
          <a:xfrm>
            <a:off x="1096343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405" name="Google Shape;405;p39"/>
          <p:cNvSpPr/>
          <p:nvPr/>
        </p:nvSpPr>
        <p:spPr>
          <a:xfrm>
            <a:off x="1278905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04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406" name="Google Shape;406;p39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9"/>
          <p:cNvSpPr/>
          <p:nvPr/>
        </p:nvSpPr>
        <p:spPr>
          <a:xfrm>
            <a:off x="750900" y="2102400"/>
            <a:ext cx="76422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Roadmap &amp; Alignment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2190750" y="2963150"/>
            <a:ext cx="5061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Our 12-month approach to drive center growth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3" name="Google Shape;413;p40"/>
          <p:cNvGraphicFramePr/>
          <p:nvPr/>
        </p:nvGraphicFramePr>
        <p:xfrm>
          <a:off x="393563" y="619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{7CEE94DB-0206-4185-989E-C597D3E152F6}</a:tableStyleId>
              </a:tblPr>
              <a:tblGrid>
                <a:gridCol w="524025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</a:tblGrid>
              <a:tr h="40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Goal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1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Restructure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2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3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4 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Scale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Q1 Initiatives</a:t>
                      </a:r>
                      <a:endParaRPr b="1" sz="7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Q2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Q4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 row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Initiatives</a:t>
                      </a:r>
                      <a:endParaRPr b="1"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Complete full technical SEO audit and implement priority fixes.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Refresh all thin or underdeveloped service pages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Conduct full keyword research + build a 12-month content roadmap.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Identify gaps preventing AI Overview eligibility (E-E-A-T + topical coverage).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Audit GBP + local listings to benchmark current local search performance.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high-value pages with deeper content to align with AI Overview structure.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Publish targeted supporting articles and FAQs to build topical authority.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Implement content updates and CRO improvements on key service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Launch location-focused content to improve local call volume.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 internal linking across core recovery topics.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Build new content clusters to capture broader recovery-related searches.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Enhance E-E-A-T signals (expert quotes, credentials, sourcing, schema).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Refresh top-performing pages to protect rankings and drive additional Calls/VOBs.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local SEO footprint with surrounding city + neighborhood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 pages for emerging AI Overview patterns as they continue to evolve.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Scale content output using updated credit allocation (more content updates).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Publish advanced authority content to differentiate CR from similar facilities.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Launch a year-end optimization sweep across all revenue-driving pages.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local authority with community-focused content and enhanced GBP presence.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Evaluate year-end NSM progress and build the next-year strategy.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331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1000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Ongoing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Content Optimization · Technical SEO · Local SEO · E-E-A-T Enhancement · CRO Improvements · AI Overview Preparedness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7925">
                <a:tc vMerge="1"/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Reporting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14" name="Google Shape;414;p40"/>
          <p:cNvSpPr/>
          <p:nvPr/>
        </p:nvSpPr>
        <p:spPr>
          <a:xfrm>
            <a:off x="784700" y="161200"/>
            <a:ext cx="1705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Content &amp; SEO Roadmap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415" name="Google Shape;415;p40"/>
          <p:cNvSpPr/>
          <p:nvPr/>
        </p:nvSpPr>
        <p:spPr>
          <a:xfrm>
            <a:off x="604325" y="20755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1"/>
          <p:cNvSpPr/>
          <p:nvPr/>
        </p:nvSpPr>
        <p:spPr>
          <a:xfrm>
            <a:off x="297550" y="578975"/>
            <a:ext cx="3559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0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Next Steps</a:t>
            </a:r>
            <a:endParaRPr i="0" sz="3000" u="none" cap="none" strike="noStrike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421" name="Google Shape;421;p41"/>
          <p:cNvSpPr/>
          <p:nvPr/>
        </p:nvSpPr>
        <p:spPr>
          <a:xfrm>
            <a:off x="520725" y="2219695"/>
            <a:ext cx="26148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Choose Your Content Credit Path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Select either the recommended reallocation (no added cost) or the Grow package for faster ranking gains.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3257700" y="2227520"/>
            <a:ext cx="26148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Approve Updated SEO Roadmap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Confirm the prioritized service pages and content updates that will drive call and VOB growth in Q1–Q2.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6008450" y="2234395"/>
            <a:ext cx="2614800" cy="15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Activate Local Visibility Enhancements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2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Enable GMB optimization, proximity signals, and supporting location content to strengthen map-driven call volume.</a:t>
            </a:r>
            <a:endParaRPr sz="12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546766" y="1850473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25" name="Google Shape;425;p41"/>
          <p:cNvSpPr/>
          <p:nvPr/>
        </p:nvSpPr>
        <p:spPr>
          <a:xfrm>
            <a:off x="651232" y="1791910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01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26" name="Google Shape;426;p41"/>
          <p:cNvCxnSpPr/>
          <p:nvPr/>
        </p:nvCxnSpPr>
        <p:spPr>
          <a:xfrm>
            <a:off x="546766" y="2051586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41"/>
          <p:cNvSpPr/>
          <p:nvPr/>
        </p:nvSpPr>
        <p:spPr>
          <a:xfrm>
            <a:off x="3285383" y="1854258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28" name="Google Shape;428;p41"/>
          <p:cNvSpPr/>
          <p:nvPr/>
        </p:nvSpPr>
        <p:spPr>
          <a:xfrm>
            <a:off x="3389849" y="1795695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02 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29" name="Google Shape;429;p41"/>
          <p:cNvCxnSpPr/>
          <p:nvPr/>
        </p:nvCxnSpPr>
        <p:spPr>
          <a:xfrm>
            <a:off x="3285383" y="2055371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41"/>
          <p:cNvSpPr/>
          <p:nvPr/>
        </p:nvSpPr>
        <p:spPr>
          <a:xfrm>
            <a:off x="6024000" y="1858711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31" name="Google Shape;431;p41"/>
          <p:cNvSpPr/>
          <p:nvPr/>
        </p:nvSpPr>
        <p:spPr>
          <a:xfrm>
            <a:off x="6128466" y="1800148"/>
            <a:ext cx="378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03 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32" name="Google Shape;432;p41"/>
          <p:cNvCxnSpPr/>
          <p:nvPr/>
        </p:nvCxnSpPr>
        <p:spPr>
          <a:xfrm>
            <a:off x="6024000" y="2059824"/>
            <a:ext cx="25626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1"/>
          <p:cNvSpPr/>
          <p:nvPr/>
        </p:nvSpPr>
        <p:spPr>
          <a:xfrm>
            <a:off x="373352" y="3647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Content &amp; SEO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8" name="Google Shape;438;p42"/>
          <p:cNvGraphicFramePr/>
          <p:nvPr/>
        </p:nvGraphicFramePr>
        <p:xfrm>
          <a:off x="394675" y="619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{7CEE94DB-0206-4185-989E-C597D3E152F6}</a:tableStyleId>
              </a:tblPr>
              <a:tblGrid>
                <a:gridCol w="524025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  <a:gridCol w="652550"/>
              </a:tblGrid>
              <a:tr h="40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Goal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1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Strengthen the Funnel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2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Deepen Intent &amp; Improve Viability</a:t>
                      </a:r>
                      <a:endParaRPr b="1" sz="8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3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Scale High-Fit Volume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Quarter 4 </a:t>
                      </a:r>
                      <a:endParaRPr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Accelerate Admit Growth</a:t>
                      </a:r>
                      <a:endParaRPr b="1" sz="9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Q1 Initiatives</a:t>
                      </a:r>
                      <a:endParaRPr b="1" sz="7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Q2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Q3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Q4 Initiatives</a:t>
                      </a:r>
                      <a:endParaRPr b="1" sz="7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</a:tr>
              <a:tr h="247925">
                <a:tc row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Channel Initiatives</a:t>
                      </a:r>
                      <a:endParaRPr b="1" sz="800">
                        <a:solidFill>
                          <a:srgbClr val="08080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Redirect budget toward high-performing campaigns with stronger Viable → Admit rates.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Reduce wasted spend by tightening geographic, audience, and negative keyword filters.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Refresh landing page messaging and insurance CTAs to improve VOB-ready conversions.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Audit all conversion tracking to ensure accurate viability and admit measurement.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Stabilize CPL and CPVOB through targeted bidding adjustments.</a:t>
                      </a:r>
                      <a:endParaRPr sz="9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AA98">
                        <a:alpha val="59380"/>
                      </a:srgbClr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insurance and residential-specific campaigns to increase qualified VOB flow.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Launch structured A/B testing for ad headlines, descriptions, and call-extensions.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Improve landing page conversion rate with streamlined form flow and clearer benefits.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Optimize audience segments to prioritize users with demonstrated treatment-seeking intent.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Enhance remarketing to recapture leads who showed mid-funnel intent but did not inquire.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Add new geo-expansion campaigns focused on nearby high-value markets.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Introduce additional upper- and mid-funnel creative (YouTube / Demand Gen) to support assisted conversions.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Strengthen insurance-focused funnel paths with tailored copy and segmented ad groups.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Deploy automated rules to increase spend during historically high-intent hours and days.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Build new ad variations informed by Q1–Q2 conversion insights.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  <a:tc gridSpan="3"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Expand winning campaign structures with additional budgets allocated to best-fit traffic sources.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Implement full-funnel creative refresh ahead of seasonal recovery peaks.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Add deeper audience layering using search intent, first-party data, and eligibility patterns.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Run end-of-year funnel diagnostics to identify remaining friction points impacting Cost per Admit.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1E1C2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Finalize next-year NSM plan using full-year admit, viability, and cost-efficiency learning.</a:t>
                      </a:r>
                      <a:endParaRPr sz="900">
                        <a:solidFill>
                          <a:srgbClr val="1E1C20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8" hMerge="1"/>
                <a:tc rowSpan="8" h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331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100000">
                <a:tc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  <a:tc gridSpan="3" vMerge="1"/>
                <a:tc hMerge="1" vMerge="1"/>
                <a:tc hMerge="1" vMerge="1"/>
              </a:tr>
              <a:tr h="247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80808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Ongoing</a:t>
                      </a:r>
                      <a:endParaRPr b="1" sz="800">
                        <a:solidFill>
                          <a:srgbClr val="080808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5858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Ad creative optimization • Bidding strategy refinement • Negative keyword governance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1AA9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7925">
                <a:tc vMerge="1"/>
                <a:tc gridSpan="1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EAEAEA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Weekly pacing + budget control • Funnel diagnostics • Conversion rate optimization • Cross-channel reporting</a:t>
                      </a:r>
                      <a:endParaRPr sz="900">
                        <a:solidFill>
                          <a:srgbClr val="EAEAEA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8B7B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080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439" name="Google Shape;439;p42"/>
          <p:cNvSpPr/>
          <p:nvPr/>
        </p:nvSpPr>
        <p:spPr>
          <a:xfrm>
            <a:off x="762900" y="139011"/>
            <a:ext cx="1459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080808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 Roadmap</a:t>
            </a:r>
            <a:endParaRPr i="1" sz="983">
              <a:solidFill>
                <a:srgbClr val="080808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582525" y="185351"/>
            <a:ext cx="82800" cy="831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74500" lIns="74500" spcFirstLastPara="1" rIns="74500" wrap="square" tIns="74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A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/>
          <p:nvPr/>
        </p:nvSpPr>
        <p:spPr>
          <a:xfrm>
            <a:off x="520550" y="1944975"/>
            <a:ext cx="34467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Confirm Budget Reallocation Plan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Finalize the shift toward higher-performing campaigns to reduce wasted spend and strengthen Cost per Admit efficiency.</a:t>
            </a:r>
            <a:endParaRPr sz="11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6" name="Google Shape;446;p43"/>
          <p:cNvSpPr/>
          <p:nvPr/>
        </p:nvSpPr>
        <p:spPr>
          <a:xfrm>
            <a:off x="555050" y="1705900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47" name="Google Shape;447;p43"/>
          <p:cNvSpPr/>
          <p:nvPr/>
        </p:nvSpPr>
        <p:spPr>
          <a:xfrm>
            <a:off x="692746" y="1647325"/>
            <a:ext cx="498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01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48" name="Google Shape;448;p43"/>
          <p:cNvCxnSpPr/>
          <p:nvPr/>
        </p:nvCxnSpPr>
        <p:spPr>
          <a:xfrm>
            <a:off x="555049" y="1907000"/>
            <a:ext cx="33777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3"/>
          <p:cNvSpPr/>
          <p:nvPr/>
        </p:nvSpPr>
        <p:spPr>
          <a:xfrm>
            <a:off x="5341613" y="1944975"/>
            <a:ext cx="34467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Approve Q1 Paid Media Roadmap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Align on the prioritized initiatives for improving viable volume, refining audiences, and increasing admit-ready intent.</a:t>
            </a:r>
            <a:endParaRPr sz="11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0" name="Google Shape;450;p43"/>
          <p:cNvSpPr/>
          <p:nvPr/>
        </p:nvSpPr>
        <p:spPr>
          <a:xfrm>
            <a:off x="5376113" y="1705900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51" name="Google Shape;451;p43"/>
          <p:cNvSpPr/>
          <p:nvPr/>
        </p:nvSpPr>
        <p:spPr>
          <a:xfrm>
            <a:off x="5513809" y="1647325"/>
            <a:ext cx="498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02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52" name="Google Shape;452;p43"/>
          <p:cNvCxnSpPr/>
          <p:nvPr/>
        </p:nvCxnSpPr>
        <p:spPr>
          <a:xfrm>
            <a:off x="5376113" y="1907000"/>
            <a:ext cx="33777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" name="Google Shape;453;p43"/>
          <p:cNvSpPr/>
          <p:nvPr/>
        </p:nvSpPr>
        <p:spPr>
          <a:xfrm>
            <a:off x="520550" y="3534625"/>
            <a:ext cx="36060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Refresh Landing Page &amp; Conv. Paths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Implement recommended updates to insurance CTAs, form flow, and page messaging to support stronger VOB and admit conversions.</a:t>
            </a:r>
            <a:endParaRPr sz="11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4" name="Google Shape;454;p43"/>
          <p:cNvSpPr/>
          <p:nvPr/>
        </p:nvSpPr>
        <p:spPr>
          <a:xfrm>
            <a:off x="555050" y="3295550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55" name="Google Shape;455;p43"/>
          <p:cNvSpPr/>
          <p:nvPr/>
        </p:nvSpPr>
        <p:spPr>
          <a:xfrm>
            <a:off x="692746" y="3236975"/>
            <a:ext cx="498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03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56" name="Google Shape;456;p43"/>
          <p:cNvCxnSpPr/>
          <p:nvPr/>
        </p:nvCxnSpPr>
        <p:spPr>
          <a:xfrm>
            <a:off x="555049" y="3496650"/>
            <a:ext cx="33777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3"/>
          <p:cNvSpPr/>
          <p:nvPr/>
        </p:nvSpPr>
        <p:spPr>
          <a:xfrm>
            <a:off x="5341613" y="3534625"/>
            <a:ext cx="36702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b="1" lang="en" sz="1550">
                <a:solidFill>
                  <a:srgbClr val="080808"/>
                </a:solidFill>
                <a:latin typeface="Archivo"/>
                <a:ea typeface="Archivo"/>
                <a:cs typeface="Archivo"/>
                <a:sym typeface="Archivo"/>
              </a:rPr>
              <a:t>Validate Tracking &amp; Funnel Accuracy</a:t>
            </a:r>
            <a:endParaRPr b="1" sz="1550">
              <a:solidFill>
                <a:srgbClr val="08080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lang="en" sz="1133">
                <a:solidFill>
                  <a:srgbClr val="2B2B2A"/>
                </a:solidFill>
                <a:latin typeface="Archivo"/>
                <a:ea typeface="Archivo"/>
                <a:cs typeface="Archivo"/>
                <a:sym typeface="Archivo"/>
              </a:rPr>
              <a:t>Confirm all lead, VOB, viable, and admit events are firing correctly to ensure reliable optimization and reporting.</a:t>
            </a:r>
            <a:endParaRPr sz="1133">
              <a:solidFill>
                <a:srgbClr val="2B2B2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8" name="Google Shape;458;p43"/>
          <p:cNvSpPr/>
          <p:nvPr/>
        </p:nvSpPr>
        <p:spPr>
          <a:xfrm>
            <a:off x="5376113" y="3295550"/>
            <a:ext cx="104400" cy="1044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/>
          </a:p>
        </p:txBody>
      </p:sp>
      <p:sp>
        <p:nvSpPr>
          <p:cNvPr id="459" name="Google Shape;459;p43"/>
          <p:cNvSpPr/>
          <p:nvPr/>
        </p:nvSpPr>
        <p:spPr>
          <a:xfrm>
            <a:off x="5513809" y="3236975"/>
            <a:ext cx="498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975" lIns="85925" spcFirstLastPara="1" rIns="85925" wrap="square" tIns="42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987"/>
              <a:buFont typeface="Inter"/>
              <a:buNone/>
            </a:pPr>
            <a:r>
              <a:rPr i="1" lang="en" sz="1239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04</a:t>
            </a:r>
            <a:endParaRPr i="1" sz="1239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cxnSp>
        <p:nvCxnSpPr>
          <p:cNvPr id="460" name="Google Shape;460;p43"/>
          <p:cNvCxnSpPr/>
          <p:nvPr/>
        </p:nvCxnSpPr>
        <p:spPr>
          <a:xfrm>
            <a:off x="5376113" y="3496650"/>
            <a:ext cx="3377700" cy="0"/>
          </a:xfrm>
          <a:prstGeom prst="straightConnector1">
            <a:avLst/>
          </a:prstGeom>
          <a:noFill/>
          <a:ln cap="flat" cmpd="sng" w="9775">
            <a:solidFill>
              <a:srgbClr val="B8B7B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43"/>
          <p:cNvSpPr/>
          <p:nvPr/>
        </p:nvSpPr>
        <p:spPr>
          <a:xfrm>
            <a:off x="297550" y="578975"/>
            <a:ext cx="3559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000">
                <a:solidFill>
                  <a:srgbClr val="080808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Next Steps</a:t>
            </a:r>
            <a:endParaRPr i="0" sz="3000" u="none" cap="none" strike="noStrike">
              <a:solidFill>
                <a:srgbClr val="080808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373352" y="364725"/>
            <a:ext cx="1411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100" lIns="68175" spcFirstLastPara="1" rIns="68175" wrap="square" tIns="34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783"/>
              <a:buFont typeface="Inter"/>
              <a:buNone/>
            </a:pPr>
            <a:r>
              <a:rPr i="1" lang="en" sz="983">
                <a:solidFill>
                  <a:srgbClr val="2B2B2A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Paid Media</a:t>
            </a:r>
            <a:endParaRPr i="1" sz="983">
              <a:solidFill>
                <a:srgbClr val="2B2B2A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4"/>
          <p:cNvSpPr/>
          <p:nvPr/>
        </p:nvSpPr>
        <p:spPr>
          <a:xfrm>
            <a:off x="1817764" y="1990263"/>
            <a:ext cx="182700" cy="182700"/>
          </a:xfrm>
          <a:prstGeom prst="ellipse">
            <a:avLst/>
          </a:prstGeom>
          <a:solidFill>
            <a:srgbClr val="FF2F0A"/>
          </a:solidFill>
          <a:ln>
            <a:noFill/>
          </a:ln>
        </p:spPr>
        <p:txBody>
          <a:bodyPr anchorCtr="0" anchor="ctr" bIns="164100" lIns="164100" spcFirstLastPara="1" rIns="164100" wrap="square" tIns="164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13"/>
          </a:p>
        </p:txBody>
      </p:sp>
      <p:sp>
        <p:nvSpPr>
          <p:cNvPr id="468" name="Google Shape;468;p44"/>
          <p:cNvSpPr/>
          <p:nvPr/>
        </p:nvSpPr>
        <p:spPr>
          <a:xfrm>
            <a:off x="2000325" y="1887916"/>
            <a:ext cx="660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00" lIns="150175" spcFirstLastPara="1" rIns="150175" wrap="square" tIns="75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725"/>
              <a:buFont typeface="Inter"/>
              <a:buNone/>
            </a:pPr>
            <a:r>
              <a:rPr i="1" lang="en" sz="2165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05</a:t>
            </a:r>
            <a:endParaRPr i="1" sz="2165">
              <a:solidFill>
                <a:schemeClr val="lt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pic>
        <p:nvPicPr>
          <p:cNvPr id="469" name="Google Shape;469;p44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738" y="201625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4"/>
          <p:cNvSpPr/>
          <p:nvPr/>
        </p:nvSpPr>
        <p:spPr>
          <a:xfrm>
            <a:off x="750900" y="2102400"/>
            <a:ext cx="7642200" cy="93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Partnership Items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1" name="Google Shape;471;p44"/>
          <p:cNvSpPr/>
          <p:nvPr/>
        </p:nvSpPr>
        <p:spPr>
          <a:xfrm>
            <a:off x="2190750" y="2889881"/>
            <a:ext cx="50616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8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Strengthening our partnership</a:t>
            </a:r>
            <a:endParaRPr sz="18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8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5"/>
          <p:cNvSpPr/>
          <p:nvPr/>
        </p:nvSpPr>
        <p:spPr>
          <a:xfrm>
            <a:off x="3992425" y="972150"/>
            <a:ext cx="44547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800">
                <a:solidFill>
                  <a:srgbClr val="FF2F0A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Win-Win </a:t>
            </a:r>
            <a:endParaRPr sz="3800">
              <a:solidFill>
                <a:srgbClr val="FF2F0A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lang="en" sz="3800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Referral Program</a:t>
            </a:r>
            <a:endParaRPr i="0" sz="3800" u="none" cap="none" strike="noStrike">
              <a:solidFill>
                <a:schemeClr val="lt1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3992425" y="2035938"/>
            <a:ext cx="44040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Know another rehab center or business that could use help growing their admissions? 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Refer them to us - and when they become a client, you both win. They get expert marketing support, and you get a service credit as a thank-you. Helping others grow helps you grow too!</a:t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EAEAEA"/>
                </a:solidFill>
                <a:latin typeface="Archivo"/>
                <a:ea typeface="Archivo"/>
                <a:cs typeface="Archivo"/>
                <a:sym typeface="Archivo"/>
              </a:rPr>
              <a:t>If there is anyone in your network you think could benefit from our Paid Media, Content, and SEO services, please let us know. </a:t>
            </a:r>
            <a:endParaRPr sz="1450">
              <a:solidFill>
                <a:srgbClr val="EAEAE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479" name="Google Shape;479;p45" title="W Full blk txt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163" y="4629950"/>
            <a:ext cx="1025576" cy="2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080808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46" title="W Full blk tx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9200" y="4180000"/>
            <a:ext cx="1025576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6"/>
          <p:cNvSpPr/>
          <p:nvPr/>
        </p:nvSpPr>
        <p:spPr>
          <a:xfrm>
            <a:off x="750900" y="1285350"/>
            <a:ext cx="7642200" cy="138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50"/>
              <a:buFont typeface="Inter"/>
              <a:buNone/>
            </a:pPr>
            <a:r>
              <a:rPr b="1" lang="en" sz="5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Thank you for your continued partnership.</a:t>
            </a:r>
            <a:endParaRPr b="1" sz="5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6" name="Google Shape;486;p46"/>
          <p:cNvSpPr/>
          <p:nvPr/>
        </p:nvSpPr>
        <p:spPr>
          <a:xfrm>
            <a:off x="1483200" y="2831375"/>
            <a:ext cx="61776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CC0C5"/>
              </a:buClr>
              <a:buSzPts val="1050"/>
              <a:buFont typeface="Inter"/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Every partnership helps us move closer to our goal of connecting </a:t>
            </a:r>
            <a:r>
              <a:rPr b="1" i="1" lang="en" sz="1000">
                <a:solidFill>
                  <a:srgbClr val="FF2F0A"/>
                </a:solidFill>
                <a:latin typeface="Archivo"/>
                <a:ea typeface="Archivo"/>
                <a:cs typeface="Archivo"/>
                <a:sym typeface="Archivo"/>
              </a:rPr>
              <a:t>30,000 </a:t>
            </a: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people with treatment by 2030. Thank you for sharing the same purpose and commitment to meaningful results.</a:t>
            </a:r>
            <a:endParaRPr i="0" sz="10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