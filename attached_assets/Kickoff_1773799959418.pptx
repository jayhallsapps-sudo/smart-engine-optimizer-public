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Poppins"/>
      <p:regular r:id="rId23"/>
      <p:bold r:id="rId24"/>
      <p:italic r:id="rId25"/>
      <p:boldItalic r:id="rId26"/>
    </p:embeddedFont>
    <p:embeddedFont>
      <p:font typeface="Inter"/>
      <p:regular r:id="rId27"/>
      <p:bold r:id="rId28"/>
      <p:italic r:id="rId29"/>
      <p:boldItalic r:id="rId30"/>
    </p:embeddedFont>
    <p:embeddedFont>
      <p:font typeface="Archivo Medium"/>
      <p:regular r:id="rId31"/>
      <p:bold r:id="rId32"/>
      <p:italic r:id="rId33"/>
      <p:boldItalic r:id="rId34"/>
    </p:embeddedFont>
    <p:embeddedFont>
      <p:font typeface="Poppins Light"/>
      <p:regular r:id="rId35"/>
      <p:bold r:id="rId36"/>
      <p:italic r:id="rId37"/>
      <p:boldItalic r:id="rId38"/>
    </p:embeddedFont>
    <p:embeddedFont>
      <p:font typeface="Poppins SemiBold"/>
      <p:regular r:id="rId39"/>
      <p:bold r:id="rId40"/>
      <p:italic r:id="rId41"/>
      <p:boldItalic r:id="rId42"/>
    </p:embeddedFont>
    <p:embeddedFont>
      <p:font typeface="Mulish Medium"/>
      <p:regular r:id="rId43"/>
      <p:bold r:id="rId44"/>
      <p:italic r:id="rId45"/>
      <p:boldItalic r:id="rId46"/>
    </p:embeddedFont>
    <p:embeddedFont>
      <p:font typeface="Inter Medium"/>
      <p:regular r:id="rId47"/>
      <p:bold r:id="rId48"/>
      <p:italic r:id="rId49"/>
      <p:boldItalic r:id="rId50"/>
    </p:embeddedFont>
    <p:embeddedFont>
      <p:font typeface="Archivo"/>
      <p:regular r:id="rId51"/>
      <p:bold r:id="rId52"/>
      <p:italic r:id="rId53"/>
      <p:boldItalic r:id="rId54"/>
    </p:embeddedFont>
    <p:embeddedFont>
      <p:font typeface="Archivo SemiBold"/>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2F967E9-65F7-4894-8DEE-E04453A42EB7}">
  <a:tblStyle styleId="{02F967E9-65F7-4894-8DEE-E04453A42EB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PoppinsSemiBold-bold.fntdata"/><Relationship Id="rId42" Type="http://schemas.openxmlformats.org/officeDocument/2006/relationships/font" Target="fonts/PoppinsSemiBold-boldItalic.fntdata"/><Relationship Id="rId41" Type="http://schemas.openxmlformats.org/officeDocument/2006/relationships/font" Target="fonts/PoppinsSemiBold-italic.fntdata"/><Relationship Id="rId44" Type="http://schemas.openxmlformats.org/officeDocument/2006/relationships/font" Target="fonts/MulishMedium-bold.fntdata"/><Relationship Id="rId43" Type="http://schemas.openxmlformats.org/officeDocument/2006/relationships/font" Target="fonts/MulishMedium-regular.fntdata"/><Relationship Id="rId46" Type="http://schemas.openxmlformats.org/officeDocument/2006/relationships/font" Target="fonts/MulishMedium-boldItalic.fntdata"/><Relationship Id="rId45" Type="http://schemas.openxmlformats.org/officeDocument/2006/relationships/font" Target="fonts/MulishMedium-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InterMedium-bold.fntdata"/><Relationship Id="rId47" Type="http://schemas.openxmlformats.org/officeDocument/2006/relationships/font" Target="fonts/InterMedium-regular.fntdata"/><Relationship Id="rId49" Type="http://schemas.openxmlformats.org/officeDocument/2006/relationships/font" Target="fonts/InterMedium-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ArchivoMedium-regular.fntdata"/><Relationship Id="rId30" Type="http://schemas.openxmlformats.org/officeDocument/2006/relationships/font" Target="fonts/Inter-boldItalic.fntdata"/><Relationship Id="rId33" Type="http://schemas.openxmlformats.org/officeDocument/2006/relationships/font" Target="fonts/ArchivoMedium-italic.fntdata"/><Relationship Id="rId32" Type="http://schemas.openxmlformats.org/officeDocument/2006/relationships/font" Target="fonts/ArchivoMedium-bold.fntdata"/><Relationship Id="rId35" Type="http://schemas.openxmlformats.org/officeDocument/2006/relationships/font" Target="fonts/PoppinsLight-regular.fntdata"/><Relationship Id="rId34" Type="http://schemas.openxmlformats.org/officeDocument/2006/relationships/font" Target="fonts/ArchivoMedium-boldItalic.fntdata"/><Relationship Id="rId37" Type="http://schemas.openxmlformats.org/officeDocument/2006/relationships/font" Target="fonts/PoppinsLight-italic.fntdata"/><Relationship Id="rId36" Type="http://schemas.openxmlformats.org/officeDocument/2006/relationships/font" Target="fonts/PoppinsLight-bold.fntdata"/><Relationship Id="rId39" Type="http://schemas.openxmlformats.org/officeDocument/2006/relationships/font" Target="fonts/PoppinsSemiBold-regular.fntdata"/><Relationship Id="rId38" Type="http://schemas.openxmlformats.org/officeDocument/2006/relationships/font" Target="fonts/PoppinsLight-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Poppins-bold.fntdata"/><Relationship Id="rId23" Type="http://schemas.openxmlformats.org/officeDocument/2006/relationships/font" Target="fonts/Poppins-regular.fntdata"/><Relationship Id="rId26" Type="http://schemas.openxmlformats.org/officeDocument/2006/relationships/font" Target="fonts/Poppins-boldItalic.fntdata"/><Relationship Id="rId25" Type="http://schemas.openxmlformats.org/officeDocument/2006/relationships/font" Target="fonts/Poppins-italic.fntdata"/><Relationship Id="rId28" Type="http://schemas.openxmlformats.org/officeDocument/2006/relationships/font" Target="fonts/Inter-bold.fntdata"/><Relationship Id="rId27" Type="http://schemas.openxmlformats.org/officeDocument/2006/relationships/font" Target="fonts/Inter-regular.fntdata"/><Relationship Id="rId29" Type="http://schemas.openxmlformats.org/officeDocument/2006/relationships/font" Target="fonts/Inter-italic.fntdata"/><Relationship Id="rId51" Type="http://schemas.openxmlformats.org/officeDocument/2006/relationships/font" Target="fonts/Archivo-regular.fntdata"/><Relationship Id="rId50" Type="http://schemas.openxmlformats.org/officeDocument/2006/relationships/font" Target="fonts/InterMedium-boldItalic.fntdata"/><Relationship Id="rId53" Type="http://schemas.openxmlformats.org/officeDocument/2006/relationships/font" Target="fonts/Archivo-italic.fntdata"/><Relationship Id="rId52" Type="http://schemas.openxmlformats.org/officeDocument/2006/relationships/font" Target="fonts/Archivo-bold.fntdata"/><Relationship Id="rId11" Type="http://schemas.openxmlformats.org/officeDocument/2006/relationships/slide" Target="slides/slide5.xml"/><Relationship Id="rId55" Type="http://schemas.openxmlformats.org/officeDocument/2006/relationships/font" Target="fonts/ArchivoSemiBold-regular.fntdata"/><Relationship Id="rId10" Type="http://schemas.openxmlformats.org/officeDocument/2006/relationships/slide" Target="slides/slide4.xml"/><Relationship Id="rId54" Type="http://schemas.openxmlformats.org/officeDocument/2006/relationships/font" Target="fonts/Archivo-boldItalic.fntdata"/><Relationship Id="rId13" Type="http://schemas.openxmlformats.org/officeDocument/2006/relationships/slide" Target="slides/slide7.xml"/><Relationship Id="rId57" Type="http://schemas.openxmlformats.org/officeDocument/2006/relationships/font" Target="fonts/ArchivoSemiBold-italic.fntdata"/><Relationship Id="rId12" Type="http://schemas.openxmlformats.org/officeDocument/2006/relationships/slide" Target="slides/slide6.xml"/><Relationship Id="rId56" Type="http://schemas.openxmlformats.org/officeDocument/2006/relationships/font" Target="fonts/ArchivoSemiBold-bold.fntdata"/><Relationship Id="rId15" Type="http://schemas.openxmlformats.org/officeDocument/2006/relationships/slide" Target="slides/slide9.xml"/><Relationship Id="rId14" Type="http://schemas.openxmlformats.org/officeDocument/2006/relationships/slide" Target="slides/slide8.xml"/><Relationship Id="rId58" Type="http://schemas.openxmlformats.org/officeDocument/2006/relationships/font" Target="fonts/ArchivoSemiBold-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cb3ce8be2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g3cb3ce8be2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b108a19007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b108a19007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cb3ce8be2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g3cb3ce8be25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ca961eb39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g3ca961eb39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ca961eb394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g3ca961eb394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b108a19007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b108a19007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b108a19007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b108a19007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cb3ce8be25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g3cb3ce8be25_0_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b108a19007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b108a19007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ca63ecebf8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ca63ecebf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b108a19007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b108a19007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b108a19007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b108a19007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b108a19007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b108a19007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cb3ce8be25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g3cb3ce8be25_0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b108a19007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b108a19007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b108a19007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b108a19007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List">
  <p:cSld name="DEFAULT">
    <p:spTree>
      <p:nvGrpSpPr>
        <p:cNvPr id="51" name="Shape 51"/>
        <p:cNvGrpSpPr/>
        <p:nvPr/>
      </p:nvGrpSpPr>
      <p:grpSpPr>
        <a:xfrm>
          <a:off x="0" y="0"/>
          <a:ext cx="0" cy="0"/>
          <a:chOff x="0" y="0"/>
          <a:chExt cx="0" cy="0"/>
        </a:xfrm>
      </p:grpSpPr>
      <p:cxnSp>
        <p:nvCxnSpPr>
          <p:cNvPr id="52" name="Google Shape;52;p14"/>
          <p:cNvCxnSpPr/>
          <p:nvPr/>
        </p:nvCxnSpPr>
        <p:spPr>
          <a:xfrm>
            <a:off x="-7300" y="4673817"/>
            <a:ext cx="9180300" cy="0"/>
          </a:xfrm>
          <a:prstGeom prst="straightConnector1">
            <a:avLst/>
          </a:prstGeom>
          <a:noFill/>
          <a:ln cap="flat" cmpd="sng" w="9525">
            <a:solidFill>
              <a:schemeClr val="dk2"/>
            </a:solidFill>
            <a:prstDash val="solid"/>
            <a:round/>
            <a:headEnd len="med" w="med" type="none"/>
            <a:tailEnd len="med" w="med" type="none"/>
          </a:ln>
        </p:spPr>
      </p:cxnSp>
      <p:sp>
        <p:nvSpPr>
          <p:cNvPr id="53" name="Google Shape;53;p14"/>
          <p:cNvSpPr txBox="1"/>
          <p:nvPr>
            <p:ph type="title"/>
          </p:nvPr>
        </p:nvSpPr>
        <p:spPr>
          <a:xfrm>
            <a:off x="171950" y="272275"/>
            <a:ext cx="4901700" cy="640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Font typeface="Inter Medium"/>
              <a:buNone/>
              <a:defRPr sz="2400">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4"/>
          <p:cNvSpPr txBox="1"/>
          <p:nvPr>
            <p:ph idx="1" type="body"/>
          </p:nvPr>
        </p:nvSpPr>
        <p:spPr>
          <a:xfrm>
            <a:off x="535050" y="1074900"/>
            <a:ext cx="4672200" cy="26562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rgbClr val="FF2F0A"/>
              </a:buClr>
              <a:buSzPts val="1400"/>
              <a:buFont typeface="Archivo"/>
              <a:buChar char="●"/>
              <a:defRPr>
                <a:latin typeface="Archivo"/>
                <a:ea typeface="Archivo"/>
                <a:cs typeface="Archivo"/>
                <a:sym typeface="Archivo"/>
              </a:defRPr>
            </a:lvl1pPr>
            <a:lvl2pPr indent="-317500" lvl="1" marL="914400">
              <a:spcBef>
                <a:spcPts val="0"/>
              </a:spcBef>
              <a:spcAft>
                <a:spcPts val="0"/>
              </a:spcAft>
              <a:buClr>
                <a:srgbClr val="FF2F0A"/>
              </a:buClr>
              <a:buSzPts val="1400"/>
              <a:buFont typeface="Archivo"/>
              <a:buChar char="○"/>
              <a:defRPr>
                <a:latin typeface="Archivo"/>
                <a:ea typeface="Archivo"/>
                <a:cs typeface="Archivo"/>
                <a:sym typeface="Archivo"/>
              </a:defRPr>
            </a:lvl2pPr>
            <a:lvl3pPr indent="-317500" lvl="2" marL="1371600">
              <a:spcBef>
                <a:spcPts val="0"/>
              </a:spcBef>
              <a:spcAft>
                <a:spcPts val="0"/>
              </a:spcAft>
              <a:buClr>
                <a:srgbClr val="FF2F0A"/>
              </a:buClr>
              <a:buSzPts val="1400"/>
              <a:buFont typeface="Archivo"/>
              <a:buChar char="■"/>
              <a:defRPr>
                <a:latin typeface="Archivo"/>
                <a:ea typeface="Archivo"/>
                <a:cs typeface="Archivo"/>
                <a:sym typeface="Archivo"/>
              </a:defRPr>
            </a:lvl3pPr>
            <a:lvl4pPr indent="-317500" lvl="3" marL="1828800">
              <a:spcBef>
                <a:spcPts val="0"/>
              </a:spcBef>
              <a:spcAft>
                <a:spcPts val="0"/>
              </a:spcAft>
              <a:buClr>
                <a:srgbClr val="FF2F0A"/>
              </a:buClr>
              <a:buSzPts val="1400"/>
              <a:buFont typeface="Archivo"/>
              <a:buChar char="●"/>
              <a:defRPr>
                <a:latin typeface="Archivo"/>
                <a:ea typeface="Archivo"/>
                <a:cs typeface="Archivo"/>
                <a:sym typeface="Archivo"/>
              </a:defRPr>
            </a:lvl4pPr>
            <a:lvl5pPr indent="-317500" lvl="4" marL="2286000">
              <a:spcBef>
                <a:spcPts val="0"/>
              </a:spcBef>
              <a:spcAft>
                <a:spcPts val="0"/>
              </a:spcAft>
              <a:buClr>
                <a:srgbClr val="FF2F0A"/>
              </a:buClr>
              <a:buSzPts val="1400"/>
              <a:buFont typeface="Archivo"/>
              <a:buChar char="○"/>
              <a:defRPr>
                <a:latin typeface="Archivo"/>
                <a:ea typeface="Archivo"/>
                <a:cs typeface="Archivo"/>
                <a:sym typeface="Archivo"/>
              </a:defRPr>
            </a:lvl5pPr>
            <a:lvl6pPr indent="-317500" lvl="5" marL="2743200">
              <a:spcBef>
                <a:spcPts val="0"/>
              </a:spcBef>
              <a:spcAft>
                <a:spcPts val="0"/>
              </a:spcAft>
              <a:buClr>
                <a:srgbClr val="FF0000"/>
              </a:buClr>
              <a:buSzPts val="1400"/>
              <a:buFont typeface="Archivo"/>
              <a:buChar char="■"/>
              <a:defRPr>
                <a:latin typeface="Archivo"/>
                <a:ea typeface="Archivo"/>
                <a:cs typeface="Archivo"/>
                <a:sym typeface="Archivo"/>
              </a:defRPr>
            </a:lvl6pPr>
            <a:lvl7pPr indent="-317500" lvl="6" marL="3200400">
              <a:spcBef>
                <a:spcPts val="0"/>
              </a:spcBef>
              <a:spcAft>
                <a:spcPts val="0"/>
              </a:spcAft>
              <a:buClr>
                <a:srgbClr val="FF0000"/>
              </a:buClr>
              <a:buSzPts val="1400"/>
              <a:buFont typeface="Archivo"/>
              <a:buChar char="●"/>
              <a:defRPr>
                <a:latin typeface="Archivo"/>
                <a:ea typeface="Archivo"/>
                <a:cs typeface="Archivo"/>
                <a:sym typeface="Archivo"/>
              </a:defRPr>
            </a:lvl7pPr>
            <a:lvl8pPr indent="-317500" lvl="7" marL="3657600">
              <a:spcBef>
                <a:spcPts val="0"/>
              </a:spcBef>
              <a:spcAft>
                <a:spcPts val="0"/>
              </a:spcAft>
              <a:buClr>
                <a:srgbClr val="FF2F0A"/>
              </a:buClr>
              <a:buSzPts val="1400"/>
              <a:buFont typeface="Archivo"/>
              <a:buChar char="○"/>
              <a:defRPr>
                <a:latin typeface="Archivo"/>
                <a:ea typeface="Archivo"/>
                <a:cs typeface="Archivo"/>
                <a:sym typeface="Archivo"/>
              </a:defRPr>
            </a:lvl8pPr>
            <a:lvl9pPr indent="-317500" lvl="8" marL="4114800">
              <a:spcBef>
                <a:spcPts val="0"/>
              </a:spcBef>
              <a:spcAft>
                <a:spcPts val="0"/>
              </a:spcAft>
              <a:buClr>
                <a:srgbClr val="FF0000"/>
              </a:buClr>
              <a:buSzPts val="1400"/>
              <a:buFont typeface="Archivo"/>
              <a:buChar char="■"/>
              <a:defRPr>
                <a:latin typeface="Archivo"/>
                <a:ea typeface="Archivo"/>
                <a:cs typeface="Archivo"/>
                <a:sym typeface="Archivo"/>
              </a:defRPr>
            </a:lvl9pPr>
          </a:lstStyle>
          <a:p/>
        </p:txBody>
      </p:sp>
      <p:pic>
        <p:nvPicPr>
          <p:cNvPr id="55" name="Google Shape;55;p14" title="W Full blk txt.png"/>
          <p:cNvPicPr preferRelativeResize="0"/>
          <p:nvPr/>
        </p:nvPicPr>
        <p:blipFill>
          <a:blip r:embed="rId2">
            <a:alphaModFix/>
          </a:blip>
          <a:stretch>
            <a:fillRect/>
          </a:stretch>
        </p:blipFill>
        <p:spPr>
          <a:xfrm>
            <a:off x="194475" y="4804579"/>
            <a:ext cx="826800" cy="19842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bg>
      <p:bgPr>
        <a:solidFill>
          <a:schemeClr val="lt1"/>
        </a:solidFill>
      </p:bgPr>
    </p:bg>
    <p:spTree>
      <p:nvGrpSpPr>
        <p:cNvPr id="56" name="Shape 56"/>
        <p:cNvGrpSpPr/>
        <p:nvPr/>
      </p:nvGrpSpPr>
      <p:grpSpPr>
        <a:xfrm>
          <a:off x="0" y="0"/>
          <a:ext cx="0" cy="0"/>
          <a:chOff x="0" y="0"/>
          <a:chExt cx="0" cy="0"/>
        </a:xfrm>
      </p:grpSpPr>
      <p:sp>
        <p:nvSpPr>
          <p:cNvPr id="57" name="Google Shape;57;p15"/>
          <p:cNvSpPr txBox="1"/>
          <p:nvPr/>
        </p:nvSpPr>
        <p:spPr>
          <a:xfrm>
            <a:off x="477400" y="4808225"/>
            <a:ext cx="10620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900">
                <a:solidFill>
                  <a:schemeClr val="lt1"/>
                </a:solidFill>
                <a:latin typeface="Archivo Medium"/>
                <a:ea typeface="Archivo Medium"/>
                <a:cs typeface="Archivo Medium"/>
                <a:sym typeface="Archivo Medium"/>
              </a:rPr>
              <a:t>2025</a:t>
            </a:r>
            <a:endParaRPr sz="900">
              <a:solidFill>
                <a:schemeClr val="lt1"/>
              </a:solidFill>
              <a:latin typeface="Archivo Medium"/>
              <a:ea typeface="Archivo Medium"/>
              <a:cs typeface="Archivo Medium"/>
              <a:sym typeface="Archivo Medium"/>
            </a:endParaRPr>
          </a:p>
        </p:txBody>
      </p:sp>
      <p:sp>
        <p:nvSpPr>
          <p:cNvPr id="58" name="Google Shape;58;p15"/>
          <p:cNvSpPr txBox="1"/>
          <p:nvPr/>
        </p:nvSpPr>
        <p:spPr>
          <a:xfrm flipH="1">
            <a:off x="4295890" y="4808230"/>
            <a:ext cx="552300" cy="207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fld id="{00000000-1234-1234-1234-123412341234}" type="slidenum">
              <a:rPr b="0" lang="en" sz="900">
                <a:solidFill>
                  <a:schemeClr val="lt1"/>
                </a:solidFill>
                <a:latin typeface="Mulish Medium"/>
                <a:ea typeface="Mulish Medium"/>
                <a:cs typeface="Mulish Medium"/>
                <a:sym typeface="Mulish Medium"/>
              </a:rPr>
              <a:t>‹#›</a:t>
            </a:fld>
            <a:endParaRPr b="0" sz="900">
              <a:solidFill>
                <a:schemeClr val="lt1"/>
              </a:solidFill>
              <a:latin typeface="Mulish Medium"/>
              <a:ea typeface="Mulish Medium"/>
              <a:cs typeface="Mulish Medium"/>
              <a:sym typeface="Mulish Medium"/>
            </a:endParaRPr>
          </a:p>
        </p:txBody>
      </p:sp>
      <p:cxnSp>
        <p:nvCxnSpPr>
          <p:cNvPr id="59" name="Google Shape;59;p15"/>
          <p:cNvCxnSpPr/>
          <p:nvPr/>
        </p:nvCxnSpPr>
        <p:spPr>
          <a:xfrm>
            <a:off x="-7300" y="4673817"/>
            <a:ext cx="9180300" cy="0"/>
          </a:xfrm>
          <a:prstGeom prst="straightConnector1">
            <a:avLst/>
          </a:prstGeom>
          <a:noFill/>
          <a:ln cap="flat" cmpd="sng" w="9525">
            <a:solidFill>
              <a:schemeClr val="dk2"/>
            </a:solidFill>
            <a:prstDash val="solid"/>
            <a:round/>
            <a:headEnd len="med" w="med" type="none"/>
            <a:tailEnd len="med" w="med" type="none"/>
          </a:ln>
        </p:spPr>
      </p:cxnSp>
      <p:pic>
        <p:nvPicPr>
          <p:cNvPr id="60" name="Google Shape;60;p15" title="W Full blk txt.png"/>
          <p:cNvPicPr preferRelativeResize="0"/>
          <p:nvPr/>
        </p:nvPicPr>
        <p:blipFill>
          <a:blip r:embed="rId2">
            <a:alphaModFix/>
          </a:blip>
          <a:stretch>
            <a:fillRect/>
          </a:stretch>
        </p:blipFill>
        <p:spPr>
          <a:xfrm>
            <a:off x="194475" y="4804579"/>
            <a:ext cx="826800" cy="198425"/>
          </a:xfrm>
          <a:prstGeom prst="rect">
            <a:avLst/>
          </a:prstGeom>
          <a:noFill/>
          <a:ln>
            <a:noFill/>
          </a:ln>
        </p:spPr>
      </p:pic>
      <p:sp>
        <p:nvSpPr>
          <p:cNvPr id="61" name="Google Shape;61;p15"/>
          <p:cNvSpPr txBox="1"/>
          <p:nvPr>
            <p:ph type="title"/>
          </p:nvPr>
        </p:nvSpPr>
        <p:spPr>
          <a:xfrm>
            <a:off x="171950" y="272275"/>
            <a:ext cx="4901700" cy="640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Font typeface="Inter Medium"/>
              <a:buNone/>
              <a:defRPr sz="2400">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5"/>
          <p:cNvSpPr txBox="1"/>
          <p:nvPr>
            <p:ph idx="1" type="body"/>
          </p:nvPr>
        </p:nvSpPr>
        <p:spPr>
          <a:xfrm>
            <a:off x="535050" y="1074900"/>
            <a:ext cx="4672200" cy="26562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rgbClr val="FF2F0A"/>
              </a:buClr>
              <a:buSzPts val="1400"/>
              <a:buFont typeface="Archivo"/>
              <a:buChar char="●"/>
              <a:defRPr>
                <a:latin typeface="Archivo"/>
                <a:ea typeface="Archivo"/>
                <a:cs typeface="Archivo"/>
                <a:sym typeface="Archivo"/>
              </a:defRPr>
            </a:lvl1pPr>
            <a:lvl2pPr indent="-317500" lvl="1" marL="914400">
              <a:spcBef>
                <a:spcPts val="0"/>
              </a:spcBef>
              <a:spcAft>
                <a:spcPts val="0"/>
              </a:spcAft>
              <a:buClr>
                <a:srgbClr val="FF2F0A"/>
              </a:buClr>
              <a:buSzPts val="1400"/>
              <a:buFont typeface="Archivo"/>
              <a:buChar char="○"/>
              <a:defRPr>
                <a:latin typeface="Archivo"/>
                <a:ea typeface="Archivo"/>
                <a:cs typeface="Archivo"/>
                <a:sym typeface="Archivo"/>
              </a:defRPr>
            </a:lvl2pPr>
            <a:lvl3pPr indent="-317500" lvl="2" marL="1371600">
              <a:spcBef>
                <a:spcPts val="0"/>
              </a:spcBef>
              <a:spcAft>
                <a:spcPts val="0"/>
              </a:spcAft>
              <a:buClr>
                <a:srgbClr val="FF2F0A"/>
              </a:buClr>
              <a:buSzPts val="1400"/>
              <a:buFont typeface="Archivo"/>
              <a:buChar char="■"/>
              <a:defRPr>
                <a:latin typeface="Archivo"/>
                <a:ea typeface="Archivo"/>
                <a:cs typeface="Archivo"/>
                <a:sym typeface="Archivo"/>
              </a:defRPr>
            </a:lvl3pPr>
            <a:lvl4pPr indent="-317500" lvl="3" marL="1828800">
              <a:spcBef>
                <a:spcPts val="0"/>
              </a:spcBef>
              <a:spcAft>
                <a:spcPts val="0"/>
              </a:spcAft>
              <a:buClr>
                <a:srgbClr val="FF2F0A"/>
              </a:buClr>
              <a:buSzPts val="1400"/>
              <a:buFont typeface="Archivo"/>
              <a:buChar char="●"/>
              <a:defRPr>
                <a:latin typeface="Archivo"/>
                <a:ea typeface="Archivo"/>
                <a:cs typeface="Archivo"/>
                <a:sym typeface="Archivo"/>
              </a:defRPr>
            </a:lvl4pPr>
            <a:lvl5pPr indent="-317500" lvl="4" marL="2286000">
              <a:spcBef>
                <a:spcPts val="0"/>
              </a:spcBef>
              <a:spcAft>
                <a:spcPts val="0"/>
              </a:spcAft>
              <a:buClr>
                <a:srgbClr val="FF2F0A"/>
              </a:buClr>
              <a:buSzPts val="1400"/>
              <a:buFont typeface="Archivo"/>
              <a:buChar char="○"/>
              <a:defRPr>
                <a:latin typeface="Archivo"/>
                <a:ea typeface="Archivo"/>
                <a:cs typeface="Archivo"/>
                <a:sym typeface="Archivo"/>
              </a:defRPr>
            </a:lvl5pPr>
            <a:lvl6pPr indent="-317500" lvl="5" marL="2743200">
              <a:spcBef>
                <a:spcPts val="0"/>
              </a:spcBef>
              <a:spcAft>
                <a:spcPts val="0"/>
              </a:spcAft>
              <a:buClr>
                <a:srgbClr val="FF0000"/>
              </a:buClr>
              <a:buSzPts val="1400"/>
              <a:buFont typeface="Archivo"/>
              <a:buChar char="■"/>
              <a:defRPr>
                <a:latin typeface="Archivo"/>
                <a:ea typeface="Archivo"/>
                <a:cs typeface="Archivo"/>
                <a:sym typeface="Archivo"/>
              </a:defRPr>
            </a:lvl6pPr>
            <a:lvl7pPr indent="-317500" lvl="6" marL="3200400">
              <a:spcBef>
                <a:spcPts val="0"/>
              </a:spcBef>
              <a:spcAft>
                <a:spcPts val="0"/>
              </a:spcAft>
              <a:buClr>
                <a:srgbClr val="FF0000"/>
              </a:buClr>
              <a:buSzPts val="1400"/>
              <a:buFont typeface="Archivo"/>
              <a:buChar char="●"/>
              <a:defRPr>
                <a:latin typeface="Archivo"/>
                <a:ea typeface="Archivo"/>
                <a:cs typeface="Archivo"/>
                <a:sym typeface="Archivo"/>
              </a:defRPr>
            </a:lvl7pPr>
            <a:lvl8pPr indent="-317500" lvl="7" marL="3657600">
              <a:spcBef>
                <a:spcPts val="0"/>
              </a:spcBef>
              <a:spcAft>
                <a:spcPts val="0"/>
              </a:spcAft>
              <a:buClr>
                <a:srgbClr val="FF2F0A"/>
              </a:buClr>
              <a:buSzPts val="1400"/>
              <a:buFont typeface="Archivo"/>
              <a:buChar char="○"/>
              <a:defRPr>
                <a:latin typeface="Archivo"/>
                <a:ea typeface="Archivo"/>
                <a:cs typeface="Archivo"/>
                <a:sym typeface="Archivo"/>
              </a:defRPr>
            </a:lvl8pPr>
            <a:lvl9pPr indent="-317500" lvl="8" marL="4114800">
              <a:spcBef>
                <a:spcPts val="0"/>
              </a:spcBef>
              <a:spcAft>
                <a:spcPts val="0"/>
              </a:spcAft>
              <a:buClr>
                <a:srgbClr val="FF0000"/>
              </a:buClr>
              <a:buSzPts val="1400"/>
              <a:buFont typeface="Archivo"/>
              <a:buChar char="■"/>
              <a:defRPr>
                <a:latin typeface="Archivo"/>
                <a:ea typeface="Archivo"/>
                <a:cs typeface="Archivo"/>
                <a:sym typeface="Archiv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1" showMasterSp="0">
  <p:cSld name="1_Title Slide_1">
    <p:bg>
      <p:bgPr>
        <a:solidFill>
          <a:schemeClr val="lt1"/>
        </a:solidFill>
      </p:bgPr>
    </p:bg>
    <p:spTree>
      <p:nvGrpSpPr>
        <p:cNvPr id="63" name="Shape 63"/>
        <p:cNvGrpSpPr/>
        <p:nvPr/>
      </p:nvGrpSpPr>
      <p:grpSpPr>
        <a:xfrm>
          <a:off x="0" y="0"/>
          <a:ext cx="0" cy="0"/>
          <a:chOff x="0" y="0"/>
          <a:chExt cx="0" cy="0"/>
        </a:xfrm>
      </p:grpSpPr>
      <p:sp>
        <p:nvSpPr>
          <p:cNvPr id="64" name="Google Shape;64;p16"/>
          <p:cNvSpPr/>
          <p:nvPr/>
        </p:nvSpPr>
        <p:spPr>
          <a:xfrm>
            <a:off x="5876200" y="-119475"/>
            <a:ext cx="3296700" cy="53220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 name="Google Shape;65;p16"/>
          <p:cNvSpPr txBox="1"/>
          <p:nvPr/>
        </p:nvSpPr>
        <p:spPr>
          <a:xfrm>
            <a:off x="477400" y="4808225"/>
            <a:ext cx="10620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 sz="900">
                <a:solidFill>
                  <a:schemeClr val="lt1"/>
                </a:solidFill>
                <a:latin typeface="Archivo Medium"/>
                <a:ea typeface="Archivo Medium"/>
                <a:cs typeface="Archivo Medium"/>
                <a:sym typeface="Archivo Medium"/>
              </a:rPr>
              <a:t>2025</a:t>
            </a:r>
            <a:endParaRPr sz="900">
              <a:solidFill>
                <a:schemeClr val="lt1"/>
              </a:solidFill>
              <a:latin typeface="Archivo Medium"/>
              <a:ea typeface="Archivo Medium"/>
              <a:cs typeface="Archivo Medium"/>
              <a:sym typeface="Archivo Medium"/>
            </a:endParaRPr>
          </a:p>
        </p:txBody>
      </p:sp>
      <p:sp>
        <p:nvSpPr>
          <p:cNvPr id="66" name="Google Shape;66;p16"/>
          <p:cNvSpPr txBox="1"/>
          <p:nvPr/>
        </p:nvSpPr>
        <p:spPr>
          <a:xfrm flipH="1">
            <a:off x="4295890" y="4808230"/>
            <a:ext cx="552300" cy="207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fld id="{00000000-1234-1234-1234-123412341234}" type="slidenum">
              <a:rPr b="0" lang="en" sz="900">
                <a:solidFill>
                  <a:schemeClr val="lt1"/>
                </a:solidFill>
                <a:latin typeface="Mulish Medium"/>
                <a:ea typeface="Mulish Medium"/>
                <a:cs typeface="Mulish Medium"/>
                <a:sym typeface="Mulish Medium"/>
              </a:rPr>
              <a:t>‹#›</a:t>
            </a:fld>
            <a:endParaRPr b="0" sz="900">
              <a:solidFill>
                <a:schemeClr val="lt1"/>
              </a:solidFill>
              <a:latin typeface="Mulish Medium"/>
              <a:ea typeface="Mulish Medium"/>
              <a:cs typeface="Mulish Medium"/>
              <a:sym typeface="Mulish Medium"/>
            </a:endParaRPr>
          </a:p>
        </p:txBody>
      </p:sp>
      <p:pic>
        <p:nvPicPr>
          <p:cNvPr id="67" name="Google Shape;67;p16" title="W Full blk txt.png"/>
          <p:cNvPicPr preferRelativeResize="0"/>
          <p:nvPr/>
        </p:nvPicPr>
        <p:blipFill>
          <a:blip r:embed="rId2">
            <a:alphaModFix/>
          </a:blip>
          <a:stretch>
            <a:fillRect/>
          </a:stretch>
        </p:blipFill>
        <p:spPr>
          <a:xfrm>
            <a:off x="194475" y="4804579"/>
            <a:ext cx="826800" cy="198425"/>
          </a:xfrm>
          <a:prstGeom prst="rect">
            <a:avLst/>
          </a:prstGeom>
          <a:noFill/>
          <a:ln>
            <a:noFill/>
          </a:ln>
        </p:spPr>
      </p:pic>
      <p:cxnSp>
        <p:nvCxnSpPr>
          <p:cNvPr id="68" name="Google Shape;68;p16"/>
          <p:cNvCxnSpPr/>
          <p:nvPr/>
        </p:nvCxnSpPr>
        <p:spPr>
          <a:xfrm>
            <a:off x="-7300" y="4673817"/>
            <a:ext cx="9180300" cy="0"/>
          </a:xfrm>
          <a:prstGeom prst="straightConnector1">
            <a:avLst/>
          </a:prstGeom>
          <a:noFill/>
          <a:ln cap="flat" cmpd="sng" w="9525">
            <a:solidFill>
              <a:schemeClr val="dk2"/>
            </a:solidFill>
            <a:prstDash val="solid"/>
            <a:round/>
            <a:headEnd len="med" w="med" type="none"/>
            <a:tailEnd len="med" w="med" type="none"/>
          </a:ln>
        </p:spPr>
      </p:cxnSp>
      <p:sp>
        <p:nvSpPr>
          <p:cNvPr id="69" name="Google Shape;69;p16"/>
          <p:cNvSpPr txBox="1"/>
          <p:nvPr>
            <p:ph type="title"/>
          </p:nvPr>
        </p:nvSpPr>
        <p:spPr>
          <a:xfrm>
            <a:off x="171950" y="272275"/>
            <a:ext cx="4901700" cy="640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Font typeface="Inter Medium"/>
              <a:buNone/>
              <a:defRPr sz="2400">
                <a:latin typeface="Inter Medium"/>
                <a:ea typeface="Inter Medium"/>
                <a:cs typeface="Inter Medium"/>
                <a:sym typeface="Inter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txBox="1"/>
          <p:nvPr>
            <p:ph idx="1" type="body"/>
          </p:nvPr>
        </p:nvSpPr>
        <p:spPr>
          <a:xfrm>
            <a:off x="535050" y="1074900"/>
            <a:ext cx="4672200" cy="26562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rgbClr val="FF2F0A"/>
              </a:buClr>
              <a:buSzPts val="1400"/>
              <a:buFont typeface="Archivo"/>
              <a:buChar char="●"/>
              <a:defRPr>
                <a:latin typeface="Archivo"/>
                <a:ea typeface="Archivo"/>
                <a:cs typeface="Archivo"/>
                <a:sym typeface="Archivo"/>
              </a:defRPr>
            </a:lvl1pPr>
            <a:lvl2pPr indent="-317500" lvl="1" marL="914400">
              <a:spcBef>
                <a:spcPts val="0"/>
              </a:spcBef>
              <a:spcAft>
                <a:spcPts val="0"/>
              </a:spcAft>
              <a:buClr>
                <a:srgbClr val="FF2F0A"/>
              </a:buClr>
              <a:buSzPts val="1400"/>
              <a:buFont typeface="Archivo"/>
              <a:buChar char="○"/>
              <a:defRPr>
                <a:latin typeface="Archivo"/>
                <a:ea typeface="Archivo"/>
                <a:cs typeface="Archivo"/>
                <a:sym typeface="Archivo"/>
              </a:defRPr>
            </a:lvl2pPr>
            <a:lvl3pPr indent="-317500" lvl="2" marL="1371600">
              <a:spcBef>
                <a:spcPts val="0"/>
              </a:spcBef>
              <a:spcAft>
                <a:spcPts val="0"/>
              </a:spcAft>
              <a:buClr>
                <a:srgbClr val="FF2F0A"/>
              </a:buClr>
              <a:buSzPts val="1400"/>
              <a:buFont typeface="Archivo"/>
              <a:buChar char="■"/>
              <a:defRPr>
                <a:latin typeface="Archivo"/>
                <a:ea typeface="Archivo"/>
                <a:cs typeface="Archivo"/>
                <a:sym typeface="Archivo"/>
              </a:defRPr>
            </a:lvl3pPr>
            <a:lvl4pPr indent="-317500" lvl="3" marL="1828800">
              <a:spcBef>
                <a:spcPts val="0"/>
              </a:spcBef>
              <a:spcAft>
                <a:spcPts val="0"/>
              </a:spcAft>
              <a:buClr>
                <a:srgbClr val="FF2F0A"/>
              </a:buClr>
              <a:buSzPts val="1400"/>
              <a:buFont typeface="Archivo"/>
              <a:buChar char="●"/>
              <a:defRPr>
                <a:latin typeface="Archivo"/>
                <a:ea typeface="Archivo"/>
                <a:cs typeface="Archivo"/>
                <a:sym typeface="Archivo"/>
              </a:defRPr>
            </a:lvl4pPr>
            <a:lvl5pPr indent="-317500" lvl="4" marL="2286000">
              <a:spcBef>
                <a:spcPts val="0"/>
              </a:spcBef>
              <a:spcAft>
                <a:spcPts val="0"/>
              </a:spcAft>
              <a:buClr>
                <a:srgbClr val="FF2F0A"/>
              </a:buClr>
              <a:buSzPts val="1400"/>
              <a:buFont typeface="Archivo"/>
              <a:buChar char="○"/>
              <a:defRPr>
                <a:latin typeface="Archivo"/>
                <a:ea typeface="Archivo"/>
                <a:cs typeface="Archivo"/>
                <a:sym typeface="Archivo"/>
              </a:defRPr>
            </a:lvl5pPr>
            <a:lvl6pPr indent="-317500" lvl="5" marL="2743200">
              <a:spcBef>
                <a:spcPts val="0"/>
              </a:spcBef>
              <a:spcAft>
                <a:spcPts val="0"/>
              </a:spcAft>
              <a:buClr>
                <a:srgbClr val="FF0000"/>
              </a:buClr>
              <a:buSzPts val="1400"/>
              <a:buFont typeface="Archivo"/>
              <a:buChar char="■"/>
              <a:defRPr>
                <a:latin typeface="Archivo"/>
                <a:ea typeface="Archivo"/>
                <a:cs typeface="Archivo"/>
                <a:sym typeface="Archivo"/>
              </a:defRPr>
            </a:lvl6pPr>
            <a:lvl7pPr indent="-317500" lvl="6" marL="3200400">
              <a:spcBef>
                <a:spcPts val="0"/>
              </a:spcBef>
              <a:spcAft>
                <a:spcPts val="0"/>
              </a:spcAft>
              <a:buClr>
                <a:srgbClr val="FF0000"/>
              </a:buClr>
              <a:buSzPts val="1400"/>
              <a:buFont typeface="Archivo"/>
              <a:buChar char="●"/>
              <a:defRPr>
                <a:latin typeface="Archivo"/>
                <a:ea typeface="Archivo"/>
                <a:cs typeface="Archivo"/>
                <a:sym typeface="Archivo"/>
              </a:defRPr>
            </a:lvl7pPr>
            <a:lvl8pPr indent="-317500" lvl="7" marL="3657600">
              <a:spcBef>
                <a:spcPts val="0"/>
              </a:spcBef>
              <a:spcAft>
                <a:spcPts val="0"/>
              </a:spcAft>
              <a:buClr>
                <a:srgbClr val="FF2F0A"/>
              </a:buClr>
              <a:buSzPts val="1400"/>
              <a:buFont typeface="Archivo"/>
              <a:buChar char="○"/>
              <a:defRPr>
                <a:latin typeface="Archivo"/>
                <a:ea typeface="Archivo"/>
                <a:cs typeface="Archivo"/>
                <a:sym typeface="Archivo"/>
              </a:defRPr>
            </a:lvl8pPr>
            <a:lvl9pPr indent="-317500" lvl="8" marL="4114800">
              <a:spcBef>
                <a:spcPts val="0"/>
              </a:spcBef>
              <a:spcAft>
                <a:spcPts val="0"/>
              </a:spcAft>
              <a:buClr>
                <a:srgbClr val="FF0000"/>
              </a:buClr>
              <a:buSzPts val="1400"/>
              <a:buFont typeface="Archivo"/>
              <a:buChar char="■"/>
              <a:defRPr>
                <a:latin typeface="Archivo"/>
                <a:ea typeface="Archivo"/>
                <a:cs typeface="Archivo"/>
                <a:sym typeface="Archiv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1">
  <p:cSld name="DEFAULT_1">
    <p:bg>
      <p:bgPr>
        <a:solidFill>
          <a:schemeClr val="lt1"/>
        </a:solidFill>
      </p:bgPr>
    </p:bg>
    <p:spTree>
      <p:nvGrpSpPr>
        <p:cNvPr id="71" name="Shape 7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808"/>
        </a:solidFill>
      </p:bgPr>
    </p:bg>
    <p:spTree>
      <p:nvGrpSpPr>
        <p:cNvPr id="75" name="Shape 75"/>
        <p:cNvGrpSpPr/>
        <p:nvPr/>
      </p:nvGrpSpPr>
      <p:grpSpPr>
        <a:xfrm>
          <a:off x="0" y="0"/>
          <a:ext cx="0" cy="0"/>
          <a:chOff x="0" y="0"/>
          <a:chExt cx="0" cy="0"/>
        </a:xfrm>
      </p:grpSpPr>
      <p:sp>
        <p:nvSpPr>
          <p:cNvPr id="76" name="Google Shape;76;p18"/>
          <p:cNvSpPr/>
          <p:nvPr/>
        </p:nvSpPr>
        <p:spPr>
          <a:xfrm>
            <a:off x="259950" y="4076674"/>
            <a:ext cx="5105400" cy="7905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BCC0C5"/>
              </a:buClr>
              <a:buSzPts val="1050"/>
              <a:buFont typeface="Inter"/>
              <a:buNone/>
            </a:pPr>
            <a:r>
              <a:rPr lang="en" sz="1200">
                <a:solidFill>
                  <a:schemeClr val="lt1"/>
                </a:solidFill>
                <a:latin typeface="Archivo SemiBold"/>
                <a:ea typeface="Archivo SemiBold"/>
                <a:cs typeface="Archivo SemiBold"/>
                <a:sym typeface="Archivo SemiBold"/>
              </a:rPr>
              <a:t>Content &amp; SEO</a:t>
            </a:r>
            <a:endParaRPr i="0" sz="1200" u="none" cap="none" strike="noStrike">
              <a:solidFill>
                <a:schemeClr val="lt1"/>
              </a:solidFill>
              <a:latin typeface="Archivo Medium"/>
              <a:ea typeface="Archivo Medium"/>
              <a:cs typeface="Archivo Medium"/>
              <a:sym typeface="Archivo Medium"/>
            </a:endParaRPr>
          </a:p>
          <a:p>
            <a:pPr indent="0" lvl="0" marL="0" marR="0" rtl="0" algn="l">
              <a:lnSpc>
                <a:spcPct val="120000"/>
              </a:lnSpc>
              <a:spcBef>
                <a:spcPts val="0"/>
              </a:spcBef>
              <a:spcAft>
                <a:spcPts val="0"/>
              </a:spcAft>
              <a:buClr>
                <a:srgbClr val="BCC0C5"/>
              </a:buClr>
              <a:buSzPts val="1050"/>
              <a:buFont typeface="Inter"/>
              <a:buNone/>
            </a:pPr>
            <a:r>
              <a:rPr i="0" lang="en" sz="1200" u="none" cap="none" strike="noStrike">
                <a:solidFill>
                  <a:schemeClr val="lt1"/>
                </a:solidFill>
                <a:latin typeface="Archivo Medium"/>
                <a:ea typeface="Archivo Medium"/>
                <a:cs typeface="Archivo Medium"/>
                <a:sym typeface="Archivo Medium"/>
              </a:rPr>
              <a:t>Date: </a:t>
            </a:r>
            <a:r>
              <a:rPr lang="en" sz="1200">
                <a:solidFill>
                  <a:schemeClr val="lt1"/>
                </a:solidFill>
                <a:latin typeface="Archivo Medium"/>
                <a:ea typeface="Archivo Medium"/>
                <a:cs typeface="Archivo Medium"/>
                <a:sym typeface="Archivo Medium"/>
              </a:rPr>
              <a:t>March 4,</a:t>
            </a:r>
            <a:r>
              <a:rPr lang="en" sz="1200">
                <a:solidFill>
                  <a:schemeClr val="lt1"/>
                </a:solidFill>
                <a:latin typeface="Archivo Medium"/>
                <a:ea typeface="Archivo Medium"/>
                <a:cs typeface="Archivo Medium"/>
                <a:sym typeface="Archivo Medium"/>
              </a:rPr>
              <a:t> 2026</a:t>
            </a:r>
            <a:endParaRPr i="0" sz="1200" u="none" cap="none" strike="noStrike">
              <a:solidFill>
                <a:schemeClr val="lt1"/>
              </a:solidFill>
              <a:latin typeface="Archivo Medium"/>
              <a:ea typeface="Archivo Medium"/>
              <a:cs typeface="Archivo Medium"/>
              <a:sym typeface="Archivo Medium"/>
            </a:endParaRPr>
          </a:p>
        </p:txBody>
      </p:sp>
      <p:sp>
        <p:nvSpPr>
          <p:cNvPr id="77" name="Google Shape;77;p18"/>
          <p:cNvSpPr/>
          <p:nvPr/>
        </p:nvSpPr>
        <p:spPr>
          <a:xfrm>
            <a:off x="272285" y="3064949"/>
            <a:ext cx="7424400" cy="29670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BCC0C5"/>
              </a:buClr>
              <a:buSzPts val="1050"/>
              <a:buFont typeface="Inter"/>
              <a:buNone/>
            </a:pPr>
            <a:r>
              <a:rPr b="1" lang="en" sz="1650">
                <a:solidFill>
                  <a:schemeClr val="lt1"/>
                </a:solidFill>
                <a:latin typeface="Archivo"/>
                <a:ea typeface="Archivo"/>
                <a:cs typeface="Archivo"/>
                <a:sym typeface="Archivo"/>
              </a:rPr>
              <a:t>Horseshoe Ridge RV Park| horseshoeridgerv.com</a:t>
            </a:r>
            <a:endParaRPr i="0" sz="1650" u="none" cap="none" strike="noStrike">
              <a:solidFill>
                <a:schemeClr val="lt1"/>
              </a:solidFill>
              <a:latin typeface="Archivo"/>
              <a:ea typeface="Archivo"/>
              <a:cs typeface="Archivo"/>
              <a:sym typeface="Archivo"/>
            </a:endParaRPr>
          </a:p>
        </p:txBody>
      </p:sp>
      <p:sp>
        <p:nvSpPr>
          <p:cNvPr id="78" name="Google Shape;78;p18"/>
          <p:cNvSpPr/>
          <p:nvPr/>
        </p:nvSpPr>
        <p:spPr>
          <a:xfrm>
            <a:off x="247615" y="1310159"/>
            <a:ext cx="7692000" cy="1832400"/>
          </a:xfrm>
          <a:prstGeom prst="rect">
            <a:avLst/>
          </a:prstGeom>
          <a:noFill/>
          <a:ln>
            <a:noFill/>
          </a:ln>
        </p:spPr>
        <p:txBody>
          <a:bodyPr anchorCtr="0" anchor="t" bIns="45700" lIns="91425" spcFirstLastPara="1" rIns="91425" wrap="square" tIns="45700">
            <a:noAutofit/>
          </a:bodyPr>
          <a:lstStyle/>
          <a:p>
            <a:pPr indent="0" lvl="0" marL="0" marR="0" rtl="0" algn="just">
              <a:lnSpc>
                <a:spcPct val="75000"/>
              </a:lnSpc>
              <a:spcBef>
                <a:spcPts val="0"/>
              </a:spcBef>
              <a:spcAft>
                <a:spcPts val="0"/>
              </a:spcAft>
              <a:buClr>
                <a:srgbClr val="FFFFFF"/>
              </a:buClr>
              <a:buSzPts val="5250"/>
              <a:buFont typeface="Inter"/>
              <a:buNone/>
            </a:pPr>
            <a:r>
              <a:rPr lang="en" sz="8000">
                <a:solidFill>
                  <a:srgbClr val="FF2F0A"/>
                </a:solidFill>
                <a:latin typeface="Archivo SemiBold"/>
                <a:ea typeface="Archivo SemiBold"/>
                <a:cs typeface="Archivo SemiBold"/>
                <a:sym typeface="Archivo SemiBold"/>
              </a:rPr>
              <a:t>SEO</a:t>
            </a:r>
            <a:endParaRPr sz="8000">
              <a:solidFill>
                <a:srgbClr val="FF2F0A"/>
              </a:solidFill>
              <a:latin typeface="Archivo SemiBold"/>
              <a:ea typeface="Archivo SemiBold"/>
              <a:cs typeface="Archivo SemiBold"/>
              <a:sym typeface="Archivo SemiBold"/>
            </a:endParaRPr>
          </a:p>
          <a:p>
            <a:pPr indent="0" lvl="0" marL="0" marR="0" rtl="0" algn="just">
              <a:lnSpc>
                <a:spcPct val="75000"/>
              </a:lnSpc>
              <a:spcBef>
                <a:spcPts val="0"/>
              </a:spcBef>
              <a:spcAft>
                <a:spcPts val="0"/>
              </a:spcAft>
              <a:buClr>
                <a:srgbClr val="FFFFFF"/>
              </a:buClr>
              <a:buSzPts val="5250"/>
              <a:buFont typeface="Inter"/>
              <a:buNone/>
            </a:pPr>
            <a:r>
              <a:rPr lang="en" sz="8000">
                <a:solidFill>
                  <a:srgbClr val="F9F9F9"/>
                </a:solidFill>
                <a:latin typeface="Archivo SemiBold"/>
                <a:ea typeface="Archivo SemiBold"/>
                <a:cs typeface="Archivo SemiBold"/>
                <a:sym typeface="Archivo SemiBold"/>
              </a:rPr>
              <a:t>KICKOFF</a:t>
            </a:r>
            <a:endParaRPr sz="8000">
              <a:solidFill>
                <a:srgbClr val="F9F9F9"/>
              </a:solidFill>
              <a:latin typeface="Archivo SemiBold"/>
              <a:ea typeface="Archivo SemiBold"/>
              <a:cs typeface="Archivo SemiBold"/>
              <a:sym typeface="Archivo SemiBold"/>
            </a:endParaRPr>
          </a:p>
        </p:txBody>
      </p:sp>
      <p:pic>
        <p:nvPicPr>
          <p:cNvPr id="79" name="Google Shape;79;p18" title="W Full blk txt (1).png"/>
          <p:cNvPicPr preferRelativeResize="0"/>
          <p:nvPr/>
        </p:nvPicPr>
        <p:blipFill>
          <a:blip r:embed="rId3">
            <a:alphaModFix/>
          </a:blip>
          <a:stretch>
            <a:fillRect/>
          </a:stretch>
        </p:blipFill>
        <p:spPr>
          <a:xfrm>
            <a:off x="390860" y="995849"/>
            <a:ext cx="1026250" cy="24645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9"/>
          <p:cNvSpPr txBox="1"/>
          <p:nvPr>
            <p:ph type="title"/>
          </p:nvPr>
        </p:nvSpPr>
        <p:spPr>
          <a:xfrm>
            <a:off x="171950" y="272275"/>
            <a:ext cx="49017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Your Account Team</a:t>
            </a:r>
            <a:endParaRPr/>
          </a:p>
        </p:txBody>
      </p:sp>
      <p:sp>
        <p:nvSpPr>
          <p:cNvPr id="85" name="Google Shape;85;p19"/>
          <p:cNvSpPr txBox="1"/>
          <p:nvPr/>
        </p:nvSpPr>
        <p:spPr>
          <a:xfrm>
            <a:off x="1613175" y="1169288"/>
            <a:ext cx="2574000" cy="854700"/>
          </a:xfrm>
          <a:prstGeom prst="rect">
            <a:avLst/>
          </a:prstGeom>
          <a:noFill/>
          <a:ln>
            <a:noFill/>
          </a:ln>
        </p:spPr>
        <p:txBody>
          <a:bodyPr anchorCtr="0" anchor="t" bIns="91425" lIns="91425" spcFirstLastPara="1" rIns="91425" wrap="square" tIns="0">
            <a:noAutofit/>
          </a:bodyPr>
          <a:lstStyle/>
          <a:p>
            <a:pPr indent="0" lvl="0" marL="0" marR="0" rtl="0" algn="l">
              <a:lnSpc>
                <a:spcPct val="115000"/>
              </a:lnSpc>
              <a:spcBef>
                <a:spcPts val="0"/>
              </a:spcBef>
              <a:spcAft>
                <a:spcPts val="0"/>
              </a:spcAft>
              <a:buNone/>
            </a:pPr>
            <a:r>
              <a:rPr lang="en" sz="1100">
                <a:solidFill>
                  <a:srgbClr val="272224"/>
                </a:solidFill>
                <a:latin typeface="Poppins SemiBold"/>
                <a:ea typeface="Poppins SemiBold"/>
                <a:cs typeface="Poppins SemiBold"/>
                <a:sym typeface="Poppins SemiBold"/>
              </a:rPr>
              <a:t>Jay Hall</a:t>
            </a:r>
            <a:endParaRPr sz="1100">
              <a:solidFill>
                <a:srgbClr val="272224"/>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rPr i="1" lang="en" sz="900">
                <a:solidFill>
                  <a:srgbClr val="272224"/>
                </a:solidFill>
                <a:latin typeface="Poppins"/>
                <a:ea typeface="Poppins"/>
                <a:cs typeface="Poppins"/>
                <a:sym typeface="Poppins"/>
              </a:rPr>
              <a:t>Account Manager - Main Point of Contact</a:t>
            </a:r>
            <a:endParaRPr i="1" sz="900">
              <a:solidFill>
                <a:srgbClr val="272224"/>
              </a:solidFill>
              <a:latin typeface="Poppins"/>
              <a:ea typeface="Poppins"/>
              <a:cs typeface="Poppins"/>
              <a:sym typeface="Poppins"/>
            </a:endParaRPr>
          </a:p>
          <a:p>
            <a:pPr indent="0" lvl="0" marL="0" rtl="0" algn="l">
              <a:lnSpc>
                <a:spcPct val="115000"/>
              </a:lnSpc>
              <a:spcBef>
                <a:spcPts val="0"/>
              </a:spcBef>
              <a:spcAft>
                <a:spcPts val="0"/>
              </a:spcAft>
              <a:buNone/>
            </a:pPr>
            <a:r>
              <a:t/>
            </a:r>
            <a:endParaRPr i="1" sz="900">
              <a:solidFill>
                <a:srgbClr val="272224"/>
              </a:solidFill>
              <a:latin typeface="Poppins"/>
              <a:ea typeface="Poppins"/>
              <a:cs typeface="Poppins"/>
              <a:sym typeface="Poppins"/>
            </a:endParaRPr>
          </a:p>
          <a:p>
            <a:pPr indent="0" lvl="0" marL="0" rtl="0" algn="l">
              <a:lnSpc>
                <a:spcPct val="115000"/>
              </a:lnSpc>
              <a:spcBef>
                <a:spcPts val="0"/>
              </a:spcBef>
              <a:spcAft>
                <a:spcPts val="0"/>
              </a:spcAft>
              <a:buNone/>
            </a:pPr>
            <a:r>
              <a:rPr lang="en" sz="700">
                <a:solidFill>
                  <a:srgbClr val="272224"/>
                </a:solidFill>
                <a:latin typeface="Poppins"/>
                <a:ea typeface="Poppins"/>
                <a:cs typeface="Poppins"/>
                <a:sym typeface="Poppins"/>
              </a:rPr>
              <a:t>Bringing two decades in SEO and business, Jay focuses on solutions that bridge technical realities and tangible results. He’s intentional about content, site structure, and staying ahead of the curve—helping behavioural health brands grow with clarity and confidence.</a:t>
            </a:r>
            <a:endParaRPr sz="700">
              <a:solidFill>
                <a:srgbClr val="272224"/>
              </a:solidFill>
              <a:latin typeface="Poppins"/>
              <a:ea typeface="Poppins"/>
              <a:cs typeface="Poppins"/>
              <a:sym typeface="Poppins"/>
            </a:endParaRPr>
          </a:p>
          <a:p>
            <a:pPr indent="0" lvl="0" marL="0" rtl="0" algn="l">
              <a:lnSpc>
                <a:spcPct val="115000"/>
              </a:lnSpc>
              <a:spcBef>
                <a:spcPts val="0"/>
              </a:spcBef>
              <a:spcAft>
                <a:spcPts val="0"/>
              </a:spcAft>
              <a:buNone/>
            </a:pPr>
            <a:r>
              <a:t/>
            </a:r>
            <a:endParaRPr sz="700">
              <a:solidFill>
                <a:srgbClr val="272223"/>
              </a:solidFill>
              <a:highlight>
                <a:srgbClr val="F9F9F9"/>
              </a:highlight>
              <a:latin typeface="Poppins Light"/>
              <a:ea typeface="Poppins Light"/>
              <a:cs typeface="Poppins Light"/>
              <a:sym typeface="Poppins Light"/>
            </a:endParaRPr>
          </a:p>
        </p:txBody>
      </p:sp>
      <p:sp>
        <p:nvSpPr>
          <p:cNvPr id="86" name="Google Shape;86;p19"/>
          <p:cNvSpPr txBox="1"/>
          <p:nvPr/>
        </p:nvSpPr>
        <p:spPr>
          <a:xfrm>
            <a:off x="5581949" y="1217750"/>
            <a:ext cx="2574000" cy="683100"/>
          </a:xfrm>
          <a:prstGeom prst="rect">
            <a:avLst/>
          </a:prstGeom>
          <a:noFill/>
          <a:ln>
            <a:noFill/>
          </a:ln>
        </p:spPr>
        <p:txBody>
          <a:bodyPr anchorCtr="0" anchor="t" bIns="91425" lIns="91425" spcFirstLastPara="1" rIns="91425" wrap="square" tIns="0">
            <a:noAutofit/>
          </a:bodyPr>
          <a:lstStyle/>
          <a:p>
            <a:pPr indent="0" lvl="0" marL="0" marR="0" rtl="0" algn="l">
              <a:lnSpc>
                <a:spcPct val="115000"/>
              </a:lnSpc>
              <a:spcBef>
                <a:spcPts val="0"/>
              </a:spcBef>
              <a:spcAft>
                <a:spcPts val="0"/>
              </a:spcAft>
              <a:buNone/>
            </a:pPr>
            <a:r>
              <a:rPr lang="en" sz="1100">
                <a:solidFill>
                  <a:srgbClr val="272224"/>
                </a:solidFill>
                <a:latin typeface="Poppins SemiBold"/>
                <a:ea typeface="Poppins SemiBold"/>
                <a:cs typeface="Poppins SemiBold"/>
                <a:sym typeface="Poppins SemiBold"/>
              </a:rPr>
              <a:t>Trevor Gage</a:t>
            </a:r>
            <a:endParaRPr sz="1100">
              <a:solidFill>
                <a:srgbClr val="272224"/>
              </a:solidFill>
              <a:latin typeface="Poppins SemiBold"/>
              <a:ea typeface="Poppins SemiBold"/>
              <a:cs typeface="Poppins SemiBold"/>
              <a:sym typeface="Poppins SemiBold"/>
            </a:endParaRPr>
          </a:p>
          <a:p>
            <a:pPr indent="0" lvl="0" marL="0" rtl="0" algn="l">
              <a:lnSpc>
                <a:spcPct val="115000"/>
              </a:lnSpc>
              <a:spcBef>
                <a:spcPts val="0"/>
              </a:spcBef>
              <a:spcAft>
                <a:spcPts val="0"/>
              </a:spcAft>
              <a:buClr>
                <a:srgbClr val="000000"/>
              </a:buClr>
              <a:buSzPts val="1100"/>
              <a:buFont typeface="Arial"/>
              <a:buNone/>
            </a:pPr>
            <a:r>
              <a:rPr i="1" lang="en" sz="900">
                <a:solidFill>
                  <a:srgbClr val="272224"/>
                </a:solidFill>
                <a:latin typeface="Poppins"/>
                <a:ea typeface="Poppins"/>
                <a:cs typeface="Poppins"/>
                <a:sym typeface="Poppins"/>
              </a:rPr>
              <a:t>Director Earned &amp; Owned Media </a:t>
            </a:r>
            <a:endParaRPr i="1" sz="900">
              <a:solidFill>
                <a:srgbClr val="272224"/>
              </a:solidFill>
              <a:latin typeface="Poppins"/>
              <a:ea typeface="Poppins"/>
              <a:cs typeface="Poppins"/>
              <a:sym typeface="Poppins"/>
            </a:endParaRPr>
          </a:p>
          <a:p>
            <a:pPr indent="0" lvl="0" marL="0" rtl="0" algn="l">
              <a:lnSpc>
                <a:spcPct val="115000"/>
              </a:lnSpc>
              <a:spcBef>
                <a:spcPts val="0"/>
              </a:spcBef>
              <a:spcAft>
                <a:spcPts val="0"/>
              </a:spcAft>
              <a:buClr>
                <a:srgbClr val="000000"/>
              </a:buClr>
              <a:buSzPts val="1100"/>
              <a:buFont typeface="Arial"/>
              <a:buNone/>
            </a:pPr>
            <a:r>
              <a:t/>
            </a:r>
            <a:endParaRPr i="1" sz="900">
              <a:solidFill>
                <a:srgbClr val="272224"/>
              </a:solidFill>
              <a:latin typeface="Poppins"/>
              <a:ea typeface="Poppins"/>
              <a:cs typeface="Poppins"/>
              <a:sym typeface="Poppins"/>
            </a:endParaRPr>
          </a:p>
          <a:p>
            <a:pPr indent="0" lvl="0" marL="0" rtl="0" algn="l">
              <a:lnSpc>
                <a:spcPct val="100000"/>
              </a:lnSpc>
              <a:spcBef>
                <a:spcPts val="0"/>
              </a:spcBef>
              <a:spcAft>
                <a:spcPts val="0"/>
              </a:spcAft>
              <a:buClr>
                <a:srgbClr val="272224"/>
              </a:buClr>
              <a:buSzPts val="1100"/>
              <a:buFont typeface="Arial"/>
              <a:buNone/>
            </a:pPr>
            <a:r>
              <a:rPr lang="en" sz="700">
                <a:solidFill>
                  <a:schemeClr val="dk1"/>
                </a:solidFill>
                <a:latin typeface="Poppins"/>
                <a:ea typeface="Poppins"/>
                <a:cs typeface="Poppins"/>
                <a:sym typeface="Poppins"/>
              </a:rPr>
              <a:t>7</a:t>
            </a:r>
            <a:r>
              <a:rPr lang="en" sz="700">
                <a:solidFill>
                  <a:schemeClr val="dk1"/>
                </a:solidFill>
                <a:latin typeface="Poppins"/>
                <a:ea typeface="Poppins"/>
                <a:cs typeface="Poppins"/>
                <a:sym typeface="Poppins"/>
              </a:rPr>
              <a:t>+ years at Webserv, navigating the difficulty and restrictions that come with Behavioral Health digital marketing across various advertising platforms.</a:t>
            </a:r>
            <a:endParaRPr sz="700">
              <a:solidFill>
                <a:schemeClr val="dk1"/>
              </a:solidFill>
              <a:latin typeface="Poppins"/>
              <a:ea typeface="Poppins"/>
              <a:cs typeface="Poppins"/>
              <a:sym typeface="Poppins"/>
            </a:endParaRPr>
          </a:p>
        </p:txBody>
      </p:sp>
      <p:sp>
        <p:nvSpPr>
          <p:cNvPr id="87" name="Google Shape;87;p19"/>
          <p:cNvSpPr txBox="1"/>
          <p:nvPr/>
        </p:nvSpPr>
        <p:spPr>
          <a:xfrm>
            <a:off x="1620275" y="2836726"/>
            <a:ext cx="2379900" cy="1278000"/>
          </a:xfrm>
          <a:prstGeom prst="rect">
            <a:avLst/>
          </a:prstGeom>
          <a:noFill/>
          <a:ln>
            <a:noFill/>
          </a:ln>
        </p:spPr>
        <p:txBody>
          <a:bodyPr anchorCtr="0" anchor="t" bIns="91425" lIns="91425" spcFirstLastPara="1" rIns="91425" wrap="square" tIns="0">
            <a:noAutofit/>
          </a:bodyPr>
          <a:lstStyle/>
          <a:p>
            <a:pPr indent="0" lvl="0" marL="0" marR="0" rtl="0" algn="l">
              <a:lnSpc>
                <a:spcPct val="115000"/>
              </a:lnSpc>
              <a:spcBef>
                <a:spcPts val="0"/>
              </a:spcBef>
              <a:spcAft>
                <a:spcPts val="0"/>
              </a:spcAft>
              <a:buNone/>
            </a:pPr>
            <a:r>
              <a:rPr lang="en" sz="1100">
                <a:solidFill>
                  <a:srgbClr val="272224"/>
                </a:solidFill>
                <a:latin typeface="Poppins SemiBold"/>
                <a:ea typeface="Poppins SemiBold"/>
                <a:cs typeface="Poppins SemiBold"/>
                <a:sym typeface="Poppins SemiBold"/>
              </a:rPr>
              <a:t>Olivia Birkbeck</a:t>
            </a:r>
            <a:endParaRPr sz="1100">
              <a:solidFill>
                <a:srgbClr val="272224"/>
              </a:solidFill>
              <a:latin typeface="Poppins SemiBold"/>
              <a:ea typeface="Poppins SemiBold"/>
              <a:cs typeface="Poppins SemiBold"/>
              <a:sym typeface="Poppins SemiBold"/>
            </a:endParaRPr>
          </a:p>
          <a:p>
            <a:pPr indent="0" lvl="0" marL="0" rtl="0" algn="l">
              <a:lnSpc>
                <a:spcPct val="115000"/>
              </a:lnSpc>
              <a:spcBef>
                <a:spcPts val="0"/>
              </a:spcBef>
              <a:spcAft>
                <a:spcPts val="0"/>
              </a:spcAft>
              <a:buNone/>
            </a:pPr>
            <a:r>
              <a:rPr i="1" lang="en" sz="900">
                <a:solidFill>
                  <a:srgbClr val="272224"/>
                </a:solidFill>
                <a:latin typeface="Poppins"/>
                <a:ea typeface="Poppins"/>
                <a:cs typeface="Poppins"/>
                <a:sym typeface="Poppins"/>
              </a:rPr>
              <a:t>Associate Director</a:t>
            </a:r>
            <a:endParaRPr i="1" sz="900">
              <a:solidFill>
                <a:srgbClr val="272224"/>
              </a:solidFill>
              <a:latin typeface="Poppins"/>
              <a:ea typeface="Poppins"/>
              <a:cs typeface="Poppins"/>
              <a:sym typeface="Poppins"/>
            </a:endParaRPr>
          </a:p>
          <a:p>
            <a:pPr indent="0" lvl="0" marL="0" rtl="0" algn="l">
              <a:lnSpc>
                <a:spcPct val="115000"/>
              </a:lnSpc>
              <a:spcBef>
                <a:spcPts val="1200"/>
              </a:spcBef>
              <a:spcAft>
                <a:spcPts val="0"/>
              </a:spcAft>
              <a:buClr>
                <a:srgbClr val="000000"/>
              </a:buClr>
              <a:buSzPts val="1100"/>
              <a:buFont typeface="Arial"/>
              <a:buNone/>
            </a:pPr>
            <a:r>
              <a:rPr lang="en" sz="700">
                <a:solidFill>
                  <a:schemeClr val="dk1"/>
                </a:solidFill>
                <a:latin typeface="Poppins"/>
                <a:ea typeface="Poppins"/>
                <a:cs typeface="Poppins"/>
                <a:sym typeface="Poppins"/>
              </a:rPr>
              <a:t>Olivia leads with strategy, curiosity, and data. She’s passionate about turning insights into action, helping teams and behavioral health brands grow with integrity and impact.</a:t>
            </a:r>
            <a:endParaRPr sz="700">
              <a:solidFill>
                <a:schemeClr val="dk1"/>
              </a:solidFill>
              <a:latin typeface="Poppins"/>
              <a:ea typeface="Poppins"/>
              <a:cs typeface="Poppins"/>
              <a:sym typeface="Poppins"/>
            </a:endParaRPr>
          </a:p>
          <a:p>
            <a:pPr indent="0" lvl="0" marL="0" rtl="0" algn="l">
              <a:spcBef>
                <a:spcPts val="1200"/>
              </a:spcBef>
              <a:spcAft>
                <a:spcPts val="0"/>
              </a:spcAft>
              <a:buClr>
                <a:srgbClr val="272224"/>
              </a:buClr>
              <a:buSzPts val="1100"/>
              <a:buFont typeface="Arial"/>
              <a:buNone/>
            </a:pPr>
            <a:r>
              <a:t/>
            </a:r>
            <a:endParaRPr sz="700">
              <a:solidFill>
                <a:srgbClr val="272223"/>
              </a:solidFill>
              <a:latin typeface="Poppins Light"/>
              <a:ea typeface="Poppins Light"/>
              <a:cs typeface="Poppins Light"/>
              <a:sym typeface="Poppins Light"/>
            </a:endParaRPr>
          </a:p>
          <a:p>
            <a:pPr indent="0" lvl="0" marL="0" rtl="0" algn="l">
              <a:lnSpc>
                <a:spcPct val="115000"/>
              </a:lnSpc>
              <a:spcBef>
                <a:spcPts val="0"/>
              </a:spcBef>
              <a:spcAft>
                <a:spcPts val="0"/>
              </a:spcAft>
              <a:buNone/>
            </a:pPr>
            <a:r>
              <a:t/>
            </a:r>
            <a:endParaRPr i="1" sz="900">
              <a:solidFill>
                <a:srgbClr val="272224"/>
              </a:solidFill>
              <a:latin typeface="Poppins"/>
              <a:ea typeface="Poppins"/>
              <a:cs typeface="Poppins"/>
              <a:sym typeface="Poppins"/>
            </a:endParaRPr>
          </a:p>
          <a:p>
            <a:pPr indent="0" lvl="0" marL="0" rtl="0" algn="l">
              <a:spcBef>
                <a:spcPts val="0"/>
              </a:spcBef>
              <a:spcAft>
                <a:spcPts val="0"/>
              </a:spcAft>
              <a:buNone/>
            </a:pPr>
            <a:r>
              <a:t/>
            </a:r>
            <a:endParaRPr sz="700">
              <a:solidFill>
                <a:srgbClr val="272223"/>
              </a:solidFill>
              <a:highlight>
                <a:srgbClr val="F9F9F9"/>
              </a:highlight>
              <a:latin typeface="Poppins Light"/>
              <a:ea typeface="Poppins Light"/>
              <a:cs typeface="Poppins Light"/>
              <a:sym typeface="Poppins Light"/>
            </a:endParaRPr>
          </a:p>
        </p:txBody>
      </p:sp>
      <p:pic>
        <p:nvPicPr>
          <p:cNvPr id="88" name="Google Shape;88;p19" title="ca26bd1e-3e59-40df-a9a6-094c0e18c1b3.png"/>
          <p:cNvPicPr preferRelativeResize="0"/>
          <p:nvPr/>
        </p:nvPicPr>
        <p:blipFill>
          <a:blip r:embed="rId3">
            <a:alphaModFix/>
          </a:blip>
          <a:stretch>
            <a:fillRect/>
          </a:stretch>
        </p:blipFill>
        <p:spPr>
          <a:xfrm>
            <a:off x="4314735" y="1217751"/>
            <a:ext cx="1178250" cy="1277925"/>
          </a:xfrm>
          <a:prstGeom prst="rect">
            <a:avLst/>
          </a:prstGeom>
          <a:noFill/>
          <a:ln>
            <a:noFill/>
          </a:ln>
        </p:spPr>
      </p:pic>
      <p:pic>
        <p:nvPicPr>
          <p:cNvPr id="89" name="Google Shape;89;p19" title="Screenshot 2025-10-29 at 4.39.01 PM.png"/>
          <p:cNvPicPr preferRelativeResize="0"/>
          <p:nvPr/>
        </p:nvPicPr>
        <p:blipFill>
          <a:blip r:embed="rId4">
            <a:alphaModFix/>
          </a:blip>
          <a:stretch>
            <a:fillRect/>
          </a:stretch>
        </p:blipFill>
        <p:spPr>
          <a:xfrm>
            <a:off x="271025" y="2836726"/>
            <a:ext cx="1277925" cy="1277925"/>
          </a:xfrm>
          <a:prstGeom prst="rect">
            <a:avLst/>
          </a:prstGeom>
          <a:noFill/>
          <a:ln>
            <a:noFill/>
          </a:ln>
        </p:spPr>
      </p:pic>
      <p:pic>
        <p:nvPicPr>
          <p:cNvPr id="90" name="Google Shape;90;p19" title="Headshot-BandW.jpg"/>
          <p:cNvPicPr preferRelativeResize="0"/>
          <p:nvPr/>
        </p:nvPicPr>
        <p:blipFill>
          <a:blip r:embed="rId5">
            <a:alphaModFix/>
          </a:blip>
          <a:stretch>
            <a:fillRect/>
          </a:stretch>
        </p:blipFill>
        <p:spPr>
          <a:xfrm>
            <a:off x="271023" y="1169288"/>
            <a:ext cx="1277924" cy="12779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808"/>
        </a:solidFill>
      </p:bgPr>
    </p:bg>
    <p:spTree>
      <p:nvGrpSpPr>
        <p:cNvPr id="94" name="Shape 94"/>
        <p:cNvGrpSpPr/>
        <p:nvPr/>
      </p:nvGrpSpPr>
      <p:grpSpPr>
        <a:xfrm>
          <a:off x="0" y="0"/>
          <a:ext cx="0" cy="0"/>
          <a:chOff x="0" y="0"/>
          <a:chExt cx="0" cy="0"/>
        </a:xfrm>
      </p:grpSpPr>
      <p:sp>
        <p:nvSpPr>
          <p:cNvPr id="95" name="Google Shape;95;p20"/>
          <p:cNvSpPr/>
          <p:nvPr/>
        </p:nvSpPr>
        <p:spPr>
          <a:xfrm>
            <a:off x="283350" y="266675"/>
            <a:ext cx="3559500" cy="938700"/>
          </a:xfrm>
          <a:prstGeom prst="rect">
            <a:avLst/>
          </a:prstGeom>
          <a:noFill/>
          <a:ln>
            <a:noFill/>
          </a:ln>
        </p:spPr>
        <p:txBody>
          <a:bodyPr anchorCtr="0" anchor="ctr" bIns="45700" lIns="91425" spcFirstLastPara="1" rIns="91425" wrap="square" tIns="45700">
            <a:noAutofit/>
          </a:bodyPr>
          <a:lstStyle/>
          <a:p>
            <a:pPr indent="0" lvl="0" marL="0" marR="0" rtl="0" algn="just">
              <a:lnSpc>
                <a:spcPct val="75000"/>
              </a:lnSpc>
              <a:spcBef>
                <a:spcPts val="0"/>
              </a:spcBef>
              <a:spcAft>
                <a:spcPts val="0"/>
              </a:spcAft>
              <a:buClr>
                <a:srgbClr val="FFFFFF"/>
              </a:buClr>
              <a:buSzPts val="5250"/>
              <a:buFont typeface="Inter"/>
              <a:buNone/>
            </a:pPr>
            <a:r>
              <a:rPr lang="en" sz="4600">
                <a:solidFill>
                  <a:schemeClr val="lt1"/>
                </a:solidFill>
                <a:latin typeface="Archivo SemiBold"/>
                <a:ea typeface="Archivo SemiBold"/>
                <a:cs typeface="Archivo SemiBold"/>
                <a:sym typeface="Archivo SemiBold"/>
              </a:rPr>
              <a:t>Agenda </a:t>
            </a:r>
            <a:endParaRPr i="0" sz="4600" u="none" cap="none" strike="noStrike">
              <a:solidFill>
                <a:schemeClr val="lt1"/>
              </a:solidFill>
              <a:latin typeface="Archivo SemiBold"/>
              <a:ea typeface="Archivo SemiBold"/>
              <a:cs typeface="Archivo SemiBold"/>
              <a:sym typeface="Archivo SemiBold"/>
            </a:endParaRPr>
          </a:p>
        </p:txBody>
      </p:sp>
      <p:sp>
        <p:nvSpPr>
          <p:cNvPr id="96" name="Google Shape;96;p20"/>
          <p:cNvSpPr/>
          <p:nvPr/>
        </p:nvSpPr>
        <p:spPr>
          <a:xfrm>
            <a:off x="526050" y="2255350"/>
            <a:ext cx="2614800" cy="1126800"/>
          </a:xfrm>
          <a:prstGeom prst="rect">
            <a:avLst/>
          </a:prstGeom>
          <a:noFill/>
          <a:ln>
            <a:noFill/>
          </a:ln>
        </p:spPr>
        <p:txBody>
          <a:bodyPr anchorCtr="0" anchor="t" bIns="42975" lIns="85925" spcFirstLastPara="1" rIns="85925" wrap="square" tIns="42975">
            <a:noAutofit/>
          </a:bodyPr>
          <a:lstStyle/>
          <a:p>
            <a:pPr indent="0" lvl="0" marL="0" marR="0" rtl="0" algn="l">
              <a:lnSpc>
                <a:spcPct val="120000"/>
              </a:lnSpc>
              <a:spcBef>
                <a:spcPts val="0"/>
              </a:spcBef>
              <a:spcAft>
                <a:spcPts val="0"/>
              </a:spcAft>
              <a:buClr>
                <a:srgbClr val="BCC0C5"/>
              </a:buClr>
              <a:buSzPts val="987"/>
              <a:buFont typeface="Inter"/>
              <a:buNone/>
            </a:pPr>
            <a:r>
              <a:rPr b="1" lang="en" sz="1550">
                <a:solidFill>
                  <a:schemeClr val="lt1"/>
                </a:solidFill>
                <a:latin typeface="Archivo"/>
                <a:ea typeface="Archivo"/>
                <a:cs typeface="Archivo"/>
                <a:sym typeface="Archivo"/>
              </a:rPr>
              <a:t>SEO@Webserv</a:t>
            </a:r>
            <a:endParaRPr b="1" sz="1550">
              <a:solidFill>
                <a:schemeClr val="lt1"/>
              </a:solidFill>
              <a:latin typeface="Archivo"/>
              <a:ea typeface="Archivo"/>
              <a:cs typeface="Archivo"/>
              <a:sym typeface="Archivo"/>
            </a:endParaRPr>
          </a:p>
          <a:p>
            <a:pPr indent="0" lvl="0" marL="0" marR="0" rtl="0" algn="l">
              <a:lnSpc>
                <a:spcPct val="120000"/>
              </a:lnSpc>
              <a:spcBef>
                <a:spcPts val="0"/>
              </a:spcBef>
              <a:spcAft>
                <a:spcPts val="0"/>
              </a:spcAft>
              <a:buClr>
                <a:srgbClr val="BCC0C5"/>
              </a:buClr>
              <a:buSzPts val="987"/>
              <a:buFont typeface="Inter"/>
              <a:buNone/>
            </a:pPr>
            <a:r>
              <a:rPr lang="en" sz="1133">
                <a:solidFill>
                  <a:srgbClr val="EAEAEA"/>
                </a:solidFill>
                <a:latin typeface="Archivo"/>
                <a:ea typeface="Archivo"/>
                <a:cs typeface="Archivo"/>
                <a:sym typeface="Archivo"/>
              </a:rPr>
              <a:t>Our methodology for growing sustainable seo strategies </a:t>
            </a:r>
            <a:endParaRPr sz="1133">
              <a:solidFill>
                <a:srgbClr val="EAEAEA"/>
              </a:solidFill>
              <a:latin typeface="Archivo"/>
              <a:ea typeface="Archivo"/>
              <a:cs typeface="Archivo"/>
              <a:sym typeface="Archivo"/>
            </a:endParaRPr>
          </a:p>
        </p:txBody>
      </p:sp>
      <p:sp>
        <p:nvSpPr>
          <p:cNvPr id="97" name="Google Shape;97;p20"/>
          <p:cNvSpPr/>
          <p:nvPr/>
        </p:nvSpPr>
        <p:spPr>
          <a:xfrm>
            <a:off x="3263025" y="2255350"/>
            <a:ext cx="2614800" cy="832800"/>
          </a:xfrm>
          <a:prstGeom prst="rect">
            <a:avLst/>
          </a:prstGeom>
          <a:noFill/>
          <a:ln>
            <a:noFill/>
          </a:ln>
        </p:spPr>
        <p:txBody>
          <a:bodyPr anchorCtr="0" anchor="t" bIns="42975" lIns="85925" spcFirstLastPara="1" rIns="85925" wrap="square" tIns="42975">
            <a:noAutofit/>
          </a:bodyPr>
          <a:lstStyle/>
          <a:p>
            <a:pPr indent="0" lvl="0" marL="0" marR="0" rtl="0" algn="l">
              <a:lnSpc>
                <a:spcPct val="120000"/>
              </a:lnSpc>
              <a:spcBef>
                <a:spcPts val="0"/>
              </a:spcBef>
              <a:spcAft>
                <a:spcPts val="0"/>
              </a:spcAft>
              <a:buClr>
                <a:srgbClr val="BCC0C5"/>
              </a:buClr>
              <a:buSzPts val="987"/>
              <a:buFont typeface="Inter"/>
              <a:buNone/>
            </a:pPr>
            <a:r>
              <a:rPr b="1" lang="en" sz="1550">
                <a:solidFill>
                  <a:schemeClr val="lt1"/>
                </a:solidFill>
                <a:latin typeface="Archivo"/>
                <a:ea typeface="Archivo"/>
                <a:cs typeface="Archivo"/>
                <a:sym typeface="Archivo"/>
              </a:rPr>
              <a:t>About Horseshoe Ridge</a:t>
            </a:r>
            <a:endParaRPr b="1" sz="1550">
              <a:solidFill>
                <a:schemeClr val="lt1"/>
              </a:solidFill>
              <a:latin typeface="Archivo"/>
              <a:ea typeface="Archivo"/>
              <a:cs typeface="Archivo"/>
              <a:sym typeface="Archivo"/>
            </a:endParaRPr>
          </a:p>
          <a:p>
            <a:pPr indent="0" lvl="0" marL="0" marR="0" rtl="0" algn="l">
              <a:lnSpc>
                <a:spcPct val="120000"/>
              </a:lnSpc>
              <a:spcBef>
                <a:spcPts val="0"/>
              </a:spcBef>
              <a:spcAft>
                <a:spcPts val="0"/>
              </a:spcAft>
              <a:buClr>
                <a:srgbClr val="BCC0C5"/>
              </a:buClr>
              <a:buSzPts val="987"/>
              <a:buFont typeface="Inter"/>
              <a:buNone/>
            </a:pPr>
            <a:r>
              <a:rPr lang="en" sz="1133">
                <a:solidFill>
                  <a:srgbClr val="EAEAEA"/>
                </a:solidFill>
                <a:latin typeface="Archivo"/>
                <a:ea typeface="Archivo"/>
                <a:cs typeface="Archivo"/>
                <a:sym typeface="Archivo"/>
              </a:rPr>
              <a:t>Aligning on the details to understand your business better before we dive into research</a:t>
            </a:r>
            <a:endParaRPr sz="1133">
              <a:solidFill>
                <a:srgbClr val="EAEAEA"/>
              </a:solidFill>
              <a:latin typeface="Archivo"/>
              <a:ea typeface="Archivo"/>
              <a:cs typeface="Archivo"/>
              <a:sym typeface="Archivo"/>
            </a:endParaRPr>
          </a:p>
        </p:txBody>
      </p:sp>
      <p:sp>
        <p:nvSpPr>
          <p:cNvPr id="98" name="Google Shape;98;p20"/>
          <p:cNvSpPr/>
          <p:nvPr/>
        </p:nvSpPr>
        <p:spPr>
          <a:xfrm>
            <a:off x="6013775" y="2255350"/>
            <a:ext cx="2614800" cy="681000"/>
          </a:xfrm>
          <a:prstGeom prst="rect">
            <a:avLst/>
          </a:prstGeom>
          <a:noFill/>
          <a:ln>
            <a:noFill/>
          </a:ln>
        </p:spPr>
        <p:txBody>
          <a:bodyPr anchorCtr="0" anchor="t" bIns="42975" lIns="85925" spcFirstLastPara="1" rIns="85925" wrap="square" tIns="42975">
            <a:noAutofit/>
          </a:bodyPr>
          <a:lstStyle/>
          <a:p>
            <a:pPr indent="0" lvl="0" marL="0" marR="0" rtl="0" algn="l">
              <a:lnSpc>
                <a:spcPct val="120000"/>
              </a:lnSpc>
              <a:spcBef>
                <a:spcPts val="0"/>
              </a:spcBef>
              <a:spcAft>
                <a:spcPts val="0"/>
              </a:spcAft>
              <a:buClr>
                <a:srgbClr val="BCC0C5"/>
              </a:buClr>
              <a:buSzPts val="987"/>
              <a:buFont typeface="Inter"/>
              <a:buNone/>
            </a:pPr>
            <a:r>
              <a:rPr b="1" lang="en" sz="1550">
                <a:solidFill>
                  <a:schemeClr val="lt1"/>
                </a:solidFill>
                <a:latin typeface="Archivo"/>
                <a:ea typeface="Archivo"/>
                <a:cs typeface="Archivo"/>
                <a:sym typeface="Archivo"/>
              </a:rPr>
              <a:t>Assets Needed</a:t>
            </a:r>
            <a:endParaRPr b="1" sz="1550">
              <a:solidFill>
                <a:schemeClr val="lt1"/>
              </a:solidFill>
              <a:latin typeface="Archivo"/>
              <a:ea typeface="Archivo"/>
              <a:cs typeface="Archivo"/>
              <a:sym typeface="Archivo"/>
            </a:endParaRPr>
          </a:p>
          <a:p>
            <a:pPr indent="0" lvl="0" marL="0" marR="0" rtl="0" algn="l">
              <a:lnSpc>
                <a:spcPct val="120000"/>
              </a:lnSpc>
              <a:spcBef>
                <a:spcPts val="0"/>
              </a:spcBef>
              <a:spcAft>
                <a:spcPts val="0"/>
              </a:spcAft>
              <a:buClr>
                <a:srgbClr val="BCC0C5"/>
              </a:buClr>
              <a:buSzPts val="987"/>
              <a:buFont typeface="Inter"/>
              <a:buNone/>
            </a:pPr>
            <a:r>
              <a:rPr lang="en" sz="1133">
                <a:solidFill>
                  <a:srgbClr val="EAEAEA"/>
                </a:solidFill>
                <a:latin typeface="Archivo"/>
                <a:ea typeface="Archivo"/>
                <a:cs typeface="Archivo"/>
                <a:sym typeface="Archivo"/>
              </a:rPr>
              <a:t>Ensuring we have the access we need to get started. </a:t>
            </a:r>
            <a:endParaRPr sz="1133">
              <a:solidFill>
                <a:srgbClr val="EAEAEA"/>
              </a:solidFill>
              <a:latin typeface="Archivo"/>
              <a:ea typeface="Archivo"/>
              <a:cs typeface="Archivo"/>
              <a:sym typeface="Archivo"/>
            </a:endParaRPr>
          </a:p>
        </p:txBody>
      </p:sp>
      <p:sp>
        <p:nvSpPr>
          <p:cNvPr id="99" name="Google Shape;99;p20"/>
          <p:cNvSpPr/>
          <p:nvPr/>
        </p:nvSpPr>
        <p:spPr>
          <a:xfrm>
            <a:off x="552091" y="1886111"/>
            <a:ext cx="104400" cy="104400"/>
          </a:xfrm>
          <a:prstGeom prst="ellipse">
            <a:avLst/>
          </a:prstGeom>
          <a:solidFill>
            <a:srgbClr val="FF2F0A"/>
          </a:solidFill>
          <a:ln>
            <a:noFill/>
          </a:ln>
        </p:spPr>
        <p:txBody>
          <a:bodyPr anchorCtr="0" anchor="ctr" bIns="93900" lIns="93900" spcFirstLastPara="1" rIns="93900" wrap="square" tIns="93900">
            <a:noAutofit/>
          </a:bodyPr>
          <a:lstStyle/>
          <a:p>
            <a:pPr indent="0" lvl="0" marL="0" rtl="0" algn="ctr">
              <a:spcBef>
                <a:spcPts val="0"/>
              </a:spcBef>
              <a:spcAft>
                <a:spcPts val="0"/>
              </a:spcAft>
              <a:buNone/>
            </a:pPr>
            <a:r>
              <a:t/>
            </a:r>
            <a:endParaRPr sz="1438"/>
          </a:p>
        </p:txBody>
      </p:sp>
      <p:sp>
        <p:nvSpPr>
          <p:cNvPr id="100" name="Google Shape;100;p20"/>
          <p:cNvSpPr/>
          <p:nvPr/>
        </p:nvSpPr>
        <p:spPr>
          <a:xfrm>
            <a:off x="656557" y="1827548"/>
            <a:ext cx="378000" cy="221700"/>
          </a:xfrm>
          <a:prstGeom prst="rect">
            <a:avLst/>
          </a:prstGeom>
          <a:noFill/>
          <a:ln>
            <a:noFill/>
          </a:ln>
        </p:spPr>
        <p:txBody>
          <a:bodyPr anchorCtr="0" anchor="ctr" bIns="42975" lIns="85925" spcFirstLastPara="1" rIns="85925" wrap="square" tIns="42975">
            <a:noAutofit/>
          </a:bodyPr>
          <a:lstStyle/>
          <a:p>
            <a:pPr indent="0" lvl="0" marL="0" marR="0" rtl="0" algn="l">
              <a:lnSpc>
                <a:spcPct val="120000"/>
              </a:lnSpc>
              <a:spcBef>
                <a:spcPts val="0"/>
              </a:spcBef>
              <a:spcAft>
                <a:spcPts val="0"/>
              </a:spcAft>
              <a:buClr>
                <a:srgbClr val="BCC0C5"/>
              </a:buClr>
              <a:buSzPts val="987"/>
              <a:buFont typeface="Inter"/>
              <a:buNone/>
            </a:pPr>
            <a:r>
              <a:rPr i="1" lang="en" sz="1239">
                <a:solidFill>
                  <a:schemeClr val="lt1"/>
                </a:solidFill>
                <a:latin typeface="Archivo SemiBold"/>
                <a:ea typeface="Archivo SemiBold"/>
                <a:cs typeface="Archivo SemiBold"/>
                <a:sym typeface="Archivo SemiBold"/>
              </a:rPr>
              <a:t>01</a:t>
            </a:r>
            <a:endParaRPr i="1" sz="1239">
              <a:solidFill>
                <a:schemeClr val="lt1"/>
              </a:solidFill>
              <a:latin typeface="Archivo SemiBold"/>
              <a:ea typeface="Archivo SemiBold"/>
              <a:cs typeface="Archivo SemiBold"/>
              <a:sym typeface="Archivo SemiBold"/>
            </a:endParaRPr>
          </a:p>
        </p:txBody>
      </p:sp>
      <p:cxnSp>
        <p:nvCxnSpPr>
          <p:cNvPr id="101" name="Google Shape;101;p20"/>
          <p:cNvCxnSpPr/>
          <p:nvPr/>
        </p:nvCxnSpPr>
        <p:spPr>
          <a:xfrm>
            <a:off x="552091" y="2087223"/>
            <a:ext cx="2562600" cy="0"/>
          </a:xfrm>
          <a:prstGeom prst="straightConnector1">
            <a:avLst/>
          </a:prstGeom>
          <a:noFill/>
          <a:ln cap="flat" cmpd="sng" w="9775">
            <a:solidFill>
              <a:srgbClr val="B8B7B6"/>
            </a:solidFill>
            <a:prstDash val="solid"/>
            <a:round/>
            <a:headEnd len="med" w="med" type="none"/>
            <a:tailEnd len="med" w="med" type="none"/>
          </a:ln>
        </p:spPr>
      </p:cxnSp>
      <p:sp>
        <p:nvSpPr>
          <p:cNvPr id="102" name="Google Shape;102;p20"/>
          <p:cNvSpPr/>
          <p:nvPr/>
        </p:nvSpPr>
        <p:spPr>
          <a:xfrm>
            <a:off x="3290708" y="1889896"/>
            <a:ext cx="104400" cy="104400"/>
          </a:xfrm>
          <a:prstGeom prst="ellipse">
            <a:avLst/>
          </a:prstGeom>
          <a:solidFill>
            <a:srgbClr val="FF2F0A"/>
          </a:solidFill>
          <a:ln>
            <a:noFill/>
          </a:ln>
        </p:spPr>
        <p:txBody>
          <a:bodyPr anchorCtr="0" anchor="ctr" bIns="93900" lIns="93900" spcFirstLastPara="1" rIns="93900" wrap="square" tIns="93900">
            <a:noAutofit/>
          </a:bodyPr>
          <a:lstStyle/>
          <a:p>
            <a:pPr indent="0" lvl="0" marL="0" rtl="0" algn="ctr">
              <a:spcBef>
                <a:spcPts val="0"/>
              </a:spcBef>
              <a:spcAft>
                <a:spcPts val="0"/>
              </a:spcAft>
              <a:buNone/>
            </a:pPr>
            <a:r>
              <a:t/>
            </a:r>
            <a:endParaRPr sz="1438"/>
          </a:p>
        </p:txBody>
      </p:sp>
      <p:sp>
        <p:nvSpPr>
          <p:cNvPr id="103" name="Google Shape;103;p20"/>
          <p:cNvSpPr/>
          <p:nvPr/>
        </p:nvSpPr>
        <p:spPr>
          <a:xfrm>
            <a:off x="3395174" y="1831333"/>
            <a:ext cx="378000" cy="221700"/>
          </a:xfrm>
          <a:prstGeom prst="rect">
            <a:avLst/>
          </a:prstGeom>
          <a:noFill/>
          <a:ln>
            <a:noFill/>
          </a:ln>
        </p:spPr>
        <p:txBody>
          <a:bodyPr anchorCtr="0" anchor="ctr" bIns="42975" lIns="85925" spcFirstLastPara="1" rIns="85925" wrap="square" tIns="42975">
            <a:noAutofit/>
          </a:bodyPr>
          <a:lstStyle/>
          <a:p>
            <a:pPr indent="0" lvl="0" marL="0" marR="0" rtl="0" algn="l">
              <a:lnSpc>
                <a:spcPct val="120000"/>
              </a:lnSpc>
              <a:spcBef>
                <a:spcPts val="0"/>
              </a:spcBef>
              <a:spcAft>
                <a:spcPts val="0"/>
              </a:spcAft>
              <a:buClr>
                <a:srgbClr val="BCC0C5"/>
              </a:buClr>
              <a:buSzPts val="987"/>
              <a:buFont typeface="Inter"/>
              <a:buNone/>
            </a:pPr>
            <a:r>
              <a:rPr i="1" lang="en" sz="1239">
                <a:solidFill>
                  <a:schemeClr val="lt1"/>
                </a:solidFill>
                <a:latin typeface="Archivo SemiBold"/>
                <a:ea typeface="Archivo SemiBold"/>
                <a:cs typeface="Archivo SemiBold"/>
                <a:sym typeface="Archivo SemiBold"/>
              </a:rPr>
              <a:t>02 </a:t>
            </a:r>
            <a:endParaRPr i="1" sz="1239">
              <a:solidFill>
                <a:schemeClr val="lt1"/>
              </a:solidFill>
              <a:latin typeface="Archivo SemiBold"/>
              <a:ea typeface="Archivo SemiBold"/>
              <a:cs typeface="Archivo SemiBold"/>
              <a:sym typeface="Archivo SemiBold"/>
            </a:endParaRPr>
          </a:p>
        </p:txBody>
      </p:sp>
      <p:cxnSp>
        <p:nvCxnSpPr>
          <p:cNvPr id="104" name="Google Shape;104;p20"/>
          <p:cNvCxnSpPr/>
          <p:nvPr/>
        </p:nvCxnSpPr>
        <p:spPr>
          <a:xfrm>
            <a:off x="3290708" y="2091008"/>
            <a:ext cx="2562600" cy="0"/>
          </a:xfrm>
          <a:prstGeom prst="straightConnector1">
            <a:avLst/>
          </a:prstGeom>
          <a:noFill/>
          <a:ln cap="flat" cmpd="sng" w="9775">
            <a:solidFill>
              <a:srgbClr val="B8B7B6"/>
            </a:solidFill>
            <a:prstDash val="solid"/>
            <a:round/>
            <a:headEnd len="med" w="med" type="none"/>
            <a:tailEnd len="med" w="med" type="none"/>
          </a:ln>
        </p:spPr>
      </p:cxnSp>
      <p:sp>
        <p:nvSpPr>
          <p:cNvPr id="105" name="Google Shape;105;p20"/>
          <p:cNvSpPr/>
          <p:nvPr/>
        </p:nvSpPr>
        <p:spPr>
          <a:xfrm>
            <a:off x="6029325" y="1894349"/>
            <a:ext cx="104400" cy="104400"/>
          </a:xfrm>
          <a:prstGeom prst="ellipse">
            <a:avLst/>
          </a:prstGeom>
          <a:solidFill>
            <a:srgbClr val="FF2F0A"/>
          </a:solidFill>
          <a:ln>
            <a:noFill/>
          </a:ln>
        </p:spPr>
        <p:txBody>
          <a:bodyPr anchorCtr="0" anchor="ctr" bIns="93900" lIns="93900" spcFirstLastPara="1" rIns="93900" wrap="square" tIns="93900">
            <a:noAutofit/>
          </a:bodyPr>
          <a:lstStyle/>
          <a:p>
            <a:pPr indent="0" lvl="0" marL="0" rtl="0" algn="ctr">
              <a:spcBef>
                <a:spcPts val="0"/>
              </a:spcBef>
              <a:spcAft>
                <a:spcPts val="0"/>
              </a:spcAft>
              <a:buNone/>
            </a:pPr>
            <a:r>
              <a:t/>
            </a:r>
            <a:endParaRPr sz="1438"/>
          </a:p>
        </p:txBody>
      </p:sp>
      <p:sp>
        <p:nvSpPr>
          <p:cNvPr id="106" name="Google Shape;106;p20"/>
          <p:cNvSpPr/>
          <p:nvPr/>
        </p:nvSpPr>
        <p:spPr>
          <a:xfrm>
            <a:off x="6133791" y="1835786"/>
            <a:ext cx="378000" cy="221700"/>
          </a:xfrm>
          <a:prstGeom prst="rect">
            <a:avLst/>
          </a:prstGeom>
          <a:noFill/>
          <a:ln>
            <a:noFill/>
          </a:ln>
        </p:spPr>
        <p:txBody>
          <a:bodyPr anchorCtr="0" anchor="ctr" bIns="42975" lIns="85925" spcFirstLastPara="1" rIns="85925" wrap="square" tIns="42975">
            <a:noAutofit/>
          </a:bodyPr>
          <a:lstStyle/>
          <a:p>
            <a:pPr indent="0" lvl="0" marL="0" marR="0" rtl="0" algn="l">
              <a:lnSpc>
                <a:spcPct val="120000"/>
              </a:lnSpc>
              <a:spcBef>
                <a:spcPts val="0"/>
              </a:spcBef>
              <a:spcAft>
                <a:spcPts val="0"/>
              </a:spcAft>
              <a:buClr>
                <a:srgbClr val="BCC0C5"/>
              </a:buClr>
              <a:buSzPts val="987"/>
              <a:buFont typeface="Inter"/>
              <a:buNone/>
            </a:pPr>
            <a:r>
              <a:rPr i="1" lang="en" sz="1239">
                <a:solidFill>
                  <a:schemeClr val="lt1"/>
                </a:solidFill>
                <a:latin typeface="Archivo SemiBold"/>
                <a:ea typeface="Archivo SemiBold"/>
                <a:cs typeface="Archivo SemiBold"/>
                <a:sym typeface="Archivo SemiBold"/>
              </a:rPr>
              <a:t>03 </a:t>
            </a:r>
            <a:endParaRPr i="1" sz="1239">
              <a:solidFill>
                <a:schemeClr val="lt1"/>
              </a:solidFill>
              <a:latin typeface="Archivo SemiBold"/>
              <a:ea typeface="Archivo SemiBold"/>
              <a:cs typeface="Archivo SemiBold"/>
              <a:sym typeface="Archivo SemiBold"/>
            </a:endParaRPr>
          </a:p>
        </p:txBody>
      </p:sp>
      <p:cxnSp>
        <p:nvCxnSpPr>
          <p:cNvPr id="107" name="Google Shape;107;p20"/>
          <p:cNvCxnSpPr/>
          <p:nvPr/>
        </p:nvCxnSpPr>
        <p:spPr>
          <a:xfrm>
            <a:off x="6029325" y="2095461"/>
            <a:ext cx="2562600" cy="0"/>
          </a:xfrm>
          <a:prstGeom prst="straightConnector1">
            <a:avLst/>
          </a:prstGeom>
          <a:noFill/>
          <a:ln cap="flat" cmpd="sng" w="9775">
            <a:solidFill>
              <a:srgbClr val="B8B7B6"/>
            </a:solidFill>
            <a:prstDash val="solid"/>
            <a:round/>
            <a:headEnd len="med" w="med" type="none"/>
            <a:tailEnd len="med" w="med" type="none"/>
          </a:ln>
        </p:spPr>
      </p:cxnSp>
      <p:pic>
        <p:nvPicPr>
          <p:cNvPr id="108" name="Google Shape;108;p20" title="W Full blk txt (1).png"/>
          <p:cNvPicPr preferRelativeResize="0"/>
          <p:nvPr/>
        </p:nvPicPr>
        <p:blipFill>
          <a:blip r:embed="rId3">
            <a:alphaModFix/>
          </a:blip>
          <a:stretch>
            <a:fillRect/>
          </a:stretch>
        </p:blipFill>
        <p:spPr>
          <a:xfrm>
            <a:off x="7835738" y="201625"/>
            <a:ext cx="1025576" cy="246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808"/>
        </a:solidFill>
      </p:bgPr>
    </p:bg>
    <p:spTree>
      <p:nvGrpSpPr>
        <p:cNvPr id="112" name="Shape 112"/>
        <p:cNvGrpSpPr/>
        <p:nvPr/>
      </p:nvGrpSpPr>
      <p:grpSpPr>
        <a:xfrm>
          <a:off x="0" y="0"/>
          <a:ext cx="0" cy="0"/>
          <a:chOff x="0" y="0"/>
          <a:chExt cx="0" cy="0"/>
        </a:xfrm>
      </p:grpSpPr>
      <p:sp>
        <p:nvSpPr>
          <p:cNvPr id="113" name="Google Shape;113;p21"/>
          <p:cNvSpPr/>
          <p:nvPr/>
        </p:nvSpPr>
        <p:spPr>
          <a:xfrm>
            <a:off x="1038826" y="2001513"/>
            <a:ext cx="182700" cy="182700"/>
          </a:xfrm>
          <a:prstGeom prst="ellipse">
            <a:avLst/>
          </a:prstGeom>
          <a:solidFill>
            <a:srgbClr val="FF2F0A"/>
          </a:solidFill>
          <a:ln>
            <a:noFill/>
          </a:ln>
        </p:spPr>
        <p:txBody>
          <a:bodyPr anchorCtr="0" anchor="ctr" bIns="164100" lIns="164100" spcFirstLastPara="1" rIns="164100" wrap="square" tIns="164100">
            <a:noAutofit/>
          </a:bodyPr>
          <a:lstStyle/>
          <a:p>
            <a:pPr indent="0" lvl="0" marL="0" rtl="0" algn="l">
              <a:spcBef>
                <a:spcPts val="0"/>
              </a:spcBef>
              <a:spcAft>
                <a:spcPts val="0"/>
              </a:spcAft>
              <a:buNone/>
            </a:pPr>
            <a:r>
              <a:t/>
            </a:r>
            <a:endParaRPr sz="2513"/>
          </a:p>
        </p:txBody>
      </p:sp>
      <p:sp>
        <p:nvSpPr>
          <p:cNvPr id="114" name="Google Shape;114;p21"/>
          <p:cNvSpPr/>
          <p:nvPr/>
        </p:nvSpPr>
        <p:spPr>
          <a:xfrm>
            <a:off x="1221388" y="1899166"/>
            <a:ext cx="660300" cy="387300"/>
          </a:xfrm>
          <a:prstGeom prst="rect">
            <a:avLst/>
          </a:prstGeom>
          <a:noFill/>
          <a:ln>
            <a:noFill/>
          </a:ln>
        </p:spPr>
        <p:txBody>
          <a:bodyPr anchorCtr="0" anchor="ctr" bIns="75100" lIns="150175" spcFirstLastPara="1" rIns="150175" wrap="square" tIns="75100">
            <a:noAutofit/>
          </a:bodyPr>
          <a:lstStyle/>
          <a:p>
            <a:pPr indent="0" lvl="0" marL="0" marR="0" rtl="0" algn="l">
              <a:lnSpc>
                <a:spcPct val="120000"/>
              </a:lnSpc>
              <a:spcBef>
                <a:spcPts val="0"/>
              </a:spcBef>
              <a:spcAft>
                <a:spcPts val="0"/>
              </a:spcAft>
              <a:buClr>
                <a:srgbClr val="BCC0C5"/>
              </a:buClr>
              <a:buSzPts val="1725"/>
              <a:buFont typeface="Inter"/>
              <a:buNone/>
            </a:pPr>
            <a:r>
              <a:rPr i="1" lang="en" sz="2165">
                <a:solidFill>
                  <a:schemeClr val="lt1"/>
                </a:solidFill>
                <a:latin typeface="Archivo Medium"/>
                <a:ea typeface="Archivo Medium"/>
                <a:cs typeface="Archivo Medium"/>
                <a:sym typeface="Archivo Medium"/>
              </a:rPr>
              <a:t>01</a:t>
            </a:r>
            <a:endParaRPr i="1" sz="2165">
              <a:solidFill>
                <a:schemeClr val="lt1"/>
              </a:solidFill>
              <a:latin typeface="Archivo Medium"/>
              <a:ea typeface="Archivo Medium"/>
              <a:cs typeface="Archivo Medium"/>
              <a:sym typeface="Archivo Medium"/>
            </a:endParaRPr>
          </a:p>
        </p:txBody>
      </p:sp>
      <p:pic>
        <p:nvPicPr>
          <p:cNvPr id="115" name="Google Shape;115;p21" title="W Full blk txt (1).png"/>
          <p:cNvPicPr preferRelativeResize="0"/>
          <p:nvPr/>
        </p:nvPicPr>
        <p:blipFill>
          <a:blip r:embed="rId3">
            <a:alphaModFix/>
          </a:blip>
          <a:stretch>
            <a:fillRect/>
          </a:stretch>
        </p:blipFill>
        <p:spPr>
          <a:xfrm>
            <a:off x="7835738" y="201625"/>
            <a:ext cx="1025576" cy="246300"/>
          </a:xfrm>
          <a:prstGeom prst="rect">
            <a:avLst/>
          </a:prstGeom>
          <a:noFill/>
          <a:ln>
            <a:noFill/>
          </a:ln>
        </p:spPr>
      </p:pic>
      <p:sp>
        <p:nvSpPr>
          <p:cNvPr id="116" name="Google Shape;116;p21"/>
          <p:cNvSpPr/>
          <p:nvPr/>
        </p:nvSpPr>
        <p:spPr>
          <a:xfrm>
            <a:off x="1126200" y="2119736"/>
            <a:ext cx="6891600" cy="938700"/>
          </a:xfrm>
          <a:prstGeom prst="rect">
            <a:avLst/>
          </a:prstGeom>
          <a:noFill/>
          <a:ln>
            <a:noFill/>
          </a:ln>
          <a:effectLst>
            <a:outerShdw blurRad="57150" rotWithShape="0" algn="bl" dir="5400000" dist="19050">
              <a:srgbClr val="000000">
                <a:alpha val="50000"/>
              </a:srgbClr>
            </a:outerShdw>
          </a:effectLst>
        </p:spPr>
        <p:txBody>
          <a:bodyPr anchorCtr="0" anchor="ctr" bIns="45700" lIns="91425" spcFirstLastPara="1" rIns="91425" wrap="square" tIns="45700">
            <a:noAutofit/>
          </a:bodyPr>
          <a:lstStyle/>
          <a:p>
            <a:pPr indent="0" lvl="0" marL="0" marR="0" rtl="0" algn="l">
              <a:lnSpc>
                <a:spcPct val="75000"/>
              </a:lnSpc>
              <a:spcBef>
                <a:spcPts val="0"/>
              </a:spcBef>
              <a:spcAft>
                <a:spcPts val="0"/>
              </a:spcAft>
              <a:buClr>
                <a:srgbClr val="FFFFFF"/>
              </a:buClr>
              <a:buSzPts val="5250"/>
              <a:buFont typeface="Inter"/>
              <a:buNone/>
            </a:pPr>
            <a:r>
              <a:rPr b="1" lang="en" sz="5200">
                <a:solidFill>
                  <a:schemeClr val="lt1"/>
                </a:solidFill>
                <a:latin typeface="Archivo"/>
                <a:ea typeface="Archivo"/>
                <a:cs typeface="Archivo"/>
                <a:sym typeface="Archivo"/>
              </a:rPr>
              <a:t>SEO @ Webserv</a:t>
            </a:r>
            <a:endParaRPr b="1" sz="5200">
              <a:solidFill>
                <a:schemeClr val="lt1"/>
              </a:solidFill>
              <a:latin typeface="Archivo"/>
              <a:ea typeface="Archivo"/>
              <a:cs typeface="Archivo"/>
              <a:sym typeface="Archiv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0" name="Shape 120"/>
        <p:cNvGrpSpPr/>
        <p:nvPr/>
      </p:nvGrpSpPr>
      <p:grpSpPr>
        <a:xfrm>
          <a:off x="0" y="0"/>
          <a:ext cx="0" cy="0"/>
          <a:chOff x="0" y="0"/>
          <a:chExt cx="0" cy="0"/>
        </a:xfrm>
      </p:grpSpPr>
      <p:sp>
        <p:nvSpPr>
          <p:cNvPr id="121" name="Google Shape;121;p22"/>
          <p:cNvSpPr txBox="1"/>
          <p:nvPr/>
        </p:nvSpPr>
        <p:spPr>
          <a:xfrm>
            <a:off x="439200" y="2166625"/>
            <a:ext cx="2775600" cy="2664600"/>
          </a:xfrm>
          <a:prstGeom prst="rect">
            <a:avLst/>
          </a:prstGeom>
          <a:noFill/>
          <a:ln>
            <a:noFill/>
          </a:ln>
        </p:spPr>
        <p:txBody>
          <a:bodyPr anchorCtr="0" anchor="t" bIns="91425" lIns="0" spcFirstLastPara="1" rIns="91425" wrap="square" tIns="0">
            <a:noAutofit/>
          </a:bodyPr>
          <a:lstStyle/>
          <a:p>
            <a:pPr indent="-195072" lvl="0" marL="292608" rtl="0" algn="l">
              <a:lnSpc>
                <a:spcPct val="115000"/>
              </a:lnSpc>
              <a:spcBef>
                <a:spcPts val="0"/>
              </a:spcBef>
              <a:spcAft>
                <a:spcPts val="0"/>
              </a:spcAft>
              <a:buClr>
                <a:srgbClr val="2B2B2A"/>
              </a:buClr>
              <a:buSzPts val="1200"/>
              <a:buFont typeface="Archivo"/>
              <a:buChar char="■"/>
            </a:pPr>
            <a:r>
              <a:rPr b="1" lang="en" sz="1200">
                <a:solidFill>
                  <a:srgbClr val="2B2B2A"/>
                </a:solidFill>
                <a:latin typeface="Archivo"/>
                <a:ea typeface="Archivo"/>
                <a:cs typeface="Archivo"/>
                <a:sym typeface="Archivo"/>
              </a:rPr>
              <a:t>What exists</a:t>
            </a:r>
            <a:endParaRPr b="1" sz="1200">
              <a:solidFill>
                <a:srgbClr val="2B2B2A"/>
              </a:solidFill>
              <a:latin typeface="Archivo"/>
              <a:ea typeface="Archivo"/>
              <a:cs typeface="Archivo"/>
              <a:sym typeface="Archivo"/>
            </a:endParaRPr>
          </a:p>
          <a:p>
            <a:pPr indent="-195072" lvl="0" marL="292608" rtl="0" algn="l">
              <a:lnSpc>
                <a:spcPct val="115000"/>
              </a:lnSpc>
              <a:spcBef>
                <a:spcPts val="1000"/>
              </a:spcBef>
              <a:spcAft>
                <a:spcPts val="0"/>
              </a:spcAft>
              <a:buClr>
                <a:srgbClr val="2B2B2A"/>
              </a:buClr>
              <a:buSzPts val="1200"/>
              <a:buFont typeface="Archivo"/>
              <a:buChar char="■"/>
            </a:pPr>
            <a:r>
              <a:rPr b="1" lang="en" sz="1200">
                <a:solidFill>
                  <a:srgbClr val="2B2B2A"/>
                </a:solidFill>
                <a:latin typeface="Archivo"/>
                <a:ea typeface="Archivo"/>
                <a:cs typeface="Archivo"/>
                <a:sym typeface="Archivo"/>
              </a:rPr>
              <a:t>What’s working</a:t>
            </a:r>
            <a:endParaRPr b="1" sz="1200">
              <a:solidFill>
                <a:srgbClr val="2B2B2A"/>
              </a:solidFill>
              <a:latin typeface="Archivo"/>
              <a:ea typeface="Archivo"/>
              <a:cs typeface="Archivo"/>
              <a:sym typeface="Archivo"/>
            </a:endParaRPr>
          </a:p>
          <a:p>
            <a:pPr indent="-195072" lvl="0" marL="292608" rtl="0" algn="l">
              <a:lnSpc>
                <a:spcPct val="115000"/>
              </a:lnSpc>
              <a:spcBef>
                <a:spcPts val="1000"/>
              </a:spcBef>
              <a:spcAft>
                <a:spcPts val="0"/>
              </a:spcAft>
              <a:buClr>
                <a:srgbClr val="2B2B2A"/>
              </a:buClr>
              <a:buSzPts val="1200"/>
              <a:buFont typeface="Archivo"/>
              <a:buChar char="■"/>
            </a:pPr>
            <a:r>
              <a:rPr b="1" lang="en" sz="1200">
                <a:solidFill>
                  <a:srgbClr val="2B2B2A"/>
                </a:solidFill>
                <a:latin typeface="Archivo"/>
                <a:ea typeface="Archivo"/>
                <a:cs typeface="Archivo"/>
                <a:sym typeface="Archivo"/>
              </a:rPr>
              <a:t>What’s missing </a:t>
            </a:r>
            <a:endParaRPr b="1" sz="1200">
              <a:solidFill>
                <a:srgbClr val="2B2B2A"/>
              </a:solidFill>
              <a:latin typeface="Archivo"/>
              <a:ea typeface="Archivo"/>
              <a:cs typeface="Archivo"/>
              <a:sym typeface="Archivo"/>
            </a:endParaRPr>
          </a:p>
          <a:p>
            <a:pPr indent="0" lvl="0" marL="0" rtl="0" algn="l">
              <a:lnSpc>
                <a:spcPct val="115000"/>
              </a:lnSpc>
              <a:spcBef>
                <a:spcPts val="1000"/>
              </a:spcBef>
              <a:spcAft>
                <a:spcPts val="1000"/>
              </a:spcAft>
              <a:buNone/>
            </a:pPr>
            <a:r>
              <a:t/>
            </a:r>
            <a:endParaRPr b="1" sz="1200">
              <a:solidFill>
                <a:srgbClr val="2B2B2A"/>
              </a:solidFill>
              <a:latin typeface="Archivo"/>
              <a:ea typeface="Archivo"/>
              <a:cs typeface="Archivo"/>
              <a:sym typeface="Archivo"/>
            </a:endParaRPr>
          </a:p>
        </p:txBody>
      </p:sp>
      <p:sp>
        <p:nvSpPr>
          <p:cNvPr id="122" name="Google Shape;122;p22"/>
          <p:cNvSpPr txBox="1"/>
          <p:nvPr/>
        </p:nvSpPr>
        <p:spPr>
          <a:xfrm>
            <a:off x="3550600" y="2166625"/>
            <a:ext cx="2590200" cy="2698200"/>
          </a:xfrm>
          <a:prstGeom prst="rect">
            <a:avLst/>
          </a:prstGeom>
          <a:noFill/>
          <a:ln>
            <a:noFill/>
          </a:ln>
        </p:spPr>
        <p:txBody>
          <a:bodyPr anchorCtr="0" anchor="t" bIns="91425" lIns="0" spcFirstLastPara="1" rIns="91425" wrap="square" tIns="0">
            <a:noAutofit/>
          </a:bodyPr>
          <a:lstStyle/>
          <a:p>
            <a:pPr indent="-195072" lvl="0" marL="292608" rtl="0" algn="l">
              <a:lnSpc>
                <a:spcPct val="115000"/>
              </a:lnSpc>
              <a:spcBef>
                <a:spcPts val="0"/>
              </a:spcBef>
              <a:spcAft>
                <a:spcPts val="0"/>
              </a:spcAft>
              <a:buClr>
                <a:srgbClr val="2B2B2A"/>
              </a:buClr>
              <a:buSzPts val="1200"/>
              <a:buFont typeface="Archivo"/>
              <a:buChar char="■"/>
            </a:pPr>
            <a:r>
              <a:rPr b="1" lang="en" sz="1200">
                <a:solidFill>
                  <a:srgbClr val="2B2B2A"/>
                </a:solidFill>
                <a:latin typeface="Archivo"/>
                <a:ea typeface="Archivo"/>
                <a:cs typeface="Archivo"/>
                <a:sym typeface="Archivo"/>
              </a:rPr>
              <a:t>Trust &amp; Eligibility </a:t>
            </a:r>
            <a:br>
              <a:rPr b="1" lang="en" sz="1200">
                <a:solidFill>
                  <a:srgbClr val="2B2B2A"/>
                </a:solidFill>
                <a:latin typeface="Archivo"/>
                <a:ea typeface="Archivo"/>
                <a:cs typeface="Archivo"/>
                <a:sym typeface="Archivo"/>
              </a:rPr>
            </a:br>
            <a:r>
              <a:rPr i="1" lang="en" sz="900">
                <a:solidFill>
                  <a:srgbClr val="2B2B2A"/>
                </a:solidFill>
                <a:latin typeface="Archivo"/>
                <a:ea typeface="Archivo"/>
                <a:cs typeface="Archivo"/>
                <a:sym typeface="Archivo"/>
              </a:rPr>
              <a:t>If this page didn’t exist or was unclear, could Google or a user misunderstand what the you do or how to get in touch?</a:t>
            </a:r>
            <a:endParaRPr i="1" sz="900">
              <a:solidFill>
                <a:srgbClr val="2B2B2A"/>
              </a:solidFill>
              <a:latin typeface="Archivo"/>
              <a:ea typeface="Archivo"/>
              <a:cs typeface="Archivo"/>
              <a:sym typeface="Archivo"/>
            </a:endParaRPr>
          </a:p>
          <a:p>
            <a:pPr indent="-195072" lvl="0" marL="292608" rtl="0" algn="l">
              <a:lnSpc>
                <a:spcPct val="115000"/>
              </a:lnSpc>
              <a:spcBef>
                <a:spcPts val="1000"/>
              </a:spcBef>
              <a:spcAft>
                <a:spcPts val="0"/>
              </a:spcAft>
              <a:buClr>
                <a:srgbClr val="2B2B2A"/>
              </a:buClr>
              <a:buSzPts val="1200"/>
              <a:buFont typeface="Archivo"/>
              <a:buChar char="■"/>
            </a:pPr>
            <a:r>
              <a:rPr b="1" lang="en" sz="1200">
                <a:solidFill>
                  <a:srgbClr val="2B2B2A"/>
                </a:solidFill>
                <a:latin typeface="Archivo"/>
                <a:ea typeface="Archivo"/>
                <a:cs typeface="Archivo"/>
                <a:sym typeface="Archivo"/>
              </a:rPr>
              <a:t>Structural Authority </a:t>
            </a:r>
            <a:br>
              <a:rPr b="1" lang="en" sz="1200">
                <a:solidFill>
                  <a:srgbClr val="2B2B2A"/>
                </a:solidFill>
                <a:latin typeface="Archivo"/>
                <a:ea typeface="Archivo"/>
                <a:cs typeface="Archivo"/>
                <a:sym typeface="Archivo"/>
              </a:rPr>
            </a:br>
            <a:r>
              <a:rPr i="1" lang="en" sz="900">
                <a:solidFill>
                  <a:srgbClr val="2B2B2A"/>
                </a:solidFill>
                <a:latin typeface="Archivo"/>
                <a:ea typeface="Archivo"/>
                <a:cs typeface="Archivo"/>
                <a:sym typeface="Archivo"/>
              </a:rPr>
              <a:t>If this page didn’t exist, would the site feel disorganized or harder to understand? Is this a page many other pages should point to, not just land on?</a:t>
            </a:r>
            <a:endParaRPr i="1" sz="900">
              <a:solidFill>
                <a:srgbClr val="2B2B2A"/>
              </a:solidFill>
              <a:latin typeface="Archivo"/>
              <a:ea typeface="Archivo"/>
              <a:cs typeface="Archivo"/>
              <a:sym typeface="Archivo"/>
            </a:endParaRPr>
          </a:p>
          <a:p>
            <a:pPr indent="0" lvl="0" marL="0" rtl="0" algn="l">
              <a:lnSpc>
                <a:spcPct val="115000"/>
              </a:lnSpc>
              <a:spcBef>
                <a:spcPts val="1000"/>
              </a:spcBef>
              <a:spcAft>
                <a:spcPts val="0"/>
              </a:spcAft>
              <a:buNone/>
            </a:pPr>
            <a:br>
              <a:rPr lang="en" sz="900">
                <a:solidFill>
                  <a:srgbClr val="2B2B2A"/>
                </a:solidFill>
                <a:latin typeface="Archivo"/>
                <a:ea typeface="Archivo"/>
                <a:cs typeface="Archivo"/>
                <a:sym typeface="Archivo"/>
              </a:rPr>
            </a:br>
            <a:endParaRPr sz="900">
              <a:solidFill>
                <a:srgbClr val="2B2B2A"/>
              </a:solidFill>
              <a:latin typeface="Archivo"/>
              <a:ea typeface="Archivo"/>
              <a:cs typeface="Archivo"/>
              <a:sym typeface="Archivo"/>
            </a:endParaRPr>
          </a:p>
          <a:p>
            <a:pPr indent="0" lvl="0" marL="0" rtl="0" algn="l">
              <a:lnSpc>
                <a:spcPct val="115000"/>
              </a:lnSpc>
              <a:spcBef>
                <a:spcPts val="1000"/>
              </a:spcBef>
              <a:spcAft>
                <a:spcPts val="1000"/>
              </a:spcAft>
              <a:buNone/>
            </a:pPr>
            <a:r>
              <a:t/>
            </a:r>
            <a:endParaRPr b="1" sz="1000">
              <a:solidFill>
                <a:srgbClr val="2B2B2A"/>
              </a:solidFill>
              <a:latin typeface="Archivo"/>
              <a:ea typeface="Archivo"/>
              <a:cs typeface="Archivo"/>
              <a:sym typeface="Archivo"/>
            </a:endParaRPr>
          </a:p>
        </p:txBody>
      </p:sp>
      <p:sp>
        <p:nvSpPr>
          <p:cNvPr id="123" name="Google Shape;123;p22"/>
          <p:cNvSpPr txBox="1"/>
          <p:nvPr/>
        </p:nvSpPr>
        <p:spPr>
          <a:xfrm>
            <a:off x="6138500" y="2166624"/>
            <a:ext cx="2607300" cy="2313600"/>
          </a:xfrm>
          <a:prstGeom prst="rect">
            <a:avLst/>
          </a:prstGeom>
          <a:noFill/>
          <a:ln>
            <a:noFill/>
          </a:ln>
        </p:spPr>
        <p:txBody>
          <a:bodyPr anchorCtr="0" anchor="t" bIns="91425" lIns="0" spcFirstLastPara="1" rIns="91425" wrap="square" tIns="0">
            <a:noAutofit/>
          </a:bodyPr>
          <a:lstStyle/>
          <a:p>
            <a:pPr indent="-195072" lvl="0" marL="292608" rtl="0" algn="l">
              <a:lnSpc>
                <a:spcPct val="115000"/>
              </a:lnSpc>
              <a:spcBef>
                <a:spcPts val="0"/>
              </a:spcBef>
              <a:spcAft>
                <a:spcPts val="0"/>
              </a:spcAft>
              <a:buClr>
                <a:srgbClr val="2B2B2A"/>
              </a:buClr>
              <a:buSzPts val="1200"/>
              <a:buFont typeface="Manrope"/>
              <a:buChar char="■"/>
            </a:pPr>
            <a:r>
              <a:rPr b="1" lang="en" sz="1200">
                <a:solidFill>
                  <a:srgbClr val="2B2B2A"/>
                </a:solidFill>
                <a:latin typeface="Archivo"/>
                <a:ea typeface="Archivo"/>
                <a:cs typeface="Archivo"/>
                <a:sym typeface="Archivo"/>
              </a:rPr>
              <a:t>Consolidation  &amp; Cleanup </a:t>
            </a:r>
            <a:br>
              <a:rPr b="1" lang="en" sz="1200">
                <a:solidFill>
                  <a:srgbClr val="2B2B2A"/>
                </a:solidFill>
                <a:latin typeface="Archivo"/>
                <a:ea typeface="Archivo"/>
                <a:cs typeface="Archivo"/>
                <a:sym typeface="Archivo"/>
              </a:rPr>
            </a:br>
            <a:r>
              <a:rPr i="1" lang="en" sz="900">
                <a:solidFill>
                  <a:srgbClr val="2B2B2A"/>
                </a:solidFill>
                <a:latin typeface="Archivo"/>
                <a:ea typeface="Archivo"/>
                <a:cs typeface="Archivo"/>
                <a:sym typeface="Archivo"/>
              </a:rPr>
              <a:t>Does this reduce URL sprawl or clean up past SEO decisions?</a:t>
            </a:r>
            <a:endParaRPr i="1" sz="900">
              <a:solidFill>
                <a:srgbClr val="2B2B2A"/>
              </a:solidFill>
              <a:latin typeface="Archivo"/>
              <a:ea typeface="Archivo"/>
              <a:cs typeface="Archivo"/>
              <a:sym typeface="Archivo"/>
            </a:endParaRPr>
          </a:p>
          <a:p>
            <a:pPr indent="-195072" lvl="0" marL="292608" rtl="0" algn="l">
              <a:lnSpc>
                <a:spcPct val="115000"/>
              </a:lnSpc>
              <a:spcBef>
                <a:spcPts val="1000"/>
              </a:spcBef>
              <a:spcAft>
                <a:spcPts val="0"/>
              </a:spcAft>
              <a:buClr>
                <a:srgbClr val="2B2B2A"/>
              </a:buClr>
              <a:buSzPts val="1200"/>
              <a:buFont typeface="Manrope"/>
              <a:buChar char="■"/>
            </a:pPr>
            <a:r>
              <a:rPr b="1" lang="en" sz="1200">
                <a:solidFill>
                  <a:srgbClr val="2B2B2A"/>
                </a:solidFill>
                <a:latin typeface="Archivo"/>
                <a:ea typeface="Archivo"/>
                <a:cs typeface="Archivo"/>
                <a:sym typeface="Archivo"/>
              </a:rPr>
              <a:t>Differentiation </a:t>
            </a:r>
            <a:br>
              <a:rPr b="1" lang="en" sz="1200">
                <a:solidFill>
                  <a:srgbClr val="2B2B2A"/>
                </a:solidFill>
                <a:latin typeface="Archivo"/>
                <a:ea typeface="Archivo"/>
                <a:cs typeface="Archivo"/>
                <a:sym typeface="Archivo"/>
              </a:rPr>
            </a:br>
            <a:r>
              <a:rPr i="1" lang="en" sz="900">
                <a:solidFill>
                  <a:srgbClr val="2B2B2A"/>
                </a:solidFill>
                <a:latin typeface="Archivo"/>
                <a:ea typeface="Archivo"/>
                <a:cs typeface="Archivo"/>
                <a:sym typeface="Archivo"/>
              </a:rPr>
              <a:t>Would this page meaningfully influence a person’s decision to choose to visit, once they already understand the service you offer?</a:t>
            </a:r>
            <a:endParaRPr i="1" sz="900">
              <a:solidFill>
                <a:srgbClr val="2B2B2A"/>
              </a:solidFill>
              <a:latin typeface="Archivo"/>
              <a:ea typeface="Archivo"/>
              <a:cs typeface="Archivo"/>
              <a:sym typeface="Archivo"/>
            </a:endParaRPr>
          </a:p>
          <a:p>
            <a:pPr indent="-195072" lvl="0" marL="292608" rtl="0" algn="l">
              <a:lnSpc>
                <a:spcPct val="115000"/>
              </a:lnSpc>
              <a:spcBef>
                <a:spcPts val="1000"/>
              </a:spcBef>
              <a:spcAft>
                <a:spcPts val="0"/>
              </a:spcAft>
              <a:buClr>
                <a:srgbClr val="2B2B2A"/>
              </a:buClr>
              <a:buSzPts val="1200"/>
              <a:buFont typeface="Manrope"/>
              <a:buChar char="■"/>
            </a:pPr>
            <a:r>
              <a:rPr b="1" lang="en" sz="1200">
                <a:solidFill>
                  <a:srgbClr val="2B2B2A"/>
                </a:solidFill>
                <a:latin typeface="Archivo"/>
                <a:ea typeface="Archivo"/>
                <a:cs typeface="Archivo"/>
                <a:sym typeface="Archivo"/>
              </a:rPr>
              <a:t>Expansion &amp; Demand Capture</a:t>
            </a:r>
            <a:br>
              <a:rPr b="1" lang="en" sz="1200">
                <a:solidFill>
                  <a:srgbClr val="2B2B2A"/>
                </a:solidFill>
                <a:latin typeface="Archivo"/>
                <a:ea typeface="Archivo"/>
                <a:cs typeface="Archivo"/>
                <a:sym typeface="Archivo"/>
              </a:rPr>
            </a:br>
            <a:r>
              <a:rPr i="1" lang="en" sz="900">
                <a:solidFill>
                  <a:srgbClr val="2B2B2A"/>
                </a:solidFill>
                <a:latin typeface="Archivo"/>
                <a:ea typeface="Archivo"/>
                <a:cs typeface="Archivo"/>
                <a:sym typeface="Archivo"/>
              </a:rPr>
              <a:t>How can we expand demand and capture leads?</a:t>
            </a:r>
            <a:endParaRPr i="1" sz="900">
              <a:solidFill>
                <a:srgbClr val="2B2B2A"/>
              </a:solidFill>
              <a:latin typeface="Archivo"/>
              <a:ea typeface="Archivo"/>
              <a:cs typeface="Archivo"/>
              <a:sym typeface="Archivo"/>
            </a:endParaRPr>
          </a:p>
          <a:p>
            <a:pPr indent="0" lvl="0" marL="457200" rtl="0" algn="l">
              <a:lnSpc>
                <a:spcPct val="115000"/>
              </a:lnSpc>
              <a:spcBef>
                <a:spcPts val="1000"/>
              </a:spcBef>
              <a:spcAft>
                <a:spcPts val="0"/>
              </a:spcAft>
              <a:buNone/>
            </a:pPr>
            <a:r>
              <a:t/>
            </a:r>
            <a:endParaRPr sz="900">
              <a:solidFill>
                <a:srgbClr val="2B2B2A"/>
              </a:solidFill>
              <a:latin typeface="Archivo"/>
              <a:ea typeface="Archivo"/>
              <a:cs typeface="Archivo"/>
              <a:sym typeface="Archivo"/>
            </a:endParaRPr>
          </a:p>
          <a:p>
            <a:pPr indent="0" lvl="0" marL="0" rtl="0" algn="l">
              <a:lnSpc>
                <a:spcPct val="115000"/>
              </a:lnSpc>
              <a:spcBef>
                <a:spcPts val="1000"/>
              </a:spcBef>
              <a:spcAft>
                <a:spcPts val="1000"/>
              </a:spcAft>
              <a:buNone/>
            </a:pPr>
            <a:r>
              <a:t/>
            </a:r>
            <a:endParaRPr sz="900">
              <a:solidFill>
                <a:srgbClr val="2B2B2A"/>
              </a:solidFill>
              <a:latin typeface="Archivo"/>
              <a:ea typeface="Archivo"/>
              <a:cs typeface="Archivo"/>
              <a:sym typeface="Archivo"/>
            </a:endParaRPr>
          </a:p>
        </p:txBody>
      </p:sp>
      <p:sp>
        <p:nvSpPr>
          <p:cNvPr id="124" name="Google Shape;124;p22"/>
          <p:cNvSpPr txBox="1"/>
          <p:nvPr/>
        </p:nvSpPr>
        <p:spPr>
          <a:xfrm>
            <a:off x="433950" y="1775613"/>
            <a:ext cx="526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 sz="1200">
                <a:solidFill>
                  <a:srgbClr val="080808"/>
                </a:solidFill>
                <a:latin typeface="Archivo Medium"/>
                <a:ea typeface="Archivo Medium"/>
                <a:cs typeface="Archivo Medium"/>
                <a:sym typeface="Archivo Medium"/>
              </a:rPr>
              <a:t>AUDIT</a:t>
            </a:r>
            <a:endParaRPr sz="1200">
              <a:solidFill>
                <a:srgbClr val="080808"/>
              </a:solidFill>
              <a:latin typeface="Archivo Medium"/>
              <a:ea typeface="Archivo Medium"/>
              <a:cs typeface="Archivo Medium"/>
              <a:sym typeface="Archivo Medium"/>
            </a:endParaRPr>
          </a:p>
        </p:txBody>
      </p:sp>
      <p:cxnSp>
        <p:nvCxnSpPr>
          <p:cNvPr id="125" name="Google Shape;125;p22"/>
          <p:cNvCxnSpPr>
            <a:endCxn id="124" idx="3"/>
          </p:cNvCxnSpPr>
          <p:nvPr/>
        </p:nvCxnSpPr>
        <p:spPr>
          <a:xfrm rot="10800000">
            <a:off x="960150" y="1868013"/>
            <a:ext cx="2094000" cy="0"/>
          </a:xfrm>
          <a:prstGeom prst="straightConnector1">
            <a:avLst/>
          </a:prstGeom>
          <a:noFill/>
          <a:ln cap="flat" cmpd="sng" w="19050">
            <a:solidFill>
              <a:srgbClr val="FF2F0A"/>
            </a:solidFill>
            <a:prstDash val="solid"/>
            <a:round/>
            <a:headEnd len="med" w="med" type="none"/>
            <a:tailEnd len="med" w="med" type="none"/>
          </a:ln>
        </p:spPr>
      </p:cxnSp>
      <p:sp>
        <p:nvSpPr>
          <p:cNvPr id="126" name="Google Shape;126;p22"/>
          <p:cNvSpPr txBox="1"/>
          <p:nvPr/>
        </p:nvSpPr>
        <p:spPr>
          <a:xfrm>
            <a:off x="3554300" y="1775625"/>
            <a:ext cx="42387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 sz="1200">
                <a:solidFill>
                  <a:srgbClr val="080808"/>
                </a:solidFill>
                <a:latin typeface="Archivo Medium"/>
                <a:ea typeface="Archivo Medium"/>
                <a:cs typeface="Archivo Medium"/>
                <a:sym typeface="Archivo Medium"/>
              </a:rPr>
              <a:t>ALIGN &amp; PRIORITIZE</a:t>
            </a:r>
            <a:endParaRPr b="1" sz="1200">
              <a:solidFill>
                <a:srgbClr val="080808"/>
              </a:solidFill>
              <a:latin typeface="Archivo"/>
              <a:ea typeface="Archivo"/>
              <a:cs typeface="Archivo"/>
              <a:sym typeface="Archivo"/>
            </a:endParaRPr>
          </a:p>
        </p:txBody>
      </p:sp>
      <p:sp>
        <p:nvSpPr>
          <p:cNvPr id="127" name="Google Shape;127;p22"/>
          <p:cNvSpPr/>
          <p:nvPr/>
        </p:nvSpPr>
        <p:spPr>
          <a:xfrm>
            <a:off x="433950" y="681950"/>
            <a:ext cx="7885800" cy="683700"/>
          </a:xfrm>
          <a:prstGeom prst="rect">
            <a:avLst/>
          </a:prstGeom>
          <a:noFill/>
          <a:ln>
            <a:noFill/>
          </a:ln>
        </p:spPr>
        <p:txBody>
          <a:bodyPr anchorCtr="0" anchor="ctr" bIns="39100" lIns="78225" spcFirstLastPara="1" rIns="78225" wrap="square" tIns="39100">
            <a:noAutofit/>
          </a:bodyPr>
          <a:lstStyle/>
          <a:p>
            <a:pPr indent="0" lvl="0" marL="0" marR="0" rtl="0" algn="l">
              <a:lnSpc>
                <a:spcPct val="85000"/>
              </a:lnSpc>
              <a:spcBef>
                <a:spcPts val="0"/>
              </a:spcBef>
              <a:spcAft>
                <a:spcPts val="0"/>
              </a:spcAft>
              <a:buClr>
                <a:srgbClr val="FFFFFF"/>
              </a:buClr>
              <a:buSzPts val="4491"/>
              <a:buFont typeface="Inter"/>
              <a:buNone/>
            </a:pPr>
            <a:r>
              <a:rPr lang="en" sz="3022">
                <a:solidFill>
                  <a:srgbClr val="080808"/>
                </a:solidFill>
                <a:latin typeface="Archivo"/>
                <a:ea typeface="Archivo"/>
                <a:cs typeface="Archivo"/>
                <a:sym typeface="Archivo"/>
              </a:rPr>
              <a:t>Building SEO the Right Way </a:t>
            </a:r>
            <a:endParaRPr b="1" i="0" sz="3022" u="none" cap="none" strike="noStrike">
              <a:solidFill>
                <a:srgbClr val="080808"/>
              </a:solidFill>
              <a:latin typeface="Archivo"/>
              <a:ea typeface="Archivo"/>
              <a:cs typeface="Archivo"/>
              <a:sym typeface="Archivo"/>
            </a:endParaRPr>
          </a:p>
        </p:txBody>
      </p:sp>
      <p:sp>
        <p:nvSpPr>
          <p:cNvPr id="128" name="Google Shape;128;p22"/>
          <p:cNvSpPr/>
          <p:nvPr/>
        </p:nvSpPr>
        <p:spPr>
          <a:xfrm>
            <a:off x="397002" y="379325"/>
            <a:ext cx="1411500" cy="175800"/>
          </a:xfrm>
          <a:prstGeom prst="rect">
            <a:avLst/>
          </a:prstGeom>
          <a:noFill/>
          <a:ln>
            <a:noFill/>
          </a:ln>
        </p:spPr>
        <p:txBody>
          <a:bodyPr anchorCtr="0" anchor="ctr" bIns="34100" lIns="68175" spcFirstLastPara="1" rIns="68175" wrap="square" tIns="34100">
            <a:noAutofit/>
          </a:bodyPr>
          <a:lstStyle/>
          <a:p>
            <a:pPr indent="0" lvl="0" marL="0" marR="0" rtl="0" algn="l">
              <a:lnSpc>
                <a:spcPct val="120000"/>
              </a:lnSpc>
              <a:spcBef>
                <a:spcPts val="0"/>
              </a:spcBef>
              <a:spcAft>
                <a:spcPts val="0"/>
              </a:spcAft>
              <a:buClr>
                <a:srgbClr val="BCC0C5"/>
              </a:buClr>
              <a:buSzPts val="783"/>
              <a:buFont typeface="Inter"/>
              <a:buNone/>
            </a:pPr>
            <a:r>
              <a:rPr i="1" lang="en" sz="983">
                <a:solidFill>
                  <a:schemeClr val="lt1"/>
                </a:solidFill>
                <a:latin typeface="Archivo Medium"/>
                <a:ea typeface="Archivo Medium"/>
                <a:cs typeface="Archivo Medium"/>
                <a:sym typeface="Archivo Medium"/>
              </a:rPr>
              <a:t>SEO Q1 Tactics</a:t>
            </a:r>
            <a:endParaRPr i="1" sz="983">
              <a:solidFill>
                <a:schemeClr val="lt1"/>
              </a:solidFill>
              <a:latin typeface="Archivo Medium"/>
              <a:ea typeface="Archivo Medium"/>
              <a:cs typeface="Archivo Medium"/>
              <a:sym typeface="Archivo Medium"/>
            </a:endParaRPr>
          </a:p>
        </p:txBody>
      </p:sp>
      <p:pic>
        <p:nvPicPr>
          <p:cNvPr id="129" name="Google Shape;129;p22" title="W Full blk txt.png"/>
          <p:cNvPicPr preferRelativeResize="0"/>
          <p:nvPr/>
        </p:nvPicPr>
        <p:blipFill>
          <a:blip r:embed="rId3">
            <a:alphaModFix/>
          </a:blip>
          <a:stretch>
            <a:fillRect/>
          </a:stretch>
        </p:blipFill>
        <p:spPr>
          <a:xfrm>
            <a:off x="7681550" y="4671325"/>
            <a:ext cx="1026251" cy="246300"/>
          </a:xfrm>
          <a:prstGeom prst="rect">
            <a:avLst/>
          </a:prstGeom>
          <a:noFill/>
          <a:ln>
            <a:noFill/>
          </a:ln>
        </p:spPr>
      </p:pic>
      <p:cxnSp>
        <p:nvCxnSpPr>
          <p:cNvPr id="130" name="Google Shape;130;p22"/>
          <p:cNvCxnSpPr/>
          <p:nvPr/>
        </p:nvCxnSpPr>
        <p:spPr>
          <a:xfrm rot="10800000">
            <a:off x="5141975" y="1886450"/>
            <a:ext cx="3419700" cy="0"/>
          </a:xfrm>
          <a:prstGeom prst="straightConnector1">
            <a:avLst/>
          </a:prstGeom>
          <a:noFill/>
          <a:ln cap="flat" cmpd="sng" w="19050">
            <a:solidFill>
              <a:srgbClr val="FF2F0A"/>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type="title"/>
          </p:nvPr>
        </p:nvSpPr>
        <p:spPr>
          <a:xfrm>
            <a:off x="171950" y="272275"/>
            <a:ext cx="49017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30-Day Launch Framework</a:t>
            </a:r>
            <a:endParaRPr/>
          </a:p>
        </p:txBody>
      </p:sp>
      <p:sp>
        <p:nvSpPr>
          <p:cNvPr id="136" name="Google Shape;136;p23"/>
          <p:cNvSpPr/>
          <p:nvPr/>
        </p:nvSpPr>
        <p:spPr>
          <a:xfrm>
            <a:off x="2209425" y="1158300"/>
            <a:ext cx="4184400" cy="3144600"/>
          </a:xfrm>
          <a:prstGeom prst="rect">
            <a:avLst/>
          </a:prstGeom>
          <a:solidFill>
            <a:srgbClr val="F9F9F9"/>
          </a:solidFill>
          <a:ln cap="flat" cmpd="sng" w="28575">
            <a:solidFill>
              <a:srgbClr val="FF2F0A"/>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a:solidFill>
                <a:srgbClr val="000000"/>
              </a:solidFill>
            </a:endParaRPr>
          </a:p>
        </p:txBody>
      </p:sp>
      <p:sp>
        <p:nvSpPr>
          <p:cNvPr id="137" name="Google Shape;137;p23"/>
          <p:cNvSpPr txBox="1"/>
          <p:nvPr/>
        </p:nvSpPr>
        <p:spPr>
          <a:xfrm>
            <a:off x="500470" y="1401700"/>
            <a:ext cx="1294200" cy="661800"/>
          </a:xfrm>
          <a:prstGeom prst="rect">
            <a:avLst/>
          </a:prstGeom>
          <a:noFill/>
          <a:ln>
            <a:noFill/>
          </a:ln>
        </p:spPr>
        <p:txBody>
          <a:bodyPr anchorCtr="0" anchor="t" bIns="91425" lIns="0" spcFirstLastPara="1" rIns="91425" wrap="square" tIns="0">
            <a:spAutoFit/>
          </a:bodyPr>
          <a:lstStyle/>
          <a:p>
            <a:pPr indent="0" lvl="0" marL="0" marR="0" rtl="0" algn="l">
              <a:lnSpc>
                <a:spcPct val="115000"/>
              </a:lnSpc>
              <a:spcBef>
                <a:spcPts val="0"/>
              </a:spcBef>
              <a:spcAft>
                <a:spcPts val="0"/>
              </a:spcAft>
              <a:buNone/>
            </a:pPr>
            <a:r>
              <a:rPr b="1" lang="en" sz="1000">
                <a:solidFill>
                  <a:srgbClr val="000000"/>
                </a:solidFill>
                <a:latin typeface="Inter"/>
                <a:ea typeface="Inter"/>
                <a:cs typeface="Inter"/>
                <a:sym typeface="Inter"/>
              </a:rPr>
              <a:t>WEEK 1</a:t>
            </a:r>
            <a:br>
              <a:rPr b="1" lang="en" sz="1000">
                <a:solidFill>
                  <a:srgbClr val="000000"/>
                </a:solidFill>
                <a:latin typeface="Inter"/>
                <a:ea typeface="Inter"/>
                <a:cs typeface="Inter"/>
                <a:sym typeface="Inter"/>
              </a:rPr>
            </a:br>
            <a:endParaRPr b="1" sz="1000">
              <a:solidFill>
                <a:srgbClr val="000000"/>
              </a:solidFill>
              <a:latin typeface="Inter"/>
              <a:ea typeface="Inter"/>
              <a:cs typeface="Inter"/>
              <a:sym typeface="Inter"/>
            </a:endParaRPr>
          </a:p>
          <a:p>
            <a:pPr indent="0" lvl="0" marL="0" marR="0" rtl="0" algn="l">
              <a:lnSpc>
                <a:spcPct val="115000"/>
              </a:lnSpc>
              <a:spcBef>
                <a:spcPts val="0"/>
              </a:spcBef>
              <a:spcAft>
                <a:spcPts val="0"/>
              </a:spcAft>
              <a:buNone/>
            </a:pPr>
            <a:r>
              <a:rPr b="1" lang="en">
                <a:solidFill>
                  <a:srgbClr val="000000"/>
                </a:solidFill>
                <a:latin typeface="Inter"/>
                <a:ea typeface="Inter"/>
                <a:cs typeface="Inter"/>
                <a:sym typeface="Inter"/>
              </a:rPr>
              <a:t>Foundations</a:t>
            </a:r>
            <a:endParaRPr b="1">
              <a:solidFill>
                <a:srgbClr val="000000"/>
              </a:solidFill>
              <a:latin typeface="Inter"/>
              <a:ea typeface="Inter"/>
              <a:cs typeface="Inter"/>
              <a:sym typeface="Inter"/>
            </a:endParaRPr>
          </a:p>
        </p:txBody>
      </p:sp>
      <p:sp>
        <p:nvSpPr>
          <p:cNvPr id="138" name="Google Shape;138;p23"/>
          <p:cNvSpPr txBox="1"/>
          <p:nvPr/>
        </p:nvSpPr>
        <p:spPr>
          <a:xfrm>
            <a:off x="500471" y="2220550"/>
            <a:ext cx="1607700" cy="1878000"/>
          </a:xfrm>
          <a:prstGeom prst="rect">
            <a:avLst/>
          </a:prstGeom>
          <a:noFill/>
          <a:ln>
            <a:noFill/>
          </a:ln>
        </p:spPr>
        <p:txBody>
          <a:bodyPr anchorCtr="0" anchor="t" bIns="91425" lIns="0" spcFirstLastPara="1" rIns="91425" wrap="square" tIns="0">
            <a:spAutoFit/>
          </a:bodyPr>
          <a:lstStyle/>
          <a:p>
            <a:pPr indent="0" lvl="0" marL="0" rtl="0" algn="l">
              <a:lnSpc>
                <a:spcPct val="100000"/>
              </a:lnSpc>
              <a:spcBef>
                <a:spcPts val="0"/>
              </a:spcBef>
              <a:spcAft>
                <a:spcPts val="0"/>
              </a:spcAft>
              <a:buNone/>
            </a:pPr>
            <a:r>
              <a:rPr lang="en">
                <a:solidFill>
                  <a:srgbClr val="000000"/>
                </a:solidFill>
                <a:latin typeface="Inter"/>
                <a:ea typeface="Inter"/>
                <a:cs typeface="Inter"/>
                <a:sym typeface="Inter"/>
              </a:rPr>
              <a:t>☑ </a:t>
            </a:r>
            <a:r>
              <a:rPr lang="en" sz="1000">
                <a:solidFill>
                  <a:srgbClr val="000000"/>
                </a:solidFill>
                <a:latin typeface="Inter"/>
                <a:ea typeface="Inter"/>
                <a:cs typeface="Inter"/>
                <a:sym typeface="Inter"/>
              </a:rPr>
              <a:t>Client Discovery</a:t>
            </a:r>
            <a:endParaRPr sz="1000">
              <a:solidFill>
                <a:srgbClr val="000000"/>
              </a:solidFill>
              <a:latin typeface="Inter"/>
              <a:ea typeface="Inter"/>
              <a:cs typeface="Inter"/>
              <a:sym typeface="Inter"/>
            </a:endParaRPr>
          </a:p>
          <a:p>
            <a:pPr indent="0" lvl="0" marL="0" rtl="0" algn="l">
              <a:lnSpc>
                <a:spcPct val="100000"/>
              </a:lnSpc>
              <a:spcBef>
                <a:spcPts val="600"/>
              </a:spcBef>
              <a:spcAft>
                <a:spcPts val="0"/>
              </a:spcAft>
              <a:buNone/>
            </a:pPr>
            <a:r>
              <a:rPr lang="en">
                <a:solidFill>
                  <a:srgbClr val="000000"/>
                </a:solidFill>
                <a:latin typeface="Inter"/>
                <a:ea typeface="Inter"/>
                <a:cs typeface="Inter"/>
                <a:sym typeface="Inter"/>
              </a:rPr>
              <a:t>☑ </a:t>
            </a:r>
            <a:r>
              <a:rPr lang="en" sz="1000">
                <a:solidFill>
                  <a:srgbClr val="000000"/>
                </a:solidFill>
                <a:latin typeface="Inter"/>
                <a:ea typeface="Inter"/>
                <a:cs typeface="Inter"/>
                <a:sym typeface="Inter"/>
              </a:rPr>
              <a:t>Kickoff Call &amp; Project Review</a:t>
            </a:r>
            <a:endParaRPr sz="1000">
              <a:solidFill>
                <a:srgbClr val="000000"/>
              </a:solidFill>
              <a:latin typeface="Inter"/>
              <a:ea typeface="Inter"/>
              <a:cs typeface="Inter"/>
              <a:sym typeface="Inter"/>
            </a:endParaRPr>
          </a:p>
          <a:p>
            <a:pPr indent="0" lvl="0" marL="0" rtl="0" algn="l">
              <a:lnSpc>
                <a:spcPct val="100000"/>
              </a:lnSpc>
              <a:spcBef>
                <a:spcPts val="600"/>
              </a:spcBef>
              <a:spcAft>
                <a:spcPts val="0"/>
              </a:spcAft>
              <a:buNone/>
            </a:pPr>
            <a:r>
              <a:rPr lang="en">
                <a:solidFill>
                  <a:srgbClr val="000000"/>
                </a:solidFill>
                <a:latin typeface="Inter"/>
                <a:ea typeface="Inter"/>
                <a:cs typeface="Inter"/>
                <a:sym typeface="Inter"/>
              </a:rPr>
              <a:t>☑ </a:t>
            </a:r>
            <a:r>
              <a:rPr lang="en" sz="1000">
                <a:solidFill>
                  <a:srgbClr val="000000"/>
                </a:solidFill>
                <a:latin typeface="Inter"/>
                <a:ea typeface="Inter"/>
                <a:cs typeface="Inter"/>
                <a:sym typeface="Inter"/>
              </a:rPr>
              <a:t>Content &amp; SEO Analysis </a:t>
            </a:r>
            <a:endParaRPr sz="1000">
              <a:solidFill>
                <a:srgbClr val="000000"/>
              </a:solidFill>
              <a:latin typeface="Inter"/>
              <a:ea typeface="Inter"/>
              <a:cs typeface="Inter"/>
              <a:sym typeface="Inter"/>
            </a:endParaRPr>
          </a:p>
          <a:p>
            <a:pPr indent="0" lvl="0" marL="0" rtl="0" algn="l">
              <a:lnSpc>
                <a:spcPct val="100000"/>
              </a:lnSpc>
              <a:spcBef>
                <a:spcPts val="600"/>
              </a:spcBef>
              <a:spcAft>
                <a:spcPts val="0"/>
              </a:spcAft>
              <a:buNone/>
            </a:pPr>
            <a:r>
              <a:rPr lang="en">
                <a:solidFill>
                  <a:srgbClr val="000000"/>
                </a:solidFill>
                <a:latin typeface="Inter"/>
                <a:ea typeface="Inter"/>
                <a:cs typeface="Inter"/>
                <a:sym typeface="Inter"/>
              </a:rPr>
              <a:t>☑ </a:t>
            </a:r>
            <a:r>
              <a:rPr lang="en" sz="1000">
                <a:solidFill>
                  <a:srgbClr val="000000"/>
                </a:solidFill>
                <a:latin typeface="Inter"/>
                <a:ea typeface="Inter"/>
                <a:cs typeface="Inter"/>
                <a:sym typeface="Inter"/>
              </a:rPr>
              <a:t>Accounts Setup &amp; Configuration</a:t>
            </a:r>
            <a:endParaRPr sz="1000">
              <a:solidFill>
                <a:srgbClr val="000000"/>
              </a:solidFill>
              <a:latin typeface="Inter"/>
              <a:ea typeface="Inter"/>
              <a:cs typeface="Inter"/>
              <a:sym typeface="Inter"/>
            </a:endParaRPr>
          </a:p>
          <a:p>
            <a:pPr indent="0" lvl="0" marL="0" rtl="0" algn="l">
              <a:lnSpc>
                <a:spcPct val="100000"/>
              </a:lnSpc>
              <a:spcBef>
                <a:spcPts val="600"/>
              </a:spcBef>
              <a:spcAft>
                <a:spcPts val="600"/>
              </a:spcAft>
              <a:buNone/>
            </a:pPr>
            <a:r>
              <a:t/>
            </a:r>
            <a:endParaRPr sz="1000">
              <a:solidFill>
                <a:srgbClr val="000000"/>
              </a:solidFill>
              <a:latin typeface="Inter"/>
              <a:ea typeface="Inter"/>
              <a:cs typeface="Inter"/>
              <a:sym typeface="Inter"/>
            </a:endParaRPr>
          </a:p>
        </p:txBody>
      </p:sp>
      <p:cxnSp>
        <p:nvCxnSpPr>
          <p:cNvPr id="139" name="Google Shape;139;p23"/>
          <p:cNvCxnSpPr/>
          <p:nvPr/>
        </p:nvCxnSpPr>
        <p:spPr>
          <a:xfrm rot="10800000">
            <a:off x="171950" y="2098900"/>
            <a:ext cx="8608500" cy="0"/>
          </a:xfrm>
          <a:prstGeom prst="straightConnector1">
            <a:avLst/>
          </a:prstGeom>
          <a:noFill/>
          <a:ln cap="flat" cmpd="sng" w="9525">
            <a:solidFill>
              <a:srgbClr val="666666"/>
            </a:solidFill>
            <a:prstDash val="solid"/>
            <a:round/>
            <a:headEnd len="med" w="med" type="triangle"/>
            <a:tailEnd len="med" w="med" type="none"/>
          </a:ln>
        </p:spPr>
      </p:cxnSp>
      <p:sp>
        <p:nvSpPr>
          <p:cNvPr id="140" name="Google Shape;140;p23"/>
          <p:cNvSpPr txBox="1"/>
          <p:nvPr/>
        </p:nvSpPr>
        <p:spPr>
          <a:xfrm>
            <a:off x="2493828" y="1366300"/>
            <a:ext cx="3660600" cy="697200"/>
          </a:xfrm>
          <a:prstGeom prst="rect">
            <a:avLst/>
          </a:prstGeom>
          <a:noFill/>
          <a:ln>
            <a:noFill/>
          </a:ln>
        </p:spPr>
        <p:txBody>
          <a:bodyPr anchorCtr="0" anchor="t" bIns="91425" lIns="0" spcFirstLastPara="1" rIns="91425" wrap="square" tIns="0">
            <a:spAutoFit/>
          </a:bodyPr>
          <a:lstStyle/>
          <a:p>
            <a:pPr indent="0" lvl="0" marL="0" marR="0" rtl="0" algn="l">
              <a:lnSpc>
                <a:spcPct val="115000"/>
              </a:lnSpc>
              <a:spcBef>
                <a:spcPts val="0"/>
              </a:spcBef>
              <a:spcAft>
                <a:spcPts val="0"/>
              </a:spcAft>
              <a:buNone/>
            </a:pPr>
            <a:r>
              <a:rPr b="1" lang="en" sz="1000">
                <a:solidFill>
                  <a:srgbClr val="000000"/>
                </a:solidFill>
                <a:latin typeface="Inter"/>
                <a:ea typeface="Inter"/>
                <a:cs typeface="Inter"/>
                <a:sym typeface="Inter"/>
              </a:rPr>
              <a:t>WEEKS 2 </a:t>
            </a:r>
            <a:r>
              <a:rPr b="1" lang="en" sz="1000">
                <a:latin typeface="Inter"/>
                <a:ea typeface="Inter"/>
                <a:cs typeface="Inter"/>
                <a:sym typeface="Inter"/>
              </a:rPr>
              <a:t>- 4</a:t>
            </a:r>
            <a:r>
              <a:rPr b="1" lang="en" sz="1000">
                <a:solidFill>
                  <a:srgbClr val="000000"/>
                </a:solidFill>
                <a:latin typeface="Inter"/>
                <a:ea typeface="Inter"/>
                <a:cs typeface="Inter"/>
                <a:sym typeface="Inter"/>
              </a:rPr>
              <a:t> </a:t>
            </a:r>
            <a:br>
              <a:rPr b="1" lang="en" sz="1000">
                <a:solidFill>
                  <a:srgbClr val="000000"/>
                </a:solidFill>
                <a:latin typeface="Inter"/>
                <a:ea typeface="Inter"/>
                <a:cs typeface="Inter"/>
                <a:sym typeface="Inter"/>
              </a:rPr>
            </a:br>
            <a:endParaRPr b="1" sz="1200">
              <a:solidFill>
                <a:srgbClr val="000000"/>
              </a:solidFill>
              <a:latin typeface="Inter"/>
              <a:ea typeface="Inter"/>
              <a:cs typeface="Inter"/>
              <a:sym typeface="Inter"/>
            </a:endParaRPr>
          </a:p>
          <a:p>
            <a:pPr indent="0" lvl="0" marL="0" marR="0" rtl="0" algn="l">
              <a:lnSpc>
                <a:spcPct val="115000"/>
              </a:lnSpc>
              <a:spcBef>
                <a:spcPts val="0"/>
              </a:spcBef>
              <a:spcAft>
                <a:spcPts val="0"/>
              </a:spcAft>
              <a:buNone/>
            </a:pPr>
            <a:r>
              <a:rPr b="1" lang="en">
                <a:latin typeface="Inter"/>
                <a:ea typeface="Inter"/>
                <a:cs typeface="Inter"/>
                <a:sym typeface="Inter"/>
              </a:rPr>
              <a:t>Planning Mode </a:t>
            </a:r>
            <a:endParaRPr b="1">
              <a:solidFill>
                <a:srgbClr val="000000"/>
              </a:solidFill>
              <a:latin typeface="Inter"/>
              <a:ea typeface="Inter"/>
              <a:cs typeface="Inter"/>
              <a:sym typeface="Inter"/>
            </a:endParaRPr>
          </a:p>
        </p:txBody>
      </p:sp>
      <p:sp>
        <p:nvSpPr>
          <p:cNvPr id="141" name="Google Shape;141;p23"/>
          <p:cNvSpPr txBox="1"/>
          <p:nvPr/>
        </p:nvSpPr>
        <p:spPr>
          <a:xfrm>
            <a:off x="2493825" y="2220550"/>
            <a:ext cx="1650000" cy="1631700"/>
          </a:xfrm>
          <a:prstGeom prst="rect">
            <a:avLst/>
          </a:prstGeom>
          <a:noFill/>
          <a:ln>
            <a:noFill/>
          </a:ln>
        </p:spPr>
        <p:txBody>
          <a:bodyPr anchorCtr="0" anchor="t" bIns="91425" lIns="0" spcFirstLastPara="1" rIns="91425" wrap="square" tIns="0">
            <a:spAutoFit/>
          </a:bodyPr>
          <a:lstStyle/>
          <a:p>
            <a:pPr indent="0" lvl="0" marL="0" rtl="0" algn="l">
              <a:spcBef>
                <a:spcPts val="0"/>
              </a:spcBef>
              <a:spcAft>
                <a:spcPts val="0"/>
              </a:spcAft>
              <a:buNone/>
            </a:pPr>
            <a:r>
              <a:rPr lang="en" sz="1000">
                <a:latin typeface="Inter"/>
                <a:ea typeface="Inter"/>
                <a:cs typeface="Inter"/>
                <a:sym typeface="Inter"/>
              </a:rPr>
              <a:t>Goal Forecasting &amp; NSM Setting </a:t>
            </a:r>
            <a:endParaRPr sz="1000">
              <a:latin typeface="Inter"/>
              <a:ea typeface="Inter"/>
              <a:cs typeface="Inter"/>
              <a:sym typeface="Inter"/>
            </a:endParaRPr>
          </a:p>
          <a:p>
            <a:pPr indent="0" lvl="0" marL="0" rtl="0" algn="l">
              <a:spcBef>
                <a:spcPts val="600"/>
              </a:spcBef>
              <a:spcAft>
                <a:spcPts val="0"/>
              </a:spcAft>
              <a:buNone/>
            </a:pPr>
            <a:r>
              <a:rPr lang="en" sz="1000">
                <a:latin typeface="Inter"/>
                <a:ea typeface="Inter"/>
                <a:cs typeface="Inter"/>
                <a:sym typeface="Inter"/>
              </a:rPr>
              <a:t>Content Planning for Q2</a:t>
            </a:r>
            <a:endParaRPr sz="1000">
              <a:latin typeface="Inter"/>
              <a:ea typeface="Inter"/>
              <a:cs typeface="Inter"/>
              <a:sym typeface="Inter"/>
            </a:endParaRPr>
          </a:p>
          <a:p>
            <a:pPr indent="0" lvl="0" marL="0" rtl="0" algn="l">
              <a:spcBef>
                <a:spcPts val="600"/>
              </a:spcBef>
              <a:spcAft>
                <a:spcPts val="0"/>
              </a:spcAft>
              <a:buNone/>
            </a:pPr>
            <a:r>
              <a:rPr lang="en" sz="1000">
                <a:solidFill>
                  <a:schemeClr val="dk1"/>
                </a:solidFill>
                <a:latin typeface="Inter"/>
                <a:ea typeface="Inter"/>
                <a:cs typeface="Inter"/>
                <a:sym typeface="Inter"/>
              </a:rPr>
              <a:t>Optimize Google Business Profile</a:t>
            </a:r>
            <a:r>
              <a:rPr lang="en" sz="1000">
                <a:latin typeface="Inter"/>
                <a:ea typeface="Inter"/>
                <a:cs typeface="Inter"/>
                <a:sym typeface="Inter"/>
              </a:rPr>
              <a:t> </a:t>
            </a:r>
            <a:endParaRPr sz="1000">
              <a:latin typeface="Inter"/>
              <a:ea typeface="Inter"/>
              <a:cs typeface="Inter"/>
              <a:sym typeface="Inter"/>
            </a:endParaRPr>
          </a:p>
          <a:p>
            <a:pPr indent="0" lvl="0" marL="0" rtl="0" algn="l">
              <a:spcBef>
                <a:spcPts val="600"/>
              </a:spcBef>
              <a:spcAft>
                <a:spcPts val="0"/>
              </a:spcAft>
              <a:buNone/>
            </a:pPr>
            <a:r>
              <a:rPr lang="en" sz="1000">
                <a:latin typeface="Inter"/>
                <a:ea typeface="Inter"/>
                <a:cs typeface="Inter"/>
                <a:sym typeface="Inter"/>
              </a:rPr>
              <a:t>GBP </a:t>
            </a:r>
            <a:r>
              <a:rPr lang="en" sz="1000">
                <a:latin typeface="Inter"/>
                <a:ea typeface="Inter"/>
                <a:cs typeface="Inter"/>
                <a:sym typeface="Inter"/>
              </a:rPr>
              <a:t>Updates</a:t>
            </a:r>
            <a:r>
              <a:rPr lang="en" sz="1000">
                <a:latin typeface="Inter"/>
                <a:ea typeface="Inter"/>
                <a:cs typeface="Inter"/>
                <a:sym typeface="Inter"/>
              </a:rPr>
              <a:t> Planning for Q2</a:t>
            </a:r>
            <a:endParaRPr sz="1000">
              <a:latin typeface="Inter"/>
              <a:ea typeface="Inter"/>
              <a:cs typeface="Inter"/>
              <a:sym typeface="Inter"/>
            </a:endParaRPr>
          </a:p>
          <a:p>
            <a:pPr indent="0" lvl="0" marL="0" rtl="0" algn="l">
              <a:spcBef>
                <a:spcPts val="600"/>
              </a:spcBef>
              <a:spcAft>
                <a:spcPts val="600"/>
              </a:spcAft>
              <a:buNone/>
            </a:pPr>
            <a:r>
              <a:t/>
            </a:r>
            <a:endParaRPr sz="1000">
              <a:solidFill>
                <a:srgbClr val="000000"/>
              </a:solidFill>
              <a:latin typeface="Inter"/>
              <a:ea typeface="Inter"/>
              <a:cs typeface="Inter"/>
              <a:sym typeface="Inter"/>
            </a:endParaRPr>
          </a:p>
        </p:txBody>
      </p:sp>
      <p:sp>
        <p:nvSpPr>
          <p:cNvPr id="142" name="Google Shape;142;p23"/>
          <p:cNvSpPr txBox="1"/>
          <p:nvPr/>
        </p:nvSpPr>
        <p:spPr>
          <a:xfrm>
            <a:off x="4507536" y="2220550"/>
            <a:ext cx="1886400" cy="1862400"/>
          </a:xfrm>
          <a:prstGeom prst="rect">
            <a:avLst/>
          </a:prstGeom>
          <a:noFill/>
          <a:ln>
            <a:noFill/>
          </a:ln>
        </p:spPr>
        <p:txBody>
          <a:bodyPr anchorCtr="0" anchor="t" bIns="91425" lIns="0" spcFirstLastPara="1" rIns="91425" wrap="square" tIns="0">
            <a:spAutoFit/>
          </a:bodyPr>
          <a:lstStyle/>
          <a:p>
            <a:pPr indent="0" lvl="0" marL="0" rtl="0" algn="l">
              <a:spcBef>
                <a:spcPts val="0"/>
              </a:spcBef>
              <a:spcAft>
                <a:spcPts val="0"/>
              </a:spcAft>
              <a:buNone/>
            </a:pPr>
            <a:r>
              <a:rPr lang="en" sz="1000">
                <a:latin typeface="Inter"/>
                <a:ea typeface="Inter"/>
                <a:cs typeface="Inter"/>
                <a:sym typeface="Inter"/>
              </a:rPr>
              <a:t>Reviewing Site </a:t>
            </a:r>
            <a:r>
              <a:rPr lang="en" sz="1000">
                <a:latin typeface="Inter"/>
                <a:ea typeface="Inter"/>
                <a:cs typeface="Inter"/>
                <a:sym typeface="Inter"/>
              </a:rPr>
              <a:t>Technical</a:t>
            </a:r>
            <a:r>
              <a:rPr lang="en" sz="1000">
                <a:latin typeface="Inter"/>
                <a:ea typeface="Inter"/>
                <a:cs typeface="Inter"/>
                <a:sym typeface="Inter"/>
              </a:rPr>
              <a:t> Status</a:t>
            </a:r>
            <a:endParaRPr sz="1000">
              <a:latin typeface="Inter"/>
              <a:ea typeface="Inter"/>
              <a:cs typeface="Inter"/>
              <a:sym typeface="Inter"/>
            </a:endParaRPr>
          </a:p>
          <a:p>
            <a:pPr indent="0" lvl="0" marL="0" rtl="0" algn="l">
              <a:spcBef>
                <a:spcPts val="600"/>
              </a:spcBef>
              <a:spcAft>
                <a:spcPts val="0"/>
              </a:spcAft>
              <a:buNone/>
            </a:pPr>
            <a:r>
              <a:rPr lang="en" sz="1000">
                <a:latin typeface="Inter"/>
                <a:ea typeface="Inter"/>
                <a:cs typeface="Inter"/>
                <a:sym typeface="Inter"/>
              </a:rPr>
              <a:t>Reviewing Conversion Pathways  </a:t>
            </a:r>
            <a:endParaRPr sz="1000">
              <a:latin typeface="Inter"/>
              <a:ea typeface="Inter"/>
              <a:cs typeface="Inter"/>
              <a:sym typeface="Inter"/>
            </a:endParaRPr>
          </a:p>
          <a:p>
            <a:pPr indent="0" lvl="0" marL="0" rtl="0" algn="l">
              <a:spcBef>
                <a:spcPts val="600"/>
              </a:spcBef>
              <a:spcAft>
                <a:spcPts val="0"/>
              </a:spcAft>
              <a:buNone/>
            </a:pPr>
            <a:br>
              <a:rPr lang="en" sz="1000">
                <a:solidFill>
                  <a:srgbClr val="000000"/>
                </a:solidFill>
                <a:latin typeface="Inter"/>
                <a:ea typeface="Inter"/>
                <a:cs typeface="Inter"/>
                <a:sym typeface="Inter"/>
              </a:rPr>
            </a:br>
            <a:endParaRPr sz="1000">
              <a:solidFill>
                <a:srgbClr val="000000"/>
              </a:solidFill>
              <a:latin typeface="Inter"/>
              <a:ea typeface="Inter"/>
              <a:cs typeface="Inter"/>
              <a:sym typeface="Inter"/>
            </a:endParaRPr>
          </a:p>
          <a:p>
            <a:pPr indent="0" lvl="0" marL="0" rtl="0" algn="l">
              <a:spcBef>
                <a:spcPts val="600"/>
              </a:spcBef>
              <a:spcAft>
                <a:spcPts val="0"/>
              </a:spcAft>
              <a:buClr>
                <a:srgbClr val="000000"/>
              </a:buClr>
              <a:buSzPts val="1100"/>
              <a:buFont typeface="Arial"/>
              <a:buNone/>
            </a:pPr>
            <a:r>
              <a:t/>
            </a:r>
            <a:endParaRPr sz="1000">
              <a:solidFill>
                <a:srgbClr val="000000"/>
              </a:solidFill>
              <a:latin typeface="Inter"/>
              <a:ea typeface="Inter"/>
              <a:cs typeface="Inter"/>
              <a:sym typeface="Inter"/>
            </a:endParaRPr>
          </a:p>
          <a:p>
            <a:pPr indent="0" lvl="0" marL="0" rtl="0" algn="l">
              <a:spcBef>
                <a:spcPts val="600"/>
              </a:spcBef>
              <a:spcAft>
                <a:spcPts val="0"/>
              </a:spcAft>
              <a:buNone/>
            </a:pPr>
            <a:r>
              <a:t/>
            </a:r>
            <a:endParaRPr sz="1000">
              <a:solidFill>
                <a:srgbClr val="000000"/>
              </a:solidFill>
              <a:latin typeface="Inter"/>
              <a:ea typeface="Inter"/>
              <a:cs typeface="Inter"/>
              <a:sym typeface="Inter"/>
            </a:endParaRPr>
          </a:p>
          <a:p>
            <a:pPr indent="0" lvl="0" marL="0" rtl="0" algn="l">
              <a:spcBef>
                <a:spcPts val="600"/>
              </a:spcBef>
              <a:spcAft>
                <a:spcPts val="600"/>
              </a:spcAft>
              <a:buNone/>
            </a:pPr>
            <a:r>
              <a:t/>
            </a:r>
            <a:endParaRPr sz="1000">
              <a:solidFill>
                <a:srgbClr val="000000"/>
              </a:solidFill>
              <a:latin typeface="Inter"/>
              <a:ea typeface="Inter"/>
              <a:cs typeface="Inter"/>
              <a:sym typeface="Inter"/>
            </a:endParaRPr>
          </a:p>
        </p:txBody>
      </p:sp>
      <p:sp>
        <p:nvSpPr>
          <p:cNvPr id="143" name="Google Shape;143;p23"/>
          <p:cNvSpPr txBox="1"/>
          <p:nvPr/>
        </p:nvSpPr>
        <p:spPr>
          <a:xfrm>
            <a:off x="6757650" y="2220550"/>
            <a:ext cx="1886400" cy="1169700"/>
          </a:xfrm>
          <a:prstGeom prst="rect">
            <a:avLst/>
          </a:prstGeom>
          <a:noFill/>
          <a:ln>
            <a:noFill/>
          </a:ln>
        </p:spPr>
        <p:txBody>
          <a:bodyPr anchorCtr="0" anchor="t" bIns="91425" lIns="0" spcFirstLastPara="1" rIns="91425" wrap="square" tIns="0">
            <a:spAutoFit/>
          </a:bodyPr>
          <a:lstStyle/>
          <a:p>
            <a:pPr indent="0" lvl="0" marL="0" rtl="0" algn="l">
              <a:spcBef>
                <a:spcPts val="0"/>
              </a:spcBef>
              <a:spcAft>
                <a:spcPts val="0"/>
              </a:spcAft>
              <a:buNone/>
            </a:pPr>
            <a:r>
              <a:rPr lang="en" sz="1000">
                <a:latin typeface="Inter"/>
                <a:ea typeface="Inter"/>
                <a:cs typeface="Inter"/>
                <a:sym typeface="Inter"/>
              </a:rPr>
              <a:t>Content Publishing </a:t>
            </a:r>
            <a:r>
              <a:rPr lang="en" sz="1000">
                <a:solidFill>
                  <a:srgbClr val="000000"/>
                </a:solidFill>
                <a:latin typeface="Inter"/>
                <a:ea typeface="Inter"/>
                <a:cs typeface="Inter"/>
                <a:sym typeface="Inter"/>
              </a:rPr>
              <a:t>ON</a:t>
            </a:r>
            <a:endParaRPr sz="1000">
              <a:latin typeface="Inter"/>
              <a:ea typeface="Inter"/>
              <a:cs typeface="Inter"/>
              <a:sym typeface="Inter"/>
            </a:endParaRPr>
          </a:p>
          <a:p>
            <a:pPr indent="0" lvl="0" marL="0" rtl="0" algn="l">
              <a:spcBef>
                <a:spcPts val="600"/>
              </a:spcBef>
              <a:spcAft>
                <a:spcPts val="0"/>
              </a:spcAft>
              <a:buNone/>
            </a:pPr>
            <a:r>
              <a:rPr lang="en" sz="1000">
                <a:latin typeface="Inter"/>
                <a:ea typeface="Inter"/>
                <a:cs typeface="Inter"/>
                <a:sym typeface="Inter"/>
              </a:rPr>
              <a:t>Page Optimization Plan </a:t>
            </a:r>
            <a:r>
              <a:rPr lang="en" sz="1000">
                <a:solidFill>
                  <a:srgbClr val="000000"/>
                </a:solidFill>
                <a:latin typeface="Inter"/>
                <a:ea typeface="Inter"/>
                <a:cs typeface="Inter"/>
                <a:sym typeface="Inter"/>
              </a:rPr>
              <a:t>ON</a:t>
            </a:r>
            <a:endParaRPr sz="1000">
              <a:latin typeface="Inter"/>
              <a:ea typeface="Inter"/>
              <a:cs typeface="Inter"/>
              <a:sym typeface="Inter"/>
            </a:endParaRPr>
          </a:p>
          <a:p>
            <a:pPr indent="0" lvl="0" marL="0" rtl="0" algn="l">
              <a:spcBef>
                <a:spcPts val="600"/>
              </a:spcBef>
              <a:spcAft>
                <a:spcPts val="0"/>
              </a:spcAft>
              <a:buNone/>
            </a:pPr>
            <a:r>
              <a:rPr lang="en" sz="1000">
                <a:latin typeface="Inter"/>
                <a:ea typeface="Inter"/>
                <a:cs typeface="Inter"/>
                <a:sym typeface="Inter"/>
              </a:rPr>
              <a:t>Technical SEO Fixes </a:t>
            </a:r>
            <a:r>
              <a:rPr lang="en" sz="1000">
                <a:solidFill>
                  <a:srgbClr val="000000"/>
                </a:solidFill>
                <a:latin typeface="Inter"/>
                <a:ea typeface="Inter"/>
                <a:cs typeface="Inter"/>
                <a:sym typeface="Inter"/>
              </a:rPr>
              <a:t>ON</a:t>
            </a:r>
            <a:endParaRPr sz="1000">
              <a:latin typeface="Inter"/>
              <a:ea typeface="Inter"/>
              <a:cs typeface="Inter"/>
              <a:sym typeface="Inter"/>
            </a:endParaRPr>
          </a:p>
          <a:p>
            <a:pPr indent="0" lvl="0" marL="0" rtl="0" algn="l">
              <a:spcBef>
                <a:spcPts val="600"/>
              </a:spcBef>
              <a:spcAft>
                <a:spcPts val="0"/>
              </a:spcAft>
              <a:buNone/>
            </a:pPr>
            <a:r>
              <a:rPr lang="en" sz="1000">
                <a:latin typeface="Inter"/>
                <a:ea typeface="Inter"/>
                <a:cs typeface="Inter"/>
                <a:sym typeface="Inter"/>
              </a:rPr>
              <a:t>CRO </a:t>
            </a:r>
            <a:r>
              <a:rPr lang="en" sz="1000">
                <a:solidFill>
                  <a:srgbClr val="000000"/>
                </a:solidFill>
                <a:latin typeface="Inter"/>
                <a:ea typeface="Inter"/>
                <a:cs typeface="Inter"/>
                <a:sym typeface="Inter"/>
              </a:rPr>
              <a:t>ON</a:t>
            </a:r>
            <a:endParaRPr sz="1000">
              <a:latin typeface="Inter"/>
              <a:ea typeface="Inter"/>
              <a:cs typeface="Inter"/>
              <a:sym typeface="Inter"/>
            </a:endParaRPr>
          </a:p>
          <a:p>
            <a:pPr indent="0" lvl="0" marL="0" rtl="0" algn="l">
              <a:spcBef>
                <a:spcPts val="600"/>
              </a:spcBef>
              <a:spcAft>
                <a:spcPts val="600"/>
              </a:spcAft>
              <a:buNone/>
            </a:pPr>
            <a:r>
              <a:rPr lang="en" sz="1000">
                <a:latin typeface="Inter"/>
                <a:ea typeface="Inter"/>
                <a:cs typeface="Inter"/>
                <a:sym typeface="Inter"/>
              </a:rPr>
              <a:t>GBP Projects ON </a:t>
            </a:r>
            <a:endParaRPr sz="1000">
              <a:latin typeface="Inter"/>
              <a:ea typeface="Inter"/>
              <a:cs typeface="Inter"/>
              <a:sym typeface="Inter"/>
            </a:endParaRPr>
          </a:p>
        </p:txBody>
      </p:sp>
      <p:sp>
        <p:nvSpPr>
          <p:cNvPr id="144" name="Google Shape;144;p23"/>
          <p:cNvSpPr txBox="1"/>
          <p:nvPr/>
        </p:nvSpPr>
        <p:spPr>
          <a:xfrm>
            <a:off x="6625428" y="1280050"/>
            <a:ext cx="3660600" cy="697200"/>
          </a:xfrm>
          <a:prstGeom prst="rect">
            <a:avLst/>
          </a:prstGeom>
          <a:noFill/>
          <a:ln>
            <a:noFill/>
          </a:ln>
        </p:spPr>
        <p:txBody>
          <a:bodyPr anchorCtr="0" anchor="t" bIns="91425" lIns="0" spcFirstLastPara="1" rIns="91425" wrap="square" tIns="0">
            <a:spAutoFit/>
          </a:bodyPr>
          <a:lstStyle/>
          <a:p>
            <a:pPr indent="0" lvl="0" marL="0" marR="0" rtl="0" algn="l">
              <a:lnSpc>
                <a:spcPct val="115000"/>
              </a:lnSpc>
              <a:spcBef>
                <a:spcPts val="0"/>
              </a:spcBef>
              <a:spcAft>
                <a:spcPts val="0"/>
              </a:spcAft>
              <a:buNone/>
            </a:pPr>
            <a:r>
              <a:rPr b="1" lang="en" sz="1000">
                <a:solidFill>
                  <a:srgbClr val="000000"/>
                </a:solidFill>
                <a:latin typeface="Inter"/>
                <a:ea typeface="Inter"/>
                <a:cs typeface="Inter"/>
                <a:sym typeface="Inter"/>
              </a:rPr>
              <a:t>WEEK </a:t>
            </a:r>
            <a:r>
              <a:rPr b="1" lang="en" sz="1000">
                <a:latin typeface="Inter"/>
                <a:ea typeface="Inter"/>
                <a:cs typeface="Inter"/>
                <a:sym typeface="Inter"/>
              </a:rPr>
              <a:t>5</a:t>
            </a:r>
            <a:r>
              <a:rPr b="1" lang="en" sz="1000">
                <a:latin typeface="Inter"/>
                <a:ea typeface="Inter"/>
                <a:cs typeface="Inter"/>
                <a:sym typeface="Inter"/>
              </a:rPr>
              <a:t>+ </a:t>
            </a:r>
            <a:br>
              <a:rPr b="1" lang="en" sz="1000">
                <a:solidFill>
                  <a:srgbClr val="000000"/>
                </a:solidFill>
                <a:latin typeface="Inter"/>
                <a:ea typeface="Inter"/>
                <a:cs typeface="Inter"/>
                <a:sym typeface="Inter"/>
              </a:rPr>
            </a:br>
            <a:endParaRPr b="1" sz="1200">
              <a:solidFill>
                <a:srgbClr val="000000"/>
              </a:solidFill>
              <a:latin typeface="Inter"/>
              <a:ea typeface="Inter"/>
              <a:cs typeface="Inter"/>
              <a:sym typeface="Inter"/>
            </a:endParaRPr>
          </a:p>
          <a:p>
            <a:pPr indent="0" lvl="0" marL="0" marR="0" rtl="0" algn="l">
              <a:lnSpc>
                <a:spcPct val="115000"/>
              </a:lnSpc>
              <a:spcBef>
                <a:spcPts val="0"/>
              </a:spcBef>
              <a:spcAft>
                <a:spcPts val="0"/>
              </a:spcAft>
              <a:buNone/>
            </a:pPr>
            <a:r>
              <a:rPr b="1" lang="en">
                <a:latin typeface="Inter"/>
                <a:ea typeface="Inter"/>
                <a:cs typeface="Inter"/>
                <a:sym typeface="Inter"/>
              </a:rPr>
              <a:t>SEO ON</a:t>
            </a:r>
            <a:endParaRPr b="1">
              <a:solidFill>
                <a:srgbClr val="000000"/>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4"/>
          <p:cNvSpPr txBox="1"/>
          <p:nvPr>
            <p:ph type="title"/>
          </p:nvPr>
        </p:nvSpPr>
        <p:spPr>
          <a:xfrm>
            <a:off x="171950" y="272275"/>
            <a:ext cx="90711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Strategy Month: </a:t>
            </a:r>
            <a:r>
              <a:rPr lang="en"/>
              <a:t>How we’ll use our time</a:t>
            </a:r>
            <a:endParaRPr/>
          </a:p>
        </p:txBody>
      </p:sp>
      <p:sp>
        <p:nvSpPr>
          <p:cNvPr id="150" name="Google Shape;150;p24"/>
          <p:cNvSpPr txBox="1"/>
          <p:nvPr/>
        </p:nvSpPr>
        <p:spPr>
          <a:xfrm>
            <a:off x="171950" y="1059025"/>
            <a:ext cx="7211700" cy="2816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800">
                <a:solidFill>
                  <a:schemeClr val="dk1"/>
                </a:solidFill>
                <a:latin typeface="Archivo"/>
                <a:ea typeface="Archivo"/>
                <a:cs typeface="Archivo"/>
                <a:sym typeface="Archivo"/>
              </a:rPr>
              <a:t>Mid-Strategy Project Update - Date TBD - VIA EMAIL   </a:t>
            </a:r>
            <a:endParaRPr b="1" sz="800">
              <a:solidFill>
                <a:schemeClr val="dk1"/>
              </a:solidFill>
              <a:latin typeface="Archivo"/>
              <a:ea typeface="Archivo"/>
              <a:cs typeface="Archivo"/>
              <a:sym typeface="Archivo"/>
            </a:endParaRPr>
          </a:p>
          <a:p>
            <a:pPr indent="-279400" lvl="0" marL="457200" rtl="0" algn="l">
              <a:lnSpc>
                <a:spcPct val="100000"/>
              </a:lnSpc>
              <a:spcBef>
                <a:spcPts val="1000"/>
              </a:spcBef>
              <a:spcAft>
                <a:spcPts val="0"/>
              </a:spcAft>
              <a:buClr>
                <a:srgbClr val="FF2F0A"/>
              </a:buClr>
              <a:buSzPts val="800"/>
              <a:buFont typeface="Archivo"/>
              <a:buChar char="●"/>
            </a:pPr>
            <a:r>
              <a:rPr lang="en" sz="800">
                <a:solidFill>
                  <a:schemeClr val="dk1"/>
                </a:solidFill>
                <a:latin typeface="Archivo"/>
                <a:ea typeface="Archivo"/>
                <a:cs typeface="Archivo"/>
                <a:sym typeface="Archivo"/>
              </a:rPr>
              <a:t>Confirms early findings from audits, benchmarking, and competitive analysis</a:t>
            </a:r>
            <a:endParaRPr sz="800">
              <a:solidFill>
                <a:schemeClr val="dk1"/>
              </a:solidFill>
              <a:latin typeface="Archivo"/>
              <a:ea typeface="Archivo"/>
              <a:cs typeface="Archivo"/>
              <a:sym typeface="Archivo"/>
            </a:endParaRPr>
          </a:p>
          <a:p>
            <a:pPr indent="-279400" lvl="0" marL="457200" rtl="0" algn="l">
              <a:lnSpc>
                <a:spcPct val="100000"/>
              </a:lnSpc>
              <a:spcBef>
                <a:spcPts val="1000"/>
              </a:spcBef>
              <a:spcAft>
                <a:spcPts val="0"/>
              </a:spcAft>
              <a:buClr>
                <a:srgbClr val="FF2F0A"/>
              </a:buClr>
              <a:buSzPts val="800"/>
              <a:buFont typeface="Archivo"/>
              <a:buChar char="●"/>
            </a:pPr>
            <a:r>
              <a:rPr lang="en" sz="800">
                <a:solidFill>
                  <a:schemeClr val="dk1"/>
                </a:solidFill>
                <a:latin typeface="Archivo"/>
                <a:ea typeface="Archivo"/>
                <a:cs typeface="Archivo"/>
                <a:sym typeface="Archivo"/>
              </a:rPr>
              <a:t>Aligns on direction before execution begins</a:t>
            </a:r>
            <a:endParaRPr sz="800">
              <a:solidFill>
                <a:schemeClr val="dk1"/>
              </a:solidFill>
              <a:latin typeface="Archivo"/>
              <a:ea typeface="Archivo"/>
              <a:cs typeface="Archivo"/>
              <a:sym typeface="Archivo"/>
            </a:endParaRPr>
          </a:p>
          <a:p>
            <a:pPr indent="-279400" lvl="0" marL="457200" rtl="0" algn="l">
              <a:lnSpc>
                <a:spcPct val="100000"/>
              </a:lnSpc>
              <a:spcBef>
                <a:spcPts val="1000"/>
              </a:spcBef>
              <a:spcAft>
                <a:spcPts val="0"/>
              </a:spcAft>
              <a:buClr>
                <a:srgbClr val="FF2F0A"/>
              </a:buClr>
              <a:buSzPts val="800"/>
              <a:buFont typeface="Archivo"/>
              <a:buChar char="●"/>
            </a:pPr>
            <a:r>
              <a:rPr lang="en" sz="800">
                <a:solidFill>
                  <a:schemeClr val="dk1"/>
                </a:solidFill>
                <a:latin typeface="Archivo"/>
                <a:ea typeface="Archivo"/>
                <a:cs typeface="Archivo"/>
                <a:sym typeface="Archivo"/>
              </a:rPr>
              <a:t>Sync on priorities, assumptions, and focus areas</a:t>
            </a:r>
            <a:endParaRPr sz="800">
              <a:solidFill>
                <a:schemeClr val="dk1"/>
              </a:solidFill>
              <a:latin typeface="Archivo"/>
              <a:ea typeface="Archivo"/>
              <a:cs typeface="Archivo"/>
              <a:sym typeface="Archivo"/>
            </a:endParaRPr>
          </a:p>
          <a:p>
            <a:pPr indent="-279400" lvl="0" marL="457200" rtl="0" algn="l">
              <a:lnSpc>
                <a:spcPct val="100000"/>
              </a:lnSpc>
              <a:spcBef>
                <a:spcPts val="1000"/>
              </a:spcBef>
              <a:spcAft>
                <a:spcPts val="0"/>
              </a:spcAft>
              <a:buClr>
                <a:srgbClr val="FF2F0A"/>
              </a:buClr>
              <a:buSzPts val="800"/>
              <a:buFont typeface="Archivo"/>
              <a:buChar char="●"/>
            </a:pPr>
            <a:r>
              <a:rPr lang="en" sz="800">
                <a:solidFill>
                  <a:schemeClr val="dk1"/>
                </a:solidFill>
                <a:latin typeface="Archivo"/>
                <a:ea typeface="Archivo"/>
                <a:cs typeface="Archivo"/>
                <a:sym typeface="Archivo"/>
              </a:rPr>
              <a:t>Ensures we’re building the right roadmap before resources go live</a:t>
            </a:r>
            <a:br>
              <a:rPr lang="en" sz="800">
                <a:solidFill>
                  <a:schemeClr val="dk1"/>
                </a:solidFill>
                <a:latin typeface="Archivo"/>
                <a:ea typeface="Archivo"/>
                <a:cs typeface="Archivo"/>
                <a:sym typeface="Archivo"/>
              </a:rPr>
            </a:br>
            <a:endParaRPr sz="800">
              <a:solidFill>
                <a:schemeClr val="dk1"/>
              </a:solidFill>
              <a:latin typeface="Archivo"/>
              <a:ea typeface="Archivo"/>
              <a:cs typeface="Archivo"/>
              <a:sym typeface="Archivo"/>
            </a:endParaRPr>
          </a:p>
          <a:p>
            <a:pPr indent="0" lvl="0" marL="0" rtl="0" algn="l">
              <a:lnSpc>
                <a:spcPct val="100000"/>
              </a:lnSpc>
              <a:spcBef>
                <a:spcPts val="1000"/>
              </a:spcBef>
              <a:spcAft>
                <a:spcPts val="0"/>
              </a:spcAft>
              <a:buNone/>
            </a:pPr>
            <a:r>
              <a:rPr b="1" lang="en" sz="800">
                <a:solidFill>
                  <a:schemeClr val="dk1"/>
                </a:solidFill>
                <a:latin typeface="Archivo"/>
                <a:ea typeface="Archivo"/>
                <a:cs typeface="Archivo"/>
                <a:sym typeface="Archivo"/>
              </a:rPr>
              <a:t>Launch Strategy &amp; Roadmap Review - Date TBD (End of March)  - MEETING</a:t>
            </a:r>
            <a:endParaRPr b="1" sz="800">
              <a:solidFill>
                <a:schemeClr val="dk1"/>
              </a:solidFill>
              <a:latin typeface="Archivo"/>
              <a:ea typeface="Archivo"/>
              <a:cs typeface="Archivo"/>
              <a:sym typeface="Archivo"/>
            </a:endParaRPr>
          </a:p>
          <a:p>
            <a:pPr indent="-279400" lvl="0" marL="457200" rtl="0" algn="l">
              <a:lnSpc>
                <a:spcPct val="100000"/>
              </a:lnSpc>
              <a:spcBef>
                <a:spcPts val="1000"/>
              </a:spcBef>
              <a:spcAft>
                <a:spcPts val="0"/>
              </a:spcAft>
              <a:buClr>
                <a:srgbClr val="FF2F0A"/>
              </a:buClr>
              <a:buSzPts val="800"/>
              <a:buFont typeface="Archivo"/>
              <a:buChar char="●"/>
            </a:pPr>
            <a:r>
              <a:rPr lang="en" sz="800">
                <a:solidFill>
                  <a:schemeClr val="dk1"/>
                </a:solidFill>
                <a:latin typeface="Archivo"/>
                <a:ea typeface="Archivo"/>
                <a:cs typeface="Archivo"/>
                <a:sym typeface="Archivo"/>
              </a:rPr>
              <a:t>Finalizes goals, North Star Metrics, and success benchmarks</a:t>
            </a:r>
            <a:endParaRPr sz="800">
              <a:solidFill>
                <a:schemeClr val="dk1"/>
              </a:solidFill>
              <a:latin typeface="Archivo"/>
              <a:ea typeface="Archivo"/>
              <a:cs typeface="Archivo"/>
              <a:sym typeface="Archivo"/>
            </a:endParaRPr>
          </a:p>
          <a:p>
            <a:pPr indent="-279400" lvl="0" marL="457200" rtl="0" algn="l">
              <a:lnSpc>
                <a:spcPct val="100000"/>
              </a:lnSpc>
              <a:spcBef>
                <a:spcPts val="1000"/>
              </a:spcBef>
              <a:spcAft>
                <a:spcPts val="0"/>
              </a:spcAft>
              <a:buClr>
                <a:srgbClr val="FF2F0A"/>
              </a:buClr>
              <a:buSzPts val="800"/>
              <a:buFont typeface="Archivo"/>
              <a:buChar char="●"/>
            </a:pPr>
            <a:r>
              <a:rPr lang="en" sz="800">
                <a:solidFill>
                  <a:schemeClr val="dk1"/>
                </a:solidFill>
                <a:latin typeface="Archivo"/>
                <a:ea typeface="Archivo"/>
                <a:cs typeface="Archivo"/>
                <a:sym typeface="Archivo"/>
              </a:rPr>
              <a:t>Aligns on the execution plan across content, SEO, and site improvements</a:t>
            </a:r>
            <a:endParaRPr sz="800">
              <a:solidFill>
                <a:schemeClr val="dk1"/>
              </a:solidFill>
              <a:latin typeface="Archivo"/>
              <a:ea typeface="Archivo"/>
              <a:cs typeface="Archivo"/>
              <a:sym typeface="Archivo"/>
            </a:endParaRPr>
          </a:p>
          <a:p>
            <a:pPr indent="-279400" lvl="0" marL="457200" rtl="0" algn="l">
              <a:lnSpc>
                <a:spcPct val="100000"/>
              </a:lnSpc>
              <a:spcBef>
                <a:spcPts val="1000"/>
              </a:spcBef>
              <a:spcAft>
                <a:spcPts val="0"/>
              </a:spcAft>
              <a:buClr>
                <a:srgbClr val="FF2F0A"/>
              </a:buClr>
              <a:buSzPts val="800"/>
              <a:buFont typeface="Archivo"/>
              <a:buChar char="●"/>
            </a:pPr>
            <a:r>
              <a:rPr lang="en" sz="800">
                <a:solidFill>
                  <a:schemeClr val="dk1"/>
                </a:solidFill>
                <a:latin typeface="Archivo"/>
                <a:ea typeface="Archivo"/>
                <a:cs typeface="Archivo"/>
                <a:sym typeface="Archivo"/>
              </a:rPr>
              <a:t>Confirms launch-ready priorities for the next phase</a:t>
            </a:r>
            <a:endParaRPr sz="800">
              <a:solidFill>
                <a:schemeClr val="dk1"/>
              </a:solidFill>
              <a:latin typeface="Archivo"/>
              <a:ea typeface="Archivo"/>
              <a:cs typeface="Archivo"/>
              <a:sym typeface="Archivo"/>
            </a:endParaRPr>
          </a:p>
          <a:p>
            <a:pPr indent="-279400" lvl="0" marL="457200" rtl="0" algn="l">
              <a:lnSpc>
                <a:spcPct val="100000"/>
              </a:lnSpc>
              <a:spcBef>
                <a:spcPts val="1000"/>
              </a:spcBef>
              <a:spcAft>
                <a:spcPts val="1000"/>
              </a:spcAft>
              <a:buClr>
                <a:srgbClr val="FF2F0A"/>
              </a:buClr>
              <a:buSzPts val="800"/>
              <a:buFont typeface="Archivo"/>
              <a:buChar char="●"/>
            </a:pPr>
            <a:r>
              <a:rPr lang="en" sz="800">
                <a:solidFill>
                  <a:schemeClr val="dk1"/>
                </a:solidFill>
                <a:latin typeface="Archivo"/>
                <a:ea typeface="Archivo"/>
                <a:cs typeface="Archivo"/>
                <a:sym typeface="Archivo"/>
              </a:rPr>
              <a:t>Signals the transition from planning → active execution</a:t>
            </a:r>
            <a:br>
              <a:rPr lang="en" sz="800">
                <a:solidFill>
                  <a:schemeClr val="dk1"/>
                </a:solidFill>
                <a:latin typeface="Archivo"/>
                <a:ea typeface="Archivo"/>
                <a:cs typeface="Archivo"/>
                <a:sym typeface="Archivo"/>
              </a:rPr>
            </a:br>
            <a:endParaRPr sz="800">
              <a:solidFill>
                <a:schemeClr val="dk1"/>
              </a:solidFill>
              <a:latin typeface="Archivo"/>
              <a:ea typeface="Archivo"/>
              <a:cs typeface="Archivo"/>
              <a:sym typeface="Archivo"/>
            </a:endParaRPr>
          </a:p>
        </p:txBody>
      </p:sp>
      <p:sp>
        <p:nvSpPr>
          <p:cNvPr id="151" name="Google Shape;151;p24"/>
          <p:cNvSpPr txBox="1"/>
          <p:nvPr/>
        </p:nvSpPr>
        <p:spPr>
          <a:xfrm>
            <a:off x="171950" y="68972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chemeClr val="dk1"/>
                </a:solidFill>
                <a:latin typeface="Archivo"/>
                <a:ea typeface="Archivo"/>
                <a:cs typeface="Archivo"/>
                <a:sym typeface="Archivo"/>
              </a:rPr>
              <a:t>Two Key Checkpoints Before Full Launch</a:t>
            </a:r>
            <a:endParaRPr i="1"/>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808"/>
        </a:solidFill>
      </p:bgPr>
    </p:bg>
    <p:spTree>
      <p:nvGrpSpPr>
        <p:cNvPr id="155" name="Shape 155"/>
        <p:cNvGrpSpPr/>
        <p:nvPr/>
      </p:nvGrpSpPr>
      <p:grpSpPr>
        <a:xfrm>
          <a:off x="0" y="0"/>
          <a:ext cx="0" cy="0"/>
          <a:chOff x="0" y="0"/>
          <a:chExt cx="0" cy="0"/>
        </a:xfrm>
      </p:grpSpPr>
      <p:sp>
        <p:nvSpPr>
          <p:cNvPr id="156" name="Google Shape;156;p25"/>
          <p:cNvSpPr/>
          <p:nvPr/>
        </p:nvSpPr>
        <p:spPr>
          <a:xfrm>
            <a:off x="1083051" y="2001513"/>
            <a:ext cx="182700" cy="182700"/>
          </a:xfrm>
          <a:prstGeom prst="ellipse">
            <a:avLst/>
          </a:prstGeom>
          <a:solidFill>
            <a:srgbClr val="FF2F0A"/>
          </a:solidFill>
          <a:ln>
            <a:noFill/>
          </a:ln>
        </p:spPr>
        <p:txBody>
          <a:bodyPr anchorCtr="0" anchor="ctr" bIns="164100" lIns="164100" spcFirstLastPara="1" rIns="164100" wrap="square" tIns="164100">
            <a:noAutofit/>
          </a:bodyPr>
          <a:lstStyle/>
          <a:p>
            <a:pPr indent="0" lvl="0" marL="0" rtl="0" algn="ctr">
              <a:spcBef>
                <a:spcPts val="0"/>
              </a:spcBef>
              <a:spcAft>
                <a:spcPts val="0"/>
              </a:spcAft>
              <a:buNone/>
            </a:pPr>
            <a:r>
              <a:t/>
            </a:r>
            <a:endParaRPr sz="2513"/>
          </a:p>
        </p:txBody>
      </p:sp>
      <p:sp>
        <p:nvSpPr>
          <p:cNvPr id="157" name="Google Shape;157;p25"/>
          <p:cNvSpPr/>
          <p:nvPr/>
        </p:nvSpPr>
        <p:spPr>
          <a:xfrm>
            <a:off x="1265613" y="1899166"/>
            <a:ext cx="660300" cy="387300"/>
          </a:xfrm>
          <a:prstGeom prst="rect">
            <a:avLst/>
          </a:prstGeom>
          <a:noFill/>
          <a:ln>
            <a:noFill/>
          </a:ln>
        </p:spPr>
        <p:txBody>
          <a:bodyPr anchorCtr="0" anchor="ctr" bIns="75100" lIns="150175" spcFirstLastPara="1" rIns="150175" wrap="square" tIns="75100">
            <a:noAutofit/>
          </a:bodyPr>
          <a:lstStyle/>
          <a:p>
            <a:pPr indent="0" lvl="0" marL="0" marR="0" rtl="0" algn="l">
              <a:lnSpc>
                <a:spcPct val="120000"/>
              </a:lnSpc>
              <a:spcBef>
                <a:spcPts val="0"/>
              </a:spcBef>
              <a:spcAft>
                <a:spcPts val="0"/>
              </a:spcAft>
              <a:buClr>
                <a:srgbClr val="BCC0C5"/>
              </a:buClr>
              <a:buSzPts val="1725"/>
              <a:buFont typeface="Inter"/>
              <a:buNone/>
            </a:pPr>
            <a:r>
              <a:rPr i="1" lang="en" sz="2165">
                <a:solidFill>
                  <a:schemeClr val="lt1"/>
                </a:solidFill>
                <a:latin typeface="Archivo Medium"/>
                <a:ea typeface="Archivo Medium"/>
                <a:cs typeface="Archivo Medium"/>
                <a:sym typeface="Archivo Medium"/>
              </a:rPr>
              <a:t>02</a:t>
            </a:r>
            <a:endParaRPr i="1" sz="2165">
              <a:solidFill>
                <a:schemeClr val="lt1"/>
              </a:solidFill>
              <a:latin typeface="Archivo Medium"/>
              <a:ea typeface="Archivo Medium"/>
              <a:cs typeface="Archivo Medium"/>
              <a:sym typeface="Archivo Medium"/>
            </a:endParaRPr>
          </a:p>
        </p:txBody>
      </p:sp>
      <p:pic>
        <p:nvPicPr>
          <p:cNvPr id="158" name="Google Shape;158;p25" title="W Full blk txt (1).png"/>
          <p:cNvPicPr preferRelativeResize="0"/>
          <p:nvPr/>
        </p:nvPicPr>
        <p:blipFill>
          <a:blip r:embed="rId3">
            <a:alphaModFix/>
          </a:blip>
          <a:stretch>
            <a:fillRect/>
          </a:stretch>
        </p:blipFill>
        <p:spPr>
          <a:xfrm>
            <a:off x="7835738" y="201625"/>
            <a:ext cx="1025576" cy="246300"/>
          </a:xfrm>
          <a:prstGeom prst="rect">
            <a:avLst/>
          </a:prstGeom>
          <a:noFill/>
          <a:ln>
            <a:noFill/>
          </a:ln>
        </p:spPr>
      </p:pic>
      <p:sp>
        <p:nvSpPr>
          <p:cNvPr id="159" name="Google Shape;159;p25"/>
          <p:cNvSpPr/>
          <p:nvPr/>
        </p:nvSpPr>
        <p:spPr>
          <a:xfrm>
            <a:off x="1126200" y="2119725"/>
            <a:ext cx="6891600" cy="1551600"/>
          </a:xfrm>
          <a:prstGeom prst="rect">
            <a:avLst/>
          </a:prstGeom>
          <a:noFill/>
          <a:ln>
            <a:noFill/>
          </a:ln>
          <a:effectLst>
            <a:outerShdw blurRad="57150" rotWithShape="0" algn="bl" dir="5400000" dist="19050">
              <a:srgbClr val="000000">
                <a:alpha val="50000"/>
              </a:srgbClr>
            </a:outerShdw>
          </a:effectLst>
        </p:spPr>
        <p:txBody>
          <a:bodyPr anchorCtr="0" anchor="ctr" bIns="45700" lIns="91425" spcFirstLastPara="1" rIns="91425" wrap="square" tIns="45700">
            <a:noAutofit/>
          </a:bodyPr>
          <a:lstStyle/>
          <a:p>
            <a:pPr indent="0" lvl="0" marL="0" marR="0" rtl="0" algn="l">
              <a:lnSpc>
                <a:spcPct val="75000"/>
              </a:lnSpc>
              <a:spcBef>
                <a:spcPts val="0"/>
              </a:spcBef>
              <a:spcAft>
                <a:spcPts val="0"/>
              </a:spcAft>
              <a:buClr>
                <a:srgbClr val="FFFFFF"/>
              </a:buClr>
              <a:buSzPts val="5250"/>
              <a:buFont typeface="Inter"/>
              <a:buNone/>
            </a:pPr>
            <a:r>
              <a:rPr b="1" lang="en" sz="5200">
                <a:solidFill>
                  <a:schemeClr val="lt1"/>
                </a:solidFill>
                <a:latin typeface="Archivo"/>
                <a:ea typeface="Archivo"/>
                <a:cs typeface="Archivo"/>
                <a:sym typeface="Archivo"/>
              </a:rPr>
              <a:t>About Horseshoe Ridge</a:t>
            </a:r>
            <a:endParaRPr b="1" sz="5200">
              <a:solidFill>
                <a:schemeClr val="lt1"/>
              </a:solidFill>
              <a:latin typeface="Archivo"/>
              <a:ea typeface="Archivo"/>
              <a:cs typeface="Archivo"/>
              <a:sym typeface="Archiv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type="title"/>
          </p:nvPr>
        </p:nvSpPr>
        <p:spPr>
          <a:xfrm>
            <a:off x="171950" y="272275"/>
            <a:ext cx="82782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Business &amp; Market Inputs: </a:t>
            </a:r>
            <a:r>
              <a:rPr lang="en" sz="1500">
                <a:solidFill>
                  <a:schemeClr val="dk1"/>
                </a:solidFill>
              </a:rPr>
              <a:t>Overall </a:t>
            </a:r>
            <a:r>
              <a:rPr lang="en" sz="1500">
                <a:solidFill>
                  <a:schemeClr val="dk1"/>
                </a:solidFill>
              </a:rPr>
              <a:t>Details</a:t>
            </a:r>
            <a:r>
              <a:rPr lang="en" sz="1500">
                <a:solidFill>
                  <a:schemeClr val="dk1"/>
                </a:solidFill>
              </a:rPr>
              <a:t> </a:t>
            </a:r>
            <a:endParaRPr sz="1500">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graphicFrame>
        <p:nvGraphicFramePr>
          <p:cNvPr id="165" name="Google Shape;165;p26"/>
          <p:cNvGraphicFramePr/>
          <p:nvPr/>
        </p:nvGraphicFramePr>
        <p:xfrm>
          <a:off x="389550" y="937800"/>
          <a:ext cx="3000000" cy="3000000"/>
        </p:xfrm>
        <a:graphic>
          <a:graphicData uri="http://schemas.openxmlformats.org/drawingml/2006/table">
            <a:tbl>
              <a:tblPr>
                <a:noFill/>
                <a:tableStyleId>{02F967E9-65F7-4894-8DEE-E04453A42EB7}</a:tableStyleId>
              </a:tblPr>
              <a:tblGrid>
                <a:gridCol w="2680300"/>
                <a:gridCol w="5844600"/>
              </a:tblGrid>
              <a:tr h="694850">
                <a:tc>
                  <a:txBody>
                    <a:bodyPr/>
                    <a:lstStyle/>
                    <a:p>
                      <a:pPr indent="0" lvl="0" marL="0" rtl="0" algn="l">
                        <a:spcBef>
                          <a:spcPts val="0"/>
                        </a:spcBef>
                        <a:spcAft>
                          <a:spcPts val="0"/>
                        </a:spcAft>
                        <a:buNone/>
                      </a:pPr>
                      <a:r>
                        <a:rPr lang="en">
                          <a:solidFill>
                            <a:schemeClr val="lt1"/>
                          </a:solidFill>
                          <a:latin typeface="Archivo"/>
                          <a:ea typeface="Archivo"/>
                          <a:cs typeface="Archivo"/>
                          <a:sym typeface="Archivo"/>
                        </a:rPr>
                        <a:t>Primary Contacts &amp; Decision Makers</a:t>
                      </a:r>
                      <a:endParaRPr>
                        <a:solidFill>
                          <a:schemeClr val="lt1"/>
                        </a:solidFill>
                        <a:latin typeface="Archivo"/>
                        <a:ea typeface="Archivo"/>
                        <a:cs typeface="Archivo"/>
                        <a:sym typeface="Archivo"/>
                      </a:endParaRPr>
                    </a:p>
                  </a:txBody>
                  <a:tcPr marT="91425" marB="91425" marR="91425" marL="91425">
                    <a:solidFill>
                      <a:schemeClr val="dk1"/>
                    </a:solidFill>
                  </a:tcPr>
                </a:tc>
                <a:tc>
                  <a:txBody>
                    <a:bodyPr/>
                    <a:lstStyle/>
                    <a:p>
                      <a:pPr indent="0" lvl="0" marL="0" rtl="0" algn="l">
                        <a:spcBef>
                          <a:spcPts val="0"/>
                        </a:spcBef>
                        <a:spcAft>
                          <a:spcPts val="0"/>
                        </a:spcAft>
                        <a:buNone/>
                      </a:pPr>
                      <a:r>
                        <a:t/>
                      </a:r>
                      <a:endParaRPr sz="800">
                        <a:latin typeface="Archivo Medium"/>
                        <a:ea typeface="Archivo Medium"/>
                        <a:cs typeface="Archivo Medium"/>
                        <a:sym typeface="Archivo Medium"/>
                      </a:endParaRPr>
                    </a:p>
                    <a:p>
                      <a:pPr indent="0" lvl="0" marL="0" rtl="0" algn="l">
                        <a:spcBef>
                          <a:spcPts val="0"/>
                        </a:spcBef>
                        <a:spcAft>
                          <a:spcPts val="0"/>
                        </a:spcAft>
                        <a:buNone/>
                      </a:pPr>
                      <a:r>
                        <a:rPr lang="en" sz="800">
                          <a:latin typeface="Archivo Medium"/>
                          <a:ea typeface="Archivo Medium"/>
                          <a:cs typeface="Archivo Medium"/>
                          <a:sym typeface="Archivo Medium"/>
                        </a:rPr>
                        <a:t>Billy Rhyne</a:t>
                      </a:r>
                      <a:r>
                        <a:rPr lang="en" sz="800">
                          <a:latin typeface="Archivo Medium"/>
                          <a:ea typeface="Archivo Medium"/>
                          <a:cs typeface="Archivo Medium"/>
                          <a:sym typeface="Archivo Medium"/>
                        </a:rPr>
                        <a:t> - </a:t>
                      </a:r>
                      <a:r>
                        <a:rPr lang="en" sz="800">
                          <a:latin typeface="Archivo Medium"/>
                          <a:ea typeface="Archivo Medium"/>
                          <a:cs typeface="Archivo Medium"/>
                          <a:sym typeface="Archivo Medium"/>
                        </a:rPr>
                        <a:t>billy@horseshoeridgerv.com</a:t>
                      </a:r>
                      <a:br>
                        <a:rPr lang="en" sz="800">
                          <a:latin typeface="Archivo Medium"/>
                          <a:ea typeface="Archivo Medium"/>
                          <a:cs typeface="Archivo Medium"/>
                          <a:sym typeface="Archivo Medium"/>
                        </a:rPr>
                      </a:br>
                      <a:endParaRPr sz="800">
                        <a:latin typeface="Archivo Medium"/>
                        <a:ea typeface="Archivo Medium"/>
                        <a:cs typeface="Archivo Medium"/>
                        <a:sym typeface="Archivo Medium"/>
                      </a:endParaRPr>
                    </a:p>
                  </a:txBody>
                  <a:tcPr marT="91425" marB="91425" marR="91425" marL="91425"/>
                </a:tc>
              </a:tr>
              <a:tr h="694850">
                <a:tc>
                  <a:txBody>
                    <a:bodyPr/>
                    <a:lstStyle/>
                    <a:p>
                      <a:pPr indent="0" lvl="0" marL="0" rtl="0" algn="l">
                        <a:spcBef>
                          <a:spcPts val="0"/>
                        </a:spcBef>
                        <a:spcAft>
                          <a:spcPts val="0"/>
                        </a:spcAft>
                        <a:buNone/>
                      </a:pPr>
                      <a:r>
                        <a:rPr lang="en">
                          <a:solidFill>
                            <a:schemeClr val="lt1"/>
                          </a:solidFill>
                          <a:latin typeface="Archivo"/>
                          <a:ea typeface="Archivo"/>
                          <a:cs typeface="Archivo"/>
                          <a:sym typeface="Archivo"/>
                        </a:rPr>
                        <a:t>Core Services</a:t>
                      </a:r>
                      <a:endParaRPr>
                        <a:solidFill>
                          <a:schemeClr val="lt1"/>
                        </a:solidFill>
                        <a:latin typeface="Archivo"/>
                        <a:ea typeface="Archivo"/>
                        <a:cs typeface="Archivo"/>
                        <a:sym typeface="Archivo"/>
                      </a:endParaRPr>
                    </a:p>
                  </a:txBody>
                  <a:tcPr marT="91425" marB="91425" marR="91425" marL="91425">
                    <a:solidFill>
                      <a:schemeClr val="dk1"/>
                    </a:solidFill>
                  </a:tcPr>
                </a:tc>
                <a:tc>
                  <a:txBody>
                    <a:bodyPr/>
                    <a:lstStyle/>
                    <a:p>
                      <a:pPr indent="0" lvl="0" marL="0" rtl="0" algn="l">
                        <a:spcBef>
                          <a:spcPts val="0"/>
                        </a:spcBef>
                        <a:spcAft>
                          <a:spcPts val="0"/>
                        </a:spcAft>
                        <a:buNone/>
                      </a:pPr>
                      <a:r>
                        <a:rPr lang="en" sz="800">
                          <a:latin typeface="Archivo Medium"/>
                          <a:ea typeface="Archivo Medium"/>
                          <a:cs typeface="Archivo Medium"/>
                          <a:sym typeface="Archivo Medium"/>
                        </a:rPr>
                        <a:t>Primary revenue offerings</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Nightly/Weekly RV Stays (full-hookup sites; site types TBD)</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Monthly RV Stays (long-stay program; positioned as value + stability)</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Cabin Rentals (3 cabins per site)</a:t>
                      </a:r>
                      <a:endParaRPr sz="800">
                        <a:latin typeface="Archivo Medium"/>
                        <a:ea typeface="Archivo Medium"/>
                        <a:cs typeface="Archivo Medium"/>
                        <a:sym typeface="Archivo Medium"/>
                      </a:endParaRPr>
                    </a:p>
                    <a:p>
                      <a:pPr indent="0" lvl="0" marL="0" rtl="0" algn="l">
                        <a:spcBef>
                          <a:spcPts val="0"/>
                        </a:spcBef>
                        <a:spcAft>
                          <a:spcPts val="0"/>
                        </a:spcAft>
                        <a:buNone/>
                      </a:pPr>
                      <a:r>
                        <a:t/>
                      </a:r>
                      <a:endParaRPr sz="800">
                        <a:latin typeface="Archivo Medium"/>
                        <a:ea typeface="Archivo Medium"/>
                        <a:cs typeface="Archivo Medium"/>
                        <a:sym typeface="Archivo Medium"/>
                      </a:endParaRPr>
                    </a:p>
                    <a:p>
                      <a:pPr indent="0" lvl="0" marL="0" rtl="0" algn="l">
                        <a:spcBef>
                          <a:spcPts val="0"/>
                        </a:spcBef>
                        <a:spcAft>
                          <a:spcPts val="0"/>
                        </a:spcAft>
                        <a:buNone/>
                      </a:pPr>
                      <a:r>
                        <a:rPr lang="en" sz="800">
                          <a:latin typeface="Archivo Medium"/>
                          <a:ea typeface="Archivo Medium"/>
                          <a:cs typeface="Archivo Medium"/>
                          <a:sym typeface="Archivo Medium"/>
                        </a:rPr>
                        <a:t>Secondary “experience” offerings (differentiators)</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Resort amenities (pool, clubhouse, pickleball, etc.)</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Events / activities programming</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Connectivity angle (Wi-Fi/fiber claims) + remote-work friendliness</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Pet-friendly features (if emphasized)</a:t>
                      </a:r>
                      <a:endParaRPr sz="800">
                        <a:latin typeface="Archivo Medium"/>
                        <a:ea typeface="Archivo Medium"/>
                        <a:cs typeface="Archivo Medium"/>
                        <a:sym typeface="Archivo Medium"/>
                      </a:endParaRPr>
                    </a:p>
                  </a:txBody>
                  <a:tcPr marT="91425" marB="91425" marR="91425" marL="91425"/>
                </a:tc>
              </a:tr>
              <a:tr h="694850">
                <a:tc>
                  <a:txBody>
                    <a:bodyPr/>
                    <a:lstStyle/>
                    <a:p>
                      <a:pPr indent="0" lvl="0" marL="0" rtl="0" algn="l">
                        <a:spcBef>
                          <a:spcPts val="0"/>
                        </a:spcBef>
                        <a:spcAft>
                          <a:spcPts val="0"/>
                        </a:spcAft>
                        <a:buNone/>
                      </a:pPr>
                      <a:r>
                        <a:rPr lang="en">
                          <a:solidFill>
                            <a:schemeClr val="lt1"/>
                          </a:solidFill>
                          <a:latin typeface="Archivo"/>
                          <a:ea typeface="Archivo"/>
                          <a:cs typeface="Archivo"/>
                          <a:sym typeface="Archivo"/>
                        </a:rPr>
                        <a:t>Capacity</a:t>
                      </a:r>
                      <a:endParaRPr>
                        <a:solidFill>
                          <a:schemeClr val="lt1"/>
                        </a:solidFill>
                        <a:latin typeface="Archivo"/>
                        <a:ea typeface="Archivo"/>
                        <a:cs typeface="Archivo"/>
                        <a:sym typeface="Archivo"/>
                      </a:endParaRPr>
                    </a:p>
                  </a:txBody>
                  <a:tcPr marT="91425" marB="91425" marR="91425" marL="91425">
                    <a:solidFill>
                      <a:schemeClr val="dk1"/>
                    </a:solidFill>
                  </a:tcPr>
                </a:tc>
                <a:tc>
                  <a:txBody>
                    <a:bodyPr/>
                    <a:lstStyle/>
                    <a:p>
                      <a:pPr indent="0" lvl="0" marL="0" rtl="0" algn="l">
                        <a:spcBef>
                          <a:spcPts val="0"/>
                        </a:spcBef>
                        <a:spcAft>
                          <a:spcPts val="0"/>
                        </a:spcAft>
                        <a:buNone/>
                      </a:pPr>
                      <a:r>
                        <a:rPr lang="en" sz="800">
                          <a:latin typeface="Archivo Medium"/>
                          <a:ea typeface="Archivo Medium"/>
                          <a:cs typeface="Archivo Medium"/>
                          <a:sym typeface="Archivo Medium"/>
                        </a:rPr>
                        <a:t>Inventory </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RV Sites: website claims 124 (confirm true current count + breakdown)</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Cabins: 3</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Site types: TBD (pull-through vs back-in; big rig; premium view; concrete pads; etc.)</a:t>
                      </a:r>
                      <a:endParaRPr sz="800">
                        <a:latin typeface="Archivo Medium"/>
                        <a:ea typeface="Archivo Medium"/>
                        <a:cs typeface="Archivo Medium"/>
                        <a:sym typeface="Archivo Medium"/>
                      </a:endParaRPr>
                    </a:p>
                    <a:p>
                      <a:pPr indent="0" lvl="0" marL="0" rtl="0" algn="l">
                        <a:spcBef>
                          <a:spcPts val="0"/>
                        </a:spcBef>
                        <a:spcAft>
                          <a:spcPts val="0"/>
                        </a:spcAft>
                        <a:buNone/>
                      </a:pPr>
                      <a:r>
                        <a:t/>
                      </a:r>
                      <a:endParaRPr sz="800">
                        <a:latin typeface="Archivo Medium"/>
                        <a:ea typeface="Archivo Medium"/>
                        <a:cs typeface="Archivo Medium"/>
                        <a:sym typeface="Archivo Medium"/>
                      </a:endParaRPr>
                    </a:p>
                    <a:p>
                      <a:pPr indent="0" lvl="0" marL="0" rtl="0" algn="l">
                        <a:spcBef>
                          <a:spcPts val="0"/>
                        </a:spcBef>
                        <a:spcAft>
                          <a:spcPts val="0"/>
                        </a:spcAft>
                        <a:buNone/>
                      </a:pPr>
                      <a:r>
                        <a:rPr lang="en" sz="800">
                          <a:latin typeface="Archivo Medium"/>
                          <a:ea typeface="Archivo Medium"/>
                          <a:cs typeface="Archivo Medium"/>
                          <a:sym typeface="Archivo Medium"/>
                        </a:rPr>
                        <a:t>Operating constraints that affect SEO</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Max rig length / big-rig friendly (TBD)</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of 50-amp vs 30-amp sites (TBD)</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Pet rules (breeds/fees/leash rules) (TBD)</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Seasonal capacity changes / construction phases (TBD)</a:t>
                      </a:r>
                      <a:endParaRPr sz="800">
                        <a:latin typeface="Archivo Medium"/>
                        <a:ea typeface="Archivo Medium"/>
                        <a:cs typeface="Archivo Medium"/>
                        <a:sym typeface="Archivo Medium"/>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title"/>
          </p:nvPr>
        </p:nvSpPr>
        <p:spPr>
          <a:xfrm>
            <a:off x="171950" y="272275"/>
            <a:ext cx="82782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Business &amp; Market Inputs: </a:t>
            </a:r>
            <a:r>
              <a:rPr lang="en" sz="1500">
                <a:solidFill>
                  <a:schemeClr val="dk1"/>
                </a:solidFill>
              </a:rPr>
              <a:t>Overall Details </a:t>
            </a:r>
            <a:endParaRPr sz="1500">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graphicFrame>
        <p:nvGraphicFramePr>
          <p:cNvPr id="171" name="Google Shape;171;p27"/>
          <p:cNvGraphicFramePr/>
          <p:nvPr/>
        </p:nvGraphicFramePr>
        <p:xfrm>
          <a:off x="389550" y="937800"/>
          <a:ext cx="3000000" cy="3000000"/>
        </p:xfrm>
        <a:graphic>
          <a:graphicData uri="http://schemas.openxmlformats.org/drawingml/2006/table">
            <a:tbl>
              <a:tblPr>
                <a:noFill/>
                <a:tableStyleId>{02F967E9-65F7-4894-8DEE-E04453A42EB7}</a:tableStyleId>
              </a:tblPr>
              <a:tblGrid>
                <a:gridCol w="2680300"/>
                <a:gridCol w="5844600"/>
              </a:tblGrid>
              <a:tr h="694850">
                <a:tc>
                  <a:txBody>
                    <a:bodyPr/>
                    <a:lstStyle/>
                    <a:p>
                      <a:pPr indent="0" lvl="0" marL="0" rtl="0" algn="l">
                        <a:spcBef>
                          <a:spcPts val="0"/>
                        </a:spcBef>
                        <a:spcAft>
                          <a:spcPts val="0"/>
                        </a:spcAft>
                        <a:buNone/>
                      </a:pPr>
                      <a:r>
                        <a:rPr lang="en">
                          <a:solidFill>
                            <a:schemeClr val="lt1"/>
                          </a:solidFill>
                          <a:latin typeface="Archivo"/>
                          <a:ea typeface="Archivo"/>
                          <a:cs typeface="Archivo"/>
                          <a:sym typeface="Archivo"/>
                        </a:rPr>
                        <a:t>Booking / Pricing Model </a:t>
                      </a:r>
                      <a:endParaRPr>
                        <a:solidFill>
                          <a:schemeClr val="lt1"/>
                        </a:solidFill>
                        <a:latin typeface="Archivo"/>
                        <a:ea typeface="Archivo"/>
                        <a:cs typeface="Archivo"/>
                        <a:sym typeface="Archivo"/>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rPr lang="en" sz="800">
                          <a:latin typeface="Archivo Medium"/>
                          <a:ea typeface="Archivo Medium"/>
                          <a:cs typeface="Archivo Medium"/>
                          <a:sym typeface="Archivo Medium"/>
                        </a:rPr>
                        <a:t>Booking / lead intake</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Booking engine: online reservations (plus phone inquiries)</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Typical sales cycle: same-day/short-window vs planned trips (TBD)</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After-hours handling: voicemail? call center? (TBD)</a:t>
                      </a:r>
                      <a:endParaRPr sz="800">
                        <a:latin typeface="Archivo Medium"/>
                        <a:ea typeface="Archivo Medium"/>
                        <a:cs typeface="Archivo Medium"/>
                        <a:sym typeface="Archivo Medium"/>
                      </a:endParaRPr>
                    </a:p>
                    <a:p>
                      <a:pPr indent="0" lvl="0" marL="0" rtl="0" algn="l">
                        <a:spcBef>
                          <a:spcPts val="0"/>
                        </a:spcBef>
                        <a:spcAft>
                          <a:spcPts val="0"/>
                        </a:spcAft>
                        <a:buNone/>
                      </a:pPr>
                      <a:r>
                        <a:t/>
                      </a:r>
                      <a:endParaRPr sz="800">
                        <a:latin typeface="Archivo Medium"/>
                        <a:ea typeface="Archivo Medium"/>
                        <a:cs typeface="Archivo Medium"/>
                        <a:sym typeface="Archivo Medium"/>
                      </a:endParaRPr>
                    </a:p>
                    <a:p>
                      <a:pPr indent="0" lvl="0" marL="0" rtl="0" algn="l">
                        <a:spcBef>
                          <a:spcPts val="0"/>
                        </a:spcBef>
                        <a:spcAft>
                          <a:spcPts val="0"/>
                        </a:spcAft>
                        <a:buNone/>
                      </a:pPr>
                      <a:r>
                        <a:rPr lang="en" sz="800">
                          <a:latin typeface="Archivo Medium"/>
                          <a:ea typeface="Archivo Medium"/>
                          <a:cs typeface="Archivo Medium"/>
                          <a:sym typeface="Archivo Medium"/>
                        </a:rPr>
                        <a:t>Where bookings come from</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Direct bookings (website / phone)</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Directories / OTAs (Good Sam, Hipcamp, The Dyrt, Campendium, etc.)</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Repeat guests / referrals</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Group bookings / events (if applicable)</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Long-stay leads (monthly inquiries)</a:t>
                      </a:r>
                      <a:endParaRPr sz="800">
                        <a:latin typeface="Archivo Medium"/>
                        <a:ea typeface="Archivo Medium"/>
                        <a:cs typeface="Archivo Medium"/>
                        <a:sym typeface="Archivo Medium"/>
                      </a:endParaRPr>
                    </a:p>
                    <a:p>
                      <a:pPr indent="0" lvl="0" marL="0" rtl="0" algn="l">
                        <a:spcBef>
                          <a:spcPts val="0"/>
                        </a:spcBef>
                        <a:spcAft>
                          <a:spcPts val="0"/>
                        </a:spcAft>
                        <a:buNone/>
                      </a:pPr>
                      <a:r>
                        <a:t/>
                      </a:r>
                      <a:endParaRPr sz="800">
                        <a:latin typeface="Archivo Medium"/>
                        <a:ea typeface="Archivo Medium"/>
                        <a:cs typeface="Archivo Medium"/>
                        <a:sym typeface="Archivo Medium"/>
                      </a:endParaRPr>
                    </a:p>
                    <a:p>
                      <a:pPr indent="0" lvl="0" marL="0" rtl="0" algn="l">
                        <a:spcBef>
                          <a:spcPts val="0"/>
                        </a:spcBef>
                        <a:spcAft>
                          <a:spcPts val="0"/>
                        </a:spcAft>
                        <a:buNone/>
                      </a:pPr>
                      <a:r>
                        <a:rPr lang="en" sz="800">
                          <a:latin typeface="Archivo Medium"/>
                          <a:ea typeface="Archivo Medium"/>
                          <a:cs typeface="Archivo Medium"/>
                          <a:sym typeface="Archivo Medium"/>
                        </a:rPr>
                        <a:t>Pricing model (public + confirm)</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Monthly stays: starting $999/month, electricity $0.10/kWh (confirm current)</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Nightly RV sites: seasonal/weekday-weekend variability (confirm rate bands + min nights)</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Cabins: seasonal pricing (confirm)</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Fees to confirm: resort fee? pet fee? extra vehicle? visitors? cancellation policy?</a:t>
                      </a:r>
                      <a:endParaRPr sz="800">
                        <a:latin typeface="Archivo Medium"/>
                        <a:ea typeface="Archivo Medium"/>
                        <a:cs typeface="Archivo Medium"/>
                        <a:sym typeface="Archivo Medium"/>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694850">
                <a:tc>
                  <a:txBody>
                    <a:bodyPr/>
                    <a:lstStyle/>
                    <a:p>
                      <a:pPr indent="0" lvl="0" marL="0" rtl="0" algn="l">
                        <a:spcBef>
                          <a:spcPts val="0"/>
                        </a:spcBef>
                        <a:spcAft>
                          <a:spcPts val="0"/>
                        </a:spcAft>
                        <a:buNone/>
                      </a:pPr>
                      <a:r>
                        <a:rPr lang="en">
                          <a:solidFill>
                            <a:schemeClr val="lt1"/>
                          </a:solidFill>
                          <a:latin typeface="Archivo"/>
                          <a:ea typeface="Archivo"/>
                          <a:cs typeface="Archivo"/>
                          <a:sym typeface="Archivo"/>
                        </a:rPr>
                        <a:t>Name, Address, Phone</a:t>
                      </a:r>
                      <a:endParaRPr>
                        <a:solidFill>
                          <a:schemeClr val="lt1"/>
                        </a:solidFill>
                        <a:latin typeface="Archivo"/>
                        <a:ea typeface="Archivo"/>
                        <a:cs typeface="Archivo"/>
                        <a:sym typeface="Archivo"/>
                      </a:endParaRPr>
                    </a:p>
                  </a:txBody>
                  <a:tcPr marT="91425" marB="91425" marR="91425" marL="91425">
                    <a:lnT cap="flat" cmpd="sng" w="9525">
                      <a:solidFill>
                        <a:srgbClr val="9E9E9E"/>
                      </a:solidFill>
                      <a:prstDash val="solid"/>
                      <a:round/>
                      <a:headEnd len="sm" w="sm" type="none"/>
                      <a:tailEnd len="sm" w="sm" type="none"/>
                    </a:lnT>
                    <a:solidFill>
                      <a:schemeClr val="dk1"/>
                    </a:solidFill>
                  </a:tcPr>
                </a:tc>
                <a:tc>
                  <a:txBody>
                    <a:bodyPr/>
                    <a:lstStyle/>
                    <a:p>
                      <a:pPr indent="0" lvl="0" marL="0" rtl="0" algn="l">
                        <a:spcBef>
                          <a:spcPts val="0"/>
                        </a:spcBef>
                        <a:spcAft>
                          <a:spcPts val="0"/>
                        </a:spcAft>
                        <a:buNone/>
                      </a:pPr>
                      <a:r>
                        <a:rPr lang="en" sz="800">
                          <a:latin typeface="Archivo Medium"/>
                          <a:ea typeface="Archivo Medium"/>
                          <a:cs typeface="Archivo Medium"/>
                          <a:sym typeface="Archivo Medium"/>
                        </a:rPr>
                        <a:t>Name: Horseshoe Ridge RV Resort  ￼</a:t>
                      </a:r>
                      <a:endParaRPr sz="800">
                        <a:latin typeface="Archivo Medium"/>
                        <a:ea typeface="Archivo Medium"/>
                        <a:cs typeface="Archivo Medium"/>
                        <a:sym typeface="Archivo Medium"/>
                      </a:endParaRPr>
                    </a:p>
                    <a:p>
                      <a:pPr indent="0" lvl="0" marL="0" rtl="0" algn="l">
                        <a:spcBef>
                          <a:spcPts val="0"/>
                        </a:spcBef>
                        <a:spcAft>
                          <a:spcPts val="0"/>
                        </a:spcAft>
                        <a:buNone/>
                      </a:pPr>
                      <a:r>
                        <a:rPr lang="en" sz="800">
                          <a:latin typeface="Archivo Medium"/>
                          <a:ea typeface="Archivo Medium"/>
                          <a:cs typeface="Archivo Medium"/>
                          <a:sym typeface="Archivo Medium"/>
                        </a:rPr>
                        <a:t>Address: 17901 Ranch Road 12, Wimberley, TX 78676  ￼</a:t>
                      </a:r>
                      <a:endParaRPr sz="800">
                        <a:latin typeface="Archivo Medium"/>
                        <a:ea typeface="Archivo Medium"/>
                        <a:cs typeface="Archivo Medium"/>
                        <a:sym typeface="Archivo Medium"/>
                      </a:endParaRPr>
                    </a:p>
                    <a:p>
                      <a:pPr indent="0" lvl="0" marL="0" rtl="0" algn="l">
                        <a:spcBef>
                          <a:spcPts val="0"/>
                        </a:spcBef>
                        <a:spcAft>
                          <a:spcPts val="0"/>
                        </a:spcAft>
                        <a:buNone/>
                      </a:pPr>
                      <a:r>
                        <a:rPr lang="en" sz="800">
                          <a:latin typeface="Archivo Medium"/>
                          <a:ea typeface="Archivo Medium"/>
                          <a:cs typeface="Archivo Medium"/>
                          <a:sym typeface="Archivo Medium"/>
                        </a:rPr>
                        <a:t>Phone: (737) 258-3325</a:t>
                      </a:r>
                      <a:endParaRPr sz="800">
                        <a:latin typeface="Archivo Medium"/>
                        <a:ea typeface="Archivo Medium"/>
                        <a:cs typeface="Archivo Medium"/>
                        <a:sym typeface="Archivo Medium"/>
                      </a:endParaRPr>
                    </a:p>
                  </a:txBody>
                  <a:tcPr marT="91425" marB="91425" marR="91425" marL="91425">
                    <a:lnT cap="flat" cmpd="sng" w="9525">
                      <a:solidFill>
                        <a:srgbClr val="9E9E9E"/>
                      </a:solidFill>
                      <a:prstDash val="solid"/>
                      <a:round/>
                      <a:headEnd len="sm" w="sm" type="none"/>
                      <a:tailEnd len="sm" w="sm" type="none"/>
                    </a:lnT>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txBox="1"/>
          <p:nvPr>
            <p:ph type="title"/>
          </p:nvPr>
        </p:nvSpPr>
        <p:spPr>
          <a:xfrm>
            <a:off x="171950" y="272275"/>
            <a:ext cx="80946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Business &amp; Market Inputs: </a:t>
            </a:r>
            <a:r>
              <a:rPr lang="en" sz="1500">
                <a:solidFill>
                  <a:schemeClr val="dk1"/>
                </a:solidFill>
              </a:rPr>
              <a:t>Business Goals / Current Marketing </a:t>
            </a:r>
            <a:endParaRPr sz="1500">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graphicFrame>
        <p:nvGraphicFramePr>
          <p:cNvPr id="177" name="Google Shape;177;p28"/>
          <p:cNvGraphicFramePr/>
          <p:nvPr/>
        </p:nvGraphicFramePr>
        <p:xfrm>
          <a:off x="370600" y="874600"/>
          <a:ext cx="3000000" cy="3000000"/>
        </p:xfrm>
        <a:graphic>
          <a:graphicData uri="http://schemas.openxmlformats.org/drawingml/2006/table">
            <a:tbl>
              <a:tblPr>
                <a:noFill/>
                <a:tableStyleId>{02F967E9-65F7-4894-8DEE-E04453A42EB7}</a:tableStyleId>
              </a:tblPr>
              <a:tblGrid>
                <a:gridCol w="2680300"/>
                <a:gridCol w="5844600"/>
              </a:tblGrid>
              <a:tr h="694850">
                <a:tc>
                  <a:txBody>
                    <a:bodyPr/>
                    <a:lstStyle/>
                    <a:p>
                      <a:pPr indent="0" lvl="0" marL="0" rtl="0" algn="l">
                        <a:spcBef>
                          <a:spcPts val="0"/>
                        </a:spcBef>
                        <a:spcAft>
                          <a:spcPts val="0"/>
                        </a:spcAft>
                        <a:buNone/>
                      </a:pPr>
                      <a:r>
                        <a:rPr lang="en">
                          <a:solidFill>
                            <a:schemeClr val="lt1"/>
                          </a:solidFill>
                          <a:latin typeface="Archivo"/>
                          <a:ea typeface="Archivo"/>
                          <a:cs typeface="Archivo"/>
                          <a:sym typeface="Archivo"/>
                        </a:rPr>
                        <a:t>Top Competitors</a:t>
                      </a:r>
                      <a:endParaRPr>
                        <a:solidFill>
                          <a:schemeClr val="lt1"/>
                        </a:solidFill>
                        <a:latin typeface="Archivo"/>
                        <a:ea typeface="Archivo"/>
                        <a:cs typeface="Archivo"/>
                        <a:sym typeface="Archivo"/>
                      </a:endParaRPr>
                    </a:p>
                  </a:txBody>
                  <a:tcPr marT="91425" marB="91425" marR="91425" marL="91425">
                    <a:solidFill>
                      <a:schemeClr val="dk1"/>
                    </a:solidFill>
                  </a:tcPr>
                </a:tc>
                <a:tc>
                  <a:txBody>
                    <a:bodyPr/>
                    <a:lstStyle/>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Black Canyon Wimberley — Wimberley, TX (RV sites + cabins)  ￼</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Green Acres RV Park — Wimberley, TX  ￼</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Priddy Meadow RV Park — Wimberley, TX  ￼</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Stardust Airstream &amp; RV Resort — Dripping Springs, TX  ￼</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Canyon Cove RV Park — Canyon Lake, TX </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Lake Pointe RV Resort — Canyon Lake, TX </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Sienna Ridge RV Park — Canyon Lake, TX </a:t>
                      </a:r>
                      <a:endParaRPr sz="800">
                        <a:latin typeface="Archivo Medium"/>
                        <a:ea typeface="Archivo Medium"/>
                        <a:cs typeface="Archivo Medium"/>
                        <a:sym typeface="Archivo Medium"/>
                      </a:endParaRPr>
                    </a:p>
                  </a:txBody>
                  <a:tcPr marT="91425" marB="91425" marR="91425" marL="91425"/>
                </a:tc>
              </a:tr>
              <a:tr h="694850">
                <a:tc>
                  <a:txBody>
                    <a:bodyPr/>
                    <a:lstStyle/>
                    <a:p>
                      <a:pPr indent="0" lvl="0" marL="0" rtl="0" algn="l">
                        <a:spcBef>
                          <a:spcPts val="0"/>
                        </a:spcBef>
                        <a:spcAft>
                          <a:spcPts val="0"/>
                        </a:spcAft>
                        <a:buNone/>
                      </a:pPr>
                      <a:r>
                        <a:rPr lang="en">
                          <a:solidFill>
                            <a:schemeClr val="lt1"/>
                          </a:solidFill>
                          <a:latin typeface="Archivo"/>
                          <a:ea typeface="Archivo"/>
                          <a:cs typeface="Archivo"/>
                          <a:sym typeface="Archivo"/>
                        </a:rPr>
                        <a:t>Business &amp; Partnership Goals</a:t>
                      </a:r>
                      <a:endParaRPr>
                        <a:solidFill>
                          <a:schemeClr val="lt1"/>
                        </a:solidFill>
                        <a:latin typeface="Archivo"/>
                        <a:ea typeface="Archivo"/>
                        <a:cs typeface="Archivo"/>
                        <a:sym typeface="Archivo"/>
                      </a:endParaRPr>
                    </a:p>
                  </a:txBody>
                  <a:tcPr marT="91425" marB="91425" marR="91425" marL="91425">
                    <a:solidFill>
                      <a:schemeClr val="dk1"/>
                    </a:solidFill>
                  </a:tcPr>
                </a:tc>
                <a:tc>
                  <a:txBody>
                    <a:bodyPr/>
                    <a:lstStyle/>
                    <a:p>
                      <a:pPr indent="-279400" lvl="0" marL="457200" rtl="0" algn="l">
                        <a:spcBef>
                          <a:spcPts val="0"/>
                        </a:spcBef>
                        <a:spcAft>
                          <a:spcPts val="0"/>
                        </a:spcAft>
                        <a:buSzPts val="800"/>
                        <a:buFont typeface="Archivo Medium"/>
                        <a:buAutoNum type="arabicPeriod"/>
                      </a:pPr>
                      <a:r>
                        <a:rPr lang="en" sz="800">
                          <a:latin typeface="Archivo Medium"/>
                          <a:ea typeface="Archivo Medium"/>
                          <a:cs typeface="Archivo Medium"/>
                          <a:sym typeface="Archivo Medium"/>
                        </a:rPr>
                        <a:t>Increase direct bookings (reduce reliance on directories/Online Travel </a:t>
                      </a:r>
                      <a:r>
                        <a:rPr lang="en" sz="800">
                          <a:latin typeface="Archivo Medium"/>
                          <a:ea typeface="Archivo Medium"/>
                          <a:cs typeface="Archivo Medium"/>
                          <a:sym typeface="Archivo Medium"/>
                        </a:rPr>
                        <a:t>Agencies</a:t>
                      </a:r>
                      <a:r>
                        <a:rPr lang="en" sz="800">
                          <a:latin typeface="Archivo Medium"/>
                          <a:ea typeface="Archivo Medium"/>
                          <a:cs typeface="Archivo Medium"/>
                          <a:sym typeface="Archivo Medium"/>
                        </a:rPr>
                        <a:t>)</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AutoNum type="arabicPeriod"/>
                      </a:pPr>
                      <a:r>
                        <a:rPr lang="en" sz="800">
                          <a:latin typeface="Archivo Medium"/>
                          <a:ea typeface="Archivo Medium"/>
                          <a:cs typeface="Archivo Medium"/>
                          <a:sym typeface="Archivo Medium"/>
                        </a:rPr>
                        <a:t>Own the Local “Luxury RV Resort” Market</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AutoNum type="arabicPeriod"/>
                      </a:pPr>
                      <a:r>
                        <a:rPr lang="en" sz="800">
                          <a:latin typeface="Archivo Medium"/>
                          <a:ea typeface="Archivo Medium"/>
                          <a:cs typeface="Archivo Medium"/>
                          <a:sym typeface="Archivo Medium"/>
                        </a:rPr>
                        <a:t>Grow Monthly / Extended Stay Occupancy (Higher LTV Guests)</a:t>
                      </a:r>
                      <a:endParaRPr sz="800">
                        <a:latin typeface="Archivo Medium"/>
                        <a:ea typeface="Archivo Medium"/>
                        <a:cs typeface="Archivo Medium"/>
                        <a:sym typeface="Archivo Medium"/>
                      </a:endParaRPr>
                    </a:p>
                    <a:p>
                      <a:pPr indent="0" lvl="0" marL="0" rtl="0" algn="l">
                        <a:spcBef>
                          <a:spcPts val="0"/>
                        </a:spcBef>
                        <a:spcAft>
                          <a:spcPts val="0"/>
                        </a:spcAft>
                        <a:buNone/>
                      </a:pPr>
                      <a:r>
                        <a:t/>
                      </a:r>
                      <a:endParaRPr sz="800">
                        <a:latin typeface="Archivo Medium"/>
                        <a:ea typeface="Archivo Medium"/>
                        <a:cs typeface="Archivo Medium"/>
                        <a:sym typeface="Archivo Medium"/>
                      </a:endParaRPr>
                    </a:p>
                  </a:txBody>
                  <a:tcPr marT="91425" marB="91425" marR="91425" marL="91425"/>
                </a:tc>
              </a:tr>
              <a:tr h="694850">
                <a:tc>
                  <a:txBody>
                    <a:bodyPr/>
                    <a:lstStyle/>
                    <a:p>
                      <a:pPr indent="0" lvl="0" marL="0" rtl="0" algn="l">
                        <a:spcBef>
                          <a:spcPts val="0"/>
                        </a:spcBef>
                        <a:spcAft>
                          <a:spcPts val="0"/>
                        </a:spcAft>
                        <a:buNone/>
                      </a:pPr>
                      <a:r>
                        <a:rPr lang="en">
                          <a:solidFill>
                            <a:schemeClr val="lt1"/>
                          </a:solidFill>
                          <a:latin typeface="Archivo"/>
                          <a:ea typeface="Archivo"/>
                          <a:cs typeface="Archivo"/>
                          <a:sym typeface="Archivo"/>
                        </a:rPr>
                        <a:t>SEO &amp; Content Package</a:t>
                      </a:r>
                      <a:endParaRPr>
                        <a:solidFill>
                          <a:schemeClr val="lt1"/>
                        </a:solidFill>
                        <a:latin typeface="Archivo"/>
                        <a:ea typeface="Archivo"/>
                        <a:cs typeface="Archivo"/>
                        <a:sym typeface="Archivo"/>
                      </a:endParaRPr>
                    </a:p>
                  </a:txBody>
                  <a:tcPr marT="91425" marB="91425" marR="91425" marL="91425">
                    <a:solidFill>
                      <a:schemeClr val="dk1"/>
                    </a:solidFill>
                  </a:tcPr>
                </a:tc>
                <a:tc>
                  <a:txBody>
                    <a:bodyPr/>
                    <a:lstStyle/>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4 Content Credits </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Light CRO Support </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Technical SEO Support </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1x GBP location support </a:t>
                      </a:r>
                      <a:endParaRPr sz="800">
                        <a:latin typeface="Archivo Medium"/>
                        <a:ea typeface="Archivo Medium"/>
                        <a:cs typeface="Archivo Medium"/>
                        <a:sym typeface="Archivo Medium"/>
                      </a:endParaRPr>
                    </a:p>
                  </a:txBody>
                  <a:tcPr marT="91425" marB="91425" marR="91425" marL="91425"/>
                </a:tc>
              </a:tr>
              <a:tr h="694850">
                <a:tc>
                  <a:txBody>
                    <a:bodyPr/>
                    <a:lstStyle/>
                    <a:p>
                      <a:pPr indent="0" lvl="0" marL="0" rtl="0" algn="l">
                        <a:spcBef>
                          <a:spcPts val="0"/>
                        </a:spcBef>
                        <a:spcAft>
                          <a:spcPts val="0"/>
                        </a:spcAft>
                        <a:buNone/>
                      </a:pPr>
                      <a:r>
                        <a:rPr lang="en">
                          <a:solidFill>
                            <a:schemeClr val="lt1"/>
                          </a:solidFill>
                          <a:latin typeface="Archivo"/>
                          <a:ea typeface="Archivo"/>
                          <a:cs typeface="Archivo"/>
                          <a:sym typeface="Archivo"/>
                        </a:rPr>
                        <a:t>Current Marketing </a:t>
                      </a:r>
                      <a:endParaRPr>
                        <a:solidFill>
                          <a:schemeClr val="lt1"/>
                        </a:solidFill>
                        <a:latin typeface="Archivo"/>
                        <a:ea typeface="Archivo"/>
                        <a:cs typeface="Archivo"/>
                        <a:sym typeface="Archivo"/>
                      </a:endParaRPr>
                    </a:p>
                  </a:txBody>
                  <a:tcPr marT="91425" marB="91425" marR="91425" marL="91425">
                    <a:solidFill>
                      <a:schemeClr val="dk1"/>
                    </a:solidFill>
                  </a:tcPr>
                </a:tc>
                <a:tc>
                  <a:txBody>
                    <a:bodyPr/>
                    <a:lstStyle/>
                    <a:p>
                      <a:pPr indent="0" lvl="0" marL="0" rtl="0" algn="l">
                        <a:spcBef>
                          <a:spcPts val="0"/>
                        </a:spcBef>
                        <a:spcAft>
                          <a:spcPts val="0"/>
                        </a:spcAft>
                        <a:buNone/>
                      </a:pPr>
                      <a:r>
                        <a:rPr lang="en" sz="800">
                          <a:latin typeface="Archivo Medium"/>
                          <a:ea typeface="Archivo Medium"/>
                          <a:cs typeface="Archivo Medium"/>
                          <a:sym typeface="Archivo Medium"/>
                        </a:rPr>
                        <a:t>Direct booking website + SEO blog content engine + active FB/IG + directory/review presence + newsletter + events programming + guest app. </a:t>
                      </a:r>
                      <a:endParaRPr sz="800">
                        <a:latin typeface="Archivo Medium"/>
                        <a:ea typeface="Archivo Medium"/>
                        <a:cs typeface="Archivo Medium"/>
                        <a:sym typeface="Archivo Medium"/>
                      </a:endParaRPr>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9"/>
          <p:cNvSpPr txBox="1"/>
          <p:nvPr>
            <p:ph type="title"/>
          </p:nvPr>
        </p:nvSpPr>
        <p:spPr>
          <a:xfrm>
            <a:off x="171950" y="272275"/>
            <a:ext cx="86811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Business &amp; Market Inputs: </a:t>
            </a:r>
            <a:r>
              <a:rPr lang="en" sz="1500"/>
              <a:t>Brand Voice &amp; Challenges / Opportunities</a:t>
            </a:r>
            <a:endParaRPr sz="1500"/>
          </a:p>
          <a:p>
            <a:pPr indent="0" lvl="0" marL="0" rtl="0" algn="l">
              <a:spcBef>
                <a:spcPts val="0"/>
              </a:spcBef>
              <a:spcAft>
                <a:spcPts val="0"/>
              </a:spcAft>
              <a:buNone/>
            </a:pPr>
            <a:r>
              <a:t/>
            </a:r>
            <a:endParaRPr/>
          </a:p>
        </p:txBody>
      </p:sp>
      <p:graphicFrame>
        <p:nvGraphicFramePr>
          <p:cNvPr id="183" name="Google Shape;183;p29"/>
          <p:cNvGraphicFramePr/>
          <p:nvPr/>
        </p:nvGraphicFramePr>
        <p:xfrm>
          <a:off x="389550" y="937800"/>
          <a:ext cx="3000000" cy="3000000"/>
        </p:xfrm>
        <a:graphic>
          <a:graphicData uri="http://schemas.openxmlformats.org/drawingml/2006/table">
            <a:tbl>
              <a:tblPr>
                <a:noFill/>
                <a:tableStyleId>{02F967E9-65F7-4894-8DEE-E04453A42EB7}</a:tableStyleId>
              </a:tblPr>
              <a:tblGrid>
                <a:gridCol w="2680300"/>
                <a:gridCol w="5844600"/>
              </a:tblGrid>
              <a:tr h="694850">
                <a:tc>
                  <a:txBody>
                    <a:bodyPr/>
                    <a:lstStyle/>
                    <a:p>
                      <a:pPr indent="0" lvl="0" marL="0" rtl="0" algn="l">
                        <a:spcBef>
                          <a:spcPts val="0"/>
                        </a:spcBef>
                        <a:spcAft>
                          <a:spcPts val="0"/>
                        </a:spcAft>
                        <a:buNone/>
                      </a:pPr>
                      <a:r>
                        <a:rPr lang="en">
                          <a:solidFill>
                            <a:schemeClr val="lt1"/>
                          </a:solidFill>
                          <a:latin typeface="Archivo"/>
                          <a:ea typeface="Archivo"/>
                          <a:cs typeface="Archivo"/>
                          <a:sym typeface="Archivo"/>
                        </a:rPr>
                        <a:t>Messaging / Brand Voice</a:t>
                      </a:r>
                      <a:endParaRPr>
                        <a:solidFill>
                          <a:schemeClr val="lt1"/>
                        </a:solidFill>
                        <a:latin typeface="Archivo"/>
                        <a:ea typeface="Archivo"/>
                        <a:cs typeface="Archivo"/>
                        <a:sym typeface="Archivo"/>
                      </a:endParaRPr>
                    </a:p>
                  </a:txBody>
                  <a:tcPr marT="91425" marB="91425" marR="91425" marL="91425">
                    <a:solidFill>
                      <a:schemeClr val="dk1"/>
                    </a:solidFill>
                  </a:tcPr>
                </a:tc>
                <a:tc>
                  <a:txBody>
                    <a:bodyPr/>
                    <a:lstStyle/>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Luxury-meets-outdoors: “resort-style” comfort framed as an elevated version of RV travel.  ￼</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Warm, hospitality-forward: invites guests to relax, “treat yourself,” and book easily.  ￼</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Modern + practical: emphasizes convenience and reliability (especially connectivity + full hook-ups).  ￼</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Experience-led: positions the stay as a “destination” with amenities + activities/community vibe.  ￼</a:t>
                      </a:r>
                      <a:endParaRPr sz="800">
                        <a:latin typeface="Archivo Medium"/>
                        <a:ea typeface="Archivo Medium"/>
                        <a:cs typeface="Archivo Medium"/>
                        <a:sym typeface="Archivo Medium"/>
                      </a:endParaRPr>
                    </a:p>
                  </a:txBody>
                  <a:tcPr marT="91425" marB="91425" marR="91425" marL="91425"/>
                </a:tc>
              </a:tr>
              <a:tr h="694850">
                <a:tc>
                  <a:txBody>
                    <a:bodyPr/>
                    <a:lstStyle/>
                    <a:p>
                      <a:pPr indent="0" lvl="0" marL="0" rtl="0" algn="l">
                        <a:spcBef>
                          <a:spcPts val="0"/>
                        </a:spcBef>
                        <a:spcAft>
                          <a:spcPts val="0"/>
                        </a:spcAft>
                        <a:buNone/>
                      </a:pPr>
                      <a:r>
                        <a:rPr lang="en">
                          <a:solidFill>
                            <a:schemeClr val="lt1"/>
                          </a:solidFill>
                          <a:latin typeface="Archivo"/>
                          <a:ea typeface="Archivo"/>
                          <a:cs typeface="Archivo"/>
                          <a:sym typeface="Archivo"/>
                        </a:rPr>
                        <a:t>Differentiators</a:t>
                      </a:r>
                      <a:endParaRPr>
                        <a:solidFill>
                          <a:schemeClr val="lt1"/>
                        </a:solidFill>
                        <a:latin typeface="Archivo"/>
                        <a:ea typeface="Archivo"/>
                        <a:cs typeface="Archivo"/>
                        <a:sym typeface="Archivo"/>
                      </a:endParaRPr>
                    </a:p>
                  </a:txBody>
                  <a:tcPr marT="91425" marB="91425" marR="91425" marL="91425">
                    <a:solidFill>
                      <a:schemeClr val="dk1"/>
                    </a:solidFill>
                  </a:tcPr>
                </a:tc>
                <a:tc>
                  <a:txBody>
                    <a:bodyPr/>
                    <a:lstStyle/>
                    <a:p>
                      <a:pPr indent="-279400" lvl="0" marL="457200" rtl="0" algn="l">
                        <a:spcBef>
                          <a:spcPts val="0"/>
                        </a:spcBef>
                        <a:spcAft>
                          <a:spcPts val="0"/>
                        </a:spcAft>
                        <a:buSzPts val="800"/>
                        <a:buFont typeface="Archivo Medium"/>
                        <a:buChar char="●"/>
                      </a:pPr>
                      <a:r>
                        <a:rPr b="1" lang="en" sz="800">
                          <a:latin typeface="Archivo"/>
                          <a:ea typeface="Archivo"/>
                          <a:cs typeface="Archivo"/>
                          <a:sym typeface="Archivo"/>
                        </a:rPr>
                        <a:t>“Luxury RV resort” </a:t>
                      </a:r>
                      <a:r>
                        <a:rPr lang="en" sz="800">
                          <a:latin typeface="Archivo Medium"/>
                          <a:ea typeface="Archivo Medium"/>
                          <a:cs typeface="Archivo Medium"/>
                          <a:sym typeface="Archivo Medium"/>
                        </a:rPr>
                        <a:t>positioning (not budget/utility camping).  ￼</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b="1" lang="en" sz="800">
                          <a:latin typeface="Archivo"/>
                          <a:ea typeface="Archivo"/>
                          <a:cs typeface="Archivo"/>
                          <a:sym typeface="Archivo"/>
                        </a:rPr>
                        <a:t>Connectivity angle: </a:t>
                      </a:r>
                      <a:r>
                        <a:rPr lang="en" sz="800">
                          <a:latin typeface="Archivo Medium"/>
                          <a:ea typeface="Archivo Medium"/>
                          <a:cs typeface="Archivo Medium"/>
                          <a:sym typeface="Archivo Medium"/>
                        </a:rPr>
                        <a:t>fiber Wi-Fi + hardwired internet at the pedestal (rare and very defensible).  ￼</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b="1" lang="en" sz="800">
                          <a:latin typeface="Archivo"/>
                          <a:ea typeface="Archivo"/>
                          <a:cs typeface="Archivo"/>
                          <a:sym typeface="Archivo"/>
                        </a:rPr>
                        <a:t>Site quality + convenience:</a:t>
                      </a:r>
                      <a:r>
                        <a:rPr lang="en" sz="800">
                          <a:latin typeface="Archivo Medium"/>
                          <a:ea typeface="Archivo Medium"/>
                          <a:cs typeface="Archivo Medium"/>
                          <a:sym typeface="Archivo Medium"/>
                        </a:rPr>
                        <a:t> full hook-ups, concrete pads, valet trash; “premium/executive” site types.  ￼</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b="1" lang="en" sz="800">
                          <a:latin typeface="Archivo"/>
                          <a:ea typeface="Archivo"/>
                          <a:cs typeface="Archivo"/>
                          <a:sym typeface="Archivo"/>
                        </a:rPr>
                        <a:t>Cabins on-site (3 units):</a:t>
                      </a:r>
                      <a:r>
                        <a:rPr lang="en" sz="800">
                          <a:latin typeface="Archivo Medium"/>
                          <a:ea typeface="Archivo Medium"/>
                          <a:cs typeface="Archivo Medium"/>
                          <a:sym typeface="Archivo Medium"/>
                        </a:rPr>
                        <a:t> captures “mixed-group” trips (RV + non-RV guests) and higher ADR.  ￼</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b="1" lang="en" sz="800">
                          <a:latin typeface="Archivo"/>
                          <a:ea typeface="Archivo"/>
                          <a:cs typeface="Archivo"/>
                          <a:sym typeface="Archivo"/>
                        </a:rPr>
                        <a:t>Resort amenities: </a:t>
                      </a:r>
                      <a:r>
                        <a:rPr lang="en" sz="800">
                          <a:latin typeface="Archivo Medium"/>
                          <a:ea typeface="Archivo Medium"/>
                          <a:cs typeface="Archivo Medium"/>
                          <a:sym typeface="Archivo Medium"/>
                        </a:rPr>
                        <a:t>pool + pickleball + amenity center / social spaces.  ￼</a:t>
                      </a:r>
                      <a:endParaRPr sz="800">
                        <a:latin typeface="Archivo Medium"/>
                        <a:ea typeface="Archivo Medium"/>
                        <a:cs typeface="Archivo Medium"/>
                        <a:sym typeface="Archivo Medium"/>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0"/>
          <p:cNvSpPr txBox="1"/>
          <p:nvPr>
            <p:ph type="title"/>
          </p:nvPr>
        </p:nvSpPr>
        <p:spPr>
          <a:xfrm>
            <a:off x="171950" y="272275"/>
            <a:ext cx="49017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Business &amp; Market Inputs</a:t>
            </a:r>
            <a:endParaRPr/>
          </a:p>
          <a:p>
            <a:pPr indent="0" lvl="0" marL="0" rtl="0" algn="l">
              <a:spcBef>
                <a:spcPts val="0"/>
              </a:spcBef>
              <a:spcAft>
                <a:spcPts val="0"/>
              </a:spcAft>
              <a:buNone/>
            </a:pPr>
            <a:r>
              <a:t/>
            </a:r>
            <a:endParaRPr/>
          </a:p>
        </p:txBody>
      </p:sp>
      <p:graphicFrame>
        <p:nvGraphicFramePr>
          <p:cNvPr id="189" name="Google Shape;189;p30"/>
          <p:cNvGraphicFramePr/>
          <p:nvPr/>
        </p:nvGraphicFramePr>
        <p:xfrm>
          <a:off x="389550" y="937800"/>
          <a:ext cx="3000000" cy="3000000"/>
        </p:xfrm>
        <a:graphic>
          <a:graphicData uri="http://schemas.openxmlformats.org/drawingml/2006/table">
            <a:tbl>
              <a:tblPr>
                <a:noFill/>
                <a:tableStyleId>{02F967E9-65F7-4894-8DEE-E04453A42EB7}</a:tableStyleId>
              </a:tblPr>
              <a:tblGrid>
                <a:gridCol w="2680300"/>
                <a:gridCol w="5844600"/>
              </a:tblGrid>
              <a:tr h="694850">
                <a:tc>
                  <a:txBody>
                    <a:bodyPr/>
                    <a:lstStyle/>
                    <a:p>
                      <a:pPr indent="0" lvl="0" marL="0" rtl="0" algn="l">
                        <a:spcBef>
                          <a:spcPts val="0"/>
                        </a:spcBef>
                        <a:spcAft>
                          <a:spcPts val="0"/>
                        </a:spcAft>
                        <a:buNone/>
                      </a:pPr>
                      <a:r>
                        <a:rPr lang="en">
                          <a:solidFill>
                            <a:schemeClr val="lt1"/>
                          </a:solidFill>
                          <a:latin typeface="Archivo"/>
                          <a:ea typeface="Archivo"/>
                          <a:cs typeface="Archivo"/>
                          <a:sym typeface="Archivo"/>
                        </a:rPr>
                        <a:t>Primary Client Personas</a:t>
                      </a:r>
                      <a:endParaRPr>
                        <a:solidFill>
                          <a:schemeClr val="lt1"/>
                        </a:solidFill>
                        <a:latin typeface="Archivo"/>
                        <a:ea typeface="Archivo"/>
                        <a:cs typeface="Archivo"/>
                        <a:sym typeface="Archivo"/>
                      </a:endParaRPr>
                    </a:p>
                  </a:txBody>
                  <a:tcPr marT="91425" marB="91425" marR="91425" marL="91425">
                    <a:solidFill>
                      <a:schemeClr val="dk1"/>
                    </a:solidFill>
                  </a:tcPr>
                </a:tc>
                <a:tc>
                  <a:txBody>
                    <a:bodyPr/>
                    <a:lstStyle/>
                    <a:p>
                      <a:pPr indent="0" lvl="0" marL="0" rtl="0" algn="l">
                        <a:spcBef>
                          <a:spcPts val="0"/>
                        </a:spcBef>
                        <a:spcAft>
                          <a:spcPts val="0"/>
                        </a:spcAft>
                        <a:buNone/>
                      </a:pPr>
                      <a:r>
                        <a:rPr b="1" lang="en" sz="800">
                          <a:latin typeface="Archivo"/>
                          <a:ea typeface="Archivo"/>
                          <a:cs typeface="Archivo"/>
                          <a:sym typeface="Archivo"/>
                        </a:rPr>
                        <a:t>Weekend Escape Couple (Short-Stay Leisure Guest)</a:t>
                      </a:r>
                      <a:endParaRPr b="1" sz="800">
                        <a:latin typeface="Archivo"/>
                        <a:ea typeface="Archivo"/>
                        <a:cs typeface="Archivo"/>
                        <a:sym typeface="Archivo"/>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Wants a scenic Hill Country getaway within driving distance of Austin/San Antonio</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Looking for a “resort-style” RV experience (pool, pickleball, clubhouse, clean facilities)</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Values easy online booking, transparent pricing, and modern amenities</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Responds to luxury positioning, strong photos, and social proof (reviews)</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Typically books 1–3 nights; higher seasonal spend</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What They Search: “RV resort near Austin” • “Wimberley RV park” • “Texas Hill Country RV camping” • “luxury RV resort Texas”</a:t>
                      </a:r>
                      <a:endParaRPr sz="800">
                        <a:latin typeface="Archivo Medium"/>
                        <a:ea typeface="Archivo Medium"/>
                        <a:cs typeface="Archivo Medium"/>
                        <a:sym typeface="Archivo Medium"/>
                      </a:endParaRPr>
                    </a:p>
                    <a:p>
                      <a:pPr indent="0" lvl="0" marL="0" rtl="0" algn="l">
                        <a:spcBef>
                          <a:spcPts val="0"/>
                        </a:spcBef>
                        <a:spcAft>
                          <a:spcPts val="0"/>
                        </a:spcAft>
                        <a:buNone/>
                      </a:pPr>
                      <a:r>
                        <a:t/>
                      </a:r>
                      <a:endParaRPr sz="800">
                        <a:latin typeface="Archivo Medium"/>
                        <a:ea typeface="Archivo Medium"/>
                        <a:cs typeface="Archivo Medium"/>
                        <a:sym typeface="Archivo Medium"/>
                      </a:endParaRPr>
                    </a:p>
                    <a:p>
                      <a:pPr indent="0" lvl="0" marL="0" rtl="0" algn="l">
                        <a:spcBef>
                          <a:spcPts val="0"/>
                        </a:spcBef>
                        <a:spcAft>
                          <a:spcPts val="0"/>
                        </a:spcAft>
                        <a:buNone/>
                      </a:pPr>
                      <a:r>
                        <a:rPr b="1" lang="en" sz="800">
                          <a:latin typeface="Archivo"/>
                          <a:ea typeface="Archivo"/>
                          <a:cs typeface="Archivo"/>
                          <a:sym typeface="Archivo"/>
                        </a:rPr>
                        <a:t>Extended-Stay RVer (Monthly / Stability Seeker)</a:t>
                      </a:r>
                      <a:endParaRPr b="1" sz="800">
                        <a:latin typeface="Archivo"/>
                        <a:ea typeface="Archivo"/>
                        <a:cs typeface="Archivo"/>
                        <a:sym typeface="Archivo"/>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Needs a reliable, long-term RV site near Austin / Hill Country</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Prioritizes stable monthly pricing and utilities transparency</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Highly values strong internet connectivity (remote work / streaming)</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Seeks quiet, safe, well-managed environment with clear policies</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Books 1–6+ months; high lifetime value</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What They Search::“Monthly RV park near Austin” • “extended stay RV sites Texas” • “long-term RV park Wimberley” • “RV park with good internet”</a:t>
                      </a:r>
                      <a:endParaRPr sz="800">
                        <a:latin typeface="Archivo Medium"/>
                        <a:ea typeface="Archivo Medium"/>
                        <a:cs typeface="Archivo Medium"/>
                        <a:sym typeface="Archivo Medium"/>
                      </a:endParaRPr>
                    </a:p>
                    <a:p>
                      <a:pPr indent="0" lvl="0" marL="0" rtl="0" algn="l">
                        <a:spcBef>
                          <a:spcPts val="0"/>
                        </a:spcBef>
                        <a:spcAft>
                          <a:spcPts val="0"/>
                        </a:spcAft>
                        <a:buNone/>
                      </a:pPr>
                      <a:r>
                        <a:t/>
                      </a:r>
                      <a:endParaRPr sz="800">
                        <a:latin typeface="Archivo Medium"/>
                        <a:ea typeface="Archivo Medium"/>
                        <a:cs typeface="Archivo Medium"/>
                        <a:sym typeface="Archivo Medium"/>
                      </a:endParaRPr>
                    </a:p>
                    <a:p>
                      <a:pPr indent="0" lvl="0" marL="0" rtl="0" algn="l">
                        <a:spcBef>
                          <a:spcPts val="0"/>
                        </a:spcBef>
                        <a:spcAft>
                          <a:spcPts val="0"/>
                        </a:spcAft>
                        <a:buNone/>
                      </a:pPr>
                      <a:r>
                        <a:rPr b="1" lang="en" sz="800">
                          <a:latin typeface="Archivo"/>
                          <a:ea typeface="Archivo"/>
                          <a:cs typeface="Archivo"/>
                          <a:sym typeface="Archivo"/>
                        </a:rPr>
                        <a:t>Mixed-Group Traveler (Cabin + RV Hybrid Guest)</a:t>
                      </a:r>
                      <a:endParaRPr b="1" sz="800">
                        <a:latin typeface="Archivo"/>
                        <a:ea typeface="Archivo"/>
                        <a:cs typeface="Archivo"/>
                        <a:sym typeface="Archivo"/>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Planning group or family trips with both RV and non-RV travelers</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Needs cabin options for guests without RVs</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Prioritizes amenities for multiple age groups (pool, social spaces, activities)</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Responds to destination-style messaging and event programming</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Likely to book multiple units or return annually</a:t>
                      </a:r>
                      <a:endParaRPr sz="800">
                        <a:latin typeface="Archivo Medium"/>
                        <a:ea typeface="Archivo Medium"/>
                        <a:cs typeface="Archivo Medium"/>
                        <a:sym typeface="Archivo Medium"/>
                      </a:endParaRPr>
                    </a:p>
                    <a:p>
                      <a:pPr indent="-279400" lvl="0" marL="457200" rtl="0" algn="l">
                        <a:spcBef>
                          <a:spcPts val="0"/>
                        </a:spcBef>
                        <a:spcAft>
                          <a:spcPts val="0"/>
                        </a:spcAft>
                        <a:buSzPts val="800"/>
                        <a:buFont typeface="Archivo Medium"/>
                        <a:buChar char="●"/>
                      </a:pPr>
                      <a:r>
                        <a:rPr lang="en" sz="800">
                          <a:latin typeface="Archivo Medium"/>
                          <a:ea typeface="Archivo Medium"/>
                          <a:cs typeface="Archivo Medium"/>
                          <a:sym typeface="Archivo Medium"/>
                        </a:rPr>
                        <a:t>What They Search:“Cabins in Wimberley TX” • “family RV resort Texas Hill Country” • “pet-friendly cabins near Austin” • “RV park with cabins Texas”</a:t>
                      </a:r>
                      <a:endParaRPr sz="800">
                        <a:latin typeface="Archivo Medium"/>
                        <a:ea typeface="Archivo Medium"/>
                        <a:cs typeface="Archivo Medium"/>
                        <a:sym typeface="Archivo Medium"/>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0808"/>
        </a:solidFill>
      </p:bgPr>
    </p:bg>
    <p:spTree>
      <p:nvGrpSpPr>
        <p:cNvPr id="193" name="Shape 193"/>
        <p:cNvGrpSpPr/>
        <p:nvPr/>
      </p:nvGrpSpPr>
      <p:grpSpPr>
        <a:xfrm>
          <a:off x="0" y="0"/>
          <a:ext cx="0" cy="0"/>
          <a:chOff x="0" y="0"/>
          <a:chExt cx="0" cy="0"/>
        </a:xfrm>
      </p:grpSpPr>
      <p:sp>
        <p:nvSpPr>
          <p:cNvPr id="194" name="Google Shape;194;p31"/>
          <p:cNvSpPr/>
          <p:nvPr/>
        </p:nvSpPr>
        <p:spPr>
          <a:xfrm>
            <a:off x="1083051" y="2001513"/>
            <a:ext cx="182700" cy="182700"/>
          </a:xfrm>
          <a:prstGeom prst="ellipse">
            <a:avLst/>
          </a:prstGeom>
          <a:solidFill>
            <a:srgbClr val="FF2F0A"/>
          </a:solidFill>
          <a:ln>
            <a:noFill/>
          </a:ln>
        </p:spPr>
        <p:txBody>
          <a:bodyPr anchorCtr="0" anchor="ctr" bIns="164100" lIns="164100" spcFirstLastPara="1" rIns="164100" wrap="square" tIns="164100">
            <a:noAutofit/>
          </a:bodyPr>
          <a:lstStyle/>
          <a:p>
            <a:pPr indent="0" lvl="0" marL="0" rtl="0" algn="ctr">
              <a:spcBef>
                <a:spcPts val="0"/>
              </a:spcBef>
              <a:spcAft>
                <a:spcPts val="0"/>
              </a:spcAft>
              <a:buNone/>
            </a:pPr>
            <a:r>
              <a:t/>
            </a:r>
            <a:endParaRPr sz="2513"/>
          </a:p>
        </p:txBody>
      </p:sp>
      <p:sp>
        <p:nvSpPr>
          <p:cNvPr id="195" name="Google Shape;195;p31"/>
          <p:cNvSpPr/>
          <p:nvPr/>
        </p:nvSpPr>
        <p:spPr>
          <a:xfrm>
            <a:off x="1265613" y="1899166"/>
            <a:ext cx="660300" cy="387300"/>
          </a:xfrm>
          <a:prstGeom prst="rect">
            <a:avLst/>
          </a:prstGeom>
          <a:noFill/>
          <a:ln>
            <a:noFill/>
          </a:ln>
        </p:spPr>
        <p:txBody>
          <a:bodyPr anchorCtr="0" anchor="ctr" bIns="75100" lIns="150175" spcFirstLastPara="1" rIns="150175" wrap="square" tIns="75100">
            <a:noAutofit/>
          </a:bodyPr>
          <a:lstStyle/>
          <a:p>
            <a:pPr indent="0" lvl="0" marL="0" marR="0" rtl="0" algn="l">
              <a:lnSpc>
                <a:spcPct val="120000"/>
              </a:lnSpc>
              <a:spcBef>
                <a:spcPts val="0"/>
              </a:spcBef>
              <a:spcAft>
                <a:spcPts val="0"/>
              </a:spcAft>
              <a:buClr>
                <a:srgbClr val="BCC0C5"/>
              </a:buClr>
              <a:buSzPts val="1725"/>
              <a:buFont typeface="Inter"/>
              <a:buNone/>
            </a:pPr>
            <a:r>
              <a:rPr i="1" lang="en" sz="2165">
                <a:solidFill>
                  <a:schemeClr val="lt1"/>
                </a:solidFill>
                <a:latin typeface="Archivo Medium"/>
                <a:ea typeface="Archivo Medium"/>
                <a:cs typeface="Archivo Medium"/>
                <a:sym typeface="Archivo Medium"/>
              </a:rPr>
              <a:t>03</a:t>
            </a:r>
            <a:endParaRPr i="1" sz="2165">
              <a:solidFill>
                <a:schemeClr val="lt1"/>
              </a:solidFill>
              <a:latin typeface="Archivo Medium"/>
              <a:ea typeface="Archivo Medium"/>
              <a:cs typeface="Archivo Medium"/>
              <a:sym typeface="Archivo Medium"/>
            </a:endParaRPr>
          </a:p>
        </p:txBody>
      </p:sp>
      <p:pic>
        <p:nvPicPr>
          <p:cNvPr id="196" name="Google Shape;196;p31" title="W Full blk txt (1).png"/>
          <p:cNvPicPr preferRelativeResize="0"/>
          <p:nvPr/>
        </p:nvPicPr>
        <p:blipFill>
          <a:blip r:embed="rId3">
            <a:alphaModFix/>
          </a:blip>
          <a:stretch>
            <a:fillRect/>
          </a:stretch>
        </p:blipFill>
        <p:spPr>
          <a:xfrm>
            <a:off x="7835738" y="201625"/>
            <a:ext cx="1025576" cy="246300"/>
          </a:xfrm>
          <a:prstGeom prst="rect">
            <a:avLst/>
          </a:prstGeom>
          <a:noFill/>
          <a:ln>
            <a:noFill/>
          </a:ln>
        </p:spPr>
      </p:pic>
      <p:sp>
        <p:nvSpPr>
          <p:cNvPr id="197" name="Google Shape;197;p31"/>
          <p:cNvSpPr/>
          <p:nvPr/>
        </p:nvSpPr>
        <p:spPr>
          <a:xfrm>
            <a:off x="1126200" y="2119736"/>
            <a:ext cx="6891600" cy="938700"/>
          </a:xfrm>
          <a:prstGeom prst="rect">
            <a:avLst/>
          </a:prstGeom>
          <a:noFill/>
          <a:ln>
            <a:noFill/>
          </a:ln>
          <a:effectLst>
            <a:outerShdw blurRad="57150" rotWithShape="0" algn="bl" dir="5400000" dist="19050">
              <a:srgbClr val="000000">
                <a:alpha val="50000"/>
              </a:srgbClr>
            </a:outerShdw>
          </a:effectLst>
        </p:spPr>
        <p:txBody>
          <a:bodyPr anchorCtr="0" anchor="ctr" bIns="45700" lIns="91425" spcFirstLastPara="1" rIns="91425" wrap="square" tIns="45700">
            <a:noAutofit/>
          </a:bodyPr>
          <a:lstStyle/>
          <a:p>
            <a:pPr indent="0" lvl="0" marL="0" marR="0" rtl="0" algn="l">
              <a:lnSpc>
                <a:spcPct val="75000"/>
              </a:lnSpc>
              <a:spcBef>
                <a:spcPts val="0"/>
              </a:spcBef>
              <a:spcAft>
                <a:spcPts val="0"/>
              </a:spcAft>
              <a:buClr>
                <a:srgbClr val="FFFFFF"/>
              </a:buClr>
              <a:buSzPts val="5250"/>
              <a:buFont typeface="Inter"/>
              <a:buNone/>
            </a:pPr>
            <a:r>
              <a:rPr b="1" lang="en" sz="5200">
                <a:solidFill>
                  <a:schemeClr val="lt1"/>
                </a:solidFill>
                <a:latin typeface="Archivo"/>
                <a:ea typeface="Archivo"/>
                <a:cs typeface="Archivo"/>
                <a:sym typeface="Archivo"/>
              </a:rPr>
              <a:t>Assets Needed</a:t>
            </a:r>
            <a:endParaRPr b="1" sz="5200">
              <a:solidFill>
                <a:schemeClr val="lt1"/>
              </a:solidFill>
              <a:latin typeface="Archivo"/>
              <a:ea typeface="Archivo"/>
              <a:cs typeface="Archivo"/>
              <a:sym typeface="Archiv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2"/>
          <p:cNvSpPr/>
          <p:nvPr/>
        </p:nvSpPr>
        <p:spPr>
          <a:xfrm>
            <a:off x="3887325" y="1074900"/>
            <a:ext cx="5256600" cy="144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 name="Google Shape;203;p32"/>
          <p:cNvSpPr txBox="1"/>
          <p:nvPr>
            <p:ph type="title"/>
          </p:nvPr>
        </p:nvSpPr>
        <p:spPr>
          <a:xfrm>
            <a:off x="171950" y="272275"/>
            <a:ext cx="86634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WebServ Onboarding Checklist: Content &amp; SEO</a:t>
            </a:r>
            <a:endParaRPr/>
          </a:p>
        </p:txBody>
      </p:sp>
      <p:sp>
        <p:nvSpPr>
          <p:cNvPr id="204" name="Google Shape;204;p32"/>
          <p:cNvSpPr txBox="1"/>
          <p:nvPr>
            <p:ph idx="1" type="body"/>
          </p:nvPr>
        </p:nvSpPr>
        <p:spPr>
          <a:xfrm>
            <a:off x="535050" y="1074900"/>
            <a:ext cx="4672200" cy="16611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Website Access</a:t>
            </a:r>
            <a:endParaRPr/>
          </a:p>
          <a:p>
            <a:pPr indent="-317500" lvl="0" marL="457200" rtl="0" algn="l">
              <a:spcBef>
                <a:spcPts val="0"/>
              </a:spcBef>
              <a:spcAft>
                <a:spcPts val="0"/>
              </a:spcAft>
              <a:buSzPts val="1400"/>
              <a:buChar char="❏"/>
            </a:pPr>
            <a:r>
              <a:rPr lang="en"/>
              <a:t>Domain Access to DNS</a:t>
            </a:r>
            <a:endParaRPr/>
          </a:p>
          <a:p>
            <a:pPr indent="-317500" lvl="0" marL="457200" rtl="0" algn="l">
              <a:spcBef>
                <a:spcPts val="0"/>
              </a:spcBef>
              <a:spcAft>
                <a:spcPts val="0"/>
              </a:spcAft>
              <a:buSzPts val="1400"/>
              <a:buChar char="❏"/>
            </a:pPr>
            <a:r>
              <a:rPr lang="en"/>
              <a:t>Hosting</a:t>
            </a:r>
            <a:endParaRPr/>
          </a:p>
          <a:p>
            <a:pPr indent="-317500" lvl="0" marL="457200" rtl="0" algn="l">
              <a:spcBef>
                <a:spcPts val="0"/>
              </a:spcBef>
              <a:spcAft>
                <a:spcPts val="0"/>
              </a:spcAft>
              <a:buSzPts val="1400"/>
              <a:buChar char="❏"/>
            </a:pPr>
            <a:r>
              <a:rPr lang="en"/>
              <a:t>Google Search Console</a:t>
            </a:r>
            <a:endParaRPr/>
          </a:p>
          <a:p>
            <a:pPr indent="-317500" lvl="0" marL="457200" rtl="0" algn="l">
              <a:spcBef>
                <a:spcPts val="0"/>
              </a:spcBef>
              <a:spcAft>
                <a:spcPts val="0"/>
              </a:spcAft>
              <a:buSzPts val="1400"/>
              <a:buChar char="❏"/>
            </a:pPr>
            <a:r>
              <a:rPr lang="en"/>
              <a:t>Google Tag Manager</a:t>
            </a:r>
            <a:endParaRPr/>
          </a:p>
          <a:p>
            <a:pPr indent="-317500" lvl="0" marL="457200" rtl="0" algn="l">
              <a:spcBef>
                <a:spcPts val="0"/>
              </a:spcBef>
              <a:spcAft>
                <a:spcPts val="0"/>
              </a:spcAft>
              <a:buSzPts val="1400"/>
              <a:buChar char="❏"/>
            </a:pPr>
            <a:r>
              <a:rPr lang="en"/>
              <a:t>Google Analytics </a:t>
            </a:r>
            <a:endParaRPr/>
          </a:p>
          <a:p>
            <a:pPr indent="-317500" lvl="0" marL="457200" rtl="0" algn="l">
              <a:spcBef>
                <a:spcPts val="0"/>
              </a:spcBef>
              <a:spcAft>
                <a:spcPts val="0"/>
              </a:spcAft>
              <a:buSzPts val="1400"/>
              <a:buChar char="❏"/>
            </a:pPr>
            <a:r>
              <a:rPr lang="en"/>
              <a:t>Google Business Profile</a:t>
            </a:r>
            <a:endParaRPr/>
          </a:p>
          <a:p>
            <a:pPr indent="-317500" lvl="0" marL="457200" rtl="0" algn="l">
              <a:spcBef>
                <a:spcPts val="0"/>
              </a:spcBef>
              <a:spcAft>
                <a:spcPts val="0"/>
              </a:spcAft>
              <a:buSzPts val="1400"/>
              <a:buChar char="❏"/>
            </a:pPr>
            <a:r>
              <a:rPr lang="en"/>
              <a:t>Brand Guidelines,logo, color schemes, tone of voice that we need to follow when creating your content  </a:t>
            </a:r>
            <a:endParaRPr/>
          </a:p>
          <a:p>
            <a:pPr indent="-317500" lvl="0" marL="457200" rtl="0" algn="l">
              <a:spcBef>
                <a:spcPts val="0"/>
              </a:spcBef>
              <a:spcAft>
                <a:spcPts val="0"/>
              </a:spcAft>
              <a:buSzPts val="1400"/>
              <a:buChar char="❏"/>
            </a:pPr>
            <a:r>
              <a:rPr lang="en"/>
              <a:t>Original Image Drives </a:t>
            </a:r>
            <a:endParaRPr/>
          </a:p>
          <a:p>
            <a:pPr indent="-317500" lvl="0" marL="457200" rtl="0" algn="l">
              <a:spcBef>
                <a:spcPts val="0"/>
              </a:spcBef>
              <a:spcAft>
                <a:spcPts val="0"/>
              </a:spcAft>
              <a:buSzPts val="1400"/>
              <a:buChar char="❏"/>
            </a:pPr>
            <a:r>
              <a:rPr lang="en"/>
              <a:t>Lead Tracking Software</a:t>
            </a:r>
            <a:endParaRPr/>
          </a:p>
          <a:p>
            <a:pPr indent="0" lvl="0" marL="0" rtl="0" algn="l">
              <a:spcBef>
                <a:spcPts val="0"/>
              </a:spcBef>
              <a:spcAft>
                <a:spcPts val="0"/>
              </a:spcAft>
              <a:buNone/>
            </a:pPr>
            <a:r>
              <a:t/>
            </a:r>
            <a:endParaRPr/>
          </a:p>
        </p:txBody>
      </p:sp>
      <p:sp>
        <p:nvSpPr>
          <p:cNvPr id="205" name="Google Shape;205;p32"/>
          <p:cNvSpPr txBox="1"/>
          <p:nvPr/>
        </p:nvSpPr>
        <p:spPr>
          <a:xfrm>
            <a:off x="4408800" y="1513400"/>
            <a:ext cx="3413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Archivo Medium"/>
                <a:ea typeface="Archivo Medium"/>
                <a:cs typeface="Archivo Medium"/>
                <a:sym typeface="Archivo Medium"/>
              </a:rPr>
              <a:t>Please share all platforms with login@webserv.com</a:t>
            </a:r>
            <a:endParaRPr>
              <a:solidFill>
                <a:schemeClr val="lt1"/>
              </a:solidFill>
              <a:latin typeface="Archivo Medium"/>
              <a:ea typeface="Archivo Medium"/>
              <a:cs typeface="Archivo Medium"/>
              <a:sym typeface="Archivo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3"/>
          <p:cNvSpPr txBox="1"/>
          <p:nvPr>
            <p:ph type="title"/>
          </p:nvPr>
        </p:nvSpPr>
        <p:spPr>
          <a:xfrm>
            <a:off x="171950" y="272275"/>
            <a:ext cx="4901700" cy="6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Next Steps</a:t>
            </a:r>
            <a:endParaRPr/>
          </a:p>
        </p:txBody>
      </p:sp>
      <p:sp>
        <p:nvSpPr>
          <p:cNvPr id="211" name="Google Shape;211;p33"/>
          <p:cNvSpPr txBox="1"/>
          <p:nvPr>
            <p:ph idx="1" type="body"/>
          </p:nvPr>
        </p:nvSpPr>
        <p:spPr>
          <a:xfrm>
            <a:off x="535050" y="1074900"/>
            <a:ext cx="7055700" cy="265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Webserv: </a:t>
            </a:r>
            <a:endParaRPr/>
          </a:p>
          <a:p>
            <a:pPr indent="-317500" lvl="0" marL="457200" rtl="0" algn="l">
              <a:spcBef>
                <a:spcPts val="0"/>
              </a:spcBef>
              <a:spcAft>
                <a:spcPts val="0"/>
              </a:spcAft>
              <a:buSzPts val="1400"/>
              <a:buChar char="●"/>
            </a:pPr>
            <a:r>
              <a:rPr lang="en"/>
              <a:t>Jay to book:</a:t>
            </a:r>
            <a:endParaRPr/>
          </a:p>
          <a:p>
            <a:pPr indent="-317500" lvl="1" marL="914400" rtl="0" algn="l">
              <a:spcBef>
                <a:spcPts val="0"/>
              </a:spcBef>
              <a:spcAft>
                <a:spcPts val="0"/>
              </a:spcAft>
              <a:buSzPts val="1400"/>
              <a:buChar char="○"/>
            </a:pPr>
            <a:r>
              <a:rPr lang="en"/>
              <a:t>Launch Strategy Meeting (End of March)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rPr lang="en"/>
              <a:t>Horseshoe Ridge Team: </a:t>
            </a:r>
            <a:endParaRPr/>
          </a:p>
          <a:p>
            <a:pPr indent="-317500" lvl="0" marL="457200" rtl="0" algn="l">
              <a:spcBef>
                <a:spcPts val="0"/>
              </a:spcBef>
              <a:spcAft>
                <a:spcPts val="0"/>
              </a:spcAft>
              <a:buSzPts val="1400"/>
              <a:buChar char="●"/>
            </a:pPr>
            <a:r>
              <a:rPr lang="en">
                <a:solidFill>
                  <a:schemeClr val="dk1"/>
                </a:solidFill>
              </a:rPr>
              <a:t>Onboarding &amp; Brand Checklist </a:t>
            </a:r>
            <a:endParaRPr>
              <a:solidFill>
                <a:schemeClr val="dk1"/>
              </a:solidFill>
            </a:endParaRPr>
          </a:p>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ebServ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