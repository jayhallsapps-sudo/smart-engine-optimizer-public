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Inter SemiBold"/>
      <p:regular r:id="rId26"/>
      <p:bold r:id="rId27"/>
      <p:italic r:id="rId28"/>
      <p:boldItalic r:id="rId29"/>
    </p:embeddedFont>
    <p:embeddedFont>
      <p:font typeface="Inter"/>
      <p:regular r:id="rId30"/>
      <p:bold r:id="rId31"/>
      <p:italic r:id="rId32"/>
      <p:boldItalic r:id="rId33"/>
    </p:embeddedFont>
    <p:embeddedFont>
      <p:font typeface="Archivo Medium"/>
      <p:regular r:id="rId34"/>
      <p:bold r:id="rId35"/>
      <p:italic r:id="rId36"/>
      <p:boldItalic r:id="rId37"/>
    </p:embeddedFont>
    <p:embeddedFont>
      <p:font typeface="Inter ExtraBold"/>
      <p:bold r:id="rId38"/>
      <p:boldItalic r:id="rId39"/>
    </p:embeddedFont>
    <p:embeddedFont>
      <p:font typeface="Mulish Medium"/>
      <p:regular r:id="rId40"/>
      <p:bold r:id="rId41"/>
      <p:italic r:id="rId42"/>
      <p:boldItalic r:id="rId43"/>
    </p:embeddedFont>
    <p:embeddedFont>
      <p:font typeface="Inter Medium"/>
      <p:regular r:id="rId44"/>
      <p:bold r:id="rId45"/>
      <p:italic r:id="rId46"/>
      <p:boldItalic r:id="rId47"/>
    </p:embeddedFont>
    <p:embeddedFont>
      <p:font typeface="Archivo"/>
      <p:regular r:id="rId48"/>
      <p:bold r:id="rId49"/>
      <p:italic r:id="rId50"/>
      <p:boldItalic r:id="rId51"/>
    </p:embeddedFont>
    <p:embeddedFont>
      <p:font typeface="Archivo SemiBold"/>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ulishMedium-regular.fntdata"/><Relationship Id="rId42" Type="http://schemas.openxmlformats.org/officeDocument/2006/relationships/font" Target="fonts/MulishMedium-italic.fntdata"/><Relationship Id="rId41" Type="http://schemas.openxmlformats.org/officeDocument/2006/relationships/font" Target="fonts/MulishMedium-bold.fntdata"/><Relationship Id="rId44" Type="http://schemas.openxmlformats.org/officeDocument/2006/relationships/font" Target="fonts/InterMedium-regular.fntdata"/><Relationship Id="rId43" Type="http://schemas.openxmlformats.org/officeDocument/2006/relationships/font" Target="fonts/MulishMedium-boldItalic.fntdata"/><Relationship Id="rId46" Type="http://schemas.openxmlformats.org/officeDocument/2006/relationships/font" Target="fonts/InterMedium-italic.fntdata"/><Relationship Id="rId45" Type="http://schemas.openxmlformats.org/officeDocument/2006/relationships/font" Target="fonts/Inter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Archivo-regular.fntdata"/><Relationship Id="rId47" Type="http://schemas.openxmlformats.org/officeDocument/2006/relationships/font" Target="fonts/InterMedium-boldItalic.fntdata"/><Relationship Id="rId49" Type="http://schemas.openxmlformats.org/officeDocument/2006/relationships/font" Target="fonts/Archiv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fntdata"/><Relationship Id="rId30" Type="http://schemas.openxmlformats.org/officeDocument/2006/relationships/font" Target="fonts/Inter-regular.fntdata"/><Relationship Id="rId33" Type="http://schemas.openxmlformats.org/officeDocument/2006/relationships/font" Target="fonts/Inter-boldItalic.fntdata"/><Relationship Id="rId32" Type="http://schemas.openxmlformats.org/officeDocument/2006/relationships/font" Target="fonts/Inter-italic.fntdata"/><Relationship Id="rId35" Type="http://schemas.openxmlformats.org/officeDocument/2006/relationships/font" Target="fonts/ArchivoMedium-bold.fntdata"/><Relationship Id="rId34" Type="http://schemas.openxmlformats.org/officeDocument/2006/relationships/font" Target="fonts/ArchivoMedium-regular.fntdata"/><Relationship Id="rId37" Type="http://schemas.openxmlformats.org/officeDocument/2006/relationships/font" Target="fonts/ArchivoMedium-boldItalic.fntdata"/><Relationship Id="rId36" Type="http://schemas.openxmlformats.org/officeDocument/2006/relationships/font" Target="fonts/ArchivoMedium-italic.fntdata"/><Relationship Id="rId39" Type="http://schemas.openxmlformats.org/officeDocument/2006/relationships/font" Target="fonts/InterExtraBold-boldItalic.fntdata"/><Relationship Id="rId38" Type="http://schemas.openxmlformats.org/officeDocument/2006/relationships/font" Target="fonts/InterExtra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InterSemiBold-regular.fntdata"/><Relationship Id="rId25" Type="http://schemas.openxmlformats.org/officeDocument/2006/relationships/slide" Target="slides/slide20.xml"/><Relationship Id="rId28" Type="http://schemas.openxmlformats.org/officeDocument/2006/relationships/font" Target="fonts/InterSemiBold-italic.fntdata"/><Relationship Id="rId27" Type="http://schemas.openxmlformats.org/officeDocument/2006/relationships/font" Target="fonts/InterSemiBold-bold.fntdata"/><Relationship Id="rId29" Type="http://schemas.openxmlformats.org/officeDocument/2006/relationships/font" Target="fonts/InterSemiBold-boldItalic.fntdata"/><Relationship Id="rId51" Type="http://schemas.openxmlformats.org/officeDocument/2006/relationships/font" Target="fonts/Archivo-boldItalic.fntdata"/><Relationship Id="rId50" Type="http://schemas.openxmlformats.org/officeDocument/2006/relationships/font" Target="fonts/Archivo-italic.fntdata"/><Relationship Id="rId53" Type="http://schemas.openxmlformats.org/officeDocument/2006/relationships/font" Target="fonts/ArchivoSemiBold-bold.fntdata"/><Relationship Id="rId52" Type="http://schemas.openxmlformats.org/officeDocument/2006/relationships/font" Target="fonts/ArchivoSemiBold-regular.fntdata"/><Relationship Id="rId11" Type="http://schemas.openxmlformats.org/officeDocument/2006/relationships/slide" Target="slides/slide6.xml"/><Relationship Id="rId55" Type="http://schemas.openxmlformats.org/officeDocument/2006/relationships/font" Target="fonts/ArchivoSemiBold-boldItalic.fntdata"/><Relationship Id="rId10" Type="http://schemas.openxmlformats.org/officeDocument/2006/relationships/slide" Target="slides/slide5.xml"/><Relationship Id="rId54" Type="http://schemas.openxmlformats.org/officeDocument/2006/relationships/font" Target="fonts/ArchivoSemi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26c3cb319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a26c3cb319_0_5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108a1900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108a1900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ab2809e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ab2809e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e7c38d74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e7c38d74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e7c38d74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e7c38d74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e7c38d744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e7c38d744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108a1900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108a1900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7629d09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7629d09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6f472149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6f472149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7629d09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7629d09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6f47214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6f472149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ab2809e2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ab2809e2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ab2809e2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bab2809e2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ab2809e2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ab2809e2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What you’re seeing here isn’t something we’re rolling out all at once. This is the </a:t>
            </a:r>
            <a:r>
              <a:rPr b="1" lang="en" sz="900">
                <a:solidFill>
                  <a:srgbClr val="0E0E0E"/>
                </a:solidFill>
              </a:rPr>
              <a:t>direction we’re building toward over the next ~6 months</a:t>
            </a:r>
            <a:r>
              <a:rPr lang="en" sz="900">
                <a:solidFill>
                  <a:srgbClr val="0E0E0E"/>
                </a:solidFill>
              </a:rPr>
              <a:t>, based on a 4-credit monthly content cadence.</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Before we start executing content, we want to make sure we’re aligned on the </a:t>
            </a:r>
            <a:r>
              <a:rPr i="1" lang="en" sz="900">
                <a:solidFill>
                  <a:srgbClr val="0E0E0E"/>
                </a:solidFill>
              </a:rPr>
              <a:t>shape</a:t>
            </a:r>
            <a:r>
              <a:rPr lang="en" sz="900">
                <a:solidFill>
                  <a:srgbClr val="0E0E0E"/>
                </a:solidFill>
              </a:rPr>
              <a:t> of the site — how services, conditions, and therapies will ultimately be organized — so that every page we build plugs into the same structure.”</a:t>
            </a:r>
            <a:endParaRPr sz="90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74b12e22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c74b12e22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What you’re seeing here isn’t something we’re rolling out all at once. This is the </a:t>
            </a:r>
            <a:r>
              <a:rPr b="1" lang="en" sz="900">
                <a:solidFill>
                  <a:srgbClr val="0E0E0E"/>
                </a:solidFill>
              </a:rPr>
              <a:t>direction we’re building toward over the next ~6 months</a:t>
            </a:r>
            <a:r>
              <a:rPr lang="en" sz="900">
                <a:solidFill>
                  <a:srgbClr val="0E0E0E"/>
                </a:solidFill>
              </a:rPr>
              <a:t>, based on a 4-credit monthly content cadence.</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Before we start executing content, we want to make sure we’re aligned on the </a:t>
            </a:r>
            <a:r>
              <a:rPr i="1" lang="en" sz="900">
                <a:solidFill>
                  <a:srgbClr val="0E0E0E"/>
                </a:solidFill>
              </a:rPr>
              <a:t>shape</a:t>
            </a:r>
            <a:r>
              <a:rPr lang="en" sz="900">
                <a:solidFill>
                  <a:srgbClr val="0E0E0E"/>
                </a:solidFill>
              </a:rPr>
              <a:t> of the site — how services, conditions, and therapies will ultimately be organized — so that every page we build plugs into the same structure.”</a:t>
            </a:r>
            <a:endParaRPr sz="90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7629d091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c7629d091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7629d091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7629d091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7629d091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7629d091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6f472149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b6f472149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108a19007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108a19007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st">
  <p:cSld name="DEFAULT">
    <p:spTree>
      <p:nvGrpSpPr>
        <p:cNvPr id="51" name="Shape 51"/>
        <p:cNvGrpSpPr/>
        <p:nvPr/>
      </p:nvGrpSpPr>
      <p:grpSpPr>
        <a:xfrm>
          <a:off x="0" y="0"/>
          <a:ext cx="0" cy="0"/>
          <a:chOff x="0" y="0"/>
          <a:chExt cx="0" cy="0"/>
        </a:xfrm>
      </p:grpSpPr>
      <p:cxnSp>
        <p:nvCxnSpPr>
          <p:cNvPr id="52" name="Google Shape;52;p14"/>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53" name="Google Shape;53;p14"/>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4"/>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pic>
        <p:nvPicPr>
          <p:cNvPr id="55" name="Google Shape;55;p14"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58" name="Google Shape;58;p15"/>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cxnSp>
        <p:nvCxnSpPr>
          <p:cNvPr id="59" name="Google Shape;59;p15"/>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pic>
        <p:nvPicPr>
          <p:cNvPr id="60" name="Google Shape;60;p15"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
        <p:nvSpPr>
          <p:cNvPr id="61" name="Google Shape;61;p15"/>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showMasterSp="0">
  <p:cSld name="1_Title Slide_1">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5876200" y="-119475"/>
            <a:ext cx="3296700" cy="5322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6"/>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66" name="Google Shape;66;p16"/>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pic>
        <p:nvPicPr>
          <p:cNvPr id="67" name="Google Shape;67;p16"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cxnSp>
        <p:nvCxnSpPr>
          <p:cNvPr id="68" name="Google Shape;68;p16"/>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69" name="Google Shape;69;p16"/>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p:nvPr/>
        </p:nvSpPr>
        <p:spPr>
          <a:xfrm>
            <a:off x="517025" y="2953525"/>
            <a:ext cx="5105400" cy="370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00">
                <a:solidFill>
                  <a:srgbClr val="141413"/>
                </a:solidFill>
                <a:latin typeface="Archivo Medium"/>
                <a:ea typeface="Archivo Medium"/>
                <a:cs typeface="Archivo Medium"/>
                <a:sym typeface="Archivo Medium"/>
              </a:rPr>
              <a:t>Building durable organic </a:t>
            </a:r>
            <a:r>
              <a:rPr lang="en" sz="1200">
                <a:solidFill>
                  <a:srgbClr val="141413"/>
                </a:solidFill>
                <a:latin typeface="Archivo Medium"/>
                <a:ea typeface="Archivo Medium"/>
                <a:cs typeface="Archivo Medium"/>
                <a:sym typeface="Archivo Medium"/>
              </a:rPr>
              <a:t>performance</a:t>
            </a:r>
            <a:r>
              <a:rPr lang="en" sz="1200">
                <a:solidFill>
                  <a:srgbClr val="141413"/>
                </a:solidFill>
                <a:latin typeface="Archivo Medium"/>
                <a:ea typeface="Archivo Medium"/>
                <a:cs typeface="Archivo Medium"/>
                <a:sym typeface="Archivo Medium"/>
              </a:rPr>
              <a:t> with purpose. </a:t>
            </a:r>
            <a:endParaRPr i="0" sz="1200" u="none" cap="none" strike="noStrike">
              <a:solidFill>
                <a:srgbClr val="141413"/>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i="0" lang="en" sz="1200" u="none" cap="none" strike="noStrike">
                <a:solidFill>
                  <a:srgbClr val="141413"/>
                </a:solidFill>
                <a:latin typeface="Archivo Medium"/>
                <a:ea typeface="Archivo Medium"/>
                <a:cs typeface="Archivo Medium"/>
                <a:sym typeface="Archivo Medium"/>
              </a:rPr>
              <a:t>Date:</a:t>
            </a:r>
            <a:r>
              <a:rPr lang="en" sz="1200">
                <a:solidFill>
                  <a:srgbClr val="141413"/>
                </a:solidFill>
                <a:latin typeface="Archivo Medium"/>
                <a:ea typeface="Archivo Medium"/>
                <a:cs typeface="Archivo Medium"/>
                <a:sym typeface="Archivo Medium"/>
              </a:rPr>
              <a:t> Feb 12, 2026</a:t>
            </a:r>
            <a:endParaRPr i="0" sz="1200" u="none" cap="none" strike="noStrike">
              <a:solidFill>
                <a:srgbClr val="141413"/>
              </a:solidFill>
              <a:latin typeface="Archivo Medium"/>
              <a:ea typeface="Archivo Medium"/>
              <a:cs typeface="Archivo Medium"/>
              <a:sym typeface="Archivo Medium"/>
            </a:endParaRPr>
          </a:p>
        </p:txBody>
      </p:sp>
      <p:sp>
        <p:nvSpPr>
          <p:cNvPr id="76" name="Google Shape;76;p17"/>
          <p:cNvSpPr/>
          <p:nvPr/>
        </p:nvSpPr>
        <p:spPr>
          <a:xfrm>
            <a:off x="568263" y="1589500"/>
            <a:ext cx="7410600" cy="1620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50">
                <a:solidFill>
                  <a:srgbClr val="141413"/>
                </a:solidFill>
                <a:latin typeface="Archivo Medium"/>
                <a:ea typeface="Archivo Medium"/>
                <a:cs typeface="Archivo Medium"/>
                <a:sym typeface="Archivo Medium"/>
              </a:rPr>
              <a:t>Content &amp; SEO Mid-</a:t>
            </a:r>
            <a:r>
              <a:rPr lang="en" sz="1250">
                <a:solidFill>
                  <a:srgbClr val="141413"/>
                </a:solidFill>
                <a:latin typeface="Archivo Medium"/>
                <a:ea typeface="Archivo Medium"/>
                <a:cs typeface="Archivo Medium"/>
                <a:sym typeface="Archivo Medium"/>
              </a:rPr>
              <a:t>Strategy Check-in</a:t>
            </a:r>
            <a:r>
              <a:rPr lang="en" sz="1250">
                <a:solidFill>
                  <a:srgbClr val="141413"/>
                </a:solidFill>
                <a:latin typeface="Archivo Medium"/>
                <a:ea typeface="Archivo Medium"/>
                <a:cs typeface="Archivo Medium"/>
                <a:sym typeface="Archivo Medium"/>
              </a:rPr>
              <a:t> </a:t>
            </a:r>
            <a:endParaRPr i="0" sz="1250" u="none" cap="none" strike="noStrike">
              <a:solidFill>
                <a:srgbClr val="141413"/>
              </a:solidFill>
              <a:latin typeface="Archivo Medium"/>
              <a:ea typeface="Archivo Medium"/>
              <a:cs typeface="Archivo Medium"/>
              <a:sym typeface="Archivo Medium"/>
            </a:endParaRPr>
          </a:p>
        </p:txBody>
      </p:sp>
      <p:sp>
        <p:nvSpPr>
          <p:cNvPr id="77" name="Google Shape;77;p17"/>
          <p:cNvSpPr/>
          <p:nvPr/>
        </p:nvSpPr>
        <p:spPr>
          <a:xfrm>
            <a:off x="473101" y="1935975"/>
            <a:ext cx="8225100" cy="83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250"/>
              <a:buFont typeface="Inter"/>
              <a:buNone/>
            </a:pPr>
            <a:r>
              <a:rPr lang="en" sz="4150">
                <a:solidFill>
                  <a:srgbClr val="141413"/>
                </a:solidFill>
                <a:latin typeface="Archivo SemiBold"/>
                <a:ea typeface="Archivo SemiBold"/>
                <a:cs typeface="Archivo SemiBold"/>
                <a:sym typeface="Archivo SemiBold"/>
              </a:rPr>
              <a:t>NRT: Front Range &amp; Steamboat</a:t>
            </a:r>
            <a:endParaRPr i="0" sz="4150" u="none" cap="none" strike="noStrike">
              <a:solidFill>
                <a:srgbClr val="141413"/>
              </a:solidFill>
              <a:latin typeface="Archivo SemiBold"/>
              <a:ea typeface="Archivo SemiBold"/>
              <a:cs typeface="Archivo SemiBold"/>
              <a:sym typeface="Archivo SemiBold"/>
            </a:endParaRPr>
          </a:p>
        </p:txBody>
      </p:sp>
      <p:pic>
        <p:nvPicPr>
          <p:cNvPr id="78" name="Google Shape;78;p17" title="W Full blk txt.png"/>
          <p:cNvPicPr preferRelativeResize="0"/>
          <p:nvPr/>
        </p:nvPicPr>
        <p:blipFill>
          <a:blip r:embed="rId3">
            <a:alphaModFix/>
          </a:blip>
          <a:stretch>
            <a:fillRect/>
          </a:stretch>
        </p:blipFill>
        <p:spPr>
          <a:xfrm>
            <a:off x="568275" y="447625"/>
            <a:ext cx="1026251" cy="24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297020" y="287909"/>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Mid-Strategy Agenda</a:t>
            </a:r>
            <a:endParaRPr/>
          </a:p>
        </p:txBody>
      </p:sp>
      <p:sp>
        <p:nvSpPr>
          <p:cNvPr id="84" name="Google Shape;84;p18"/>
          <p:cNvSpPr txBox="1"/>
          <p:nvPr>
            <p:ph idx="1" type="body"/>
          </p:nvPr>
        </p:nvSpPr>
        <p:spPr>
          <a:xfrm>
            <a:off x="660128" y="1090525"/>
            <a:ext cx="7421100" cy="26562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rgbClr val="FF2F0A"/>
              </a:buClr>
              <a:buSzPts val="1400"/>
              <a:buChar char="●"/>
            </a:pPr>
            <a:r>
              <a:rPr lang="en">
                <a:solidFill>
                  <a:schemeClr val="dk1"/>
                </a:solidFill>
              </a:rPr>
              <a:t>Competitive Benchmarking </a:t>
            </a:r>
            <a:endParaRPr>
              <a:solidFill>
                <a:schemeClr val="dk1"/>
              </a:solidFill>
            </a:endParaRPr>
          </a:p>
          <a:p>
            <a:pPr indent="-317500" lvl="0" marL="457200" rtl="0" algn="l">
              <a:lnSpc>
                <a:spcPct val="200000"/>
              </a:lnSpc>
              <a:spcBef>
                <a:spcPts val="0"/>
              </a:spcBef>
              <a:spcAft>
                <a:spcPts val="0"/>
              </a:spcAft>
              <a:buClr>
                <a:srgbClr val="FF2F0A"/>
              </a:buClr>
              <a:buSzPts val="1400"/>
              <a:buChar char="●"/>
            </a:pPr>
            <a:r>
              <a:rPr lang="en">
                <a:solidFill>
                  <a:schemeClr val="dk1"/>
                </a:solidFill>
              </a:rPr>
              <a:t>Feb Core Focus: Structural Cleanup for Forging New Lives + Foundry Front </a:t>
            </a:r>
            <a:r>
              <a:rPr lang="en">
                <a:solidFill>
                  <a:schemeClr val="dk1"/>
                </a:solidFill>
              </a:rPr>
              <a:t>Range</a:t>
            </a:r>
            <a:r>
              <a:rPr lang="en">
                <a:solidFill>
                  <a:schemeClr val="dk1"/>
                </a:solidFill>
              </a:rPr>
              <a:t> </a:t>
            </a:r>
            <a:endParaRPr>
              <a:solidFill>
                <a:schemeClr val="dk1"/>
              </a:solidFill>
            </a:endParaRPr>
          </a:p>
          <a:p>
            <a:pPr indent="-317500" lvl="0" marL="457200" rtl="0" algn="l">
              <a:lnSpc>
                <a:spcPct val="200000"/>
              </a:lnSpc>
              <a:spcBef>
                <a:spcPts val="0"/>
              </a:spcBef>
              <a:spcAft>
                <a:spcPts val="0"/>
              </a:spcAft>
              <a:buClr>
                <a:srgbClr val="FF2F0A"/>
              </a:buClr>
              <a:buSzPts val="1400"/>
              <a:buChar char="●"/>
            </a:pPr>
            <a:r>
              <a:rPr lang="en">
                <a:solidFill>
                  <a:schemeClr val="dk1"/>
                </a:solidFill>
              </a:rPr>
              <a:t>What’s next  </a:t>
            </a:r>
            <a:endParaRPr>
              <a:solidFill>
                <a:schemeClr val="dk1"/>
              </a:solidFill>
            </a:endParaRPr>
          </a:p>
          <a:p>
            <a:pPr indent="0" lvl="0" marL="0" rtl="0" algn="l">
              <a:lnSpc>
                <a:spcPct val="200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cxnSp>
        <p:nvCxnSpPr>
          <p:cNvPr id="85" name="Google Shape;85;p18"/>
          <p:cNvCxnSpPr/>
          <p:nvPr/>
        </p:nvCxnSpPr>
        <p:spPr>
          <a:xfrm flipH="1">
            <a:off x="572920" y="1112834"/>
            <a:ext cx="14700" cy="1954800"/>
          </a:xfrm>
          <a:prstGeom prst="straightConnector1">
            <a:avLst/>
          </a:prstGeom>
          <a:noFill/>
          <a:ln cap="flat" cmpd="sng" w="19050">
            <a:solidFill>
              <a:srgbClr val="FF2F0A"/>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171950" y="272275"/>
            <a:ext cx="90711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Strategy Month: Next Checkpoint</a:t>
            </a:r>
            <a:endParaRPr/>
          </a:p>
        </p:txBody>
      </p:sp>
      <p:sp>
        <p:nvSpPr>
          <p:cNvPr id="91" name="Google Shape;91;p19"/>
          <p:cNvSpPr txBox="1"/>
          <p:nvPr/>
        </p:nvSpPr>
        <p:spPr>
          <a:xfrm>
            <a:off x="171950" y="912482"/>
            <a:ext cx="8604300" cy="1713900"/>
          </a:xfrm>
          <a:prstGeom prst="rect">
            <a:avLst/>
          </a:prstGeom>
          <a:noFill/>
          <a:ln>
            <a:noFill/>
          </a:ln>
        </p:spPr>
        <p:txBody>
          <a:bodyPr anchorCtr="0" anchor="t" bIns="109075" lIns="109075" spcFirstLastPara="1" rIns="109075" wrap="square" tIns="109075">
            <a:spAutoFit/>
          </a:bodyPr>
          <a:lstStyle/>
          <a:p>
            <a:pPr indent="0" lvl="0" marL="0" rtl="0" algn="l">
              <a:lnSpc>
                <a:spcPct val="100000"/>
              </a:lnSpc>
              <a:spcBef>
                <a:spcPts val="0"/>
              </a:spcBef>
              <a:spcAft>
                <a:spcPts val="0"/>
              </a:spcAft>
              <a:buNone/>
            </a:pPr>
            <a:r>
              <a:rPr b="1" lang="en" sz="954">
                <a:solidFill>
                  <a:schemeClr val="dk1"/>
                </a:solidFill>
                <a:latin typeface="Archivo"/>
                <a:ea typeface="Archivo"/>
                <a:cs typeface="Archivo"/>
                <a:sym typeface="Archivo"/>
              </a:rPr>
              <a:t>Launch Strategy &amp; Roadmap Review - Date TBD (2 weeks from now) </a:t>
            </a:r>
            <a:endParaRPr b="1" sz="954">
              <a:solidFill>
                <a:schemeClr val="dk1"/>
              </a:solidFill>
              <a:latin typeface="Archivo"/>
              <a:ea typeface="Archivo"/>
              <a:cs typeface="Archivo"/>
              <a:sym typeface="Archivo"/>
            </a:endParaRPr>
          </a:p>
          <a:p>
            <a:pPr indent="-333348" lvl="0" marL="545480" rtl="0" algn="l">
              <a:lnSpc>
                <a:spcPct val="100000"/>
              </a:lnSpc>
              <a:spcBef>
                <a:spcPts val="1193"/>
              </a:spcBef>
              <a:spcAft>
                <a:spcPts val="0"/>
              </a:spcAft>
              <a:buClr>
                <a:srgbClr val="FF2F0A"/>
              </a:buClr>
              <a:buSzPts val="954"/>
              <a:buFont typeface="Archivo"/>
              <a:buChar char="●"/>
            </a:pPr>
            <a:r>
              <a:rPr lang="en" sz="954">
                <a:solidFill>
                  <a:schemeClr val="dk1"/>
                </a:solidFill>
                <a:latin typeface="Archivo"/>
                <a:ea typeface="Archivo"/>
                <a:cs typeface="Archivo"/>
                <a:sym typeface="Archivo"/>
              </a:rPr>
              <a:t>Finalizes goals, North Star Metrics, and success benchmarks</a:t>
            </a:r>
            <a:endParaRPr sz="954">
              <a:solidFill>
                <a:schemeClr val="dk1"/>
              </a:solidFill>
              <a:latin typeface="Archivo"/>
              <a:ea typeface="Archivo"/>
              <a:cs typeface="Archivo"/>
              <a:sym typeface="Archivo"/>
            </a:endParaRPr>
          </a:p>
          <a:p>
            <a:pPr indent="-333348" lvl="0" marL="545480" rtl="0" algn="l">
              <a:lnSpc>
                <a:spcPct val="100000"/>
              </a:lnSpc>
              <a:spcBef>
                <a:spcPts val="1193"/>
              </a:spcBef>
              <a:spcAft>
                <a:spcPts val="0"/>
              </a:spcAft>
              <a:buClr>
                <a:srgbClr val="FF2F0A"/>
              </a:buClr>
              <a:buSzPts val="954"/>
              <a:buFont typeface="Archivo"/>
              <a:buChar char="●"/>
            </a:pPr>
            <a:r>
              <a:rPr lang="en" sz="954">
                <a:solidFill>
                  <a:schemeClr val="dk1"/>
                </a:solidFill>
                <a:latin typeface="Archivo"/>
                <a:ea typeface="Archivo"/>
                <a:cs typeface="Archivo"/>
                <a:sym typeface="Archivo"/>
              </a:rPr>
              <a:t>Aligns on the execution plan across content, SEO, and site improvements</a:t>
            </a:r>
            <a:endParaRPr sz="954">
              <a:solidFill>
                <a:schemeClr val="dk1"/>
              </a:solidFill>
              <a:latin typeface="Archivo"/>
              <a:ea typeface="Archivo"/>
              <a:cs typeface="Archivo"/>
              <a:sym typeface="Archivo"/>
            </a:endParaRPr>
          </a:p>
          <a:p>
            <a:pPr indent="-333348" lvl="0" marL="545480" rtl="0" algn="l">
              <a:lnSpc>
                <a:spcPct val="100000"/>
              </a:lnSpc>
              <a:spcBef>
                <a:spcPts val="1193"/>
              </a:spcBef>
              <a:spcAft>
                <a:spcPts val="0"/>
              </a:spcAft>
              <a:buClr>
                <a:srgbClr val="FF2F0A"/>
              </a:buClr>
              <a:buSzPts val="954"/>
              <a:buFont typeface="Archivo"/>
              <a:buChar char="●"/>
            </a:pPr>
            <a:r>
              <a:rPr lang="en" sz="954">
                <a:solidFill>
                  <a:schemeClr val="dk1"/>
                </a:solidFill>
                <a:latin typeface="Archivo"/>
                <a:ea typeface="Archivo"/>
                <a:cs typeface="Archivo"/>
                <a:sym typeface="Archivo"/>
              </a:rPr>
              <a:t>Confirms launch-ready priorities for the next phase</a:t>
            </a:r>
            <a:endParaRPr sz="954">
              <a:solidFill>
                <a:schemeClr val="dk1"/>
              </a:solidFill>
              <a:latin typeface="Archivo"/>
              <a:ea typeface="Archivo"/>
              <a:cs typeface="Archivo"/>
              <a:sym typeface="Archivo"/>
            </a:endParaRPr>
          </a:p>
          <a:p>
            <a:pPr indent="-333348" lvl="0" marL="545480" rtl="0" algn="l">
              <a:lnSpc>
                <a:spcPct val="100000"/>
              </a:lnSpc>
              <a:spcBef>
                <a:spcPts val="1193"/>
              </a:spcBef>
              <a:spcAft>
                <a:spcPts val="1193"/>
              </a:spcAft>
              <a:buClr>
                <a:srgbClr val="FF2F0A"/>
              </a:buClr>
              <a:buSzPts val="954"/>
              <a:buFont typeface="Archivo"/>
              <a:buChar char="●"/>
            </a:pPr>
            <a:r>
              <a:rPr lang="en" sz="954">
                <a:solidFill>
                  <a:schemeClr val="dk1"/>
                </a:solidFill>
                <a:latin typeface="Archivo"/>
                <a:ea typeface="Archivo"/>
                <a:cs typeface="Archivo"/>
                <a:sym typeface="Archivo"/>
              </a:rPr>
              <a:t>Signals the transition from planning → active execution</a:t>
            </a:r>
            <a:br>
              <a:rPr lang="en" sz="954">
                <a:solidFill>
                  <a:schemeClr val="dk1"/>
                </a:solidFill>
                <a:latin typeface="Archivo"/>
                <a:ea typeface="Archivo"/>
                <a:cs typeface="Archivo"/>
                <a:sym typeface="Archivo"/>
              </a:rPr>
            </a:br>
            <a:endParaRPr sz="954">
              <a:solidFill>
                <a:schemeClr val="dk1"/>
              </a:solidFill>
              <a:latin typeface="Archivo"/>
              <a:ea typeface="Archivo"/>
              <a:cs typeface="Archivo"/>
              <a:sym typeface="Archiv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171950" y="272275"/>
            <a:ext cx="90711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Domain Strategy Recommendation</a:t>
            </a:r>
            <a:endParaRPr/>
          </a:p>
        </p:txBody>
      </p:sp>
      <p:sp>
        <p:nvSpPr>
          <p:cNvPr id="97" name="Google Shape;97;p20"/>
          <p:cNvSpPr txBox="1"/>
          <p:nvPr/>
        </p:nvSpPr>
        <p:spPr>
          <a:xfrm>
            <a:off x="171950" y="912482"/>
            <a:ext cx="8604300" cy="667200"/>
          </a:xfrm>
          <a:prstGeom prst="rect">
            <a:avLst/>
          </a:prstGeom>
          <a:noFill/>
          <a:ln>
            <a:noFill/>
          </a:ln>
        </p:spPr>
        <p:txBody>
          <a:bodyPr anchorCtr="0" anchor="t" bIns="109075" lIns="109075" spcFirstLastPara="1" rIns="109075" wrap="square" tIns="109075">
            <a:spAutoFit/>
          </a:bodyPr>
          <a:lstStyle/>
          <a:p>
            <a:pPr indent="0" lvl="0" marL="0" rtl="0" algn="l">
              <a:lnSpc>
                <a:spcPct val="100000"/>
              </a:lnSpc>
              <a:spcBef>
                <a:spcPts val="0"/>
              </a:spcBef>
              <a:spcAft>
                <a:spcPts val="0"/>
              </a:spcAft>
              <a:buNone/>
            </a:pPr>
            <a:r>
              <a:rPr b="1" lang="en" sz="954">
                <a:solidFill>
                  <a:srgbClr val="FF2F0A"/>
                </a:solidFill>
                <a:latin typeface="Archivo"/>
                <a:ea typeface="Archivo"/>
                <a:cs typeface="Archivo"/>
                <a:sym typeface="Archivo"/>
              </a:rPr>
              <a:t>The Question</a:t>
            </a:r>
            <a:endParaRPr b="1" sz="954">
              <a:solidFill>
                <a:srgbClr val="FF2F0A"/>
              </a:solidFill>
              <a:latin typeface="Archivo"/>
              <a:ea typeface="Archivo"/>
              <a:cs typeface="Archivo"/>
              <a:sym typeface="Archivo"/>
            </a:endParaRPr>
          </a:p>
          <a:p>
            <a:pPr indent="0" lvl="0" marL="0" rtl="0" algn="l">
              <a:lnSpc>
                <a:spcPct val="100000"/>
              </a:lnSpc>
              <a:spcBef>
                <a:spcPts val="1193"/>
              </a:spcBef>
              <a:spcAft>
                <a:spcPts val="1193"/>
              </a:spcAft>
              <a:buNone/>
            </a:pPr>
            <a:r>
              <a:rPr lang="en" sz="954">
                <a:solidFill>
                  <a:schemeClr val="dk1"/>
                </a:solidFill>
                <a:latin typeface="Archivo"/>
                <a:ea typeface="Archivo"/>
                <a:cs typeface="Archivo"/>
                <a:sym typeface="Archivo"/>
              </a:rPr>
              <a:t>Should we launch on forgingnewlives.com and switch later — or launch directly on foundrysteamboat.com?</a:t>
            </a:r>
            <a:endParaRPr sz="954">
              <a:solidFill>
                <a:schemeClr val="dk1"/>
              </a:solidFill>
              <a:latin typeface="Archivo"/>
              <a:ea typeface="Archivo"/>
              <a:cs typeface="Archivo"/>
              <a:sym typeface="Archivo"/>
            </a:endParaRPr>
          </a:p>
        </p:txBody>
      </p:sp>
      <p:sp>
        <p:nvSpPr>
          <p:cNvPr id="98" name="Google Shape;98;p20"/>
          <p:cNvSpPr txBox="1"/>
          <p:nvPr/>
        </p:nvSpPr>
        <p:spPr>
          <a:xfrm>
            <a:off x="406950" y="1694475"/>
            <a:ext cx="3328800" cy="248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000">
                <a:solidFill>
                  <a:schemeClr val="dk1"/>
                </a:solidFill>
                <a:latin typeface="Archivo"/>
                <a:ea typeface="Archivo"/>
                <a:cs typeface="Archivo"/>
                <a:sym typeface="Archivo"/>
              </a:rPr>
              <a:t>Option 1: Launch Now, Migrate Later</a:t>
            </a:r>
            <a:endParaRPr b="1" sz="1000">
              <a:solidFill>
                <a:schemeClr val="dk1"/>
              </a:solidFill>
              <a:latin typeface="Archivo"/>
              <a:ea typeface="Archivo"/>
              <a:cs typeface="Archivo"/>
              <a:sym typeface="Archivo"/>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Archivo"/>
                <a:ea typeface="Archivo"/>
                <a:cs typeface="Archivo"/>
                <a:sym typeface="Archivo"/>
              </a:rPr>
              <a:t>Higher Complexity + Slower Momentum</a:t>
            </a:r>
            <a:endParaRPr sz="1000">
              <a:solidFill>
                <a:schemeClr val="dk1"/>
              </a:solidFill>
              <a:latin typeface="Archivo"/>
              <a:ea typeface="Archivo"/>
              <a:cs typeface="Archivo"/>
              <a:sym typeface="Archivo"/>
            </a:endParaRPr>
          </a:p>
          <a:p>
            <a:pPr indent="-292100" lvl="0" marL="457200" rtl="0" algn="l">
              <a:lnSpc>
                <a:spcPct val="115000"/>
              </a:lnSpc>
              <a:spcBef>
                <a:spcPts val="12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Two full Google reprocessing cycles</a:t>
            </a:r>
            <a:endParaRPr sz="1000">
              <a:solidFill>
                <a:schemeClr val="dk1"/>
              </a:solidFill>
              <a:latin typeface="Archivo"/>
              <a:ea typeface="Archivo"/>
              <a:cs typeface="Archivo"/>
              <a:sym typeface="Archivo"/>
            </a:endParaRPr>
          </a:p>
          <a:p>
            <a:pPr indent="-292100" lvl="0" marL="457200" rtl="0" algn="l">
              <a:lnSpc>
                <a:spcPct val="115000"/>
              </a:lnSpc>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Two indexing periods</a:t>
            </a:r>
            <a:endParaRPr sz="1000">
              <a:solidFill>
                <a:schemeClr val="dk1"/>
              </a:solidFill>
              <a:latin typeface="Archivo"/>
              <a:ea typeface="Archivo"/>
              <a:cs typeface="Archivo"/>
              <a:sym typeface="Archivo"/>
            </a:endParaRPr>
          </a:p>
          <a:p>
            <a:pPr indent="-292100" lvl="0" marL="457200" rtl="0" algn="l">
              <a:lnSpc>
                <a:spcPct val="115000"/>
              </a:lnSpc>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Additional redirect management</a:t>
            </a:r>
            <a:endParaRPr sz="1000">
              <a:solidFill>
                <a:schemeClr val="dk1"/>
              </a:solidFill>
              <a:latin typeface="Archivo"/>
              <a:ea typeface="Archivo"/>
              <a:cs typeface="Archivo"/>
              <a:sym typeface="Archivo"/>
            </a:endParaRPr>
          </a:p>
          <a:p>
            <a:pPr indent="-292100" lvl="0" marL="457200" rtl="0" algn="l">
              <a:lnSpc>
                <a:spcPct val="115000"/>
              </a:lnSpc>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Temporary visibility volatility</a:t>
            </a:r>
            <a:endParaRPr sz="1000">
              <a:solidFill>
                <a:schemeClr val="dk1"/>
              </a:solidFill>
              <a:latin typeface="Archivo"/>
              <a:ea typeface="Archivo"/>
              <a:cs typeface="Archivo"/>
              <a:sym typeface="Archivo"/>
            </a:endParaRPr>
          </a:p>
          <a:p>
            <a:pPr indent="-292100" lvl="0" marL="457200" rtl="0" algn="l">
              <a:lnSpc>
                <a:spcPct val="115000"/>
              </a:lnSpc>
              <a:spcBef>
                <a:spcPts val="12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More development + SEO overhead</a:t>
            </a:r>
            <a:br>
              <a:rPr lang="en" sz="1000">
                <a:solidFill>
                  <a:schemeClr val="dk1"/>
                </a:solidFill>
                <a:latin typeface="Archivo"/>
                <a:ea typeface="Archivo"/>
                <a:cs typeface="Archivo"/>
                <a:sym typeface="Archivo"/>
              </a:rPr>
            </a:br>
            <a:endParaRPr sz="1000">
              <a:solidFill>
                <a:schemeClr val="dk1"/>
              </a:solidFill>
              <a:latin typeface="Archivo"/>
              <a:ea typeface="Archivo"/>
              <a:cs typeface="Archivo"/>
              <a:sym typeface="Archivo"/>
            </a:endParaRPr>
          </a:p>
          <a:p>
            <a:pPr indent="0" lvl="0" marL="0" rtl="0" algn="l">
              <a:spcBef>
                <a:spcPts val="1000"/>
              </a:spcBef>
              <a:spcAft>
                <a:spcPts val="0"/>
              </a:spcAft>
              <a:buNone/>
            </a:pPr>
            <a:r>
              <a:t/>
            </a:r>
            <a:endParaRPr sz="1000">
              <a:latin typeface="Archivo"/>
              <a:ea typeface="Archivo"/>
              <a:cs typeface="Archivo"/>
              <a:sym typeface="Archivo"/>
            </a:endParaRPr>
          </a:p>
        </p:txBody>
      </p:sp>
      <p:sp>
        <p:nvSpPr>
          <p:cNvPr id="99" name="Google Shape;99;p20"/>
          <p:cNvSpPr txBox="1"/>
          <p:nvPr/>
        </p:nvSpPr>
        <p:spPr>
          <a:xfrm>
            <a:off x="4215175" y="1694475"/>
            <a:ext cx="4127400" cy="24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Archivo"/>
                <a:ea typeface="Archivo"/>
                <a:cs typeface="Archivo"/>
                <a:sym typeface="Archivo"/>
              </a:rPr>
              <a:t>Option 2: Launch on foundrysteamboat.com from Day One</a:t>
            </a:r>
            <a:endParaRPr b="1" sz="1000">
              <a:solidFill>
                <a:schemeClr val="dk1"/>
              </a:solidFill>
              <a:latin typeface="Archivo"/>
              <a:ea typeface="Archivo"/>
              <a:cs typeface="Archivo"/>
              <a:sym typeface="Archivo"/>
            </a:endParaRPr>
          </a:p>
          <a:p>
            <a:pPr indent="0" lvl="0" marL="0" rtl="0" algn="l">
              <a:spcBef>
                <a:spcPts val="0"/>
              </a:spcBef>
              <a:spcAft>
                <a:spcPts val="0"/>
              </a:spcAft>
              <a:buNone/>
            </a:pPr>
            <a:r>
              <a:t/>
            </a:r>
            <a:endParaRPr b="1"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Cleaner + Stronger Long-Term Strategy</a:t>
            </a:r>
            <a:endParaRPr sz="1000">
              <a:solidFill>
                <a:schemeClr val="dk1"/>
              </a:solidFill>
              <a:latin typeface="Archivo"/>
              <a:ea typeface="Archivo"/>
              <a:cs typeface="Archivo"/>
              <a:sym typeface="Archivo"/>
            </a:endParaRPr>
          </a:p>
          <a:p>
            <a:pPr indent="-292100" lvl="0" marL="457200" rtl="0" algn="l">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Aligns brand and domain immediately</a:t>
            </a:r>
            <a:endParaRPr sz="1000">
              <a:solidFill>
                <a:schemeClr val="dk1"/>
              </a:solidFill>
              <a:latin typeface="Archivo"/>
              <a:ea typeface="Archivo"/>
              <a:cs typeface="Archivo"/>
              <a:sym typeface="Archivo"/>
            </a:endParaRPr>
          </a:p>
          <a:p>
            <a:pPr indent="-292100" lvl="0" marL="457200" rtl="0" algn="l">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No future migration required</a:t>
            </a:r>
            <a:endParaRPr sz="1000">
              <a:solidFill>
                <a:schemeClr val="dk1"/>
              </a:solidFill>
              <a:latin typeface="Archivo"/>
              <a:ea typeface="Archivo"/>
              <a:cs typeface="Archivo"/>
              <a:sym typeface="Archivo"/>
            </a:endParaRPr>
          </a:p>
          <a:p>
            <a:pPr indent="-292100" lvl="0" marL="457200" rtl="0" algn="l">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Clearer trust + recognition signals</a:t>
            </a:r>
            <a:endParaRPr sz="1000">
              <a:solidFill>
                <a:schemeClr val="dk1"/>
              </a:solidFill>
              <a:latin typeface="Archivo"/>
              <a:ea typeface="Archivo"/>
              <a:cs typeface="Archivo"/>
              <a:sym typeface="Archivo"/>
            </a:endParaRPr>
          </a:p>
          <a:p>
            <a:pPr indent="-292100" lvl="0" marL="457200" rtl="0" algn="l">
              <a:spcBef>
                <a:spcPts val="1000"/>
              </a:spcBef>
              <a:spcAft>
                <a:spcPts val="0"/>
              </a:spcAft>
              <a:buClr>
                <a:srgbClr val="FF2F0A"/>
              </a:buClr>
              <a:buSzPts val="1000"/>
              <a:buFont typeface="Archivo"/>
              <a:buChar char="●"/>
            </a:pPr>
            <a:r>
              <a:rPr lang="en" sz="1000">
                <a:solidFill>
                  <a:schemeClr val="dk1"/>
                </a:solidFill>
                <a:latin typeface="Archivo"/>
                <a:ea typeface="Archivo"/>
                <a:cs typeface="Archivo"/>
                <a:sym typeface="Archivo"/>
              </a:rPr>
              <a:t>Builds authority in the right place from the start</a:t>
            </a:r>
            <a:endParaRPr sz="1000">
              <a:solidFill>
                <a:schemeClr val="dk1"/>
              </a:solidFill>
              <a:latin typeface="Archivo"/>
              <a:ea typeface="Archivo"/>
              <a:cs typeface="Archivo"/>
              <a:sym typeface="Archivo"/>
            </a:endParaRPr>
          </a:p>
          <a:p>
            <a:pPr indent="0" lvl="0" marL="0" rtl="0" algn="l">
              <a:spcBef>
                <a:spcPts val="1000"/>
              </a:spcBef>
              <a:spcAft>
                <a:spcPts val="0"/>
              </a:spcAft>
              <a:buNone/>
            </a:pPr>
            <a:r>
              <a:t/>
            </a:r>
            <a:endParaRPr b="1" sz="1000">
              <a:solidFill>
                <a:schemeClr val="dk1"/>
              </a:solidFill>
              <a:latin typeface="Archivo"/>
              <a:ea typeface="Archivo"/>
              <a:cs typeface="Archivo"/>
              <a:sym typeface="Archivo"/>
            </a:endParaRPr>
          </a:p>
          <a:p>
            <a:pPr indent="0" lvl="0" marL="0" rtl="0" algn="l">
              <a:spcBef>
                <a:spcPts val="0"/>
              </a:spcBef>
              <a:spcAft>
                <a:spcPts val="0"/>
              </a:spcAft>
              <a:buNone/>
            </a:pPr>
            <a:r>
              <a:rPr b="1" lang="en" sz="1000">
                <a:solidFill>
                  <a:schemeClr val="dk1"/>
                </a:solidFill>
                <a:latin typeface="Archivo"/>
                <a:ea typeface="Archivo"/>
                <a:cs typeface="Archivo"/>
                <a:sym typeface="Archivo"/>
              </a:rPr>
              <a:t>Result: Stronger foundation and faster compounding authority.</a:t>
            </a:r>
            <a:endParaRPr b="1" sz="1000">
              <a:solidFill>
                <a:schemeClr val="dk1"/>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171950" y="272275"/>
            <a:ext cx="78402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to forgingnewlives.com?</a:t>
            </a:r>
            <a:endParaRPr/>
          </a:p>
        </p:txBody>
      </p:sp>
      <p:sp>
        <p:nvSpPr>
          <p:cNvPr id="105" name="Google Shape;105;p21"/>
          <p:cNvSpPr txBox="1"/>
          <p:nvPr>
            <p:ph idx="1" type="body"/>
          </p:nvPr>
        </p:nvSpPr>
        <p:spPr>
          <a:xfrm>
            <a:off x="535050" y="1074900"/>
            <a:ext cx="7563900" cy="26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We Will Implement a Full 301 Redirect Strategy</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Because the URLs appear to have a 1:1 relationship already structured in WordPress, this will be a clean redirect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Execution Plan:</a:t>
            </a:r>
            <a:endParaRPr/>
          </a:p>
          <a:p>
            <a:pPr indent="-317500" lvl="0" marL="457200" rtl="0" algn="l">
              <a:spcBef>
                <a:spcPts val="1000"/>
              </a:spcBef>
              <a:spcAft>
                <a:spcPts val="0"/>
              </a:spcAft>
              <a:buSzPts val="1400"/>
              <a:buChar char="●"/>
            </a:pPr>
            <a:r>
              <a:rPr lang="en"/>
              <a:t>301 redirect every page from forgingnewlives.com → foundrysteamboat.com</a:t>
            </a:r>
            <a:endParaRPr/>
          </a:p>
          <a:p>
            <a:pPr indent="-317500" lvl="0" marL="457200" rtl="0" algn="l">
              <a:spcBef>
                <a:spcPts val="1000"/>
              </a:spcBef>
              <a:spcAft>
                <a:spcPts val="0"/>
              </a:spcAft>
              <a:buSzPts val="1400"/>
              <a:buChar char="●"/>
            </a:pPr>
            <a:r>
              <a:rPr lang="en"/>
              <a:t>Maintain identical URL paths wherever possible</a:t>
            </a:r>
            <a:endParaRPr/>
          </a:p>
          <a:p>
            <a:pPr indent="-317500" lvl="0" marL="457200" rtl="0" algn="l">
              <a:spcBef>
                <a:spcPts val="1000"/>
              </a:spcBef>
              <a:spcAft>
                <a:spcPts val="0"/>
              </a:spcAft>
              <a:buSzPts val="1400"/>
              <a:buChar char="●"/>
            </a:pPr>
            <a:r>
              <a:rPr lang="en"/>
              <a:t>Preserve any authority or signals tied to the old domain</a:t>
            </a:r>
            <a:endParaRPr/>
          </a:p>
          <a:p>
            <a:pPr indent="-317500" lvl="0" marL="457200" rtl="0" algn="l">
              <a:spcBef>
                <a:spcPts val="1000"/>
              </a:spcBef>
              <a:spcAft>
                <a:spcPts val="0"/>
              </a:spcAft>
              <a:buSzPts val="1400"/>
              <a:buChar char="●"/>
            </a:pPr>
            <a:r>
              <a:rPr lang="en"/>
              <a:t>Submit updated sitemap in Google Search Console</a:t>
            </a:r>
            <a:endParaRPr/>
          </a:p>
          <a:p>
            <a:pPr indent="-317500" lvl="0" marL="457200" rtl="0" algn="l">
              <a:spcBef>
                <a:spcPts val="1000"/>
              </a:spcBef>
              <a:spcAft>
                <a:spcPts val="1000"/>
              </a:spcAft>
              <a:buSzPts val="1400"/>
              <a:buChar char="●"/>
            </a:pPr>
            <a:r>
              <a:rPr lang="en"/>
              <a:t>Monitor indexing + traffic during transition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171950" y="272275"/>
            <a:ext cx="78402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This Is Low Risk</a:t>
            </a:r>
            <a:endParaRPr/>
          </a:p>
        </p:txBody>
      </p:sp>
      <p:sp>
        <p:nvSpPr>
          <p:cNvPr id="111" name="Google Shape;111;p22"/>
          <p:cNvSpPr txBox="1"/>
          <p:nvPr>
            <p:ph idx="1" type="body"/>
          </p:nvPr>
        </p:nvSpPr>
        <p:spPr>
          <a:xfrm>
            <a:off x="535050" y="1074900"/>
            <a:ext cx="7563900" cy="2656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Site is effectively launching from zero</a:t>
            </a:r>
            <a:endParaRPr/>
          </a:p>
          <a:p>
            <a:pPr indent="-317500" lvl="0" marL="457200" rtl="0" algn="l">
              <a:spcBef>
                <a:spcPts val="1000"/>
              </a:spcBef>
              <a:spcAft>
                <a:spcPts val="0"/>
              </a:spcAft>
              <a:buSzPts val="1400"/>
              <a:buChar char="●"/>
            </a:pPr>
            <a:r>
              <a:rPr lang="en"/>
              <a:t>Minimal authority to protect</a:t>
            </a:r>
            <a:endParaRPr/>
          </a:p>
          <a:p>
            <a:pPr indent="-317500" lvl="0" marL="457200" rtl="0" algn="l">
              <a:spcBef>
                <a:spcPts val="1000"/>
              </a:spcBef>
              <a:spcAft>
                <a:spcPts val="0"/>
              </a:spcAft>
              <a:buSzPts val="1400"/>
              <a:buChar char="●"/>
            </a:pPr>
            <a:r>
              <a:rPr lang="en"/>
              <a:t>No meaningful rankings at risk</a:t>
            </a:r>
            <a:endParaRPr/>
          </a:p>
          <a:p>
            <a:pPr indent="-317500" lvl="0" marL="457200" rtl="0" algn="l">
              <a:spcBef>
                <a:spcPts val="1000"/>
              </a:spcBef>
              <a:spcAft>
                <a:spcPts val="0"/>
              </a:spcAft>
              <a:buSzPts val="1400"/>
              <a:buChar char="●"/>
            </a:pPr>
            <a:r>
              <a:rPr lang="en"/>
              <a:t>Cleaner to migrate now vs. after growth begins</a:t>
            </a:r>
            <a:endParaRPr/>
          </a:p>
          <a:p>
            <a:pPr indent="0" lvl="0" marL="0" rtl="0" algn="l">
              <a:spcBef>
                <a:spcPts val="1000"/>
              </a:spcBef>
              <a:spcAft>
                <a:spcPts val="0"/>
              </a:spcAft>
              <a:buNone/>
            </a:pPr>
            <a:r>
              <a:t/>
            </a:r>
            <a:endParaRPr b="1"/>
          </a:p>
          <a:p>
            <a:pPr indent="0" lvl="0" marL="0" rtl="0" algn="l">
              <a:spcBef>
                <a:spcPts val="1000"/>
              </a:spcBef>
              <a:spcAft>
                <a:spcPts val="0"/>
              </a:spcAft>
              <a:buNone/>
            </a:pPr>
            <a:r>
              <a:rPr b="1" lang="en"/>
              <a:t>Switching later creates unnecessary disruption.</a:t>
            </a:r>
            <a:endParaRPr b="1"/>
          </a:p>
          <a:p>
            <a:pPr indent="0" lvl="0" marL="0" rtl="0" algn="l">
              <a:spcBef>
                <a:spcPts val="1000"/>
              </a:spcBef>
              <a:spcAft>
                <a:spcPts val="0"/>
              </a:spcAft>
              <a:buNone/>
            </a:pPr>
            <a:r>
              <a:rPr b="1" lang="en"/>
              <a:t>Switching now creates clarity and compounding growth.</a:t>
            </a:r>
            <a:endParaRPr b="1"/>
          </a:p>
          <a:p>
            <a:pPr indent="0" lvl="0" marL="0" rtl="0" algn="l">
              <a:spcBef>
                <a:spcPts val="1000"/>
              </a:spcBef>
              <a:spcAft>
                <a:spcPts val="1000"/>
              </a:spcAft>
              <a:buNone/>
            </a:pPr>
            <a:r>
              <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title="Chart"/>
          <p:cNvPicPr preferRelativeResize="0"/>
          <p:nvPr/>
        </p:nvPicPr>
        <p:blipFill>
          <a:blip r:embed="rId3">
            <a:alphaModFix/>
          </a:blip>
          <a:stretch>
            <a:fillRect/>
          </a:stretch>
        </p:blipFill>
        <p:spPr>
          <a:xfrm>
            <a:off x="3649725" y="1435475"/>
            <a:ext cx="5111174" cy="2931725"/>
          </a:xfrm>
          <a:prstGeom prst="rect">
            <a:avLst/>
          </a:prstGeom>
          <a:noFill/>
          <a:ln>
            <a:noFill/>
          </a:ln>
        </p:spPr>
      </p:pic>
      <p:sp>
        <p:nvSpPr>
          <p:cNvPr id="117" name="Google Shape;117;p23"/>
          <p:cNvSpPr/>
          <p:nvPr/>
        </p:nvSpPr>
        <p:spPr>
          <a:xfrm>
            <a:off x="-30775" y="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18" name="Google Shape;118;p23"/>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19" name="Google Shape;119;p23"/>
          <p:cNvSpPr txBox="1"/>
          <p:nvPr/>
        </p:nvSpPr>
        <p:spPr>
          <a:xfrm>
            <a:off x="584674" y="278550"/>
            <a:ext cx="651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FORGING NEW LIVES: </a:t>
            </a:r>
            <a:r>
              <a:rPr lang="en">
                <a:solidFill>
                  <a:srgbClr val="FF2F0A"/>
                </a:solidFill>
                <a:latin typeface="Inter ExtraBold"/>
                <a:ea typeface="Inter ExtraBold"/>
                <a:cs typeface="Inter ExtraBold"/>
                <a:sym typeface="Inter ExtraBold"/>
              </a:rPr>
              <a:t>COMPETITIVE ANALYSIS BASELINE</a:t>
            </a:r>
            <a:endParaRPr b="1">
              <a:solidFill>
                <a:srgbClr val="262626"/>
              </a:solidFill>
              <a:latin typeface="Inter"/>
              <a:ea typeface="Inter"/>
              <a:cs typeface="Inter"/>
              <a:sym typeface="Inter"/>
            </a:endParaRPr>
          </a:p>
        </p:txBody>
      </p:sp>
      <p:sp>
        <p:nvSpPr>
          <p:cNvPr id="120" name="Google Shape;120;p23"/>
          <p:cNvSpPr txBox="1"/>
          <p:nvPr/>
        </p:nvSpPr>
        <p:spPr>
          <a:xfrm>
            <a:off x="271400" y="1368700"/>
            <a:ext cx="3233100" cy="36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Inter"/>
                <a:ea typeface="Inter"/>
                <a:cs typeface="Inter"/>
                <a:sym typeface="Inter"/>
              </a:rPr>
              <a:t>You have a solid DR foundation, but it’s still the lowest in the set and has fewer indexed pages. </a:t>
            </a:r>
            <a:endParaRPr b="1"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That means your site is credible, but they’re underrepresented in search—it simply doesn’t have enough optimized, intent-aligned pages to compete across the full set of queries.</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rgbClr val="FF2F0A"/>
                </a:solidFill>
                <a:latin typeface="Inter"/>
                <a:ea typeface="Inter"/>
                <a:cs typeface="Inter"/>
                <a:sym typeface="Inter"/>
              </a:rPr>
              <a:t>Our Opportunity: </a:t>
            </a:r>
            <a:endParaRPr b="1" sz="1100">
              <a:solidFill>
                <a:srgbClr val="FF2F0A"/>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Inter"/>
                <a:ea typeface="Inter"/>
                <a:cs typeface="Inter"/>
                <a:sym typeface="Inter"/>
              </a:rPr>
              <a:t>Grow efficiently by expanding the </a:t>
            </a:r>
            <a:r>
              <a:rPr b="1" i="1" lang="en" sz="1100">
                <a:solidFill>
                  <a:schemeClr val="dk1"/>
                </a:solidFill>
                <a:latin typeface="Inter"/>
                <a:ea typeface="Inter"/>
                <a:cs typeface="Inter"/>
                <a:sym typeface="Inter"/>
              </a:rPr>
              <a:t>right</a:t>
            </a:r>
            <a:r>
              <a:rPr b="1" lang="en" sz="1100">
                <a:solidFill>
                  <a:schemeClr val="dk1"/>
                </a:solidFill>
                <a:latin typeface="Inter"/>
                <a:ea typeface="Inter"/>
                <a:cs typeface="Inter"/>
                <a:sym typeface="Inter"/>
              </a:rPr>
              <a:t> pages and content</a:t>
            </a:r>
            <a:r>
              <a:rPr lang="en" sz="1100">
                <a:solidFill>
                  <a:schemeClr val="dk1"/>
                </a:solidFill>
                <a:latin typeface="Inter"/>
                <a:ea typeface="Inter"/>
                <a:cs typeface="Inter"/>
                <a:sym typeface="Inter"/>
              </a:rPr>
              <a:t> (Programs / Treatment / What We Treat / Admissions), strengthening internal linking, and building targeted authority—so new pages rank faster and DR gap closes.</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Clr>
                <a:srgbClr val="000000"/>
              </a:buClr>
              <a:buSzPts val="1100"/>
              <a:buFont typeface="Arial"/>
              <a:buNone/>
            </a:pPr>
            <a:r>
              <a:t/>
            </a:r>
            <a:endParaRPr sz="1100">
              <a:solidFill>
                <a:schemeClr val="dk1"/>
              </a:solidFill>
              <a:latin typeface="Inter"/>
              <a:ea typeface="Inter"/>
              <a:cs typeface="Inter"/>
              <a:sym typeface="Inter"/>
            </a:endParaRPr>
          </a:p>
        </p:txBody>
      </p:sp>
      <p:sp>
        <p:nvSpPr>
          <p:cNvPr id="121" name="Google Shape;121;p23"/>
          <p:cNvSpPr/>
          <p:nvPr/>
        </p:nvSpPr>
        <p:spPr>
          <a:xfrm>
            <a:off x="4288150" y="1945975"/>
            <a:ext cx="347700" cy="1708200"/>
          </a:xfrm>
          <a:prstGeom prst="rect">
            <a:avLst/>
          </a:prstGeom>
          <a:noFill/>
          <a:ln cap="flat" cmpd="sng" w="9525">
            <a:solidFill>
              <a:srgbClr val="FF2F0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4" title="Chart"/>
          <p:cNvPicPr preferRelativeResize="0"/>
          <p:nvPr/>
        </p:nvPicPr>
        <p:blipFill>
          <a:blip r:embed="rId3">
            <a:alphaModFix/>
          </a:blip>
          <a:stretch>
            <a:fillRect/>
          </a:stretch>
        </p:blipFill>
        <p:spPr>
          <a:xfrm>
            <a:off x="3922350" y="1529450"/>
            <a:ext cx="4927250" cy="2826226"/>
          </a:xfrm>
          <a:prstGeom prst="rect">
            <a:avLst/>
          </a:prstGeom>
          <a:noFill/>
          <a:ln>
            <a:noFill/>
          </a:ln>
        </p:spPr>
      </p:pic>
      <p:sp>
        <p:nvSpPr>
          <p:cNvPr id="127" name="Google Shape;127;p24"/>
          <p:cNvSpPr/>
          <p:nvPr/>
        </p:nvSpPr>
        <p:spPr>
          <a:xfrm>
            <a:off x="-30775" y="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28" name="Google Shape;128;p24"/>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29" name="Google Shape;129;p24"/>
          <p:cNvSpPr txBox="1"/>
          <p:nvPr/>
        </p:nvSpPr>
        <p:spPr>
          <a:xfrm>
            <a:off x="584674" y="278550"/>
            <a:ext cx="651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FOUNDRY FRONT RANGE</a:t>
            </a:r>
            <a:r>
              <a:rPr lang="en">
                <a:solidFill>
                  <a:srgbClr val="FF2F0A"/>
                </a:solidFill>
                <a:latin typeface="Inter ExtraBold"/>
                <a:ea typeface="Inter ExtraBold"/>
                <a:cs typeface="Inter ExtraBold"/>
                <a:sym typeface="Inter ExtraBold"/>
              </a:rPr>
              <a:t>: COMPETITIVE ANALYSIS BASELINE</a:t>
            </a:r>
            <a:endParaRPr b="1">
              <a:solidFill>
                <a:srgbClr val="262626"/>
              </a:solidFill>
              <a:latin typeface="Inter"/>
              <a:ea typeface="Inter"/>
              <a:cs typeface="Inter"/>
              <a:sym typeface="Inter"/>
            </a:endParaRPr>
          </a:p>
        </p:txBody>
      </p:sp>
      <p:sp>
        <p:nvSpPr>
          <p:cNvPr id="130" name="Google Shape;130;p24"/>
          <p:cNvSpPr txBox="1"/>
          <p:nvPr/>
        </p:nvSpPr>
        <p:spPr>
          <a:xfrm>
            <a:off x="271400" y="1368700"/>
            <a:ext cx="3233100" cy="221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lang="en" sz="1100">
                <a:solidFill>
                  <a:schemeClr val="dk1"/>
                </a:solidFill>
                <a:latin typeface="Inter"/>
                <a:ea typeface="Inter"/>
                <a:cs typeface="Inter"/>
                <a:sym typeface="Inter"/>
              </a:rPr>
              <a:t>You’re</a:t>
            </a:r>
            <a:r>
              <a:rPr b="1" lang="en" sz="1100">
                <a:solidFill>
                  <a:schemeClr val="dk1"/>
                </a:solidFill>
                <a:latin typeface="Inter"/>
                <a:ea typeface="Inter"/>
                <a:cs typeface="Inter"/>
                <a:sym typeface="Inter"/>
              </a:rPr>
              <a:t> currently lowest in DR and have one of the smallest indexed page footprints in this set.</a:t>
            </a:r>
            <a:r>
              <a:rPr lang="en" sz="1100">
                <a:solidFill>
                  <a:schemeClr val="dk1"/>
                </a:solidFill>
                <a:latin typeface="Inter"/>
                <a:ea typeface="Inter"/>
                <a:cs typeface="Inter"/>
                <a:sym typeface="Inter"/>
              </a:rPr>
              <a:t> That means you’re credible—but underrepresented in search.</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rgbClr val="000000"/>
              </a:buClr>
              <a:buSzPts val="1100"/>
              <a:buFont typeface="Arial"/>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Clr>
                <a:srgbClr val="000000"/>
              </a:buClr>
              <a:buSzPts val="1100"/>
              <a:buFont typeface="Arial"/>
              <a:buNone/>
            </a:pPr>
            <a:r>
              <a:rPr b="1" lang="en" sz="1100">
                <a:solidFill>
                  <a:srgbClr val="FF2F0A"/>
                </a:solidFill>
                <a:latin typeface="Inter"/>
                <a:ea typeface="Inter"/>
                <a:cs typeface="Inter"/>
                <a:sym typeface="Inter"/>
              </a:rPr>
              <a:t>Opportunity</a:t>
            </a:r>
            <a:r>
              <a:rPr b="1" lang="en" sz="1100">
                <a:solidFill>
                  <a:schemeClr val="dk1"/>
                </a:solidFill>
                <a:latin typeface="Inter"/>
                <a:ea typeface="Inter"/>
                <a:cs typeface="Inter"/>
                <a:sym typeface="Inter"/>
              </a:rPr>
              <a:t>: </a:t>
            </a:r>
            <a:r>
              <a:rPr lang="en" sz="1100">
                <a:solidFill>
                  <a:schemeClr val="dk1"/>
                </a:solidFill>
                <a:latin typeface="Inter"/>
                <a:ea typeface="Inter"/>
                <a:cs typeface="Inter"/>
                <a:sym typeface="Inter"/>
              </a:rPr>
              <a:t>Expand intent-led, indexable pages, and strengthen internal linking, and add targeted authority building so new pages rank faster and the DR gap closes.</a:t>
            </a:r>
            <a:endParaRPr sz="1100">
              <a:solidFill>
                <a:schemeClr val="dk1"/>
              </a:solidFill>
              <a:latin typeface="Inter"/>
              <a:ea typeface="Inter"/>
              <a:cs typeface="Inter"/>
              <a:sym typeface="Inter"/>
            </a:endParaRPr>
          </a:p>
        </p:txBody>
      </p:sp>
      <p:sp>
        <p:nvSpPr>
          <p:cNvPr id="131" name="Google Shape;131;p24"/>
          <p:cNvSpPr/>
          <p:nvPr/>
        </p:nvSpPr>
        <p:spPr>
          <a:xfrm>
            <a:off x="4487300" y="1954650"/>
            <a:ext cx="347700" cy="1708200"/>
          </a:xfrm>
          <a:prstGeom prst="rect">
            <a:avLst/>
          </a:prstGeom>
          <a:noFill/>
          <a:ln cap="flat" cmpd="sng" w="9525">
            <a:solidFill>
              <a:srgbClr val="FF2F0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title="Chart"/>
          <p:cNvPicPr preferRelativeResize="0"/>
          <p:nvPr/>
        </p:nvPicPr>
        <p:blipFill>
          <a:blip r:embed="rId3">
            <a:alphaModFix/>
          </a:blip>
          <a:stretch>
            <a:fillRect/>
          </a:stretch>
        </p:blipFill>
        <p:spPr>
          <a:xfrm>
            <a:off x="3715475" y="1475602"/>
            <a:ext cx="5255374" cy="3014424"/>
          </a:xfrm>
          <a:prstGeom prst="rect">
            <a:avLst/>
          </a:prstGeom>
          <a:noFill/>
          <a:ln>
            <a:noFill/>
          </a:ln>
        </p:spPr>
      </p:pic>
      <p:sp>
        <p:nvSpPr>
          <p:cNvPr id="137" name="Google Shape;137;p25"/>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38" name="Google Shape;138;p25"/>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39" name="Google Shape;139;p25"/>
          <p:cNvSpPr txBox="1"/>
          <p:nvPr/>
        </p:nvSpPr>
        <p:spPr>
          <a:xfrm>
            <a:off x="300575" y="1517375"/>
            <a:ext cx="33150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Inter"/>
                <a:ea typeface="Inter"/>
                <a:cs typeface="Inter"/>
                <a:sym typeface="Inter"/>
              </a:rPr>
              <a:t>A few competitors are showing up more in AI-generated results and featured snippets </a:t>
            </a:r>
            <a:r>
              <a:rPr lang="en" sz="1100">
                <a:solidFill>
                  <a:schemeClr val="dk1"/>
                </a:solidFill>
                <a:latin typeface="Inter"/>
                <a:ea typeface="Inter"/>
                <a:cs typeface="Inter"/>
                <a:sym typeface="Inter"/>
              </a:rPr>
              <a:t>— a sign of structured, answer-first content.</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 sz="1100">
                <a:solidFill>
                  <a:schemeClr val="dk1"/>
                </a:solidFill>
                <a:latin typeface="Inter"/>
                <a:ea typeface="Inter"/>
                <a:cs typeface="Inter"/>
                <a:sym typeface="Inter"/>
              </a:rPr>
              <a:t>Forging New Lives is in the lower-to-mid range for AI Visibility and has minimal snippet/AIO coverage. That means they’re being recognized, but they’re not winning the “direct answer” placements that drive disproportionate clicks.</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b="1" lang="en" sz="1100">
                <a:solidFill>
                  <a:srgbClr val="FF2F0A"/>
                </a:solidFill>
                <a:latin typeface="Inter"/>
                <a:ea typeface="Inter"/>
                <a:cs typeface="Inter"/>
                <a:sym typeface="Inter"/>
              </a:rPr>
              <a:t>Focus:</a:t>
            </a:r>
            <a:r>
              <a:rPr lang="en" sz="1100">
                <a:solidFill>
                  <a:schemeClr val="dk1"/>
                </a:solidFill>
                <a:latin typeface="Inter"/>
                <a:ea typeface="Inter"/>
                <a:cs typeface="Inter"/>
                <a:sym typeface="Inter"/>
              </a:rPr>
              <a:t> increase snippet/AIO wins by building concise FAQ-style answers across key pages, adding clear headings/definitions, and strengthening internal linking to those pages.</a:t>
            </a:r>
            <a:endParaRPr sz="1100">
              <a:solidFill>
                <a:schemeClr val="dk1"/>
              </a:solidFill>
              <a:latin typeface="Inter"/>
              <a:ea typeface="Inter"/>
              <a:cs typeface="Inter"/>
              <a:sym typeface="Inter"/>
            </a:endParaRPr>
          </a:p>
        </p:txBody>
      </p:sp>
      <p:sp>
        <p:nvSpPr>
          <p:cNvPr id="140" name="Google Shape;140;p25"/>
          <p:cNvSpPr/>
          <p:nvPr/>
        </p:nvSpPr>
        <p:spPr>
          <a:xfrm>
            <a:off x="5070475" y="1954050"/>
            <a:ext cx="422400" cy="1913700"/>
          </a:xfrm>
          <a:prstGeom prst="rect">
            <a:avLst/>
          </a:prstGeom>
          <a:noFill/>
          <a:ln cap="flat" cmpd="sng" w="9525">
            <a:solidFill>
              <a:srgbClr val="FF2F0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5"/>
          <p:cNvSpPr txBox="1"/>
          <p:nvPr/>
        </p:nvSpPr>
        <p:spPr>
          <a:xfrm>
            <a:off x="584674" y="278550"/>
            <a:ext cx="651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FORGING NEW LIVES: COMPETITIVE ANALYSIS BASELINE</a:t>
            </a:r>
            <a:endParaRPr b="1">
              <a:solidFill>
                <a:srgbClr val="262626"/>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6" title="Chart"/>
          <p:cNvPicPr preferRelativeResize="0"/>
          <p:nvPr/>
        </p:nvPicPr>
        <p:blipFill>
          <a:blip r:embed="rId3">
            <a:alphaModFix/>
          </a:blip>
          <a:stretch>
            <a:fillRect/>
          </a:stretch>
        </p:blipFill>
        <p:spPr>
          <a:xfrm>
            <a:off x="3892575" y="1517375"/>
            <a:ext cx="4922375" cy="2823426"/>
          </a:xfrm>
          <a:prstGeom prst="rect">
            <a:avLst/>
          </a:prstGeom>
          <a:noFill/>
          <a:ln>
            <a:noFill/>
          </a:ln>
        </p:spPr>
      </p:pic>
      <p:sp>
        <p:nvSpPr>
          <p:cNvPr id="147" name="Google Shape;147;p26"/>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48" name="Google Shape;148;p26"/>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49" name="Google Shape;149;p26"/>
          <p:cNvSpPr txBox="1"/>
          <p:nvPr/>
        </p:nvSpPr>
        <p:spPr>
          <a:xfrm>
            <a:off x="300575" y="1517375"/>
            <a:ext cx="33150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Inter"/>
                <a:ea typeface="Inter"/>
                <a:cs typeface="Inter"/>
                <a:sym typeface="Inter"/>
              </a:rPr>
              <a:t>A few competitors are capturing featured snippets / AI answers — and that’s translating into outsized SERP visibility.</a:t>
            </a:r>
            <a:endParaRPr b="1"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 sz="1100">
                <a:solidFill>
                  <a:schemeClr val="dk1"/>
                </a:solidFill>
                <a:latin typeface="Inter"/>
                <a:ea typeface="Inter"/>
                <a:cs typeface="Inter"/>
                <a:sym typeface="Inter"/>
              </a:rPr>
              <a:t>Foundry Front Range sits mid-range on AI Visibility, but has minimal snippet/AIO placements, which</a:t>
            </a:r>
            <a:r>
              <a:rPr b="1" lang="en" sz="1100">
                <a:solidFill>
                  <a:schemeClr val="dk1"/>
                </a:solidFill>
                <a:latin typeface="Inter"/>
                <a:ea typeface="Inter"/>
                <a:cs typeface="Inter"/>
                <a:sym typeface="Inter"/>
              </a:rPr>
              <a:t> limits “direct answer” clicks</a:t>
            </a:r>
            <a:r>
              <a:rPr lang="en" sz="1100">
                <a:solidFill>
                  <a:schemeClr val="dk1"/>
                </a:solidFill>
                <a:latin typeface="Inter"/>
                <a:ea typeface="Inter"/>
                <a:cs typeface="Inter"/>
                <a:sym typeface="Inter"/>
              </a:rPr>
              <a:t>.</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b="1" lang="en" sz="1100">
                <a:solidFill>
                  <a:srgbClr val="FF2F0A"/>
                </a:solidFill>
                <a:latin typeface="Inter"/>
                <a:ea typeface="Inter"/>
                <a:cs typeface="Inter"/>
                <a:sym typeface="Inter"/>
              </a:rPr>
              <a:t>Opportunity:</a:t>
            </a:r>
            <a:r>
              <a:rPr lang="en" sz="1100">
                <a:solidFill>
                  <a:schemeClr val="dk1"/>
                </a:solidFill>
                <a:latin typeface="Inter"/>
                <a:ea typeface="Inter"/>
                <a:cs typeface="Inter"/>
                <a:sym typeface="Inter"/>
              </a:rPr>
              <a:t> Win more snippets/AIO by adding concise Q&amp;A blocks + clear definitions on key pages, tightening on-page structure, and internally linking to those answers.</a:t>
            </a:r>
            <a:endParaRPr sz="1100">
              <a:solidFill>
                <a:schemeClr val="dk1"/>
              </a:solidFill>
              <a:latin typeface="Inter"/>
              <a:ea typeface="Inter"/>
              <a:cs typeface="Inter"/>
              <a:sym typeface="Inter"/>
            </a:endParaRPr>
          </a:p>
        </p:txBody>
      </p:sp>
      <p:sp>
        <p:nvSpPr>
          <p:cNvPr id="150" name="Google Shape;150;p26"/>
          <p:cNvSpPr/>
          <p:nvPr/>
        </p:nvSpPr>
        <p:spPr>
          <a:xfrm>
            <a:off x="5512075" y="1972238"/>
            <a:ext cx="422400" cy="1913700"/>
          </a:xfrm>
          <a:prstGeom prst="rect">
            <a:avLst/>
          </a:prstGeom>
          <a:noFill/>
          <a:ln cap="flat" cmpd="sng" w="9525">
            <a:solidFill>
              <a:srgbClr val="FF2F0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6"/>
          <p:cNvSpPr txBox="1"/>
          <p:nvPr/>
        </p:nvSpPr>
        <p:spPr>
          <a:xfrm>
            <a:off x="584674" y="278550"/>
            <a:ext cx="651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FOUNDRY FRONT RANGE: COMPETITIVE ANALYSIS BASELINE</a:t>
            </a:r>
            <a:endParaRPr b="1">
              <a:solidFill>
                <a:srgbClr val="262626"/>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7"/>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58" name="Google Shape;158;p27"/>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59" name="Google Shape;159;p27"/>
          <p:cNvSpPr txBox="1"/>
          <p:nvPr/>
        </p:nvSpPr>
        <p:spPr>
          <a:xfrm>
            <a:off x="474650" y="1496450"/>
            <a:ext cx="8014500" cy="244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Inter"/>
                <a:ea typeface="Inter"/>
                <a:cs typeface="Inter"/>
                <a:sym typeface="Inter"/>
              </a:rPr>
              <a:t>Across all key metrics: authority, visibility, and AI readiness, Forging New Lives currently ranks at the bottom of the pack, giving us a clear benchmark for where to close the </a:t>
            </a:r>
            <a:r>
              <a:rPr lang="en">
                <a:latin typeface="Inter"/>
                <a:ea typeface="Inter"/>
                <a:cs typeface="Inter"/>
                <a:sym typeface="Inter"/>
              </a:rPr>
              <a:t>gap</a:t>
            </a:r>
            <a:r>
              <a:rPr lang="en">
                <a:latin typeface="Inter"/>
                <a:ea typeface="Inter"/>
                <a:cs typeface="Inter"/>
                <a:sym typeface="Inter"/>
              </a:rPr>
              <a:t>.</a:t>
            </a:r>
            <a:endParaRPr>
              <a:latin typeface="Inter"/>
              <a:ea typeface="Inter"/>
              <a:cs typeface="Inter"/>
              <a:sym typeface="Inter"/>
            </a:endParaRPr>
          </a:p>
          <a:p>
            <a:pPr indent="0" lvl="0" marL="0" rtl="0" algn="l">
              <a:lnSpc>
                <a:spcPct val="115000"/>
              </a:lnSpc>
              <a:spcBef>
                <a:spcPts val="1200"/>
              </a:spcBef>
              <a:spcAft>
                <a:spcPts val="0"/>
              </a:spcAft>
              <a:buNone/>
            </a:pPr>
            <a:r>
              <a:rPr b="1" lang="en" sz="1100">
                <a:solidFill>
                  <a:srgbClr val="FF300B"/>
                </a:solidFill>
                <a:latin typeface="Inter"/>
                <a:ea typeface="Inter"/>
                <a:cs typeface="Inter"/>
                <a:sym typeface="Inter"/>
              </a:rPr>
              <a:t>Forging New Lives</a:t>
            </a:r>
            <a:r>
              <a:rPr b="1" lang="en" sz="1100">
                <a:solidFill>
                  <a:srgbClr val="FF300B"/>
                </a:solidFill>
                <a:latin typeface="Inter"/>
                <a:ea typeface="Inter"/>
                <a:cs typeface="Inter"/>
                <a:sym typeface="Inter"/>
              </a:rPr>
              <a:t> &amp; Foundry Front Range Competitive Efficiency Score:</a:t>
            </a:r>
            <a:r>
              <a:rPr b="1" lang="en" sz="1100">
                <a:solidFill>
                  <a:srgbClr val="000000"/>
                </a:solidFill>
                <a:latin typeface="Inter"/>
                <a:ea typeface="Inter"/>
                <a:cs typeface="Inter"/>
                <a:sym typeface="Inter"/>
              </a:rPr>
              <a:t> </a:t>
            </a:r>
            <a:r>
              <a:rPr b="1" lang="en" sz="1100">
                <a:latin typeface="Inter"/>
                <a:ea typeface="Inter"/>
                <a:cs typeface="Inter"/>
                <a:sym typeface="Inter"/>
              </a:rPr>
              <a:t>10</a:t>
            </a:r>
            <a:r>
              <a:rPr b="1" lang="en" sz="1100">
                <a:solidFill>
                  <a:srgbClr val="000000"/>
                </a:solidFill>
                <a:latin typeface="Inter"/>
                <a:ea typeface="Inter"/>
                <a:cs typeface="Inter"/>
                <a:sym typeface="Inter"/>
              </a:rPr>
              <a:t>th percentile </a:t>
            </a:r>
            <a:endParaRPr>
              <a:latin typeface="Inter"/>
              <a:ea typeface="Inter"/>
              <a:cs typeface="Inter"/>
              <a:sym typeface="Inter"/>
            </a:endParaRPr>
          </a:p>
          <a:p>
            <a:pPr indent="0" lvl="0" marL="0" rtl="0" algn="l">
              <a:lnSpc>
                <a:spcPct val="115000"/>
              </a:lnSpc>
              <a:spcBef>
                <a:spcPts val="1200"/>
              </a:spcBef>
              <a:spcAft>
                <a:spcPts val="0"/>
              </a:spcAft>
              <a:buNone/>
            </a:pPr>
            <a:r>
              <a:rPr lang="en">
                <a:latin typeface="Inter"/>
                <a:ea typeface="Inter"/>
                <a:cs typeface="Inter"/>
                <a:sym typeface="Inter"/>
              </a:rPr>
              <a:t>The data shows our fastest growth levers are trust, and </a:t>
            </a:r>
            <a:r>
              <a:rPr lang="en">
                <a:latin typeface="Inter"/>
                <a:ea typeface="Inter"/>
                <a:cs typeface="Inter"/>
                <a:sym typeface="Inter"/>
              </a:rPr>
              <a:t>content</a:t>
            </a:r>
            <a:r>
              <a:rPr lang="en">
                <a:latin typeface="Inter"/>
                <a:ea typeface="Inter"/>
                <a:cs typeface="Inter"/>
                <a:sym typeface="Inter"/>
              </a:rPr>
              <a:t> depth. </a:t>
            </a:r>
            <a:endParaRPr>
              <a:latin typeface="Inter"/>
              <a:ea typeface="Inter"/>
              <a:cs typeface="Inter"/>
              <a:sym typeface="Inter"/>
            </a:endParaRPr>
          </a:p>
          <a:p>
            <a:pPr indent="0" lvl="0" marL="0" rtl="0" algn="l">
              <a:lnSpc>
                <a:spcPct val="115000"/>
              </a:lnSpc>
              <a:spcBef>
                <a:spcPts val="1200"/>
              </a:spcBef>
              <a:spcAft>
                <a:spcPts val="0"/>
              </a:spcAft>
              <a:buNone/>
            </a:pPr>
            <a:r>
              <a:rPr lang="en">
                <a:latin typeface="Inter"/>
                <a:ea typeface="Inter"/>
                <a:cs typeface="Inter"/>
                <a:sym typeface="Inter"/>
              </a:rPr>
              <a:t>Not just more pages, but smarter ones that earn visibility and trust across both traditional and </a:t>
            </a:r>
            <a:r>
              <a:rPr lang="en">
                <a:latin typeface="Inter"/>
                <a:ea typeface="Inter"/>
                <a:cs typeface="Inter"/>
                <a:sym typeface="Inter"/>
              </a:rPr>
              <a:t>AI search.</a:t>
            </a:r>
            <a:endParaRPr>
              <a:latin typeface="Inter"/>
              <a:ea typeface="Inter"/>
              <a:cs typeface="Inter"/>
              <a:sym typeface="Inter"/>
            </a:endParaRPr>
          </a:p>
          <a:p>
            <a:pPr indent="0" lvl="0" marL="0" rtl="0" algn="l">
              <a:lnSpc>
                <a:spcPct val="115000"/>
              </a:lnSpc>
              <a:spcBef>
                <a:spcPts val="1200"/>
              </a:spcBef>
              <a:spcAft>
                <a:spcPts val="1200"/>
              </a:spcAft>
              <a:buNone/>
            </a:pPr>
            <a:r>
              <a:t/>
            </a:r>
            <a:endParaRPr>
              <a:latin typeface="Inter"/>
              <a:ea typeface="Inter"/>
              <a:cs typeface="Inter"/>
              <a:sym typeface="Inter"/>
            </a:endParaRPr>
          </a:p>
        </p:txBody>
      </p:sp>
      <p:sp>
        <p:nvSpPr>
          <p:cNvPr id="160" name="Google Shape;160;p27"/>
          <p:cNvSpPr txBox="1"/>
          <p:nvPr/>
        </p:nvSpPr>
        <p:spPr>
          <a:xfrm>
            <a:off x="584671" y="278550"/>
            <a:ext cx="33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COMPETITIVE ANALYSIS BASELINE</a:t>
            </a:r>
            <a:endParaRPr b="1">
              <a:solidFill>
                <a:srgbClr val="262626"/>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8"/>
          <p:cNvSpPr/>
          <p:nvPr/>
        </p:nvSpPr>
        <p:spPr>
          <a:xfrm>
            <a:off x="25000" y="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67" name="Google Shape;167;p28"/>
          <p:cNvSpPr txBox="1"/>
          <p:nvPr/>
        </p:nvSpPr>
        <p:spPr>
          <a:xfrm>
            <a:off x="570500" y="579550"/>
            <a:ext cx="785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Core Services, Conversions &amp; Structural Cleanup</a:t>
            </a:r>
            <a:endParaRPr sz="2400">
              <a:solidFill>
                <a:srgbClr val="FFFFFF"/>
              </a:solidFill>
              <a:latin typeface="Inter SemiBold"/>
              <a:ea typeface="Inter SemiBold"/>
              <a:cs typeface="Inter SemiBold"/>
              <a:sym typeface="Inter SemiBold"/>
            </a:endParaRPr>
          </a:p>
        </p:txBody>
      </p:sp>
      <p:sp>
        <p:nvSpPr>
          <p:cNvPr id="168" name="Google Shape;168;p28"/>
          <p:cNvSpPr txBox="1"/>
          <p:nvPr/>
        </p:nvSpPr>
        <p:spPr>
          <a:xfrm>
            <a:off x="405600" y="1578725"/>
            <a:ext cx="8332800" cy="251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Our top priority for both sites is </a:t>
            </a:r>
            <a:r>
              <a:rPr b="1" lang="en" sz="1100">
                <a:solidFill>
                  <a:srgbClr val="FF2F0A"/>
                </a:solidFill>
                <a:latin typeface="Inter"/>
                <a:ea typeface="Inter"/>
                <a:cs typeface="Inter"/>
                <a:sym typeface="Inter"/>
              </a:rPr>
              <a:t>aligning on a clear, scalable site structure</a:t>
            </a:r>
            <a:r>
              <a:rPr lang="en" sz="1100">
                <a:solidFill>
                  <a:schemeClr val="dk1"/>
                </a:solidFill>
                <a:latin typeface="Inter"/>
                <a:ea typeface="Inter"/>
                <a:cs typeface="Inter"/>
                <a:sym typeface="Inter"/>
              </a:rPr>
              <a:t> before production begins.</a:t>
            </a:r>
            <a:endParaRPr sz="1100">
              <a:solidFill>
                <a:schemeClr val="dk1"/>
              </a:solidFill>
              <a:latin typeface="Inter"/>
              <a:ea typeface="Inter"/>
              <a:cs typeface="Inter"/>
              <a:sym typeface="Inter"/>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Inter"/>
                <a:ea typeface="Inter"/>
                <a:cs typeface="Inter"/>
                <a:sym typeface="Inter"/>
              </a:rPr>
              <a:t>Clarify the site’s core structure:</a:t>
            </a:r>
            <a:r>
              <a:rPr lang="en" sz="1100">
                <a:solidFill>
                  <a:schemeClr val="dk1"/>
                </a:solidFill>
                <a:latin typeface="Inter"/>
                <a:ea typeface="Inter"/>
                <a:cs typeface="Inter"/>
                <a:sym typeface="Inter"/>
              </a:rPr>
              <a:t> Define what lives at the top level (treatment, programs, admissions etc.) and remove navigation ambiguity. This will help us define redirects from the Outpatient Steamboat site. </a:t>
            </a:r>
            <a:endParaRPr sz="1100">
              <a:solidFill>
                <a:schemeClr val="dk1"/>
              </a:solidFill>
              <a:latin typeface="Inter"/>
              <a:ea typeface="Inter"/>
              <a:cs typeface="Inter"/>
              <a:sym typeface="Inter"/>
            </a:endParaRPr>
          </a:p>
          <a:p>
            <a:pPr indent="-298450" lvl="0" marL="457200" rtl="0" algn="l">
              <a:lnSpc>
                <a:spcPct val="115000"/>
              </a:lnSpc>
              <a:spcBef>
                <a:spcPts val="1000"/>
              </a:spcBef>
              <a:spcAft>
                <a:spcPts val="0"/>
              </a:spcAft>
              <a:buClr>
                <a:schemeClr val="dk1"/>
              </a:buClr>
              <a:buSzPts val="1100"/>
              <a:buAutoNum type="arabicPeriod"/>
            </a:pPr>
            <a:r>
              <a:rPr b="1" lang="en" sz="1100">
                <a:solidFill>
                  <a:schemeClr val="dk1"/>
                </a:solidFill>
                <a:latin typeface="Inter"/>
                <a:ea typeface="Inter"/>
                <a:cs typeface="Inter"/>
                <a:sym typeface="Inter"/>
              </a:rPr>
              <a:t>Align the site with how patients evaluate treatment:</a:t>
            </a:r>
            <a:r>
              <a:rPr lang="en" sz="1100">
                <a:solidFill>
                  <a:schemeClr val="dk1"/>
                </a:solidFill>
                <a:latin typeface="Inter"/>
                <a:ea typeface="Inter"/>
                <a:cs typeface="Inter"/>
                <a:sym typeface="Inter"/>
              </a:rPr>
              <a:t> Services first, conditions second, education later — reducing friction for users deciding if Invicta is the right fit.</a:t>
            </a:r>
            <a:endParaRPr sz="1100">
              <a:solidFill>
                <a:schemeClr val="dk1"/>
              </a:solidFill>
              <a:latin typeface="Inter"/>
              <a:ea typeface="Inter"/>
              <a:cs typeface="Inter"/>
              <a:sym typeface="Inter"/>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Inter"/>
                <a:ea typeface="Inter"/>
                <a:cs typeface="Inter"/>
                <a:sym typeface="Inter"/>
              </a:rPr>
              <a:t>Create a shared prioritization framework for growth:</a:t>
            </a:r>
            <a:r>
              <a:rPr lang="en" sz="1100">
                <a:solidFill>
                  <a:schemeClr val="dk1"/>
                </a:solidFill>
                <a:latin typeface="Inter"/>
                <a:ea typeface="Inter"/>
                <a:cs typeface="Inter"/>
                <a:sym typeface="Inter"/>
              </a:rPr>
              <a:t> Ensure future blogs, geo pages, and condition pages support core services and scale cleanly without rework.</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200">
              <a:latin typeface="Inter"/>
              <a:ea typeface="Inter"/>
              <a:cs typeface="Inter"/>
              <a:sym typeface="Inter"/>
            </a:endParaRPr>
          </a:p>
        </p:txBody>
      </p:sp>
      <p:sp>
        <p:nvSpPr>
          <p:cNvPr id="169" name="Google Shape;169;p28"/>
          <p:cNvSpPr txBox="1"/>
          <p:nvPr/>
        </p:nvSpPr>
        <p:spPr>
          <a:xfrm>
            <a:off x="584671" y="278550"/>
            <a:ext cx="33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FIRST</a:t>
            </a:r>
            <a:r>
              <a:rPr lang="en">
                <a:solidFill>
                  <a:srgbClr val="FF2F0A"/>
                </a:solidFill>
                <a:latin typeface="Inter ExtraBold"/>
                <a:ea typeface="Inter ExtraBold"/>
                <a:cs typeface="Inter ExtraBold"/>
                <a:sym typeface="Inter ExtraBold"/>
              </a:rPr>
              <a:t> FOCUS</a:t>
            </a:r>
            <a:endParaRPr b="1">
              <a:solidFill>
                <a:srgbClr val="262626"/>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p:nvPr/>
        </p:nvSpPr>
        <p:spPr>
          <a:xfrm>
            <a:off x="286650" y="3182600"/>
            <a:ext cx="8781900" cy="734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9"/>
          <p:cNvSpPr txBox="1"/>
          <p:nvPr/>
        </p:nvSpPr>
        <p:spPr>
          <a:xfrm>
            <a:off x="142650" y="440250"/>
            <a:ext cx="9069900" cy="163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300">
                <a:solidFill>
                  <a:srgbClr val="FF2F0A"/>
                </a:solidFill>
                <a:latin typeface="Inter"/>
                <a:ea typeface="Inter"/>
                <a:cs typeface="Inter"/>
                <a:sym typeface="Inter"/>
              </a:rPr>
              <a:t>Our goal: improve both usability and search performance.</a:t>
            </a:r>
            <a:endParaRPr b="1" sz="1300">
              <a:solidFill>
                <a:srgbClr val="FF2F0A"/>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Inter"/>
                <a:ea typeface="Inter"/>
                <a:cs typeface="Inter"/>
                <a:sym typeface="Inter"/>
              </a:rPr>
              <a:t>The new IA creates clear topics (Treatment / Programs / What We Treat / Admissions) that map to real searches and support stronger internal linking—helping key pages rank, earn snippets, and convert.</a:t>
            </a:r>
            <a:endParaRPr sz="1300">
              <a:solidFill>
                <a:schemeClr val="dk1"/>
              </a:solidFill>
              <a:latin typeface="Inter"/>
              <a:ea typeface="Inter"/>
              <a:cs typeface="Inter"/>
              <a:sym typeface="Inter"/>
            </a:endParaRPr>
          </a:p>
          <a:p>
            <a:pPr indent="0" lvl="0" marL="139700" rtl="0" algn="l">
              <a:lnSpc>
                <a:spcPct val="115000"/>
              </a:lnSpc>
              <a:spcBef>
                <a:spcPts val="1200"/>
              </a:spcBef>
              <a:spcAft>
                <a:spcPts val="0"/>
              </a:spcAft>
              <a:buClr>
                <a:schemeClr val="dk1"/>
              </a:buClr>
              <a:buSzPts val="1100"/>
              <a:buFont typeface="Arial"/>
              <a:buNone/>
            </a:pPr>
            <a:r>
              <a:t/>
            </a:r>
            <a:endParaRPr sz="1500">
              <a:solidFill>
                <a:srgbClr val="FF2F0A"/>
              </a:solidFill>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p:txBody>
      </p:sp>
      <p:sp>
        <p:nvSpPr>
          <p:cNvPr id="176" name="Google Shape;176;p29"/>
          <p:cNvSpPr txBox="1"/>
          <p:nvPr/>
        </p:nvSpPr>
        <p:spPr>
          <a:xfrm>
            <a:off x="157475" y="2859500"/>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FF2F0A"/>
                </a:solidFill>
                <a:latin typeface="Inter"/>
                <a:ea typeface="Inter"/>
                <a:cs typeface="Inter"/>
                <a:sym typeface="Inter"/>
              </a:rPr>
              <a:t>Future: </a:t>
            </a:r>
            <a:endParaRPr i="1" sz="900">
              <a:solidFill>
                <a:srgbClr val="FF2F0A"/>
              </a:solidFill>
              <a:latin typeface="Inter"/>
              <a:ea typeface="Inter"/>
              <a:cs typeface="Inter"/>
              <a:sym typeface="Inter"/>
            </a:endParaRPr>
          </a:p>
        </p:txBody>
      </p:sp>
      <p:sp>
        <p:nvSpPr>
          <p:cNvPr id="177" name="Google Shape;177;p29"/>
          <p:cNvSpPr txBox="1"/>
          <p:nvPr/>
        </p:nvSpPr>
        <p:spPr>
          <a:xfrm>
            <a:off x="157475" y="1577850"/>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595959"/>
                </a:solidFill>
                <a:latin typeface="Inter"/>
                <a:ea typeface="Inter"/>
                <a:cs typeface="Inter"/>
                <a:sym typeface="Inter"/>
              </a:rPr>
              <a:t>Current:</a:t>
            </a:r>
            <a:endParaRPr i="1" sz="900">
              <a:solidFill>
                <a:srgbClr val="595959"/>
              </a:solidFill>
              <a:latin typeface="Inter"/>
              <a:ea typeface="Inter"/>
              <a:cs typeface="Inter"/>
              <a:sym typeface="Inter"/>
            </a:endParaRPr>
          </a:p>
        </p:txBody>
      </p:sp>
      <p:sp>
        <p:nvSpPr>
          <p:cNvPr id="178" name="Google Shape;178;p29"/>
          <p:cNvSpPr txBox="1"/>
          <p:nvPr/>
        </p:nvSpPr>
        <p:spPr>
          <a:xfrm>
            <a:off x="5274742" y="3347263"/>
            <a:ext cx="741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ABOUT </a:t>
            </a:r>
            <a:endParaRPr sz="700">
              <a:latin typeface="Inter"/>
              <a:ea typeface="Inter"/>
              <a:cs typeface="Inter"/>
              <a:sym typeface="Inter"/>
            </a:endParaRPr>
          </a:p>
        </p:txBody>
      </p:sp>
      <p:sp>
        <p:nvSpPr>
          <p:cNvPr id="179" name="Google Shape;179;p29"/>
          <p:cNvSpPr txBox="1"/>
          <p:nvPr/>
        </p:nvSpPr>
        <p:spPr>
          <a:xfrm>
            <a:off x="2688178"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PROGRAMS</a:t>
            </a:r>
            <a:endParaRPr sz="700">
              <a:latin typeface="Inter"/>
              <a:ea typeface="Inter"/>
              <a:cs typeface="Inter"/>
              <a:sym typeface="Inter"/>
            </a:endParaRPr>
          </a:p>
        </p:txBody>
      </p:sp>
      <p:sp>
        <p:nvSpPr>
          <p:cNvPr id="180" name="Google Shape;180;p29"/>
          <p:cNvSpPr txBox="1"/>
          <p:nvPr/>
        </p:nvSpPr>
        <p:spPr>
          <a:xfrm>
            <a:off x="4348845"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ADMISSIONS</a:t>
            </a:r>
            <a:endParaRPr sz="700">
              <a:latin typeface="Inter"/>
              <a:ea typeface="Inter"/>
              <a:cs typeface="Inter"/>
              <a:sym typeface="Inter"/>
            </a:endParaRPr>
          </a:p>
        </p:txBody>
      </p:sp>
      <p:sp>
        <p:nvSpPr>
          <p:cNvPr id="181" name="Google Shape;181;p29"/>
          <p:cNvSpPr txBox="1"/>
          <p:nvPr/>
        </p:nvSpPr>
        <p:spPr>
          <a:xfrm>
            <a:off x="1923772"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TREATMENT</a:t>
            </a:r>
            <a:endParaRPr sz="700">
              <a:latin typeface="Inter"/>
              <a:ea typeface="Inter"/>
              <a:cs typeface="Inter"/>
              <a:sym typeface="Inter"/>
            </a:endParaRPr>
          </a:p>
        </p:txBody>
      </p:sp>
      <p:sp>
        <p:nvSpPr>
          <p:cNvPr id="182" name="Google Shape;182;p29"/>
          <p:cNvSpPr txBox="1"/>
          <p:nvPr/>
        </p:nvSpPr>
        <p:spPr>
          <a:xfrm>
            <a:off x="5708040" y="3347263"/>
            <a:ext cx="1157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RESOURCES</a:t>
            </a:r>
            <a:r>
              <a:rPr lang="en" sz="700">
                <a:latin typeface="Inter"/>
                <a:ea typeface="Inter"/>
                <a:cs typeface="Inter"/>
                <a:sym typeface="Inter"/>
              </a:rPr>
              <a:t> </a:t>
            </a:r>
            <a:endParaRPr sz="700">
              <a:latin typeface="Inter"/>
              <a:ea typeface="Inter"/>
              <a:cs typeface="Inter"/>
              <a:sym typeface="Inter"/>
            </a:endParaRPr>
          </a:p>
        </p:txBody>
      </p:sp>
      <p:sp>
        <p:nvSpPr>
          <p:cNvPr id="183" name="Google Shape;183;p29"/>
          <p:cNvSpPr txBox="1"/>
          <p:nvPr/>
        </p:nvSpPr>
        <p:spPr>
          <a:xfrm>
            <a:off x="6557137" y="3347263"/>
            <a:ext cx="14553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727C36"/>
                </a:solidFill>
                <a:latin typeface="Inter"/>
                <a:ea typeface="Inter"/>
                <a:cs typeface="Inter"/>
                <a:sym typeface="Inter"/>
              </a:rPr>
              <a:t>VERIFY INSURANCE</a:t>
            </a:r>
            <a:endParaRPr b="1" sz="700">
              <a:solidFill>
                <a:srgbClr val="727C36"/>
              </a:solidFill>
              <a:latin typeface="Inter"/>
              <a:ea typeface="Inter"/>
              <a:cs typeface="Inter"/>
              <a:sym typeface="Inter"/>
            </a:endParaRPr>
          </a:p>
        </p:txBody>
      </p:sp>
      <p:sp>
        <p:nvSpPr>
          <p:cNvPr id="184" name="Google Shape;184;p29"/>
          <p:cNvSpPr txBox="1"/>
          <p:nvPr/>
        </p:nvSpPr>
        <p:spPr>
          <a:xfrm>
            <a:off x="7868834" y="3347263"/>
            <a:ext cx="1074600" cy="292500"/>
          </a:xfrm>
          <a:prstGeom prst="rect">
            <a:avLst/>
          </a:prstGeom>
          <a:solidFill>
            <a:srgbClr val="727C3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chemeClr val="lt1"/>
                </a:solidFill>
                <a:latin typeface="Inter"/>
                <a:ea typeface="Inter"/>
                <a:cs typeface="Inter"/>
                <a:sym typeface="Inter"/>
              </a:rPr>
              <a:t>CALL NOW</a:t>
            </a:r>
            <a:r>
              <a:rPr b="1" lang="en" sz="700">
                <a:solidFill>
                  <a:schemeClr val="lt1"/>
                </a:solidFill>
                <a:latin typeface="Inter"/>
                <a:ea typeface="Inter"/>
                <a:cs typeface="Inter"/>
                <a:sym typeface="Inter"/>
              </a:rPr>
              <a:t>  </a:t>
            </a:r>
            <a:endParaRPr b="1" sz="700">
              <a:solidFill>
                <a:schemeClr val="lt1"/>
              </a:solidFill>
              <a:latin typeface="Inter"/>
              <a:ea typeface="Inter"/>
              <a:cs typeface="Inter"/>
              <a:sym typeface="Inter"/>
            </a:endParaRPr>
          </a:p>
        </p:txBody>
      </p:sp>
      <p:sp>
        <p:nvSpPr>
          <p:cNvPr id="185" name="Google Shape;185;p29"/>
          <p:cNvSpPr txBox="1"/>
          <p:nvPr/>
        </p:nvSpPr>
        <p:spPr>
          <a:xfrm>
            <a:off x="3550813"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WHAT WE TREAT</a:t>
            </a:r>
            <a:endParaRPr sz="700">
              <a:latin typeface="Inter"/>
              <a:ea typeface="Inter"/>
              <a:cs typeface="Inter"/>
              <a:sym typeface="Inter"/>
            </a:endParaRPr>
          </a:p>
        </p:txBody>
      </p:sp>
      <p:pic>
        <p:nvPicPr>
          <p:cNvPr id="186" name="Google Shape;186;p29" title="Screenshot 2026-02-12 at 12.05.06 PM.png"/>
          <p:cNvPicPr preferRelativeResize="0"/>
          <p:nvPr/>
        </p:nvPicPr>
        <p:blipFill rotWithShape="1">
          <a:blip r:embed="rId3">
            <a:alphaModFix/>
          </a:blip>
          <a:srcRect b="11879" l="0" r="0" t="0"/>
          <a:stretch/>
        </p:blipFill>
        <p:spPr>
          <a:xfrm>
            <a:off x="221025" y="1638850"/>
            <a:ext cx="8310476" cy="1055975"/>
          </a:xfrm>
          <a:prstGeom prst="rect">
            <a:avLst/>
          </a:prstGeom>
          <a:noFill/>
          <a:ln>
            <a:noFill/>
          </a:ln>
        </p:spPr>
      </p:pic>
      <p:pic>
        <p:nvPicPr>
          <p:cNvPr id="187" name="Google Shape;187;p29" title="Screenshot 2026-02-12 at 12.05.06 PM.png"/>
          <p:cNvPicPr preferRelativeResize="0"/>
          <p:nvPr/>
        </p:nvPicPr>
        <p:blipFill rotWithShape="1">
          <a:blip r:embed="rId3">
            <a:alphaModFix/>
          </a:blip>
          <a:srcRect b="38688" l="0" r="65952" t="0"/>
          <a:stretch/>
        </p:blipFill>
        <p:spPr>
          <a:xfrm>
            <a:off x="351200" y="3254387"/>
            <a:ext cx="1842000" cy="478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nvSpPr>
        <p:spPr>
          <a:xfrm>
            <a:off x="366324" y="177675"/>
            <a:ext cx="8588400" cy="148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a:solidFill>
                  <a:srgbClr val="FF2F0A"/>
                </a:solidFill>
                <a:latin typeface="Inter"/>
                <a:ea typeface="Inter"/>
                <a:cs typeface="Inter"/>
                <a:sym typeface="Inter"/>
              </a:rPr>
              <a:t>A scalable blueprint for what we publish next.</a:t>
            </a:r>
            <a:endParaRPr b="1">
              <a:solidFill>
                <a:srgbClr val="FF2F0A"/>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Inter"/>
                <a:ea typeface="Inter"/>
                <a:cs typeface="Inter"/>
                <a:sym typeface="Inter"/>
              </a:rPr>
              <a:t>We’ll grow these top-level hubs into complete topic clusters—adding the pages that matter most, in the order that drives rankings and admissions.</a:t>
            </a:r>
            <a:endParaRPr>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rgbClr val="FF2F0A"/>
              </a:solidFill>
              <a:latin typeface="Inter"/>
              <a:ea typeface="Inter"/>
              <a:cs typeface="Inter"/>
              <a:sym typeface="Inter"/>
            </a:endParaRPr>
          </a:p>
        </p:txBody>
      </p:sp>
      <p:sp>
        <p:nvSpPr>
          <p:cNvPr id="193" name="Google Shape;193;p30"/>
          <p:cNvSpPr txBox="1"/>
          <p:nvPr/>
        </p:nvSpPr>
        <p:spPr>
          <a:xfrm>
            <a:off x="154075" y="2395575"/>
            <a:ext cx="2728500" cy="172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Inter"/>
                <a:ea typeface="Inter"/>
                <a:cs typeface="Inter"/>
                <a:sym typeface="Inter"/>
              </a:rPr>
              <a:t>/treatment/</a:t>
            </a:r>
            <a:endParaRPr sz="900">
              <a:latin typeface="Inter"/>
              <a:ea typeface="Inter"/>
              <a:cs typeface="Inter"/>
              <a:sym typeface="Inter"/>
            </a:endParaRPr>
          </a:p>
          <a:p>
            <a:pPr indent="-285750" lvl="0" marL="457200" rtl="0" algn="l">
              <a:lnSpc>
                <a:spcPct val="115000"/>
              </a:lnSpc>
              <a:spcBef>
                <a:spcPts val="1200"/>
              </a:spcBef>
              <a:spcAft>
                <a:spcPts val="0"/>
              </a:spcAft>
              <a:buSzPts val="900"/>
              <a:buFont typeface="Inter"/>
              <a:buChar char="➔"/>
            </a:pPr>
            <a:r>
              <a:rPr lang="en" sz="900">
                <a:latin typeface="Inter"/>
                <a:ea typeface="Inter"/>
                <a:cs typeface="Inter"/>
                <a:sym typeface="Inter"/>
              </a:rPr>
              <a:t>/treatment/therapies-</a:t>
            </a:r>
            <a:r>
              <a:rPr lang="en" sz="900">
                <a:latin typeface="Inter"/>
                <a:ea typeface="Inter"/>
                <a:cs typeface="Inter"/>
                <a:sym typeface="Inter"/>
              </a:rPr>
              <a:t>modalities</a:t>
            </a:r>
            <a:r>
              <a:rPr lang="en" sz="900">
                <a:latin typeface="Inter"/>
                <a:ea typeface="Inter"/>
                <a:cs typeface="Inter"/>
                <a:sym typeface="Inter"/>
              </a:rPr>
              <a:t>/ </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/treatment/trauma-integrated-care/</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/treatment/medical-psychiatry/</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/treatment/wellness-experiential/</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/treatment/environment-location/</a:t>
            </a:r>
            <a:br>
              <a:rPr lang="en" sz="900">
                <a:latin typeface="Inter"/>
                <a:ea typeface="Inter"/>
                <a:cs typeface="Inter"/>
                <a:sym typeface="Inter"/>
              </a:rPr>
            </a:br>
            <a:endParaRPr sz="900">
              <a:latin typeface="Inter"/>
              <a:ea typeface="Inter"/>
              <a:cs typeface="Inter"/>
              <a:sym typeface="Inter"/>
            </a:endParaRPr>
          </a:p>
          <a:p>
            <a:pPr indent="0" lvl="0" marL="0" rtl="0" algn="l">
              <a:spcBef>
                <a:spcPts val="1200"/>
              </a:spcBef>
              <a:spcAft>
                <a:spcPts val="0"/>
              </a:spcAft>
              <a:buNone/>
            </a:pPr>
            <a:r>
              <a:t/>
            </a:r>
            <a:endParaRPr sz="900">
              <a:latin typeface="Inter"/>
              <a:ea typeface="Inter"/>
              <a:cs typeface="Inter"/>
              <a:sym typeface="Inter"/>
            </a:endParaRPr>
          </a:p>
        </p:txBody>
      </p:sp>
      <p:sp>
        <p:nvSpPr>
          <p:cNvPr id="194" name="Google Shape;194;p30"/>
          <p:cNvSpPr txBox="1"/>
          <p:nvPr/>
        </p:nvSpPr>
        <p:spPr>
          <a:xfrm>
            <a:off x="2553575" y="2385225"/>
            <a:ext cx="2458500" cy="206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latin typeface="Inter"/>
                <a:ea typeface="Inter"/>
                <a:cs typeface="Inter"/>
                <a:sym typeface="Inter"/>
              </a:rPr>
              <a:t>/programs/</a:t>
            </a:r>
            <a:endParaRPr sz="900">
              <a:latin typeface="Inter"/>
              <a:ea typeface="Inter"/>
              <a:cs typeface="Inter"/>
              <a:sym typeface="Inter"/>
            </a:endParaRPr>
          </a:p>
          <a:p>
            <a:pPr indent="-285750" lvl="0" marL="457200" rtl="0" algn="l">
              <a:lnSpc>
                <a:spcPct val="115000"/>
              </a:lnSpc>
              <a:spcBef>
                <a:spcPts val="1200"/>
              </a:spcBef>
              <a:spcAft>
                <a:spcPts val="0"/>
              </a:spcAft>
              <a:buSzPts val="900"/>
              <a:buFont typeface="Inter"/>
              <a:buChar char="➔"/>
            </a:pPr>
            <a:r>
              <a:rPr lang="en" sz="900">
                <a:latin typeface="Inter"/>
                <a:ea typeface="Inter"/>
                <a:cs typeface="Inter"/>
                <a:sym typeface="Inter"/>
              </a:rPr>
              <a:t>/programs/residential/</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/programs/detox/</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/programs/php/</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/programs/iop-virtual/</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/programs/iop-in-person/</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/programs/aftercare-alumni/</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/programs/family-program/</a:t>
            </a:r>
            <a:br>
              <a:rPr lang="en" sz="900">
                <a:latin typeface="Inter"/>
                <a:ea typeface="Inter"/>
                <a:cs typeface="Inter"/>
                <a:sym typeface="Inter"/>
              </a:rPr>
            </a:br>
            <a:endParaRPr sz="900">
              <a:latin typeface="Inter"/>
              <a:ea typeface="Inter"/>
              <a:cs typeface="Inter"/>
              <a:sym typeface="Inter"/>
            </a:endParaRPr>
          </a:p>
          <a:p>
            <a:pPr indent="0" lvl="0" marL="0" rtl="0" algn="l">
              <a:spcBef>
                <a:spcPts val="1200"/>
              </a:spcBef>
              <a:spcAft>
                <a:spcPts val="0"/>
              </a:spcAft>
              <a:buNone/>
            </a:pPr>
            <a:r>
              <a:t/>
            </a:r>
            <a:endParaRPr sz="900">
              <a:latin typeface="Inter"/>
              <a:ea typeface="Inter"/>
              <a:cs typeface="Inter"/>
              <a:sym typeface="Inter"/>
            </a:endParaRPr>
          </a:p>
        </p:txBody>
      </p:sp>
      <p:sp>
        <p:nvSpPr>
          <p:cNvPr id="195" name="Google Shape;195;p30"/>
          <p:cNvSpPr txBox="1"/>
          <p:nvPr/>
        </p:nvSpPr>
        <p:spPr>
          <a:xfrm>
            <a:off x="6790675" y="2486900"/>
            <a:ext cx="2309400" cy="22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latin typeface="Inter"/>
                <a:ea typeface="Inter"/>
                <a:cs typeface="Inter"/>
                <a:sym typeface="Inter"/>
              </a:rPr>
              <a:t>/admissions/</a:t>
            </a:r>
            <a:endParaRPr sz="900">
              <a:latin typeface="Inter"/>
              <a:ea typeface="Inter"/>
              <a:cs typeface="Inter"/>
              <a:sym typeface="Inter"/>
            </a:endParaRPr>
          </a:p>
          <a:p>
            <a:pPr indent="-285750" lvl="0" marL="457200" rtl="0" algn="l">
              <a:lnSpc>
                <a:spcPct val="115000"/>
              </a:lnSpc>
              <a:spcBef>
                <a:spcPts val="1200"/>
              </a:spcBef>
              <a:spcAft>
                <a:spcPts val="0"/>
              </a:spcAft>
              <a:buSzPts val="900"/>
              <a:buFont typeface="Inter"/>
              <a:buChar char="➔"/>
            </a:pPr>
            <a:r>
              <a:rPr lang="en" sz="900">
                <a:latin typeface="Inter"/>
                <a:ea typeface="Inter"/>
                <a:cs typeface="Inter"/>
                <a:sym typeface="Inter"/>
              </a:rPr>
              <a:t>/admissions/start-here/</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/admissions/insurance-cost/</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/admissions/verify-insurance/</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/admissions/what-to-bring/</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/admissions/travel-planning/</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/admissions/frequently-asked-questions/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/admissions/contact-admissions/</a:t>
            </a:r>
            <a:endParaRPr sz="900">
              <a:latin typeface="Inter"/>
              <a:ea typeface="Inter"/>
              <a:cs typeface="Inter"/>
              <a:sym typeface="Inter"/>
            </a:endParaRPr>
          </a:p>
          <a:p>
            <a:pPr indent="0" lvl="0" marL="0" rtl="0" algn="l">
              <a:spcBef>
                <a:spcPts val="1200"/>
              </a:spcBef>
              <a:spcAft>
                <a:spcPts val="0"/>
              </a:spcAft>
              <a:buNone/>
            </a:pPr>
            <a:r>
              <a:t/>
            </a:r>
            <a:endParaRPr sz="900">
              <a:latin typeface="Inter"/>
              <a:ea typeface="Inter"/>
              <a:cs typeface="Inter"/>
              <a:sym typeface="Inter"/>
            </a:endParaRPr>
          </a:p>
        </p:txBody>
      </p:sp>
      <p:sp>
        <p:nvSpPr>
          <p:cNvPr id="196" name="Google Shape;196;p30"/>
          <p:cNvSpPr/>
          <p:nvPr/>
        </p:nvSpPr>
        <p:spPr>
          <a:xfrm>
            <a:off x="629825" y="1986350"/>
            <a:ext cx="2309325" cy="500625"/>
          </a:xfrm>
          <a:custGeom>
            <a:rect b="b" l="l" r="r" t="t"/>
            <a:pathLst>
              <a:path extrusionOk="0" h="20025" w="92373">
                <a:moveTo>
                  <a:pt x="92373" y="0"/>
                </a:moveTo>
                <a:cubicBezTo>
                  <a:pt x="75252" y="17121"/>
                  <a:pt x="44697" y="8623"/>
                  <a:pt x="20671" y="11627"/>
                </a:cubicBezTo>
                <a:cubicBezTo>
                  <a:pt x="13291" y="12550"/>
                  <a:pt x="2352" y="12969"/>
                  <a:pt x="0" y="20025"/>
                </a:cubicBezTo>
              </a:path>
            </a:pathLst>
          </a:custGeom>
          <a:noFill/>
          <a:ln cap="flat" cmpd="sng" w="19050">
            <a:solidFill>
              <a:srgbClr val="FF2F0A"/>
            </a:solidFill>
            <a:prstDash val="solid"/>
            <a:round/>
            <a:headEnd len="med" w="med" type="none"/>
            <a:tailEnd len="med" w="med" type="stealth"/>
          </a:ln>
        </p:spPr>
      </p:sp>
      <p:sp>
        <p:nvSpPr>
          <p:cNvPr id="197" name="Google Shape;197;p30"/>
          <p:cNvSpPr/>
          <p:nvPr/>
        </p:nvSpPr>
        <p:spPr>
          <a:xfrm>
            <a:off x="3157150" y="2049325"/>
            <a:ext cx="306891" cy="405342"/>
          </a:xfrm>
          <a:custGeom>
            <a:rect b="b" l="l" r="r" t="t"/>
            <a:pathLst>
              <a:path extrusionOk="0" h="18410" w="39727">
                <a:moveTo>
                  <a:pt x="39727" y="0"/>
                </a:moveTo>
                <a:cubicBezTo>
                  <a:pt x="34307" y="13551"/>
                  <a:pt x="0" y="3815"/>
                  <a:pt x="0" y="18410"/>
                </a:cubicBezTo>
              </a:path>
            </a:pathLst>
          </a:custGeom>
          <a:noFill/>
          <a:ln cap="flat" cmpd="sng" w="19050">
            <a:solidFill>
              <a:srgbClr val="FF2F0A"/>
            </a:solidFill>
            <a:prstDash val="solid"/>
            <a:round/>
            <a:headEnd len="med" w="med" type="none"/>
            <a:tailEnd len="med" w="med" type="stealth"/>
          </a:ln>
        </p:spPr>
      </p:sp>
      <p:sp>
        <p:nvSpPr>
          <p:cNvPr id="198" name="Google Shape;198;p30"/>
          <p:cNvSpPr/>
          <p:nvPr/>
        </p:nvSpPr>
        <p:spPr>
          <a:xfrm>
            <a:off x="5280775" y="2018650"/>
            <a:ext cx="1824896" cy="500628"/>
          </a:xfrm>
          <a:custGeom>
            <a:rect b="b" l="l" r="r" t="t"/>
            <a:pathLst>
              <a:path extrusionOk="0" h="13888" w="63304">
                <a:moveTo>
                  <a:pt x="0" y="0"/>
                </a:moveTo>
                <a:cubicBezTo>
                  <a:pt x="16869" y="13495"/>
                  <a:pt x="48028" y="-1388"/>
                  <a:pt x="63304" y="13888"/>
                </a:cubicBezTo>
              </a:path>
            </a:pathLst>
          </a:custGeom>
          <a:noFill/>
          <a:ln cap="flat" cmpd="sng" w="19050">
            <a:solidFill>
              <a:srgbClr val="FF2F0A"/>
            </a:solidFill>
            <a:prstDash val="solid"/>
            <a:round/>
            <a:headEnd len="med" w="med" type="none"/>
            <a:tailEnd len="med" w="med" type="stealth"/>
          </a:ln>
        </p:spPr>
      </p:sp>
      <p:sp>
        <p:nvSpPr>
          <p:cNvPr id="199" name="Google Shape;199;p30"/>
          <p:cNvSpPr txBox="1"/>
          <p:nvPr/>
        </p:nvSpPr>
        <p:spPr>
          <a:xfrm>
            <a:off x="4520700" y="2247950"/>
            <a:ext cx="2458500" cy="254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latin typeface="Inter"/>
                <a:ea typeface="Inter"/>
                <a:cs typeface="Inter"/>
                <a:sym typeface="Inter"/>
              </a:rPr>
              <a:t>/what-we-treat/</a:t>
            </a:r>
            <a:endParaRPr sz="900">
              <a:latin typeface="Inter"/>
              <a:ea typeface="Inter"/>
              <a:cs typeface="Inter"/>
              <a:sym typeface="Inter"/>
            </a:endParaRPr>
          </a:p>
          <a:p>
            <a:pPr indent="-285750" lvl="0" marL="457200" rtl="0" algn="l">
              <a:lnSpc>
                <a:spcPct val="115000"/>
              </a:lnSpc>
              <a:spcBef>
                <a:spcPts val="1200"/>
              </a:spcBef>
              <a:spcAft>
                <a:spcPts val="0"/>
              </a:spcAft>
              <a:buSzPts val="900"/>
              <a:buFont typeface="Inter"/>
              <a:buChar char="➔"/>
            </a:pPr>
            <a:r>
              <a:rPr lang="en" sz="900">
                <a:latin typeface="Inter"/>
                <a:ea typeface="Inter"/>
                <a:cs typeface="Inter"/>
                <a:sym typeface="Inter"/>
              </a:rPr>
              <a:t>/what-we-treat/substance-use/</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/what-we-treat/alcohol/</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/what-we-treat/opioids/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/what-we-treat/stimulants/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/what-we-treat/benzodiazepines/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/what-we-treat/polysubstance/</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/what-we-treat/mental-health/</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/what-we-treat/trauma-ptsd/</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/what-we-treat/anxiety/</a:t>
            </a:r>
            <a:br>
              <a:rPr lang="en" sz="900">
                <a:latin typeface="Inter"/>
                <a:ea typeface="Inter"/>
                <a:cs typeface="Inter"/>
                <a:sym typeface="Inter"/>
              </a:rPr>
            </a:br>
            <a:r>
              <a:rPr lang="en" sz="900">
                <a:latin typeface="Inter"/>
                <a:ea typeface="Inter"/>
                <a:cs typeface="Inter"/>
                <a:sym typeface="Inter"/>
              </a:rPr>
              <a:t>/what-we-treat/depression/</a:t>
            </a:r>
            <a:br>
              <a:rPr lang="en" sz="900">
                <a:latin typeface="Inter"/>
                <a:ea typeface="Inter"/>
                <a:cs typeface="Inter"/>
                <a:sym typeface="Inter"/>
              </a:rPr>
            </a:br>
            <a:endParaRPr sz="900">
              <a:latin typeface="Inter"/>
              <a:ea typeface="Inter"/>
              <a:cs typeface="Inter"/>
              <a:sym typeface="Inter"/>
            </a:endParaRPr>
          </a:p>
          <a:p>
            <a:pPr indent="0" lvl="0" marL="0" rtl="0" algn="l">
              <a:spcBef>
                <a:spcPts val="1200"/>
              </a:spcBef>
              <a:spcAft>
                <a:spcPts val="0"/>
              </a:spcAft>
              <a:buNone/>
            </a:pPr>
            <a:r>
              <a:t/>
            </a:r>
            <a:endParaRPr sz="900">
              <a:latin typeface="Inter"/>
              <a:ea typeface="Inter"/>
              <a:cs typeface="Inter"/>
              <a:sym typeface="Inter"/>
            </a:endParaRPr>
          </a:p>
        </p:txBody>
      </p:sp>
      <p:grpSp>
        <p:nvGrpSpPr>
          <p:cNvPr id="200" name="Google Shape;200;p30"/>
          <p:cNvGrpSpPr/>
          <p:nvPr/>
        </p:nvGrpSpPr>
        <p:grpSpPr>
          <a:xfrm>
            <a:off x="506800" y="1586650"/>
            <a:ext cx="8781900" cy="734700"/>
            <a:chOff x="286650" y="3182600"/>
            <a:chExt cx="8781900" cy="734700"/>
          </a:xfrm>
        </p:grpSpPr>
        <p:sp>
          <p:nvSpPr>
            <p:cNvPr id="201" name="Google Shape;201;p30"/>
            <p:cNvSpPr/>
            <p:nvPr/>
          </p:nvSpPr>
          <p:spPr>
            <a:xfrm>
              <a:off x="286650" y="3182600"/>
              <a:ext cx="8781900" cy="73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30"/>
            <p:cNvSpPr txBox="1"/>
            <p:nvPr/>
          </p:nvSpPr>
          <p:spPr>
            <a:xfrm>
              <a:off x="5274742" y="3347263"/>
              <a:ext cx="741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ABOUT </a:t>
              </a:r>
              <a:endParaRPr sz="700">
                <a:latin typeface="Inter"/>
                <a:ea typeface="Inter"/>
                <a:cs typeface="Inter"/>
                <a:sym typeface="Inter"/>
              </a:endParaRPr>
            </a:p>
          </p:txBody>
        </p:sp>
        <p:sp>
          <p:nvSpPr>
            <p:cNvPr id="203" name="Google Shape;203;p30"/>
            <p:cNvSpPr txBox="1"/>
            <p:nvPr/>
          </p:nvSpPr>
          <p:spPr>
            <a:xfrm>
              <a:off x="2688178"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PROGRAMS</a:t>
              </a:r>
              <a:endParaRPr sz="700">
                <a:latin typeface="Inter"/>
                <a:ea typeface="Inter"/>
                <a:cs typeface="Inter"/>
                <a:sym typeface="Inter"/>
              </a:endParaRPr>
            </a:p>
          </p:txBody>
        </p:sp>
        <p:sp>
          <p:nvSpPr>
            <p:cNvPr id="204" name="Google Shape;204;p30"/>
            <p:cNvSpPr txBox="1"/>
            <p:nvPr/>
          </p:nvSpPr>
          <p:spPr>
            <a:xfrm>
              <a:off x="4348845"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ADMISSIONS</a:t>
              </a:r>
              <a:endParaRPr sz="700">
                <a:latin typeface="Inter"/>
                <a:ea typeface="Inter"/>
                <a:cs typeface="Inter"/>
                <a:sym typeface="Inter"/>
              </a:endParaRPr>
            </a:p>
          </p:txBody>
        </p:sp>
        <p:sp>
          <p:nvSpPr>
            <p:cNvPr id="205" name="Google Shape;205;p30"/>
            <p:cNvSpPr txBox="1"/>
            <p:nvPr/>
          </p:nvSpPr>
          <p:spPr>
            <a:xfrm>
              <a:off x="1923772"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TREATMENT</a:t>
              </a:r>
              <a:endParaRPr sz="700">
                <a:latin typeface="Inter"/>
                <a:ea typeface="Inter"/>
                <a:cs typeface="Inter"/>
                <a:sym typeface="Inter"/>
              </a:endParaRPr>
            </a:p>
          </p:txBody>
        </p:sp>
        <p:sp>
          <p:nvSpPr>
            <p:cNvPr id="206" name="Google Shape;206;p30"/>
            <p:cNvSpPr txBox="1"/>
            <p:nvPr/>
          </p:nvSpPr>
          <p:spPr>
            <a:xfrm>
              <a:off x="5708040" y="3347263"/>
              <a:ext cx="1157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RESOURCES </a:t>
              </a:r>
              <a:endParaRPr sz="700">
                <a:latin typeface="Inter"/>
                <a:ea typeface="Inter"/>
                <a:cs typeface="Inter"/>
                <a:sym typeface="Inter"/>
              </a:endParaRPr>
            </a:p>
          </p:txBody>
        </p:sp>
        <p:sp>
          <p:nvSpPr>
            <p:cNvPr id="207" name="Google Shape;207;p30"/>
            <p:cNvSpPr txBox="1"/>
            <p:nvPr/>
          </p:nvSpPr>
          <p:spPr>
            <a:xfrm>
              <a:off x="6557137" y="3347263"/>
              <a:ext cx="14553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727C36"/>
                  </a:solidFill>
                  <a:latin typeface="Inter"/>
                  <a:ea typeface="Inter"/>
                  <a:cs typeface="Inter"/>
                  <a:sym typeface="Inter"/>
                </a:rPr>
                <a:t>VERIFY INSURANCE</a:t>
              </a:r>
              <a:endParaRPr b="1" sz="700">
                <a:solidFill>
                  <a:srgbClr val="727C36"/>
                </a:solidFill>
                <a:latin typeface="Inter"/>
                <a:ea typeface="Inter"/>
                <a:cs typeface="Inter"/>
                <a:sym typeface="Inter"/>
              </a:endParaRPr>
            </a:p>
          </p:txBody>
        </p:sp>
        <p:sp>
          <p:nvSpPr>
            <p:cNvPr id="208" name="Google Shape;208;p30"/>
            <p:cNvSpPr txBox="1"/>
            <p:nvPr/>
          </p:nvSpPr>
          <p:spPr>
            <a:xfrm>
              <a:off x="7868834" y="3347263"/>
              <a:ext cx="1074600" cy="292500"/>
            </a:xfrm>
            <a:prstGeom prst="rect">
              <a:avLst/>
            </a:prstGeom>
            <a:solidFill>
              <a:srgbClr val="727C3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chemeClr val="lt1"/>
                  </a:solidFill>
                  <a:latin typeface="Inter"/>
                  <a:ea typeface="Inter"/>
                  <a:cs typeface="Inter"/>
                  <a:sym typeface="Inter"/>
                </a:rPr>
                <a:t>CALL NOW  </a:t>
              </a:r>
              <a:endParaRPr b="1" sz="700">
                <a:solidFill>
                  <a:schemeClr val="lt1"/>
                </a:solidFill>
                <a:latin typeface="Inter"/>
                <a:ea typeface="Inter"/>
                <a:cs typeface="Inter"/>
                <a:sym typeface="Inter"/>
              </a:endParaRPr>
            </a:p>
          </p:txBody>
        </p:sp>
        <p:sp>
          <p:nvSpPr>
            <p:cNvPr id="209" name="Google Shape;209;p30"/>
            <p:cNvSpPr txBox="1"/>
            <p:nvPr/>
          </p:nvSpPr>
          <p:spPr>
            <a:xfrm>
              <a:off x="3550813"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WHAT WE TREAT</a:t>
              </a:r>
              <a:endParaRPr sz="700">
                <a:latin typeface="Inter"/>
                <a:ea typeface="Inter"/>
                <a:cs typeface="Inter"/>
                <a:sym typeface="Inter"/>
              </a:endParaRPr>
            </a:p>
          </p:txBody>
        </p:sp>
        <p:pic>
          <p:nvPicPr>
            <p:cNvPr id="210" name="Google Shape;210;p30" title="Screenshot 2026-02-12 at 12.05.06 PM.png"/>
            <p:cNvPicPr preferRelativeResize="0"/>
            <p:nvPr/>
          </p:nvPicPr>
          <p:blipFill rotWithShape="1">
            <a:blip r:embed="rId3">
              <a:alphaModFix/>
            </a:blip>
            <a:srcRect b="38688" l="0" r="65952" t="0"/>
            <a:stretch/>
          </p:blipFill>
          <p:spPr>
            <a:xfrm>
              <a:off x="351200" y="3254387"/>
              <a:ext cx="1842000" cy="478275"/>
            </a:xfrm>
            <a:prstGeom prst="rect">
              <a:avLst/>
            </a:prstGeom>
            <a:noFill/>
            <a:ln>
              <a:noFill/>
            </a:ln>
          </p:spPr>
        </p:pic>
      </p:grpSp>
      <p:sp>
        <p:nvSpPr>
          <p:cNvPr id="211" name="Google Shape;211;p30"/>
          <p:cNvSpPr/>
          <p:nvPr/>
        </p:nvSpPr>
        <p:spPr>
          <a:xfrm>
            <a:off x="4440741" y="1968000"/>
            <a:ext cx="442575" cy="360250"/>
          </a:xfrm>
          <a:custGeom>
            <a:rect b="b" l="l" r="r" t="t"/>
            <a:pathLst>
              <a:path extrusionOk="0" h="14410" w="17703">
                <a:moveTo>
                  <a:pt x="358" y="0"/>
                </a:moveTo>
                <a:cubicBezTo>
                  <a:pt x="-629" y="3289"/>
                  <a:pt x="546" y="7814"/>
                  <a:pt x="3293" y="9874"/>
                </a:cubicBezTo>
                <a:cubicBezTo>
                  <a:pt x="7322" y="12895"/>
                  <a:pt x="12926" y="12818"/>
                  <a:pt x="17703" y="14410"/>
                </a:cubicBezTo>
              </a:path>
            </a:pathLst>
          </a:custGeom>
          <a:noFill/>
          <a:ln cap="flat" cmpd="sng" w="19050">
            <a:solidFill>
              <a:srgbClr val="FF2F0A"/>
            </a:solidFill>
            <a:prstDash val="solid"/>
            <a:round/>
            <a:headEnd len="med" w="med" type="none"/>
            <a:tailEnd len="med" w="med" type="stealth"/>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nvSpPr>
        <p:spPr>
          <a:xfrm>
            <a:off x="5644800" y="2395575"/>
            <a:ext cx="2728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Inter"/>
                <a:ea typeface="Inter"/>
                <a:cs typeface="Inter"/>
                <a:sym typeface="Inter"/>
              </a:rPr>
              <a:t>/resources/</a:t>
            </a:r>
            <a:endParaRPr sz="900">
              <a:latin typeface="Inter"/>
              <a:ea typeface="Inter"/>
              <a:cs typeface="Inter"/>
              <a:sym typeface="Inter"/>
            </a:endParaRPr>
          </a:p>
          <a:p>
            <a:pPr indent="-285750" lvl="0" marL="457200" rtl="0" algn="l">
              <a:spcBef>
                <a:spcPts val="0"/>
              </a:spcBef>
              <a:spcAft>
                <a:spcPts val="0"/>
              </a:spcAft>
              <a:buSzPts val="900"/>
              <a:buFont typeface="Inter"/>
              <a:buChar char="➔"/>
            </a:pPr>
            <a:r>
              <a:rPr lang="en" sz="900">
                <a:latin typeface="Inter"/>
                <a:ea typeface="Inter"/>
                <a:cs typeface="Inter"/>
                <a:sym typeface="Inter"/>
              </a:rPr>
              <a:t>/resources/blog/</a:t>
            </a:r>
            <a:endParaRPr sz="900">
              <a:latin typeface="Inter"/>
              <a:ea typeface="Inter"/>
              <a:cs typeface="Inter"/>
              <a:sym typeface="Inter"/>
            </a:endParaRPr>
          </a:p>
          <a:p>
            <a:pPr indent="-285750" lvl="0" marL="457200" rtl="0" algn="l">
              <a:spcBef>
                <a:spcPts val="0"/>
              </a:spcBef>
              <a:spcAft>
                <a:spcPts val="0"/>
              </a:spcAft>
              <a:buSzPts val="900"/>
              <a:buFont typeface="Inter"/>
              <a:buChar char="➔"/>
            </a:pPr>
            <a:r>
              <a:rPr lang="en" sz="900">
                <a:latin typeface="Inter"/>
                <a:ea typeface="Inter"/>
                <a:cs typeface="Inter"/>
                <a:sym typeface="Inter"/>
              </a:rPr>
              <a:t>/resources/continuing-education/</a:t>
            </a:r>
            <a:endParaRPr sz="900">
              <a:latin typeface="Inter"/>
              <a:ea typeface="Inter"/>
              <a:cs typeface="Inter"/>
              <a:sym typeface="Inter"/>
            </a:endParaRPr>
          </a:p>
          <a:p>
            <a:pPr indent="-285750" lvl="0" marL="457200" rtl="0" algn="l">
              <a:spcBef>
                <a:spcPts val="0"/>
              </a:spcBef>
              <a:spcAft>
                <a:spcPts val="0"/>
              </a:spcAft>
              <a:buSzPts val="900"/>
              <a:buFont typeface="Inter"/>
              <a:buChar char="➔"/>
            </a:pPr>
            <a:r>
              <a:rPr lang="en" sz="900">
                <a:latin typeface="Inter"/>
                <a:ea typeface="Inter"/>
                <a:cs typeface="Inter"/>
                <a:sym typeface="Inter"/>
              </a:rPr>
              <a:t>/resources/in-the-media/</a:t>
            </a:r>
            <a:endParaRPr sz="900">
              <a:latin typeface="Inter"/>
              <a:ea typeface="Inter"/>
              <a:cs typeface="Inter"/>
              <a:sym typeface="Inter"/>
            </a:endParaRPr>
          </a:p>
          <a:p>
            <a:pPr indent="-285750" lvl="0" marL="457200" rtl="0" algn="l">
              <a:spcBef>
                <a:spcPts val="0"/>
              </a:spcBef>
              <a:spcAft>
                <a:spcPts val="0"/>
              </a:spcAft>
              <a:buSzPts val="900"/>
              <a:buFont typeface="Inter"/>
              <a:buChar char="➔"/>
            </a:pPr>
            <a:r>
              <a:rPr lang="en" sz="900">
                <a:latin typeface="Inter"/>
                <a:ea typeface="Inter"/>
                <a:cs typeface="Inter"/>
                <a:sym typeface="Inter"/>
              </a:rPr>
              <a:t>/resources/faq/</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p:txBody>
      </p:sp>
      <p:sp>
        <p:nvSpPr>
          <p:cNvPr id="217" name="Google Shape;217;p31"/>
          <p:cNvSpPr/>
          <p:nvPr/>
        </p:nvSpPr>
        <p:spPr>
          <a:xfrm>
            <a:off x="6170325" y="2010575"/>
            <a:ext cx="107529" cy="484475"/>
          </a:xfrm>
          <a:custGeom>
            <a:rect b="b" l="l" r="r" t="t"/>
            <a:pathLst>
              <a:path extrusionOk="0" h="19379" w="3391">
                <a:moveTo>
                  <a:pt x="3392" y="0"/>
                </a:moveTo>
                <a:cubicBezTo>
                  <a:pt x="503" y="5779"/>
                  <a:pt x="-2307" y="15795"/>
                  <a:pt x="3069" y="19379"/>
                </a:cubicBezTo>
              </a:path>
            </a:pathLst>
          </a:custGeom>
          <a:noFill/>
          <a:ln cap="flat" cmpd="sng" w="19050">
            <a:solidFill>
              <a:srgbClr val="FF2F0A"/>
            </a:solidFill>
            <a:prstDash val="solid"/>
            <a:round/>
            <a:headEnd len="med" w="med" type="none"/>
            <a:tailEnd len="med" w="med" type="stealth"/>
          </a:ln>
        </p:spPr>
      </p:sp>
      <p:sp>
        <p:nvSpPr>
          <p:cNvPr id="218" name="Google Shape;218;p31"/>
          <p:cNvSpPr txBox="1"/>
          <p:nvPr/>
        </p:nvSpPr>
        <p:spPr>
          <a:xfrm>
            <a:off x="1001275" y="2314825"/>
            <a:ext cx="2458500" cy="22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latin typeface="Inter"/>
                <a:ea typeface="Inter"/>
                <a:cs typeface="Inter"/>
                <a:sym typeface="Inter"/>
              </a:rPr>
              <a:t>/about/</a:t>
            </a:r>
            <a:endParaRPr sz="900">
              <a:latin typeface="Inter"/>
              <a:ea typeface="Inter"/>
              <a:cs typeface="Inter"/>
              <a:sym typeface="Inter"/>
            </a:endParaRPr>
          </a:p>
          <a:p>
            <a:pPr indent="-285750" lvl="0" marL="457200" rtl="0" algn="l">
              <a:lnSpc>
                <a:spcPct val="115000"/>
              </a:lnSpc>
              <a:spcBef>
                <a:spcPts val="1200"/>
              </a:spcBef>
              <a:spcAft>
                <a:spcPts val="0"/>
              </a:spcAft>
              <a:buSzPts val="900"/>
              <a:buFont typeface="Inter"/>
              <a:buChar char="➔"/>
            </a:pPr>
            <a:r>
              <a:rPr lang="en" sz="900">
                <a:latin typeface="Inter"/>
                <a:ea typeface="Inter"/>
                <a:cs typeface="Inter"/>
                <a:sym typeface="Inter"/>
              </a:rPr>
              <a:t>/about/our-story/</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/about/mission-values/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/about/leadership/</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/about/clinical-team/</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/about/quality-accreditation/</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/about/treatment-outcomes/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/about/careers/</a:t>
            </a:r>
            <a:endParaRPr sz="900">
              <a:latin typeface="Inter"/>
              <a:ea typeface="Inter"/>
              <a:cs typeface="Inter"/>
              <a:sym typeface="Inter"/>
            </a:endParaRPr>
          </a:p>
          <a:p>
            <a:pPr indent="-285750" lvl="0" marL="457200" rtl="0" algn="l">
              <a:lnSpc>
                <a:spcPct val="115000"/>
              </a:lnSpc>
              <a:spcBef>
                <a:spcPts val="0"/>
              </a:spcBef>
              <a:spcAft>
                <a:spcPts val="0"/>
              </a:spcAft>
              <a:buSzPts val="900"/>
              <a:buFont typeface="Inter"/>
              <a:buChar char="➔"/>
            </a:pPr>
            <a:r>
              <a:rPr lang="en" sz="900">
                <a:latin typeface="Inter"/>
                <a:ea typeface="Inter"/>
                <a:cs typeface="Inter"/>
                <a:sym typeface="Inter"/>
              </a:rPr>
              <a:t>/about/facility-tour/</a:t>
            </a:r>
            <a:br>
              <a:rPr lang="en" sz="900">
                <a:latin typeface="Inter"/>
                <a:ea typeface="Inter"/>
                <a:cs typeface="Inter"/>
                <a:sym typeface="Inter"/>
              </a:rPr>
            </a:br>
            <a:endParaRPr sz="900">
              <a:latin typeface="Inter"/>
              <a:ea typeface="Inter"/>
              <a:cs typeface="Inter"/>
              <a:sym typeface="Inter"/>
            </a:endParaRPr>
          </a:p>
          <a:p>
            <a:pPr indent="0" lvl="0" marL="0" rtl="0" algn="l">
              <a:spcBef>
                <a:spcPts val="1200"/>
              </a:spcBef>
              <a:spcAft>
                <a:spcPts val="0"/>
              </a:spcAft>
              <a:buNone/>
            </a:pPr>
            <a:r>
              <a:t/>
            </a:r>
            <a:endParaRPr sz="900">
              <a:latin typeface="Inter"/>
              <a:ea typeface="Inter"/>
              <a:cs typeface="Inter"/>
              <a:sym typeface="Inter"/>
            </a:endParaRPr>
          </a:p>
        </p:txBody>
      </p:sp>
      <p:sp>
        <p:nvSpPr>
          <p:cNvPr id="219" name="Google Shape;219;p31"/>
          <p:cNvSpPr/>
          <p:nvPr/>
        </p:nvSpPr>
        <p:spPr>
          <a:xfrm>
            <a:off x="2067100" y="1984725"/>
            <a:ext cx="3656594" cy="405344"/>
          </a:xfrm>
          <a:custGeom>
            <a:rect b="b" l="l" r="r" t="t"/>
            <a:pathLst>
              <a:path extrusionOk="0" h="15180" w="139206">
                <a:moveTo>
                  <a:pt x="139206" y="0"/>
                </a:moveTo>
                <a:cubicBezTo>
                  <a:pt x="125448" y="9172"/>
                  <a:pt x="106636" y="7717"/>
                  <a:pt x="90113" y="7105"/>
                </a:cubicBezTo>
                <a:cubicBezTo>
                  <a:pt x="74292" y="6519"/>
                  <a:pt x="58466" y="5813"/>
                  <a:pt x="42634" y="5813"/>
                </a:cubicBezTo>
                <a:cubicBezTo>
                  <a:pt x="28084" y="5813"/>
                  <a:pt x="4601" y="1376"/>
                  <a:pt x="0" y="15180"/>
                </a:cubicBezTo>
              </a:path>
            </a:pathLst>
          </a:custGeom>
          <a:noFill/>
          <a:ln cap="flat" cmpd="sng" w="19050">
            <a:solidFill>
              <a:srgbClr val="FF2F0A"/>
            </a:solidFill>
            <a:prstDash val="solid"/>
            <a:round/>
            <a:headEnd len="med" w="med" type="none"/>
            <a:tailEnd len="med" w="med" type="stealth"/>
          </a:ln>
        </p:spPr>
      </p:sp>
      <p:sp>
        <p:nvSpPr>
          <p:cNvPr id="220" name="Google Shape;220;p31"/>
          <p:cNvSpPr txBox="1"/>
          <p:nvPr/>
        </p:nvSpPr>
        <p:spPr>
          <a:xfrm>
            <a:off x="258425" y="150400"/>
            <a:ext cx="77517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rgbClr val="FF2F0A"/>
                </a:solidFill>
                <a:latin typeface="Inter"/>
                <a:ea typeface="Inter"/>
                <a:cs typeface="Inter"/>
                <a:sym typeface="Inter"/>
              </a:rPr>
              <a:t>About + Resources are the credibility layer.</a:t>
            </a:r>
            <a:endParaRPr b="1">
              <a:solidFill>
                <a:srgbClr val="FF2F0A"/>
              </a:solidFill>
              <a:latin typeface="Inter"/>
              <a:ea typeface="Inter"/>
              <a:cs typeface="Inter"/>
              <a:sym typeface="Inter"/>
            </a:endParaRPr>
          </a:p>
          <a:p>
            <a:pPr indent="0" lvl="0" marL="0" rtl="0" algn="l">
              <a:lnSpc>
                <a:spcPct val="115000"/>
              </a:lnSpc>
              <a:spcBef>
                <a:spcPts val="1200"/>
              </a:spcBef>
              <a:spcAft>
                <a:spcPts val="1200"/>
              </a:spcAft>
              <a:buNone/>
            </a:pPr>
            <a:r>
              <a:rPr lang="en">
                <a:solidFill>
                  <a:schemeClr val="dk1"/>
                </a:solidFill>
                <a:latin typeface="Inter"/>
                <a:ea typeface="Inter"/>
                <a:cs typeface="Inter"/>
                <a:sym typeface="Inter"/>
              </a:rPr>
              <a:t>About consolidates core E-E-A-T signals—team, standards, accreditation, and outcomes—so trust is easy to verify. Resources extends that authority through helpful, structured content (blog, FAQs, continuing education, media coverage) that answers real questions and supports search visibility over time.</a:t>
            </a:r>
            <a:endParaRPr>
              <a:solidFill>
                <a:schemeClr val="dk1"/>
              </a:solidFill>
              <a:latin typeface="Inter"/>
              <a:ea typeface="Inter"/>
              <a:cs typeface="Inter"/>
              <a:sym typeface="Inter"/>
            </a:endParaRPr>
          </a:p>
        </p:txBody>
      </p:sp>
      <p:grpSp>
        <p:nvGrpSpPr>
          <p:cNvPr id="221" name="Google Shape;221;p31"/>
          <p:cNvGrpSpPr/>
          <p:nvPr/>
        </p:nvGrpSpPr>
        <p:grpSpPr>
          <a:xfrm>
            <a:off x="313325" y="1580125"/>
            <a:ext cx="8781900" cy="734700"/>
            <a:chOff x="286650" y="3182600"/>
            <a:chExt cx="8781900" cy="734700"/>
          </a:xfrm>
        </p:grpSpPr>
        <p:sp>
          <p:nvSpPr>
            <p:cNvPr id="222" name="Google Shape;222;p31"/>
            <p:cNvSpPr/>
            <p:nvPr/>
          </p:nvSpPr>
          <p:spPr>
            <a:xfrm>
              <a:off x="286650" y="3182600"/>
              <a:ext cx="8781900" cy="73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1"/>
            <p:cNvSpPr txBox="1"/>
            <p:nvPr/>
          </p:nvSpPr>
          <p:spPr>
            <a:xfrm>
              <a:off x="5274742" y="3347263"/>
              <a:ext cx="741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ABOUT </a:t>
              </a:r>
              <a:endParaRPr sz="700">
                <a:latin typeface="Inter"/>
                <a:ea typeface="Inter"/>
                <a:cs typeface="Inter"/>
                <a:sym typeface="Inter"/>
              </a:endParaRPr>
            </a:p>
          </p:txBody>
        </p:sp>
        <p:sp>
          <p:nvSpPr>
            <p:cNvPr id="224" name="Google Shape;224;p31"/>
            <p:cNvSpPr txBox="1"/>
            <p:nvPr/>
          </p:nvSpPr>
          <p:spPr>
            <a:xfrm>
              <a:off x="2688178"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PROGRAMS</a:t>
              </a:r>
              <a:endParaRPr sz="700">
                <a:latin typeface="Inter"/>
                <a:ea typeface="Inter"/>
                <a:cs typeface="Inter"/>
                <a:sym typeface="Inter"/>
              </a:endParaRPr>
            </a:p>
          </p:txBody>
        </p:sp>
        <p:sp>
          <p:nvSpPr>
            <p:cNvPr id="225" name="Google Shape;225;p31"/>
            <p:cNvSpPr txBox="1"/>
            <p:nvPr/>
          </p:nvSpPr>
          <p:spPr>
            <a:xfrm>
              <a:off x="4348845"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ADMISSIONS</a:t>
              </a:r>
              <a:endParaRPr sz="700">
                <a:latin typeface="Inter"/>
                <a:ea typeface="Inter"/>
                <a:cs typeface="Inter"/>
                <a:sym typeface="Inter"/>
              </a:endParaRPr>
            </a:p>
          </p:txBody>
        </p:sp>
        <p:sp>
          <p:nvSpPr>
            <p:cNvPr id="226" name="Google Shape;226;p31"/>
            <p:cNvSpPr txBox="1"/>
            <p:nvPr/>
          </p:nvSpPr>
          <p:spPr>
            <a:xfrm>
              <a:off x="1923772"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TREATMENT</a:t>
              </a:r>
              <a:endParaRPr sz="700">
                <a:latin typeface="Inter"/>
                <a:ea typeface="Inter"/>
                <a:cs typeface="Inter"/>
                <a:sym typeface="Inter"/>
              </a:endParaRPr>
            </a:p>
          </p:txBody>
        </p:sp>
        <p:sp>
          <p:nvSpPr>
            <p:cNvPr id="227" name="Google Shape;227;p31"/>
            <p:cNvSpPr txBox="1"/>
            <p:nvPr/>
          </p:nvSpPr>
          <p:spPr>
            <a:xfrm>
              <a:off x="5708040" y="3347263"/>
              <a:ext cx="1157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RESOURCES </a:t>
              </a:r>
              <a:endParaRPr sz="700">
                <a:latin typeface="Inter"/>
                <a:ea typeface="Inter"/>
                <a:cs typeface="Inter"/>
                <a:sym typeface="Inter"/>
              </a:endParaRPr>
            </a:p>
          </p:txBody>
        </p:sp>
        <p:sp>
          <p:nvSpPr>
            <p:cNvPr id="228" name="Google Shape;228;p31"/>
            <p:cNvSpPr txBox="1"/>
            <p:nvPr/>
          </p:nvSpPr>
          <p:spPr>
            <a:xfrm>
              <a:off x="6557137" y="3347263"/>
              <a:ext cx="14553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727C36"/>
                  </a:solidFill>
                  <a:latin typeface="Inter"/>
                  <a:ea typeface="Inter"/>
                  <a:cs typeface="Inter"/>
                  <a:sym typeface="Inter"/>
                </a:rPr>
                <a:t>VERIFY INSURANCE</a:t>
              </a:r>
              <a:endParaRPr b="1" sz="700">
                <a:solidFill>
                  <a:srgbClr val="727C36"/>
                </a:solidFill>
                <a:latin typeface="Inter"/>
                <a:ea typeface="Inter"/>
                <a:cs typeface="Inter"/>
                <a:sym typeface="Inter"/>
              </a:endParaRPr>
            </a:p>
          </p:txBody>
        </p:sp>
        <p:sp>
          <p:nvSpPr>
            <p:cNvPr id="229" name="Google Shape;229;p31"/>
            <p:cNvSpPr txBox="1"/>
            <p:nvPr/>
          </p:nvSpPr>
          <p:spPr>
            <a:xfrm>
              <a:off x="7868834" y="3347263"/>
              <a:ext cx="1074600" cy="292500"/>
            </a:xfrm>
            <a:prstGeom prst="rect">
              <a:avLst/>
            </a:prstGeom>
            <a:solidFill>
              <a:srgbClr val="727C3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chemeClr val="lt1"/>
                  </a:solidFill>
                  <a:latin typeface="Inter"/>
                  <a:ea typeface="Inter"/>
                  <a:cs typeface="Inter"/>
                  <a:sym typeface="Inter"/>
                </a:rPr>
                <a:t>CALL NOW  </a:t>
              </a:r>
              <a:endParaRPr b="1" sz="700">
                <a:solidFill>
                  <a:schemeClr val="lt1"/>
                </a:solidFill>
                <a:latin typeface="Inter"/>
                <a:ea typeface="Inter"/>
                <a:cs typeface="Inter"/>
                <a:sym typeface="Inter"/>
              </a:endParaRPr>
            </a:p>
          </p:txBody>
        </p:sp>
        <p:sp>
          <p:nvSpPr>
            <p:cNvPr id="230" name="Google Shape;230;p31"/>
            <p:cNvSpPr txBox="1"/>
            <p:nvPr/>
          </p:nvSpPr>
          <p:spPr>
            <a:xfrm>
              <a:off x="3550813" y="3347263"/>
              <a:ext cx="12342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Inter"/>
                  <a:ea typeface="Inter"/>
                  <a:cs typeface="Inter"/>
                  <a:sym typeface="Inter"/>
                </a:rPr>
                <a:t>WHAT WE TREAT</a:t>
              </a:r>
              <a:endParaRPr sz="700">
                <a:latin typeface="Inter"/>
                <a:ea typeface="Inter"/>
                <a:cs typeface="Inter"/>
                <a:sym typeface="Inter"/>
              </a:endParaRPr>
            </a:p>
          </p:txBody>
        </p:sp>
        <p:pic>
          <p:nvPicPr>
            <p:cNvPr id="231" name="Google Shape;231;p31" title="Screenshot 2026-02-12 at 12.05.06 PM.png"/>
            <p:cNvPicPr preferRelativeResize="0"/>
            <p:nvPr/>
          </p:nvPicPr>
          <p:blipFill rotWithShape="1">
            <a:blip r:embed="rId3">
              <a:alphaModFix/>
            </a:blip>
            <a:srcRect b="38688" l="0" r="65952" t="0"/>
            <a:stretch/>
          </p:blipFill>
          <p:spPr>
            <a:xfrm>
              <a:off x="351200" y="3254387"/>
              <a:ext cx="1842000" cy="478275"/>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p:nvPr/>
        </p:nvSpPr>
        <p:spPr>
          <a:xfrm>
            <a:off x="108300" y="2371138"/>
            <a:ext cx="8927400" cy="1385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7" name="Google Shape;237;p32" title="Screenshot 2026-02-11 at 4.59.17 PM.png"/>
          <p:cNvPicPr preferRelativeResize="0"/>
          <p:nvPr/>
        </p:nvPicPr>
        <p:blipFill rotWithShape="1">
          <a:blip r:embed="rId3">
            <a:alphaModFix/>
          </a:blip>
          <a:srcRect b="31745" l="76704" r="1352" t="0"/>
          <a:stretch/>
        </p:blipFill>
        <p:spPr>
          <a:xfrm>
            <a:off x="7281849" y="2733300"/>
            <a:ext cx="1714949" cy="841100"/>
          </a:xfrm>
          <a:prstGeom prst="rect">
            <a:avLst/>
          </a:prstGeom>
          <a:noFill/>
          <a:ln>
            <a:noFill/>
          </a:ln>
        </p:spPr>
      </p:pic>
      <p:grpSp>
        <p:nvGrpSpPr>
          <p:cNvPr id="238" name="Google Shape;238;p32"/>
          <p:cNvGrpSpPr/>
          <p:nvPr/>
        </p:nvGrpSpPr>
        <p:grpSpPr>
          <a:xfrm>
            <a:off x="81400" y="545525"/>
            <a:ext cx="8927400" cy="1385400"/>
            <a:chOff x="121225" y="926525"/>
            <a:chExt cx="8927400" cy="1385400"/>
          </a:xfrm>
        </p:grpSpPr>
        <p:sp>
          <p:nvSpPr>
            <p:cNvPr id="239" name="Google Shape;239;p32"/>
            <p:cNvSpPr/>
            <p:nvPr/>
          </p:nvSpPr>
          <p:spPr>
            <a:xfrm>
              <a:off x="121225" y="926525"/>
              <a:ext cx="8927400" cy="1385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32" title="Screenshot 2026-02-11 at 4.59.17 PM.png"/>
            <p:cNvPicPr preferRelativeResize="0"/>
            <p:nvPr/>
          </p:nvPicPr>
          <p:blipFill rotWithShape="1">
            <a:blip r:embed="rId3">
              <a:alphaModFix/>
            </a:blip>
            <a:srcRect b="12111" l="0" r="1526" t="8366"/>
            <a:stretch/>
          </p:blipFill>
          <p:spPr>
            <a:xfrm>
              <a:off x="263250" y="1021775"/>
              <a:ext cx="8704099" cy="1108375"/>
            </a:xfrm>
            <a:prstGeom prst="rect">
              <a:avLst/>
            </a:prstGeom>
            <a:noFill/>
            <a:ln>
              <a:noFill/>
            </a:ln>
          </p:spPr>
        </p:pic>
      </p:grpSp>
      <p:sp>
        <p:nvSpPr>
          <p:cNvPr id="241" name="Google Shape;241;p32"/>
          <p:cNvSpPr txBox="1"/>
          <p:nvPr/>
        </p:nvSpPr>
        <p:spPr>
          <a:xfrm>
            <a:off x="181850" y="201075"/>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595959"/>
                </a:solidFill>
                <a:latin typeface="Inter"/>
                <a:ea typeface="Inter"/>
                <a:cs typeface="Inter"/>
                <a:sym typeface="Inter"/>
              </a:rPr>
              <a:t>Current:</a:t>
            </a:r>
            <a:endParaRPr i="1" sz="900">
              <a:solidFill>
                <a:srgbClr val="595959"/>
              </a:solidFill>
              <a:latin typeface="Inter"/>
              <a:ea typeface="Inter"/>
              <a:cs typeface="Inter"/>
              <a:sym typeface="Inter"/>
            </a:endParaRPr>
          </a:p>
        </p:txBody>
      </p:sp>
      <p:pic>
        <p:nvPicPr>
          <p:cNvPr id="242" name="Google Shape;242;p32" title="Screenshot 2026-02-11 at 4.59.17 PM.png"/>
          <p:cNvPicPr preferRelativeResize="0"/>
          <p:nvPr/>
        </p:nvPicPr>
        <p:blipFill rotWithShape="1">
          <a:blip r:embed="rId3">
            <a:alphaModFix/>
          </a:blip>
          <a:srcRect b="31745" l="2096" r="63597" t="0"/>
          <a:stretch/>
        </p:blipFill>
        <p:spPr>
          <a:xfrm>
            <a:off x="221676" y="2672675"/>
            <a:ext cx="2493674" cy="782325"/>
          </a:xfrm>
          <a:prstGeom prst="rect">
            <a:avLst/>
          </a:prstGeom>
          <a:noFill/>
          <a:ln>
            <a:noFill/>
          </a:ln>
        </p:spPr>
      </p:pic>
      <p:sp>
        <p:nvSpPr>
          <p:cNvPr id="243" name="Google Shape;243;p32"/>
          <p:cNvSpPr txBox="1"/>
          <p:nvPr/>
        </p:nvSpPr>
        <p:spPr>
          <a:xfrm>
            <a:off x="261525" y="2048050"/>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FF2F0A"/>
                </a:solidFill>
                <a:latin typeface="Inter"/>
                <a:ea typeface="Inter"/>
                <a:cs typeface="Inter"/>
                <a:sym typeface="Inter"/>
              </a:rPr>
              <a:t>Future</a:t>
            </a:r>
            <a:r>
              <a:rPr i="1" lang="en" sz="900">
                <a:solidFill>
                  <a:srgbClr val="FF2F0A"/>
                </a:solidFill>
                <a:latin typeface="Inter"/>
                <a:ea typeface="Inter"/>
                <a:cs typeface="Inter"/>
                <a:sym typeface="Inter"/>
              </a:rPr>
              <a:t>:</a:t>
            </a:r>
            <a:endParaRPr i="1" sz="900">
              <a:solidFill>
                <a:srgbClr val="FF2F0A"/>
              </a:solidFill>
              <a:latin typeface="Inter"/>
              <a:ea typeface="Inter"/>
              <a:cs typeface="Inter"/>
              <a:sym typeface="Inter"/>
            </a:endParaRPr>
          </a:p>
        </p:txBody>
      </p:sp>
      <p:grpSp>
        <p:nvGrpSpPr>
          <p:cNvPr id="244" name="Google Shape;244;p32"/>
          <p:cNvGrpSpPr/>
          <p:nvPr/>
        </p:nvGrpSpPr>
        <p:grpSpPr>
          <a:xfrm>
            <a:off x="2137131" y="3141411"/>
            <a:ext cx="5734917" cy="321779"/>
            <a:chOff x="1652353" y="3347263"/>
            <a:chExt cx="5213087" cy="292500"/>
          </a:xfrm>
        </p:grpSpPr>
        <p:sp>
          <p:nvSpPr>
            <p:cNvPr id="245" name="Google Shape;245;p32"/>
            <p:cNvSpPr txBox="1"/>
            <p:nvPr/>
          </p:nvSpPr>
          <p:spPr>
            <a:xfrm>
              <a:off x="5274742" y="3347263"/>
              <a:ext cx="7416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ABOUT </a:t>
              </a:r>
              <a:endParaRPr sz="770">
                <a:latin typeface="Inter"/>
                <a:ea typeface="Inter"/>
                <a:cs typeface="Inter"/>
                <a:sym typeface="Inter"/>
              </a:endParaRPr>
            </a:p>
          </p:txBody>
        </p:sp>
        <p:sp>
          <p:nvSpPr>
            <p:cNvPr id="246" name="Google Shape;246;p32"/>
            <p:cNvSpPr txBox="1"/>
            <p:nvPr/>
          </p:nvSpPr>
          <p:spPr>
            <a:xfrm>
              <a:off x="2653377"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PROGRAMS</a:t>
              </a:r>
              <a:endParaRPr sz="770">
                <a:latin typeface="Inter"/>
                <a:ea typeface="Inter"/>
                <a:cs typeface="Inter"/>
                <a:sym typeface="Inter"/>
              </a:endParaRPr>
            </a:p>
          </p:txBody>
        </p:sp>
        <p:sp>
          <p:nvSpPr>
            <p:cNvPr id="247" name="Google Shape;247;p32"/>
            <p:cNvSpPr txBox="1"/>
            <p:nvPr/>
          </p:nvSpPr>
          <p:spPr>
            <a:xfrm>
              <a:off x="4348845"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ADMISSIONS</a:t>
              </a:r>
              <a:endParaRPr sz="770">
                <a:latin typeface="Inter"/>
                <a:ea typeface="Inter"/>
                <a:cs typeface="Inter"/>
                <a:sym typeface="Inter"/>
              </a:endParaRPr>
            </a:p>
          </p:txBody>
        </p:sp>
        <p:sp>
          <p:nvSpPr>
            <p:cNvPr id="248" name="Google Shape;248;p32"/>
            <p:cNvSpPr txBox="1"/>
            <p:nvPr/>
          </p:nvSpPr>
          <p:spPr>
            <a:xfrm>
              <a:off x="5708040" y="3347263"/>
              <a:ext cx="11574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RESOURCES </a:t>
              </a:r>
              <a:endParaRPr sz="770">
                <a:latin typeface="Inter"/>
                <a:ea typeface="Inter"/>
                <a:cs typeface="Inter"/>
                <a:sym typeface="Inter"/>
              </a:endParaRPr>
            </a:p>
          </p:txBody>
        </p:sp>
        <p:sp>
          <p:nvSpPr>
            <p:cNvPr id="249" name="Google Shape;249;p32"/>
            <p:cNvSpPr txBox="1"/>
            <p:nvPr/>
          </p:nvSpPr>
          <p:spPr>
            <a:xfrm>
              <a:off x="355081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WHAT WE TREAT</a:t>
              </a:r>
              <a:endParaRPr sz="770">
                <a:latin typeface="Inter"/>
                <a:ea typeface="Inter"/>
                <a:cs typeface="Inter"/>
                <a:sym typeface="Inter"/>
              </a:endParaRPr>
            </a:p>
          </p:txBody>
        </p:sp>
        <p:sp>
          <p:nvSpPr>
            <p:cNvPr id="250" name="Google Shape;250;p32"/>
            <p:cNvSpPr txBox="1"/>
            <p:nvPr/>
          </p:nvSpPr>
          <p:spPr>
            <a:xfrm>
              <a:off x="165235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TREATMENT</a:t>
              </a:r>
              <a:endParaRPr sz="770">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p:nvPr/>
        </p:nvSpPr>
        <p:spPr>
          <a:xfrm>
            <a:off x="108300" y="466138"/>
            <a:ext cx="8927400" cy="1385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6" name="Google Shape;256;p33" title="Screenshot 2026-02-11 at 4.59.17 PM.png"/>
          <p:cNvPicPr preferRelativeResize="0"/>
          <p:nvPr/>
        </p:nvPicPr>
        <p:blipFill rotWithShape="1">
          <a:blip r:embed="rId3">
            <a:alphaModFix/>
          </a:blip>
          <a:srcRect b="31745" l="76704" r="1352" t="0"/>
          <a:stretch/>
        </p:blipFill>
        <p:spPr>
          <a:xfrm>
            <a:off x="7281849" y="828300"/>
            <a:ext cx="1714949" cy="841100"/>
          </a:xfrm>
          <a:prstGeom prst="rect">
            <a:avLst/>
          </a:prstGeom>
          <a:noFill/>
          <a:ln>
            <a:noFill/>
          </a:ln>
        </p:spPr>
      </p:pic>
      <p:pic>
        <p:nvPicPr>
          <p:cNvPr id="257" name="Google Shape;257;p33" title="Screenshot 2026-02-11 at 4.59.17 PM.png"/>
          <p:cNvPicPr preferRelativeResize="0"/>
          <p:nvPr/>
        </p:nvPicPr>
        <p:blipFill rotWithShape="1">
          <a:blip r:embed="rId3">
            <a:alphaModFix/>
          </a:blip>
          <a:srcRect b="31745" l="2096" r="63597" t="0"/>
          <a:stretch/>
        </p:blipFill>
        <p:spPr>
          <a:xfrm>
            <a:off x="221676" y="767675"/>
            <a:ext cx="2493674" cy="782325"/>
          </a:xfrm>
          <a:prstGeom prst="rect">
            <a:avLst/>
          </a:prstGeom>
          <a:noFill/>
          <a:ln>
            <a:noFill/>
          </a:ln>
        </p:spPr>
      </p:pic>
      <p:grpSp>
        <p:nvGrpSpPr>
          <p:cNvPr id="258" name="Google Shape;258;p33"/>
          <p:cNvGrpSpPr/>
          <p:nvPr/>
        </p:nvGrpSpPr>
        <p:grpSpPr>
          <a:xfrm>
            <a:off x="2137131" y="1236411"/>
            <a:ext cx="5734917" cy="321779"/>
            <a:chOff x="1652353" y="3347263"/>
            <a:chExt cx="5213087" cy="292500"/>
          </a:xfrm>
        </p:grpSpPr>
        <p:sp>
          <p:nvSpPr>
            <p:cNvPr id="259" name="Google Shape;259;p33"/>
            <p:cNvSpPr txBox="1"/>
            <p:nvPr/>
          </p:nvSpPr>
          <p:spPr>
            <a:xfrm>
              <a:off x="5274742" y="3347263"/>
              <a:ext cx="7416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ABOUT </a:t>
              </a:r>
              <a:endParaRPr sz="770">
                <a:latin typeface="Inter"/>
                <a:ea typeface="Inter"/>
                <a:cs typeface="Inter"/>
                <a:sym typeface="Inter"/>
              </a:endParaRPr>
            </a:p>
          </p:txBody>
        </p:sp>
        <p:sp>
          <p:nvSpPr>
            <p:cNvPr id="260" name="Google Shape;260;p33"/>
            <p:cNvSpPr txBox="1"/>
            <p:nvPr/>
          </p:nvSpPr>
          <p:spPr>
            <a:xfrm>
              <a:off x="2653377"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PROGRAMS</a:t>
              </a:r>
              <a:endParaRPr sz="770">
                <a:latin typeface="Inter"/>
                <a:ea typeface="Inter"/>
                <a:cs typeface="Inter"/>
                <a:sym typeface="Inter"/>
              </a:endParaRPr>
            </a:p>
          </p:txBody>
        </p:sp>
        <p:sp>
          <p:nvSpPr>
            <p:cNvPr id="261" name="Google Shape;261;p33"/>
            <p:cNvSpPr txBox="1"/>
            <p:nvPr/>
          </p:nvSpPr>
          <p:spPr>
            <a:xfrm>
              <a:off x="4348845"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ADMISSIONS</a:t>
              </a:r>
              <a:endParaRPr sz="770">
                <a:latin typeface="Inter"/>
                <a:ea typeface="Inter"/>
                <a:cs typeface="Inter"/>
                <a:sym typeface="Inter"/>
              </a:endParaRPr>
            </a:p>
          </p:txBody>
        </p:sp>
        <p:sp>
          <p:nvSpPr>
            <p:cNvPr id="262" name="Google Shape;262;p33"/>
            <p:cNvSpPr txBox="1"/>
            <p:nvPr/>
          </p:nvSpPr>
          <p:spPr>
            <a:xfrm>
              <a:off x="5708040" y="3347263"/>
              <a:ext cx="11574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RESOURCES </a:t>
              </a:r>
              <a:endParaRPr sz="770">
                <a:latin typeface="Inter"/>
                <a:ea typeface="Inter"/>
                <a:cs typeface="Inter"/>
                <a:sym typeface="Inter"/>
              </a:endParaRPr>
            </a:p>
          </p:txBody>
        </p:sp>
        <p:sp>
          <p:nvSpPr>
            <p:cNvPr id="263" name="Google Shape;263;p33"/>
            <p:cNvSpPr txBox="1"/>
            <p:nvPr/>
          </p:nvSpPr>
          <p:spPr>
            <a:xfrm>
              <a:off x="355081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WHAT WE TREAT</a:t>
              </a:r>
              <a:endParaRPr sz="770">
                <a:latin typeface="Inter"/>
                <a:ea typeface="Inter"/>
                <a:cs typeface="Inter"/>
                <a:sym typeface="Inter"/>
              </a:endParaRPr>
            </a:p>
          </p:txBody>
        </p:sp>
        <p:sp>
          <p:nvSpPr>
            <p:cNvPr id="264" name="Google Shape;264;p33"/>
            <p:cNvSpPr txBox="1"/>
            <p:nvPr/>
          </p:nvSpPr>
          <p:spPr>
            <a:xfrm>
              <a:off x="165235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TREATMENT</a:t>
              </a:r>
              <a:endParaRPr sz="770">
                <a:latin typeface="Inter"/>
                <a:ea typeface="Inter"/>
                <a:cs typeface="Inter"/>
                <a:sym typeface="Inter"/>
              </a:endParaRPr>
            </a:p>
          </p:txBody>
        </p:sp>
      </p:grpSp>
      <p:sp>
        <p:nvSpPr>
          <p:cNvPr id="265" name="Google Shape;265;p33"/>
          <p:cNvSpPr txBox="1"/>
          <p:nvPr/>
        </p:nvSpPr>
        <p:spPr>
          <a:xfrm>
            <a:off x="221675" y="1980850"/>
            <a:ext cx="3294000" cy="209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900">
                <a:solidFill>
                  <a:schemeClr val="dk1"/>
                </a:solidFill>
                <a:latin typeface="Inter"/>
                <a:ea typeface="Inter"/>
                <a:cs typeface="Inter"/>
                <a:sym typeface="Inter"/>
              </a:rPr>
              <a:t>/treatment/ </a:t>
            </a:r>
            <a:endParaRPr sz="900">
              <a:solidFill>
                <a:schemeClr val="dk1"/>
              </a:solidFill>
              <a:latin typeface="Inter"/>
              <a:ea typeface="Inter"/>
              <a:cs typeface="Inter"/>
              <a:sym typeface="Inter"/>
            </a:endParaRPr>
          </a:p>
          <a:p>
            <a:pPr indent="-285750" lvl="0" marL="457200" rtl="0" algn="l">
              <a:lnSpc>
                <a:spcPct val="115000"/>
              </a:lnSpc>
              <a:spcBef>
                <a:spcPts val="140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/treatment/trauma-integrated-care/</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/treatment/evidence-based-therapies/ (future hub)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/treatment/individual-therapy/</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/treatment/group-therapy/</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/treatment/family-therapy/</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/treatment/psychiatry-medication-management/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/treatment/wellness-nutrition-fitness/ </a:t>
            </a:r>
            <a:endParaRPr i="1" sz="9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900">
              <a:solidFill>
                <a:schemeClr val="dk1"/>
              </a:solidFill>
              <a:latin typeface="Inter"/>
              <a:ea typeface="Inter"/>
              <a:cs typeface="Inter"/>
              <a:sym typeface="Inter"/>
            </a:endParaRPr>
          </a:p>
        </p:txBody>
      </p:sp>
      <p:sp>
        <p:nvSpPr>
          <p:cNvPr id="266" name="Google Shape;266;p33"/>
          <p:cNvSpPr txBox="1"/>
          <p:nvPr/>
        </p:nvSpPr>
        <p:spPr>
          <a:xfrm>
            <a:off x="3273125" y="1980850"/>
            <a:ext cx="3000000" cy="145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900">
                <a:solidFill>
                  <a:schemeClr val="dk1"/>
                </a:solidFill>
                <a:latin typeface="Inter"/>
                <a:ea typeface="Inter"/>
                <a:cs typeface="Inter"/>
                <a:sym typeface="Inter"/>
              </a:rPr>
              <a:t>/programs/</a:t>
            </a:r>
            <a:endParaRPr sz="900">
              <a:solidFill>
                <a:schemeClr val="dk1"/>
              </a:solidFill>
              <a:latin typeface="Inter"/>
              <a:ea typeface="Inter"/>
              <a:cs typeface="Inter"/>
              <a:sym typeface="Inter"/>
            </a:endParaRPr>
          </a:p>
          <a:p>
            <a:pPr indent="-285750" lvl="0" marL="457200" rtl="0" algn="l">
              <a:lnSpc>
                <a:spcPct val="115000"/>
              </a:lnSpc>
              <a:spcBef>
                <a:spcPts val="1400"/>
              </a:spcBef>
              <a:spcAft>
                <a:spcPts val="0"/>
              </a:spcAft>
              <a:buClr>
                <a:schemeClr val="dk1"/>
              </a:buClr>
              <a:buSzPts val="900"/>
              <a:buFont typeface="Inter"/>
              <a:buChar char="➔"/>
            </a:pPr>
            <a:r>
              <a:rPr lang="en" sz="900">
                <a:solidFill>
                  <a:schemeClr val="dk1"/>
                </a:solidFill>
                <a:latin typeface="Inter"/>
                <a:ea typeface="Inter"/>
                <a:cs typeface="Inter"/>
                <a:sym typeface="Inter"/>
              </a:rPr>
              <a:t>/programs/detox/</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/programs/residential-treatment/</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/programs/womens-program/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/programs/family-program/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/programs/aftercare-continuing-care/</a:t>
            </a:r>
            <a:br>
              <a:rPr lang="en" sz="900">
                <a:solidFill>
                  <a:schemeClr val="dk1"/>
                </a:solidFill>
                <a:latin typeface="Inter"/>
                <a:ea typeface="Inter"/>
                <a:cs typeface="Inter"/>
                <a:sym typeface="Inter"/>
              </a:rPr>
            </a:br>
            <a:endParaRPr sz="900">
              <a:solidFill>
                <a:schemeClr val="dk1"/>
              </a:solidFill>
              <a:latin typeface="Inter"/>
              <a:ea typeface="Inter"/>
              <a:cs typeface="Inter"/>
              <a:sym typeface="Inter"/>
            </a:endParaRPr>
          </a:p>
        </p:txBody>
      </p:sp>
      <p:sp>
        <p:nvSpPr>
          <p:cNvPr id="267" name="Google Shape;267;p33"/>
          <p:cNvSpPr txBox="1"/>
          <p:nvPr/>
        </p:nvSpPr>
        <p:spPr>
          <a:xfrm>
            <a:off x="6035700" y="1980850"/>
            <a:ext cx="3000000" cy="161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900">
                <a:solidFill>
                  <a:schemeClr val="dk1"/>
                </a:solidFill>
                <a:latin typeface="Inter"/>
                <a:ea typeface="Inter"/>
                <a:cs typeface="Inter"/>
                <a:sym typeface="Inter"/>
              </a:rPr>
              <a:t>/what-we-treat/ </a:t>
            </a:r>
            <a:endParaRPr sz="900">
              <a:solidFill>
                <a:schemeClr val="dk1"/>
              </a:solidFill>
              <a:latin typeface="Inter"/>
              <a:ea typeface="Inter"/>
              <a:cs typeface="Inter"/>
              <a:sym typeface="Inter"/>
            </a:endParaRPr>
          </a:p>
          <a:p>
            <a:pPr indent="-285750" lvl="0" marL="457200" rtl="0" algn="l">
              <a:lnSpc>
                <a:spcPct val="115000"/>
              </a:lnSpc>
              <a:spcBef>
                <a:spcPts val="140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/what-we-treat/alcohol/</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/what-we-treat/opioids/</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/what-we-treat/fentanyl/</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/what-we-treat/stimulants/</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/what-we-treat/cannabis/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/what-we-treat/co-occurring-disorders/ </a:t>
            </a:r>
            <a:br>
              <a:rPr i="1" lang="en" sz="900">
                <a:solidFill>
                  <a:schemeClr val="dk1"/>
                </a:solidFill>
                <a:latin typeface="Inter"/>
                <a:ea typeface="Inter"/>
                <a:cs typeface="Inter"/>
                <a:sym typeface="Inter"/>
              </a:rPr>
            </a:br>
            <a:endParaRPr i="1" sz="900">
              <a:solidFill>
                <a:schemeClr val="dk1"/>
              </a:solidFill>
              <a:latin typeface="Inter"/>
              <a:ea typeface="Inter"/>
              <a:cs typeface="Inter"/>
              <a:sym typeface="Inter"/>
            </a:endParaRPr>
          </a:p>
        </p:txBody>
      </p:sp>
      <p:sp>
        <p:nvSpPr>
          <p:cNvPr id="268" name="Google Shape;268;p33"/>
          <p:cNvSpPr/>
          <p:nvPr/>
        </p:nvSpPr>
        <p:spPr>
          <a:xfrm>
            <a:off x="528200" y="1489375"/>
            <a:ext cx="2294675" cy="493550"/>
          </a:xfrm>
          <a:custGeom>
            <a:rect b="b" l="l" r="r" t="t"/>
            <a:pathLst>
              <a:path extrusionOk="0" h="19742" w="91787">
                <a:moveTo>
                  <a:pt x="91787" y="0"/>
                </a:moveTo>
                <a:cubicBezTo>
                  <a:pt x="78911" y="17147"/>
                  <a:pt x="50191" y="12815"/>
                  <a:pt x="28748" y="12815"/>
                </a:cubicBezTo>
                <a:cubicBezTo>
                  <a:pt x="18891" y="12815"/>
                  <a:pt x="0" y="9885"/>
                  <a:pt x="0" y="19742"/>
                </a:cubicBezTo>
              </a:path>
            </a:pathLst>
          </a:custGeom>
          <a:noFill/>
          <a:ln cap="flat" cmpd="sng" w="19050">
            <a:solidFill>
              <a:srgbClr val="FF2F0A"/>
            </a:solidFill>
            <a:prstDash val="solid"/>
            <a:round/>
            <a:headEnd len="med" w="med" type="none"/>
            <a:tailEnd len="med" w="med" type="stealth"/>
          </a:ln>
        </p:spPr>
      </p:sp>
      <p:sp>
        <p:nvSpPr>
          <p:cNvPr id="269" name="Google Shape;269;p33"/>
          <p:cNvSpPr/>
          <p:nvPr/>
        </p:nvSpPr>
        <p:spPr>
          <a:xfrm>
            <a:off x="3697425" y="1515350"/>
            <a:ext cx="173200" cy="424275"/>
          </a:xfrm>
          <a:custGeom>
            <a:rect b="b" l="l" r="r" t="t"/>
            <a:pathLst>
              <a:path extrusionOk="0" h="16971" w="6928">
                <a:moveTo>
                  <a:pt x="6928" y="0"/>
                </a:moveTo>
                <a:cubicBezTo>
                  <a:pt x="3781" y="5238"/>
                  <a:pt x="0" y="10861"/>
                  <a:pt x="0" y="16971"/>
                </a:cubicBezTo>
              </a:path>
            </a:pathLst>
          </a:custGeom>
          <a:noFill/>
          <a:ln cap="flat" cmpd="sng" w="19050">
            <a:solidFill>
              <a:srgbClr val="FF2F0A"/>
            </a:solidFill>
            <a:prstDash val="solid"/>
            <a:round/>
            <a:headEnd len="med" w="med" type="none"/>
            <a:tailEnd len="med" w="med" type="stealth"/>
          </a:ln>
        </p:spPr>
      </p:sp>
      <p:sp>
        <p:nvSpPr>
          <p:cNvPr id="270" name="Google Shape;270;p33"/>
          <p:cNvSpPr/>
          <p:nvPr/>
        </p:nvSpPr>
        <p:spPr>
          <a:xfrm>
            <a:off x="5004950" y="1472050"/>
            <a:ext cx="1472050" cy="562825"/>
          </a:xfrm>
          <a:custGeom>
            <a:rect b="b" l="l" r="r" t="t"/>
            <a:pathLst>
              <a:path extrusionOk="0" h="22513" w="58882">
                <a:moveTo>
                  <a:pt x="0" y="0"/>
                </a:moveTo>
                <a:cubicBezTo>
                  <a:pt x="2326" y="6203"/>
                  <a:pt x="7011" y="12432"/>
                  <a:pt x="13162" y="14893"/>
                </a:cubicBezTo>
                <a:cubicBezTo>
                  <a:pt x="27507" y="20632"/>
                  <a:pt x="45059" y="15611"/>
                  <a:pt x="58882" y="22513"/>
                </a:cubicBezTo>
              </a:path>
            </a:pathLst>
          </a:custGeom>
          <a:noFill/>
          <a:ln cap="flat" cmpd="sng" w="19050">
            <a:solidFill>
              <a:srgbClr val="FF2F0A"/>
            </a:solidFill>
            <a:prstDash val="solid"/>
            <a:round/>
            <a:headEnd len="med" w="med" type="none"/>
            <a:tailEnd len="med" w="med" type="stealth"/>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p:nvPr/>
        </p:nvSpPr>
        <p:spPr>
          <a:xfrm>
            <a:off x="108300" y="466138"/>
            <a:ext cx="8927400" cy="1385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p34" title="Screenshot 2026-02-11 at 4.59.17 PM.png"/>
          <p:cNvPicPr preferRelativeResize="0"/>
          <p:nvPr/>
        </p:nvPicPr>
        <p:blipFill rotWithShape="1">
          <a:blip r:embed="rId3">
            <a:alphaModFix/>
          </a:blip>
          <a:srcRect b="31745" l="76704" r="1352" t="0"/>
          <a:stretch/>
        </p:blipFill>
        <p:spPr>
          <a:xfrm>
            <a:off x="7281849" y="828300"/>
            <a:ext cx="1714949" cy="841100"/>
          </a:xfrm>
          <a:prstGeom prst="rect">
            <a:avLst/>
          </a:prstGeom>
          <a:noFill/>
          <a:ln>
            <a:noFill/>
          </a:ln>
        </p:spPr>
      </p:pic>
      <p:pic>
        <p:nvPicPr>
          <p:cNvPr id="277" name="Google Shape;277;p34" title="Screenshot 2026-02-11 at 4.59.17 PM.png"/>
          <p:cNvPicPr preferRelativeResize="0"/>
          <p:nvPr/>
        </p:nvPicPr>
        <p:blipFill rotWithShape="1">
          <a:blip r:embed="rId3">
            <a:alphaModFix/>
          </a:blip>
          <a:srcRect b="31745" l="2096" r="63597" t="0"/>
          <a:stretch/>
        </p:blipFill>
        <p:spPr>
          <a:xfrm>
            <a:off x="221676" y="767675"/>
            <a:ext cx="2493674" cy="782325"/>
          </a:xfrm>
          <a:prstGeom prst="rect">
            <a:avLst/>
          </a:prstGeom>
          <a:noFill/>
          <a:ln>
            <a:noFill/>
          </a:ln>
        </p:spPr>
      </p:pic>
      <p:grpSp>
        <p:nvGrpSpPr>
          <p:cNvPr id="278" name="Google Shape;278;p34"/>
          <p:cNvGrpSpPr/>
          <p:nvPr/>
        </p:nvGrpSpPr>
        <p:grpSpPr>
          <a:xfrm>
            <a:off x="2137131" y="1236411"/>
            <a:ext cx="5734917" cy="321779"/>
            <a:chOff x="1652353" y="3347263"/>
            <a:chExt cx="5213087" cy="292500"/>
          </a:xfrm>
        </p:grpSpPr>
        <p:sp>
          <p:nvSpPr>
            <p:cNvPr id="279" name="Google Shape;279;p34"/>
            <p:cNvSpPr txBox="1"/>
            <p:nvPr/>
          </p:nvSpPr>
          <p:spPr>
            <a:xfrm>
              <a:off x="5274742" y="3347263"/>
              <a:ext cx="7416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ABOUT </a:t>
              </a:r>
              <a:endParaRPr sz="770">
                <a:latin typeface="Inter"/>
                <a:ea typeface="Inter"/>
                <a:cs typeface="Inter"/>
                <a:sym typeface="Inter"/>
              </a:endParaRPr>
            </a:p>
          </p:txBody>
        </p:sp>
        <p:sp>
          <p:nvSpPr>
            <p:cNvPr id="280" name="Google Shape;280;p34"/>
            <p:cNvSpPr txBox="1"/>
            <p:nvPr/>
          </p:nvSpPr>
          <p:spPr>
            <a:xfrm>
              <a:off x="2653377"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PROGRAMS</a:t>
              </a:r>
              <a:endParaRPr sz="770">
                <a:latin typeface="Inter"/>
                <a:ea typeface="Inter"/>
                <a:cs typeface="Inter"/>
                <a:sym typeface="Inter"/>
              </a:endParaRPr>
            </a:p>
          </p:txBody>
        </p:sp>
        <p:sp>
          <p:nvSpPr>
            <p:cNvPr id="281" name="Google Shape;281;p34"/>
            <p:cNvSpPr txBox="1"/>
            <p:nvPr/>
          </p:nvSpPr>
          <p:spPr>
            <a:xfrm>
              <a:off x="4348845"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ADMISSIONS</a:t>
              </a:r>
              <a:endParaRPr sz="770">
                <a:latin typeface="Inter"/>
                <a:ea typeface="Inter"/>
                <a:cs typeface="Inter"/>
                <a:sym typeface="Inter"/>
              </a:endParaRPr>
            </a:p>
          </p:txBody>
        </p:sp>
        <p:sp>
          <p:nvSpPr>
            <p:cNvPr id="282" name="Google Shape;282;p34"/>
            <p:cNvSpPr txBox="1"/>
            <p:nvPr/>
          </p:nvSpPr>
          <p:spPr>
            <a:xfrm>
              <a:off x="5708040" y="3347263"/>
              <a:ext cx="11574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RESOURCES </a:t>
              </a:r>
              <a:endParaRPr sz="770">
                <a:latin typeface="Inter"/>
                <a:ea typeface="Inter"/>
                <a:cs typeface="Inter"/>
                <a:sym typeface="Inter"/>
              </a:endParaRPr>
            </a:p>
          </p:txBody>
        </p:sp>
        <p:sp>
          <p:nvSpPr>
            <p:cNvPr id="283" name="Google Shape;283;p34"/>
            <p:cNvSpPr txBox="1"/>
            <p:nvPr/>
          </p:nvSpPr>
          <p:spPr>
            <a:xfrm>
              <a:off x="355081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WHAT WE TREAT</a:t>
              </a:r>
              <a:endParaRPr sz="770">
                <a:latin typeface="Inter"/>
                <a:ea typeface="Inter"/>
                <a:cs typeface="Inter"/>
                <a:sym typeface="Inter"/>
              </a:endParaRPr>
            </a:p>
          </p:txBody>
        </p:sp>
        <p:sp>
          <p:nvSpPr>
            <p:cNvPr id="284" name="Google Shape;284;p34"/>
            <p:cNvSpPr txBox="1"/>
            <p:nvPr/>
          </p:nvSpPr>
          <p:spPr>
            <a:xfrm>
              <a:off x="1652353" y="3347263"/>
              <a:ext cx="1234200" cy="292500"/>
            </a:xfrm>
            <a:prstGeom prst="rect">
              <a:avLst/>
            </a:prstGeom>
            <a:noFill/>
            <a:ln>
              <a:noFill/>
            </a:ln>
          </p:spPr>
          <p:txBody>
            <a:bodyPr anchorCtr="0" anchor="t" bIns="100575" lIns="100575" spcFirstLastPara="1" rIns="100575" wrap="square" tIns="100575">
              <a:spAutoFit/>
            </a:bodyPr>
            <a:lstStyle/>
            <a:p>
              <a:pPr indent="0" lvl="0" marL="0" rtl="0" algn="ctr">
                <a:spcBef>
                  <a:spcPts val="0"/>
                </a:spcBef>
                <a:spcAft>
                  <a:spcPts val="0"/>
                </a:spcAft>
                <a:buNone/>
              </a:pPr>
              <a:r>
                <a:rPr lang="en" sz="770">
                  <a:latin typeface="Inter"/>
                  <a:ea typeface="Inter"/>
                  <a:cs typeface="Inter"/>
                  <a:sym typeface="Inter"/>
                </a:rPr>
                <a:t>TREATMENT</a:t>
              </a:r>
              <a:endParaRPr sz="770">
                <a:latin typeface="Inter"/>
                <a:ea typeface="Inter"/>
                <a:cs typeface="Inter"/>
                <a:sym typeface="Inter"/>
              </a:endParaRPr>
            </a:p>
          </p:txBody>
        </p:sp>
      </p:grpSp>
      <p:sp>
        <p:nvSpPr>
          <p:cNvPr id="285" name="Google Shape;285;p34"/>
          <p:cNvSpPr txBox="1"/>
          <p:nvPr/>
        </p:nvSpPr>
        <p:spPr>
          <a:xfrm>
            <a:off x="1108400" y="2138800"/>
            <a:ext cx="3000000" cy="175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900">
                <a:solidFill>
                  <a:schemeClr val="dk1"/>
                </a:solidFill>
                <a:latin typeface="Inter"/>
                <a:ea typeface="Inter"/>
                <a:cs typeface="Inter"/>
                <a:sym typeface="Inter"/>
              </a:rPr>
              <a:t>/about/</a:t>
            </a:r>
            <a:endParaRPr sz="900">
              <a:solidFill>
                <a:schemeClr val="dk1"/>
              </a:solidFill>
              <a:latin typeface="Inter"/>
              <a:ea typeface="Inter"/>
              <a:cs typeface="Inter"/>
              <a:sym typeface="Inter"/>
            </a:endParaRPr>
          </a:p>
          <a:p>
            <a:pPr indent="-285750" lvl="0" marL="457200" rtl="0" algn="l">
              <a:lnSpc>
                <a:spcPct val="115000"/>
              </a:lnSpc>
              <a:spcBef>
                <a:spcPts val="1200"/>
              </a:spcBef>
              <a:spcAft>
                <a:spcPts val="0"/>
              </a:spcAft>
              <a:buClr>
                <a:schemeClr val="dk1"/>
              </a:buClr>
              <a:buSzPts val="900"/>
              <a:buFont typeface="Inter"/>
              <a:buChar char="➔"/>
            </a:pPr>
            <a:r>
              <a:rPr lang="en" sz="900">
                <a:solidFill>
                  <a:schemeClr val="dk1"/>
                </a:solidFill>
                <a:latin typeface="Inter"/>
                <a:ea typeface="Inter"/>
                <a:cs typeface="Inter"/>
                <a:sym typeface="Inter"/>
              </a:rPr>
              <a:t>/about/mission-approach/</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/about/tour-our-facility</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/about/clinical-leadership-team/</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/about/our-team/</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/about/accreditation-licensing/</a:t>
            </a:r>
            <a:endParaRPr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/about/insurance-medicaid/</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/about/careers/</a:t>
            </a:r>
            <a:br>
              <a:rPr lang="en" sz="900">
                <a:solidFill>
                  <a:schemeClr val="dk1"/>
                </a:solidFill>
                <a:latin typeface="Inter"/>
                <a:ea typeface="Inter"/>
                <a:cs typeface="Inter"/>
                <a:sym typeface="Inter"/>
              </a:rPr>
            </a:br>
            <a:endParaRPr sz="900">
              <a:solidFill>
                <a:schemeClr val="dk1"/>
              </a:solidFill>
              <a:latin typeface="Inter"/>
              <a:ea typeface="Inter"/>
              <a:cs typeface="Inter"/>
              <a:sym typeface="Inter"/>
            </a:endParaRPr>
          </a:p>
        </p:txBody>
      </p:sp>
      <p:sp>
        <p:nvSpPr>
          <p:cNvPr id="286" name="Google Shape;286;p34"/>
          <p:cNvSpPr txBox="1"/>
          <p:nvPr/>
        </p:nvSpPr>
        <p:spPr>
          <a:xfrm>
            <a:off x="5022300" y="2138800"/>
            <a:ext cx="3000000" cy="111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900">
                <a:solidFill>
                  <a:schemeClr val="dk1"/>
                </a:solidFill>
                <a:latin typeface="Inter"/>
                <a:ea typeface="Inter"/>
                <a:cs typeface="Inter"/>
                <a:sym typeface="Inter"/>
              </a:rPr>
              <a:t>/resources/</a:t>
            </a:r>
            <a:endParaRPr i="1" sz="900">
              <a:solidFill>
                <a:schemeClr val="dk1"/>
              </a:solidFill>
              <a:latin typeface="Inter"/>
              <a:ea typeface="Inter"/>
              <a:cs typeface="Inter"/>
              <a:sym typeface="Inter"/>
            </a:endParaRPr>
          </a:p>
          <a:p>
            <a:pPr indent="-285750" lvl="0" marL="457200" rtl="0" algn="l">
              <a:lnSpc>
                <a:spcPct val="115000"/>
              </a:lnSpc>
              <a:spcBef>
                <a:spcPts val="1200"/>
              </a:spcBef>
              <a:spcAft>
                <a:spcPts val="0"/>
              </a:spcAft>
              <a:buClr>
                <a:schemeClr val="dk1"/>
              </a:buClr>
              <a:buSzPts val="900"/>
              <a:buFont typeface="Inter"/>
              <a:buChar char="➔"/>
            </a:pPr>
            <a:r>
              <a:rPr lang="en" sz="900">
                <a:solidFill>
                  <a:schemeClr val="dk1"/>
                </a:solidFill>
                <a:latin typeface="Inter"/>
                <a:ea typeface="Inter"/>
                <a:cs typeface="Inter"/>
                <a:sym typeface="Inter"/>
              </a:rPr>
              <a:t>/resources/blog/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/resources/faqs/ </a:t>
            </a:r>
            <a:endParaRPr i="1" sz="900">
              <a:solidFill>
                <a:schemeClr val="dk1"/>
              </a:solidFill>
              <a:latin typeface="Inter"/>
              <a:ea typeface="Inter"/>
              <a:cs typeface="Inter"/>
              <a:sym typeface="Inter"/>
            </a:endParaRPr>
          </a:p>
          <a:p>
            <a:pPr indent="-285750" lvl="0" marL="457200" rtl="0" algn="l">
              <a:lnSpc>
                <a:spcPct val="115000"/>
              </a:lnSpc>
              <a:spcBef>
                <a:spcPts val="0"/>
              </a:spcBef>
              <a:spcAft>
                <a:spcPts val="0"/>
              </a:spcAft>
              <a:buClr>
                <a:schemeClr val="dk1"/>
              </a:buClr>
              <a:buSzPts val="900"/>
              <a:buFont typeface="Inter"/>
              <a:buChar char="➔"/>
            </a:pPr>
            <a:r>
              <a:rPr lang="en" sz="900">
                <a:solidFill>
                  <a:schemeClr val="dk1"/>
                </a:solidFill>
                <a:latin typeface="Inter"/>
                <a:ea typeface="Inter"/>
                <a:cs typeface="Inter"/>
                <a:sym typeface="Inter"/>
              </a:rPr>
              <a:t>/resources/for-families/ </a:t>
            </a:r>
            <a:br>
              <a:rPr i="1" lang="en" sz="900">
                <a:solidFill>
                  <a:schemeClr val="dk1"/>
                </a:solidFill>
                <a:latin typeface="Inter"/>
                <a:ea typeface="Inter"/>
                <a:cs typeface="Inter"/>
                <a:sym typeface="Inter"/>
              </a:rPr>
            </a:br>
            <a:endParaRPr i="1" sz="900">
              <a:solidFill>
                <a:schemeClr val="dk1"/>
              </a:solidFill>
              <a:latin typeface="Inter"/>
              <a:ea typeface="Inter"/>
              <a:cs typeface="Inter"/>
              <a:sym typeface="Inter"/>
            </a:endParaRPr>
          </a:p>
        </p:txBody>
      </p:sp>
      <p:sp>
        <p:nvSpPr>
          <p:cNvPr id="287" name="Google Shape;287;p34"/>
          <p:cNvSpPr/>
          <p:nvPr/>
        </p:nvSpPr>
        <p:spPr>
          <a:xfrm>
            <a:off x="1601925" y="1515350"/>
            <a:ext cx="4892400" cy="597475"/>
          </a:xfrm>
          <a:custGeom>
            <a:rect b="b" l="l" r="r" t="t"/>
            <a:pathLst>
              <a:path extrusionOk="0" h="23899" w="195696">
                <a:moveTo>
                  <a:pt x="195696" y="0"/>
                </a:moveTo>
                <a:cubicBezTo>
                  <a:pt x="176181" y="11145"/>
                  <a:pt x="151667" y="11083"/>
                  <a:pt x="129194" y="11083"/>
                </a:cubicBezTo>
                <a:cubicBezTo>
                  <a:pt x="110027" y="11083"/>
                  <a:pt x="90798" y="11985"/>
                  <a:pt x="71698" y="10391"/>
                </a:cubicBezTo>
                <a:cubicBezTo>
                  <a:pt x="47462" y="8368"/>
                  <a:pt x="17197" y="6702"/>
                  <a:pt x="0" y="23899"/>
                </a:cubicBezTo>
              </a:path>
            </a:pathLst>
          </a:custGeom>
          <a:noFill/>
          <a:ln cap="flat" cmpd="sng" w="19050">
            <a:solidFill>
              <a:srgbClr val="FF2F0A"/>
            </a:solidFill>
            <a:prstDash val="solid"/>
            <a:round/>
            <a:headEnd len="med" w="med" type="none"/>
            <a:tailEnd len="med" w="med" type="stealth"/>
          </a:ln>
        </p:spPr>
      </p:sp>
      <p:sp>
        <p:nvSpPr>
          <p:cNvPr id="288" name="Google Shape;288;p34"/>
          <p:cNvSpPr/>
          <p:nvPr/>
        </p:nvSpPr>
        <p:spPr>
          <a:xfrm>
            <a:off x="5749625" y="1480700"/>
            <a:ext cx="1394125" cy="692725"/>
          </a:xfrm>
          <a:custGeom>
            <a:rect b="b" l="l" r="r" t="t"/>
            <a:pathLst>
              <a:path extrusionOk="0" h="27709" w="55765">
                <a:moveTo>
                  <a:pt x="55765" y="0"/>
                </a:moveTo>
                <a:cubicBezTo>
                  <a:pt x="43862" y="3402"/>
                  <a:pt x="29536" y="3715"/>
                  <a:pt x="20782" y="12469"/>
                </a:cubicBezTo>
                <a:cubicBezTo>
                  <a:pt x="14708" y="18543"/>
                  <a:pt x="8590" y="27709"/>
                  <a:pt x="0" y="27709"/>
                </a:cubicBezTo>
              </a:path>
            </a:pathLst>
          </a:custGeom>
          <a:noFill/>
          <a:ln cap="flat" cmpd="sng" w="19050">
            <a:solidFill>
              <a:srgbClr val="FF2F0A"/>
            </a:solidFill>
            <a:prstDash val="solid"/>
            <a:round/>
            <a:headEnd len="med" w="med" type="none"/>
            <a:tailEnd len="med" w="med" type="stealth"/>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5"/>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294" name="Google Shape;294;p35"/>
          <p:cNvSpPr txBox="1"/>
          <p:nvPr/>
        </p:nvSpPr>
        <p:spPr>
          <a:xfrm>
            <a:off x="380850" y="480275"/>
            <a:ext cx="8115600" cy="1593900"/>
          </a:xfrm>
          <a:prstGeom prst="rect">
            <a:avLst/>
          </a:prstGeom>
          <a:noFill/>
          <a:ln>
            <a:noFill/>
          </a:ln>
        </p:spPr>
        <p:txBody>
          <a:bodyPr anchorCtr="0" anchor="t" bIns="112725" lIns="112725" spcFirstLastPara="1" rIns="112725" wrap="square" tIns="112725">
            <a:spAutoFit/>
          </a:bodyPr>
          <a:lstStyle/>
          <a:p>
            <a:pPr indent="0" lvl="0" marL="0" rtl="0" algn="l">
              <a:spcBef>
                <a:spcPts val="0"/>
              </a:spcBef>
              <a:spcAft>
                <a:spcPts val="0"/>
              </a:spcAft>
              <a:buClr>
                <a:srgbClr val="000000"/>
              </a:buClr>
              <a:buSzPts val="1356"/>
              <a:buFont typeface="Arial"/>
              <a:buNone/>
            </a:pPr>
            <a:r>
              <a:rPr lang="en" sz="2958">
                <a:solidFill>
                  <a:srgbClr val="FFFFFF"/>
                </a:solidFill>
                <a:latin typeface="Inter SemiBold"/>
                <a:ea typeface="Inter SemiBold"/>
                <a:cs typeface="Inter SemiBold"/>
                <a:sym typeface="Inter SemiBold"/>
              </a:rPr>
              <a:t>What’s Next:</a:t>
            </a:r>
            <a:endParaRPr sz="2958">
              <a:solidFill>
                <a:srgbClr val="FFFFFF"/>
              </a:solidFill>
              <a:latin typeface="Inter SemiBold"/>
              <a:ea typeface="Inter SemiBold"/>
              <a:cs typeface="Inter SemiBold"/>
              <a:sym typeface="Inter SemiBold"/>
            </a:endParaRPr>
          </a:p>
          <a:p>
            <a:pPr indent="0" lvl="0" marL="0" rtl="0" algn="l">
              <a:spcBef>
                <a:spcPts val="0"/>
              </a:spcBef>
              <a:spcAft>
                <a:spcPts val="0"/>
              </a:spcAft>
              <a:buClr>
                <a:srgbClr val="000000"/>
              </a:buClr>
              <a:buSzPts val="1356"/>
              <a:buFont typeface="Arial"/>
              <a:buNone/>
            </a:pPr>
            <a:r>
              <a:t/>
            </a:r>
            <a:endParaRPr sz="2958">
              <a:solidFill>
                <a:srgbClr val="FFFFFF"/>
              </a:solidFill>
              <a:latin typeface="Inter SemiBold"/>
              <a:ea typeface="Inter SemiBold"/>
              <a:cs typeface="Inter SemiBold"/>
              <a:sym typeface="Inter SemiBold"/>
            </a:endParaRPr>
          </a:p>
          <a:p>
            <a:pPr indent="0" lvl="0" marL="0" rtl="0" algn="l">
              <a:spcBef>
                <a:spcPts val="0"/>
              </a:spcBef>
              <a:spcAft>
                <a:spcPts val="0"/>
              </a:spcAft>
              <a:buClr>
                <a:srgbClr val="000000"/>
              </a:buClr>
              <a:buSzPts val="1356"/>
              <a:buFont typeface="Arial"/>
              <a:buNone/>
            </a:pPr>
            <a:r>
              <a:t/>
            </a:r>
            <a:endParaRPr sz="2958">
              <a:solidFill>
                <a:srgbClr val="FFFFFF"/>
              </a:solidFill>
              <a:latin typeface="Inter SemiBold"/>
              <a:ea typeface="Inter SemiBold"/>
              <a:cs typeface="Inter SemiBold"/>
              <a:sym typeface="Inter SemiBold"/>
            </a:endParaRPr>
          </a:p>
        </p:txBody>
      </p:sp>
      <p:sp>
        <p:nvSpPr>
          <p:cNvPr id="295" name="Google Shape;295;p35"/>
          <p:cNvSpPr txBox="1"/>
          <p:nvPr/>
        </p:nvSpPr>
        <p:spPr>
          <a:xfrm>
            <a:off x="784950" y="1526100"/>
            <a:ext cx="7574100" cy="2129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Inter"/>
              <a:buAutoNum type="arabicPeriod"/>
            </a:pPr>
            <a:r>
              <a:rPr b="1" lang="en" sz="1200">
                <a:solidFill>
                  <a:schemeClr val="dk1"/>
                </a:solidFill>
                <a:latin typeface="Inter"/>
                <a:ea typeface="Inter"/>
                <a:cs typeface="Inter"/>
                <a:sym typeface="Inter"/>
              </a:rPr>
              <a:t>Confirm the proposed long-term site structure: </a:t>
            </a:r>
            <a:r>
              <a:rPr lang="en" sz="1200">
                <a:solidFill>
                  <a:schemeClr val="dk1"/>
                </a:solidFill>
                <a:latin typeface="Inter"/>
                <a:ea typeface="Inter"/>
                <a:cs typeface="Inter"/>
                <a:sym typeface="Inter"/>
              </a:rPr>
              <a:t>Ensure this organization reflects how you want Invicta’s services and offerings to be understood over time.</a:t>
            </a:r>
            <a:endParaRPr sz="1200">
              <a:solidFill>
                <a:schemeClr val="dk1"/>
              </a:solidFill>
              <a:latin typeface="Inter"/>
              <a:ea typeface="Inter"/>
              <a:cs typeface="Inter"/>
              <a:sym typeface="Inter"/>
            </a:endParaRPr>
          </a:p>
          <a:p>
            <a:pPr indent="-304800" lvl="0" marL="457200" rtl="0" algn="l">
              <a:lnSpc>
                <a:spcPct val="115000"/>
              </a:lnSpc>
              <a:spcBef>
                <a:spcPts val="1000"/>
              </a:spcBef>
              <a:spcAft>
                <a:spcPts val="0"/>
              </a:spcAft>
              <a:buClr>
                <a:schemeClr val="dk1"/>
              </a:buClr>
              <a:buSzPts val="1200"/>
              <a:buFont typeface="Inter"/>
              <a:buAutoNum type="arabicPeriod"/>
            </a:pPr>
            <a:r>
              <a:rPr b="1" lang="en" sz="1200">
                <a:solidFill>
                  <a:schemeClr val="dk1"/>
                </a:solidFill>
                <a:latin typeface="Inter"/>
                <a:ea typeface="Inter"/>
                <a:cs typeface="Inter"/>
                <a:sym typeface="Inter"/>
              </a:rPr>
              <a:t>Continued Content Planning:</a:t>
            </a:r>
            <a:r>
              <a:rPr lang="en" sz="1200">
                <a:solidFill>
                  <a:schemeClr val="dk1"/>
                </a:solidFill>
                <a:latin typeface="Inter"/>
                <a:ea typeface="Inter"/>
                <a:cs typeface="Inter"/>
                <a:sym typeface="Inter"/>
              </a:rPr>
              <a:t> In parallel, we’ll map out how this works in your current scope.</a:t>
            </a:r>
            <a:endParaRPr sz="1200">
              <a:solidFill>
                <a:schemeClr val="dk1"/>
              </a:solidFill>
              <a:latin typeface="Inter"/>
              <a:ea typeface="Inter"/>
              <a:cs typeface="Inter"/>
              <a:sym typeface="Inter"/>
            </a:endParaRPr>
          </a:p>
          <a:p>
            <a:pPr indent="-304800" lvl="0" marL="457200" rtl="0" algn="l">
              <a:lnSpc>
                <a:spcPct val="115000"/>
              </a:lnSpc>
              <a:spcBef>
                <a:spcPts val="1000"/>
              </a:spcBef>
              <a:spcAft>
                <a:spcPts val="0"/>
              </a:spcAft>
              <a:buClr>
                <a:schemeClr val="dk1"/>
              </a:buClr>
              <a:buSzPts val="1200"/>
              <a:buFont typeface="Inter"/>
              <a:buAutoNum type="arabicPeriod"/>
            </a:pPr>
            <a:r>
              <a:rPr b="1" lang="en" sz="1200">
                <a:solidFill>
                  <a:schemeClr val="dk1"/>
                </a:solidFill>
                <a:latin typeface="Inter"/>
                <a:ea typeface="Inter"/>
                <a:cs typeface="Inter"/>
                <a:sym typeface="Inter"/>
              </a:rPr>
              <a:t>Local SEO &amp; Visibility Foundations: </a:t>
            </a:r>
            <a:r>
              <a:rPr lang="en" sz="1200">
                <a:solidFill>
                  <a:schemeClr val="dk1"/>
                </a:solidFill>
                <a:latin typeface="Inter"/>
                <a:ea typeface="Inter"/>
                <a:cs typeface="Inter"/>
                <a:sym typeface="Inter"/>
              </a:rPr>
              <a:t>As we move beyond initial cleanup and core service work, we’ll also begin laying the groundwork for local SEO initiatives, including location relevance, GBP optimization, and supporting infrastructure.</a:t>
            </a:r>
            <a:endParaRPr sz="1456">
              <a:solidFill>
                <a:schemeClr val="dk1"/>
              </a:solidFill>
              <a:latin typeface="Inter"/>
              <a:ea typeface="Inter"/>
              <a:cs typeface="Inter"/>
              <a:sym typeface="Inter"/>
            </a:endParaRPr>
          </a:p>
          <a:p>
            <a:pPr indent="0" lvl="0" marL="0" rtl="0" algn="l">
              <a:lnSpc>
                <a:spcPct val="115000"/>
              </a:lnSpc>
              <a:spcBef>
                <a:spcPts val="1479"/>
              </a:spcBef>
              <a:spcAft>
                <a:spcPts val="1479"/>
              </a:spcAft>
              <a:buNone/>
            </a:pPr>
            <a:r>
              <a:t/>
            </a:r>
            <a:endParaRPr sz="1456">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6"/>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301" name="Google Shape;301;p36"/>
          <p:cNvSpPr txBox="1"/>
          <p:nvPr>
            <p:ph idx="1" type="body"/>
          </p:nvPr>
        </p:nvSpPr>
        <p:spPr>
          <a:xfrm>
            <a:off x="535050" y="1074900"/>
            <a:ext cx="7055700" cy="26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Webserv</a:t>
            </a:r>
            <a:r>
              <a:rPr lang="en"/>
              <a:t>: </a:t>
            </a:r>
            <a:endParaRPr/>
          </a:p>
          <a:p>
            <a:pPr indent="-317500" lvl="0" marL="457200" rtl="0" algn="l">
              <a:spcBef>
                <a:spcPts val="0"/>
              </a:spcBef>
              <a:spcAft>
                <a:spcPts val="0"/>
              </a:spcAft>
              <a:buSzPts val="1400"/>
              <a:buChar char="●"/>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rPr b="1" lang="en"/>
              <a:t>NRT Team Team</a:t>
            </a:r>
            <a:r>
              <a:rPr lang="en"/>
              <a:t>: </a:t>
            </a:r>
            <a:endParaRPr/>
          </a:p>
          <a:p>
            <a:pPr indent="-317500" lvl="0" marL="457200" rtl="0" algn="l">
              <a:spcBef>
                <a:spcPts val="0"/>
              </a:spcBef>
              <a:spcAft>
                <a:spcPts val="0"/>
              </a:spcAft>
              <a:buSzPts val="1400"/>
              <a:buChar char="●"/>
            </a:pPr>
            <a:r>
              <a:rPr lang="en">
                <a:solidFill>
                  <a:schemeClr val="dk1"/>
                </a:solidFill>
              </a:rPr>
              <a:t>Confirm future site </a:t>
            </a:r>
            <a:r>
              <a:rPr lang="en">
                <a:solidFill>
                  <a:schemeClr val="dk1"/>
                </a:solidFill>
              </a:rPr>
              <a:t>structure</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bServ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