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embeddedFontLst>
    <p:embeddedFont>
      <p:font typeface="Inter Light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Archivo Medium"/>
      <p:regular r:id="rId24"/>
      <p:bold r:id="rId25"/>
      <p:italic r:id="rId26"/>
      <p:boldItalic r:id="rId27"/>
    </p:embeddedFont>
    <p:embeddedFont>
      <p:font typeface="Mulish Medium"/>
      <p:regular r:id="rId28"/>
      <p:bold r:id="rId29"/>
      <p:italic r:id="rId30"/>
      <p:boldItalic r:id="rId31"/>
    </p:embeddedFont>
    <p:embeddedFont>
      <p:font typeface="Archivo"/>
      <p:regular r:id="rId32"/>
      <p:bold r:id="rId33"/>
      <p:italic r:id="rId34"/>
      <p:boldItalic r:id="rId35"/>
    </p:embeddedFont>
    <p:embeddedFont>
      <p:font typeface="Archivo SemiBol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CFC6901-E120-4251-B9A9-170771BAFC2A}">
  <a:tblStyle styleId="{DCFC6901-E120-4251-B9A9-170771BAFC2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223BB82-001F-4F7C-AF14-67AEEF97AA3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ArchivoMedium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ArchivoMedium-italic.fntdata"/><Relationship Id="rId25" Type="http://schemas.openxmlformats.org/officeDocument/2006/relationships/font" Target="fonts/ArchivoMedium-bold.fntdata"/><Relationship Id="rId28" Type="http://schemas.openxmlformats.org/officeDocument/2006/relationships/font" Target="fonts/MulishMedium-regular.fntdata"/><Relationship Id="rId27" Type="http://schemas.openxmlformats.org/officeDocument/2006/relationships/font" Target="fonts/ArchivoMedium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MulishMedium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ulishMedium-boldItalic.fntdata"/><Relationship Id="rId30" Type="http://schemas.openxmlformats.org/officeDocument/2006/relationships/font" Target="fonts/MulishMedium-italic.fntdata"/><Relationship Id="rId11" Type="http://schemas.openxmlformats.org/officeDocument/2006/relationships/slide" Target="slides/slide4.xml"/><Relationship Id="rId33" Type="http://schemas.openxmlformats.org/officeDocument/2006/relationships/font" Target="fonts/Archivo-bold.fntdata"/><Relationship Id="rId10" Type="http://schemas.openxmlformats.org/officeDocument/2006/relationships/slide" Target="slides/slide3.xml"/><Relationship Id="rId32" Type="http://schemas.openxmlformats.org/officeDocument/2006/relationships/font" Target="fonts/Archivo-regular.fntdata"/><Relationship Id="rId13" Type="http://schemas.openxmlformats.org/officeDocument/2006/relationships/slide" Target="slides/slide6.xml"/><Relationship Id="rId35" Type="http://schemas.openxmlformats.org/officeDocument/2006/relationships/font" Target="fonts/Archivo-boldItalic.fntdata"/><Relationship Id="rId12" Type="http://schemas.openxmlformats.org/officeDocument/2006/relationships/slide" Target="slides/slide5.xml"/><Relationship Id="rId34" Type="http://schemas.openxmlformats.org/officeDocument/2006/relationships/font" Target="fonts/Archivo-italic.fntdata"/><Relationship Id="rId15" Type="http://schemas.openxmlformats.org/officeDocument/2006/relationships/slide" Target="slides/slide8.xml"/><Relationship Id="rId37" Type="http://schemas.openxmlformats.org/officeDocument/2006/relationships/font" Target="fonts/ArchivoSemiBold-bold.fntdata"/><Relationship Id="rId14" Type="http://schemas.openxmlformats.org/officeDocument/2006/relationships/slide" Target="slides/slide7.xml"/><Relationship Id="rId36" Type="http://schemas.openxmlformats.org/officeDocument/2006/relationships/font" Target="fonts/ArchivoSemiBold-regular.fntdata"/><Relationship Id="rId17" Type="http://schemas.openxmlformats.org/officeDocument/2006/relationships/font" Target="fonts/InterLight-bold.fntdata"/><Relationship Id="rId39" Type="http://schemas.openxmlformats.org/officeDocument/2006/relationships/font" Target="fonts/ArchivoSemiBold-boldItalic.fntdata"/><Relationship Id="rId16" Type="http://schemas.openxmlformats.org/officeDocument/2006/relationships/font" Target="fonts/InterLight-regular.fntdata"/><Relationship Id="rId38" Type="http://schemas.openxmlformats.org/officeDocument/2006/relationships/font" Target="fonts/ArchivoSemiBold-italic.fntdata"/><Relationship Id="rId19" Type="http://schemas.openxmlformats.org/officeDocument/2006/relationships/font" Target="fonts/InterLight-boldItalic.fntdata"/><Relationship Id="rId18" Type="http://schemas.openxmlformats.org/officeDocument/2006/relationships/font" Target="fonts/Inter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26c3cb319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a26c3cb319_0_5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4a3b56b43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b4a3b56b43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b4a3b56b43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c30236572_0_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cc30236572_0_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cc30236572_0_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c3023657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c3023657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df14873ce_0_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adf14873ce_0_1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adf14873ce_0_1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26c3cb319_0_6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a26c3cb319_0_61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a26c3cb319_0_61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b76bc9eb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b76bc9eb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b76bc9ebd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cb76bc9ebd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cb76bc9ebd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p15"/>
          <p:cNvCxnSpPr/>
          <p:nvPr/>
        </p:nvCxnSpPr>
        <p:spPr>
          <a:xfrm>
            <a:off x="0" y="4721864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BFBFBF">
                <a:alpha val="498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" name="Google Shape;54;p15"/>
          <p:cNvSpPr txBox="1"/>
          <p:nvPr/>
        </p:nvSpPr>
        <p:spPr>
          <a:xfrm>
            <a:off x="7742802" y="4808225"/>
            <a:ext cx="947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REPORTING</a:t>
            </a:r>
            <a:endParaRPr sz="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5" name="Google Shape;55;p15"/>
          <p:cNvSpPr txBox="1"/>
          <p:nvPr/>
        </p:nvSpPr>
        <p:spPr>
          <a:xfrm>
            <a:off x="477400" y="4808225"/>
            <a:ext cx="1062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2025</a:t>
            </a:r>
            <a:endParaRPr sz="90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56" name="Google Shape;56;p15"/>
          <p:cNvSpPr txBox="1"/>
          <p:nvPr/>
        </p:nvSpPr>
        <p:spPr>
          <a:xfrm flipH="1">
            <a:off x="4295890" y="4808230"/>
            <a:ext cx="552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rPr>
              <a:t>‹#›</a:t>
            </a:fld>
            <a:endParaRPr b="0" sz="900">
              <a:solidFill>
                <a:schemeClr val="lt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socalsunrise.com/treatments/trauma-disorders/" TargetMode="External"/><Relationship Id="rId4" Type="http://schemas.openxmlformats.org/officeDocument/2006/relationships/hyperlink" Target="https://socalsunrise.com/programs/behavioral-therapy/" TargetMode="External"/><Relationship Id="rId10" Type="http://schemas.openxmlformats.org/officeDocument/2006/relationships/hyperlink" Target="https://socalsunrise.com/programs/psychotherapy/" TargetMode="External"/><Relationship Id="rId9" Type="http://schemas.openxmlformats.org/officeDocument/2006/relationships/hyperlink" Target="https://socalsunrise.com/treatments/bpd/" TargetMode="External"/><Relationship Id="rId5" Type="http://schemas.openxmlformats.org/officeDocument/2006/relationships/hyperlink" Target="https://socalsunrise.com/treatments/anxiety/" TargetMode="External"/><Relationship Id="rId6" Type="http://schemas.openxmlformats.org/officeDocument/2006/relationships/hyperlink" Target="https://socalsunrise.com/treatments/aspd/" TargetMode="External"/><Relationship Id="rId7" Type="http://schemas.openxmlformats.org/officeDocument/2006/relationships/hyperlink" Target="https://socalsunrise.com/programs/narrative-therapy-orange-county/" TargetMode="External"/><Relationship Id="rId8" Type="http://schemas.openxmlformats.org/officeDocument/2006/relationships/hyperlink" Target="https://socalsunrise.com/treatments/bipolar-disorder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socalsunrise.com/what-is-residual-schizophrenia/" TargetMode="External"/><Relationship Id="rId4" Type="http://schemas.openxmlformats.org/officeDocument/2006/relationships/hyperlink" Target="https://socalsunrise.com/trauma-bonding/" TargetMode="External"/><Relationship Id="rId9" Type="http://schemas.openxmlformats.org/officeDocument/2006/relationships/hyperlink" Target="https://socalsunrise.com/emotional-dysregulation" TargetMode="External"/><Relationship Id="rId5" Type="http://schemas.openxmlformats.org/officeDocument/2006/relationships/hyperlink" Target="https://socalsunrise.com/ocd-and-trauma/" TargetMode="External"/><Relationship Id="rId6" Type="http://schemas.openxmlformats.org/officeDocument/2006/relationships/hyperlink" Target="https://socalsunrise.com/what-are-the-signs-of-complex-ptsd" TargetMode="External"/><Relationship Id="rId7" Type="http://schemas.openxmlformats.org/officeDocument/2006/relationships/hyperlink" Target="https://socalsunrise.com/intrusive-thoughts-examples/" TargetMode="External"/><Relationship Id="rId8" Type="http://schemas.openxmlformats.org/officeDocument/2006/relationships/hyperlink" Target="https://socalsunrise.com/how-to-heal-childhood-traum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/>
          <p:nvPr/>
        </p:nvSpPr>
        <p:spPr>
          <a:xfrm>
            <a:off x="473088" y="3821358"/>
            <a:ext cx="51054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i="0" lang="en" sz="1200" u="none" cap="none" strike="noStrike">
                <a:solidFill>
                  <a:srgbClr val="141413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Produced By: </a:t>
            </a:r>
            <a:r>
              <a:rPr lang="en" sz="1200">
                <a:solidFill>
                  <a:srgbClr val="141413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Olivia &amp; Carmen</a:t>
            </a:r>
            <a:endParaRPr i="0" sz="1200" u="none" cap="none" strike="noStrike">
              <a:solidFill>
                <a:srgbClr val="141413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i="0" lang="en" sz="1200" u="none" cap="none" strike="noStrike">
                <a:solidFill>
                  <a:srgbClr val="141413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Date: </a:t>
            </a:r>
            <a:r>
              <a:rPr lang="en" sz="1200">
                <a:solidFill>
                  <a:srgbClr val="141413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March 3</a:t>
            </a:r>
            <a:endParaRPr i="0" sz="1200" u="none" cap="none" strike="noStrike">
              <a:solidFill>
                <a:srgbClr val="141413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62" name="Google Shape;62;p16"/>
          <p:cNvSpPr/>
          <p:nvPr/>
        </p:nvSpPr>
        <p:spPr>
          <a:xfrm>
            <a:off x="473088" y="1589500"/>
            <a:ext cx="7410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lang="en" sz="1250">
                <a:solidFill>
                  <a:srgbClr val="141413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SEO Report | February 2026 </a:t>
            </a:r>
            <a:endParaRPr i="0" sz="1250" u="none" cap="none" strike="noStrike">
              <a:solidFill>
                <a:srgbClr val="141413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473088" y="2158212"/>
            <a:ext cx="7410600" cy="8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lang="en" sz="5250">
                <a:solidFill>
                  <a:srgbClr val="141413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Southern California</a:t>
            </a:r>
            <a:br>
              <a:rPr lang="en" sz="5250">
                <a:solidFill>
                  <a:srgbClr val="141413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</a:br>
            <a:r>
              <a:rPr lang="en" sz="5250">
                <a:solidFill>
                  <a:srgbClr val="141413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Sunrise Recovery</a:t>
            </a:r>
            <a:endParaRPr i="0" sz="5250" u="none" cap="none" strike="noStrike">
              <a:solidFill>
                <a:srgbClr val="141413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pic>
        <p:nvPicPr>
          <p:cNvPr id="64" name="Google Shape;64;p16" title="W Full blk tx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275" y="447625"/>
            <a:ext cx="1026251" cy="24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/>
          <p:nvPr/>
        </p:nvSpPr>
        <p:spPr>
          <a:xfrm>
            <a:off x="5757025" y="0"/>
            <a:ext cx="3387000" cy="5143500"/>
          </a:xfrm>
          <a:prstGeom prst="rect">
            <a:avLst/>
          </a:prstGeom>
          <a:solidFill>
            <a:srgbClr val="1414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7"/>
          <p:cNvSpPr/>
          <p:nvPr/>
        </p:nvSpPr>
        <p:spPr>
          <a:xfrm>
            <a:off x="6477000" y="4424363"/>
            <a:ext cx="10479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7"/>
          <p:cNvSpPr/>
          <p:nvPr/>
        </p:nvSpPr>
        <p:spPr>
          <a:xfrm>
            <a:off x="401837" y="1387837"/>
            <a:ext cx="1638300" cy="1065600"/>
          </a:xfrm>
          <a:prstGeom prst="roundRect">
            <a:avLst>
              <a:gd fmla="val 6227" name="adj"/>
            </a:avLst>
          </a:prstGeom>
          <a:solidFill>
            <a:schemeClr val="lt1"/>
          </a:solidFill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725" lIns="81725" spcFirstLastPara="1" rIns="81725" wrap="square" tIns="81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1"/>
          </a:p>
        </p:txBody>
      </p:sp>
      <p:sp>
        <p:nvSpPr>
          <p:cNvPr id="73" name="Google Shape;73;p17"/>
          <p:cNvSpPr/>
          <p:nvPr/>
        </p:nvSpPr>
        <p:spPr>
          <a:xfrm>
            <a:off x="2242852" y="1387837"/>
            <a:ext cx="1638300" cy="1065600"/>
          </a:xfrm>
          <a:prstGeom prst="roundRect">
            <a:avLst>
              <a:gd fmla="val 6227" name="adj"/>
            </a:avLst>
          </a:prstGeom>
          <a:solidFill>
            <a:schemeClr val="lt1"/>
          </a:solidFill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725" lIns="81725" spcFirstLastPara="1" rIns="81725" wrap="square" tIns="81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1"/>
          </a:p>
        </p:txBody>
      </p:sp>
      <p:sp>
        <p:nvSpPr>
          <p:cNvPr id="74" name="Google Shape;74;p17"/>
          <p:cNvSpPr/>
          <p:nvPr/>
        </p:nvSpPr>
        <p:spPr>
          <a:xfrm>
            <a:off x="4083867" y="1387837"/>
            <a:ext cx="1638300" cy="1065600"/>
          </a:xfrm>
          <a:prstGeom prst="roundRect">
            <a:avLst>
              <a:gd fmla="val 6227" name="adj"/>
            </a:avLst>
          </a:prstGeom>
          <a:solidFill>
            <a:schemeClr val="lt1"/>
          </a:solidFill>
          <a:ln cap="flat" cmpd="sng" w="19050">
            <a:solidFill>
              <a:srgbClr val="14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725" lIns="81725" spcFirstLastPara="1" rIns="81725" wrap="square" tIns="81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1"/>
          </a:p>
        </p:txBody>
      </p:sp>
      <p:sp>
        <p:nvSpPr>
          <p:cNvPr id="75" name="Google Shape;75;p17"/>
          <p:cNvSpPr/>
          <p:nvPr/>
        </p:nvSpPr>
        <p:spPr>
          <a:xfrm>
            <a:off x="432975" y="1139750"/>
            <a:ext cx="15369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70700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Archivo"/>
              <a:buNone/>
            </a:pPr>
            <a:r>
              <a:rPr lang="en" sz="1050">
                <a:solidFill>
                  <a:srgbClr val="141413"/>
                </a:solidFill>
                <a:latin typeface="Archivo"/>
                <a:ea typeface="Archivo"/>
                <a:cs typeface="Archivo"/>
                <a:sym typeface="Archivo"/>
              </a:rPr>
              <a:t>Organic Sessions</a:t>
            </a:r>
            <a:endParaRPr b="0" i="0" sz="1050" u="none" cap="none" strike="noStrike">
              <a:solidFill>
                <a:srgbClr val="1414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2283775" y="1139750"/>
            <a:ext cx="15369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Archivo"/>
              <a:buNone/>
            </a:pPr>
            <a:r>
              <a:rPr lang="en" sz="1050">
                <a:solidFill>
                  <a:srgbClr val="141413"/>
                </a:solidFill>
                <a:latin typeface="Archivo"/>
                <a:ea typeface="Archivo"/>
                <a:cs typeface="Archivo"/>
                <a:sym typeface="Archivo"/>
              </a:rPr>
              <a:t>VVOBs</a:t>
            </a:r>
            <a:endParaRPr b="0" i="0" sz="1050" u="none" cap="none" strike="noStrike">
              <a:solidFill>
                <a:srgbClr val="1414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4163675" y="1139738"/>
            <a:ext cx="15369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Archivo"/>
              <a:buNone/>
            </a:pPr>
            <a:r>
              <a:rPr lang="en" sz="1050">
                <a:solidFill>
                  <a:srgbClr val="141413"/>
                </a:solidFill>
                <a:latin typeface="Archivo"/>
                <a:ea typeface="Archivo"/>
                <a:cs typeface="Archivo"/>
                <a:sym typeface="Archivo"/>
              </a:rPr>
              <a:t>VVOBs</a:t>
            </a:r>
            <a:endParaRPr b="0" i="0" sz="1050" u="none" cap="none" strike="noStrike">
              <a:solidFill>
                <a:srgbClr val="1414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523325" y="1995254"/>
            <a:ext cx="13953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875" lIns="57775" spcFirstLastPara="1" rIns="57775" wrap="square" tIns="288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9"/>
              <a:buFont typeface="Inter"/>
              <a:buNone/>
            </a:pPr>
            <a:r>
              <a:rPr lang="en" sz="808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Goal: 46,151 l [Q1]</a:t>
            </a:r>
            <a:endParaRPr b="0" i="0" sz="808" u="none" cap="none" strike="noStrike">
              <a:solidFill>
                <a:srgbClr val="1414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503375" y="1563124"/>
            <a:ext cx="14352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875" lIns="57775" spcFirstLastPara="1" rIns="57775" wrap="square" tIns="2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96"/>
              <a:buFont typeface="Inter"/>
              <a:buNone/>
            </a:pPr>
            <a:r>
              <a:rPr b="1" lang="en" sz="1700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10,835</a:t>
            </a:r>
            <a:endParaRPr b="1" i="0" sz="1700" u="none" cap="none" strike="noStrike">
              <a:solidFill>
                <a:srgbClr val="14141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344400" y="1544299"/>
            <a:ext cx="14352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875" lIns="57775" spcFirstLastPara="1" rIns="57775" wrap="square" tIns="2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96"/>
              <a:buFont typeface="Inter"/>
              <a:buNone/>
            </a:pPr>
            <a:r>
              <a:rPr b="1" lang="en" sz="1700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147 Calls</a:t>
            </a:r>
            <a:endParaRPr b="1" sz="1700">
              <a:solidFill>
                <a:srgbClr val="14141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96"/>
              <a:buFont typeface="Inter"/>
              <a:buNone/>
            </a:pPr>
            <a:r>
              <a:t/>
            </a:r>
            <a:endParaRPr b="1" sz="1700">
              <a:solidFill>
                <a:srgbClr val="14141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4220125" y="1563124"/>
            <a:ext cx="1536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8875" lIns="57775" spcFirstLastPara="1" rIns="57775" wrap="square" tIns="28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96"/>
              <a:buFont typeface="Inter"/>
              <a:buNone/>
            </a:pPr>
            <a:r>
              <a:rPr b="1" lang="en" sz="1700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13 VVOB</a:t>
            </a:r>
            <a:endParaRPr b="1" sz="1700">
              <a:solidFill>
                <a:srgbClr val="14141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96"/>
              <a:buFont typeface="Inter"/>
              <a:buNone/>
            </a:pPr>
            <a:r>
              <a:t/>
            </a:r>
            <a:endParaRPr b="1" sz="1700">
              <a:solidFill>
                <a:srgbClr val="14141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572975" y="2771775"/>
            <a:ext cx="5149200" cy="20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The 0.6% "Make a Call" conversion rate is positive after the site restructure.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There are 63 potentially viable calls in CTM that still need tagging for February.</a:t>
            </a:r>
            <a:endParaRPr sz="1100">
              <a:solidFill>
                <a:srgbClr val="14141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Traffic increased by 22.1% in under two weeks, starting from 8,538 visits.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This is a positive sign that google is recognizing the quality we’re putting in. 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4141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4141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4141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4141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100">
              <a:solidFill>
                <a:srgbClr val="14141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4141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3" name="Google Shape;83;p17"/>
          <p:cNvCxnSpPr/>
          <p:nvPr/>
        </p:nvCxnSpPr>
        <p:spPr>
          <a:xfrm>
            <a:off x="503375" y="2771781"/>
            <a:ext cx="0" cy="375600"/>
          </a:xfrm>
          <a:prstGeom prst="straightConnector1">
            <a:avLst/>
          </a:prstGeom>
          <a:noFill/>
          <a:ln cap="flat" cmpd="sng" w="19050">
            <a:solidFill>
              <a:srgbClr val="FF2F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" name="Google Shape;84;p17"/>
          <p:cNvSpPr/>
          <p:nvPr/>
        </p:nvSpPr>
        <p:spPr>
          <a:xfrm>
            <a:off x="300600" y="491725"/>
            <a:ext cx="5008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lang="en" sz="2400">
                <a:solidFill>
                  <a:srgbClr val="2B2B2A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QTD Key Performance Indicators</a:t>
            </a:r>
            <a:endParaRPr sz="2400">
              <a:solidFill>
                <a:srgbClr val="2B2B2A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536108" y="2170375"/>
            <a:ext cx="9795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875" lIns="57775" spcFirstLastPara="1" rIns="57775" wrap="square" tIns="288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9"/>
              <a:buFont typeface="Inter"/>
              <a:buNone/>
            </a:pPr>
            <a:r>
              <a:rPr b="1" lang="en" sz="708">
                <a:solidFill>
                  <a:srgbClr val="FF0000"/>
                </a:solidFill>
                <a:latin typeface="Archivo"/>
                <a:ea typeface="Archivo"/>
                <a:cs typeface="Archivo"/>
                <a:sym typeface="Archivo"/>
              </a:rPr>
              <a:t>-44</a:t>
            </a:r>
            <a:r>
              <a:rPr b="1" lang="en" sz="708">
                <a:solidFill>
                  <a:srgbClr val="FF0000"/>
                </a:solidFill>
                <a:latin typeface="Archivo"/>
                <a:ea typeface="Archivo"/>
                <a:cs typeface="Archivo"/>
                <a:sym typeface="Archivo"/>
              </a:rPr>
              <a:t>% behind  goal</a:t>
            </a:r>
            <a:endParaRPr b="1" i="0" sz="708" u="none" cap="none" strike="noStrike">
              <a:solidFill>
                <a:srgbClr val="FF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2364350" y="1995254"/>
            <a:ext cx="13953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875" lIns="57775" spcFirstLastPara="1" rIns="57775" wrap="square" tIns="288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9"/>
              <a:buFont typeface="Inter"/>
              <a:buNone/>
            </a:pPr>
            <a:r>
              <a:rPr lang="en" sz="808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Jan</a:t>
            </a:r>
            <a:r>
              <a:rPr lang="en" sz="808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: 114</a:t>
            </a:r>
            <a:endParaRPr b="0" i="0" sz="808" u="none" cap="none" strike="noStrike">
              <a:solidFill>
                <a:srgbClr val="1414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2377133" y="2170375"/>
            <a:ext cx="9795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875" lIns="57775" spcFirstLastPara="1" rIns="57775" wrap="square" tIns="288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9"/>
              <a:buFont typeface="Inter"/>
              <a:buNone/>
            </a:pPr>
            <a:r>
              <a:rPr b="1" lang="en" sz="708">
                <a:solidFill>
                  <a:srgbClr val="1DB954"/>
                </a:solidFill>
                <a:latin typeface="Archivo"/>
                <a:ea typeface="Archivo"/>
                <a:cs typeface="Archivo"/>
                <a:sym typeface="Archivo"/>
              </a:rPr>
              <a:t>+28% MoM</a:t>
            </a:r>
            <a:endParaRPr b="1" i="0" sz="708" u="none" cap="none" strike="noStrike">
              <a:solidFill>
                <a:srgbClr val="1DB95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4163683" y="2170375"/>
            <a:ext cx="9795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875" lIns="57775" spcFirstLastPara="1" rIns="57775" wrap="square" tIns="288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9"/>
              <a:buFont typeface="Inter"/>
              <a:buNone/>
            </a:pPr>
            <a:r>
              <a:rPr b="1" lang="en" sz="708">
                <a:solidFill>
                  <a:srgbClr val="1DB954"/>
                </a:solidFill>
                <a:latin typeface="Archivo"/>
                <a:ea typeface="Archivo"/>
                <a:cs typeface="Archivo"/>
                <a:sym typeface="Archivo"/>
              </a:rPr>
              <a:t>+160% MoM</a:t>
            </a:r>
            <a:endParaRPr b="1" i="0" sz="708" u="none" cap="none" strike="noStrike">
              <a:solidFill>
                <a:srgbClr val="1DB95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163675" y="1995254"/>
            <a:ext cx="13953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875" lIns="57775" spcFirstLastPara="1" rIns="57775" wrap="square" tIns="288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9"/>
              <a:buFont typeface="Inter"/>
              <a:buNone/>
            </a:pPr>
            <a:r>
              <a:rPr lang="en" sz="808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Jan: 5</a:t>
            </a:r>
            <a:endParaRPr b="0" i="0" sz="808" u="none" cap="none" strike="noStrike">
              <a:solidFill>
                <a:srgbClr val="1414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>
            <a:off x="503375" y="3556231"/>
            <a:ext cx="0" cy="375600"/>
          </a:xfrm>
          <a:prstGeom prst="straightConnector1">
            <a:avLst/>
          </a:prstGeom>
          <a:noFill/>
          <a:ln cap="flat" cmpd="sng" w="19050">
            <a:solidFill>
              <a:srgbClr val="FF2F0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" name="Google Shape;91;p17" title="Screenshot 2026-03-02 at 10.02.2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4721" y="2508716"/>
            <a:ext cx="3248025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/>
          <p:nvPr/>
        </p:nvSpPr>
        <p:spPr>
          <a:xfrm>
            <a:off x="381000" y="6934200"/>
            <a:ext cx="8382000" cy="40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381000" y="7753350"/>
            <a:ext cx="8382000" cy="40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380960" y="225500"/>
            <a:ext cx="27309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70700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Archivo"/>
              <a:buNone/>
            </a:pPr>
            <a:r>
              <a:rPr b="1" lang="en" sz="1050">
                <a:solidFill>
                  <a:srgbClr val="141413"/>
                </a:solidFill>
                <a:latin typeface="Archivo"/>
                <a:ea typeface="Archivo"/>
                <a:cs typeface="Archivo"/>
                <a:sym typeface="Archivo"/>
              </a:rPr>
              <a:t>Top Conversion Locations for Feb 2026</a:t>
            </a:r>
            <a:endParaRPr b="1" i="0" sz="1050" u="none" cap="none" strike="noStrike">
              <a:solidFill>
                <a:srgbClr val="1414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0" name="Google Shape;100;p18"/>
          <p:cNvGraphicFramePr/>
          <p:nvPr/>
        </p:nvGraphicFramePr>
        <p:xfrm>
          <a:off x="358147" y="6645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{DCFC6901-E120-4251-B9A9-170771BAFC2A}</a:tableStyleId>
              </a:tblPr>
              <a:tblGrid>
                <a:gridCol w="1992750"/>
                <a:gridCol w="2023300"/>
                <a:gridCol w="2023300"/>
                <a:gridCol w="2023300"/>
              </a:tblGrid>
              <a:tr h="622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Tracking Source</a:t>
                      </a:r>
                      <a:endParaRPr sz="13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# of Leads</a:t>
                      </a:r>
                      <a:r>
                        <a:rPr lang="en" sz="13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</a:t>
                      </a:r>
                      <a:endParaRPr sz="13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# of VVOBs</a:t>
                      </a:r>
                      <a:endParaRPr sz="13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Conversion Rate</a:t>
                      </a:r>
                      <a:endParaRPr sz="13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</a:tr>
              <a:tr h="622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Google My Business</a:t>
                      </a:r>
                      <a:endParaRPr sz="10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96 (</a:t>
                      </a:r>
                      <a:r>
                        <a:rPr lang="en" sz="1000">
                          <a:solidFill>
                            <a:srgbClr val="1DB954"/>
                          </a:solidFill>
                        </a:rPr>
                        <a:t>24%</a:t>
                      </a:r>
                      <a:r>
                        <a:rPr lang="en" sz="1000"/>
                        <a:t>) </a:t>
                      </a:r>
                      <a:endParaRPr sz="10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13(</a:t>
                      </a:r>
                      <a:r>
                        <a:rPr lang="en" sz="1000">
                          <a:solidFill>
                            <a:srgbClr val="1DB954"/>
                          </a:solidFill>
                        </a:rPr>
                        <a:t>333%</a:t>
                      </a:r>
                      <a:r>
                        <a:rPr lang="en" sz="1000"/>
                        <a:t>)</a:t>
                      </a:r>
                      <a:endParaRPr sz="10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b"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13.54%(</a:t>
                      </a:r>
                      <a:r>
                        <a:rPr lang="en" sz="1000">
                          <a:solidFill>
                            <a:srgbClr val="1DB954"/>
                          </a:solidFill>
                        </a:rPr>
                        <a:t>247%</a:t>
                      </a:r>
                      <a:r>
                        <a:rPr lang="en" sz="1000"/>
                        <a:t>)</a:t>
                      </a:r>
                      <a:endParaRPr sz="1000"/>
                    </a:p>
                  </a:txBody>
                  <a:tcPr marT="19050" marB="19050" marR="28575" marL="28575" anchor="b"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Multi-Organic Search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47(</a:t>
                      </a:r>
                      <a:r>
                        <a:rPr lang="en" sz="1000">
                          <a:solidFill>
                            <a:srgbClr val="1DB954"/>
                          </a:solidFill>
                        </a:rPr>
                        <a:t>27%</a:t>
                      </a:r>
                      <a:r>
                        <a:rPr lang="en" sz="1000"/>
                        <a:t>) 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0(-</a:t>
                      </a:r>
                      <a:r>
                        <a:rPr lang="en" sz="1000">
                          <a:solidFill>
                            <a:srgbClr val="FF2F0A"/>
                          </a:solidFill>
                        </a:rPr>
                        <a:t>100%</a:t>
                      </a:r>
                      <a:r>
                        <a:rPr lang="en" sz="1000"/>
                        <a:t>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0.00% (</a:t>
                      </a:r>
                      <a:r>
                        <a:rPr lang="en" sz="1000">
                          <a:solidFill>
                            <a:srgbClr val="FF2F0A"/>
                          </a:solidFill>
                        </a:rPr>
                        <a:t>-90%</a:t>
                      </a:r>
                      <a:r>
                        <a:rPr lang="en" sz="1000"/>
                        <a:t>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" name="Google Shape;101;p18"/>
          <p:cNvSpPr txBox="1"/>
          <p:nvPr/>
        </p:nvSpPr>
        <p:spPr>
          <a:xfrm>
            <a:off x="525350" y="2880500"/>
            <a:ext cx="728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GMB conversion rate </a:t>
            </a:r>
            <a:r>
              <a:rPr lang="en"/>
              <a:t>skyrocketed</a:t>
            </a:r>
            <a:r>
              <a:rPr lang="en"/>
              <a:t> in February, even though GMB </a:t>
            </a:r>
            <a:r>
              <a:rPr lang="en"/>
              <a:t>interactions</a:t>
            </a:r>
            <a:r>
              <a:rPr lang="en"/>
              <a:t> are down 15% from Jan to Feb 2026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2" name="Google Shape;102;p18"/>
          <p:cNvCxnSpPr/>
          <p:nvPr/>
        </p:nvCxnSpPr>
        <p:spPr>
          <a:xfrm>
            <a:off x="462550" y="2925631"/>
            <a:ext cx="0" cy="375600"/>
          </a:xfrm>
          <a:prstGeom prst="straightConnector1">
            <a:avLst/>
          </a:prstGeom>
          <a:noFill/>
          <a:ln cap="flat" cmpd="sng" w="19050">
            <a:solidFill>
              <a:srgbClr val="FF2F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8"/>
          <p:cNvSpPr txBox="1"/>
          <p:nvPr/>
        </p:nvSpPr>
        <p:spPr>
          <a:xfrm>
            <a:off x="556750" y="3820900"/>
            <a:ext cx="728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of the Leads we saw for Multi-</a:t>
            </a:r>
            <a:r>
              <a:rPr lang="en"/>
              <a:t>Organic</a:t>
            </a:r>
            <a:r>
              <a:rPr lang="en"/>
              <a:t> </a:t>
            </a:r>
            <a:r>
              <a:rPr lang="en"/>
              <a:t>search</a:t>
            </a:r>
            <a:r>
              <a:rPr lang="en"/>
              <a:t> were still on substance-abuse related pages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4" name="Google Shape;104;p18"/>
          <p:cNvCxnSpPr/>
          <p:nvPr/>
        </p:nvCxnSpPr>
        <p:spPr>
          <a:xfrm>
            <a:off x="493950" y="3866031"/>
            <a:ext cx="0" cy="375600"/>
          </a:xfrm>
          <a:prstGeom prst="straightConnector1">
            <a:avLst/>
          </a:prstGeom>
          <a:noFill/>
          <a:ln cap="flat" cmpd="sng" w="19050">
            <a:solidFill>
              <a:srgbClr val="FF2F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9" title="Screenshot 2026-03-02 at 9.16.5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02300"/>
            <a:ext cx="8839199" cy="371734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/>
          <p:nvPr/>
        </p:nvSpPr>
        <p:spPr>
          <a:xfrm>
            <a:off x="300600" y="195900"/>
            <a:ext cx="65394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lang="en" sz="2400">
                <a:solidFill>
                  <a:srgbClr val="2B2B2A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Google Search Console Performance</a:t>
            </a:r>
            <a:endParaRPr sz="2400">
              <a:solidFill>
                <a:srgbClr val="2B2B2A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398750" y="562500"/>
            <a:ext cx="482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latin typeface="Inter Light"/>
                <a:ea typeface="Inter Light"/>
                <a:cs typeface="Inter Light"/>
                <a:sym typeface="Inter Light"/>
              </a:rPr>
              <a:t>Note: Volatility is expected as Google recrawls &amp; recategorizes your site</a:t>
            </a:r>
            <a:endParaRPr i="1" sz="900"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381000" y="5295900"/>
            <a:ext cx="8382000" cy="40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/>
          <p:nvPr/>
        </p:nvSpPr>
        <p:spPr>
          <a:xfrm>
            <a:off x="381013" y="5705475"/>
            <a:ext cx="8382000" cy="409500"/>
          </a:xfrm>
          <a:prstGeom prst="rect">
            <a:avLst/>
          </a:prstGeom>
          <a:solidFill>
            <a:srgbClr val="F5F5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/>
          <p:nvPr/>
        </p:nvSpPr>
        <p:spPr>
          <a:xfrm>
            <a:off x="381000" y="6115050"/>
            <a:ext cx="8382000" cy="40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0"/>
          <p:cNvSpPr/>
          <p:nvPr/>
        </p:nvSpPr>
        <p:spPr>
          <a:xfrm>
            <a:off x="381000" y="6524625"/>
            <a:ext cx="8382000" cy="409500"/>
          </a:xfrm>
          <a:prstGeom prst="rect">
            <a:avLst/>
          </a:prstGeom>
          <a:solidFill>
            <a:srgbClr val="F5F5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/>
          <p:nvPr/>
        </p:nvSpPr>
        <p:spPr>
          <a:xfrm>
            <a:off x="381000" y="6934200"/>
            <a:ext cx="8382000" cy="40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0"/>
          <p:cNvSpPr/>
          <p:nvPr/>
        </p:nvSpPr>
        <p:spPr>
          <a:xfrm>
            <a:off x="381000" y="7343775"/>
            <a:ext cx="8382000" cy="409500"/>
          </a:xfrm>
          <a:prstGeom prst="rect">
            <a:avLst/>
          </a:prstGeom>
          <a:solidFill>
            <a:srgbClr val="F5F5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0"/>
          <p:cNvSpPr/>
          <p:nvPr/>
        </p:nvSpPr>
        <p:spPr>
          <a:xfrm>
            <a:off x="381000" y="7753350"/>
            <a:ext cx="8382000" cy="40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4" name="Google Shape;124;p20"/>
          <p:cNvGraphicFramePr/>
          <p:nvPr/>
        </p:nvGraphicFramePr>
        <p:xfrm>
          <a:off x="267675" y="340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{DCFC6901-E120-4251-B9A9-170771BAFC2A}</a:tableStyleId>
              </a:tblPr>
              <a:tblGrid>
                <a:gridCol w="1546000"/>
                <a:gridCol w="1076525"/>
                <a:gridCol w="1142550"/>
                <a:gridCol w="822750"/>
                <a:gridCol w="650750"/>
                <a:gridCol w="857775"/>
                <a:gridCol w="997575"/>
                <a:gridCol w="1514725"/>
              </a:tblGrid>
              <a:tr h="62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Query Groups by Topic</a:t>
                      </a:r>
                      <a:endParaRPr b="1" sz="8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# of Queries</a:t>
                      </a:r>
                      <a:endParaRPr b="1" sz="8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Δ</a:t>
                      </a:r>
                      <a:endParaRPr b="1" sz="8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Clicks</a:t>
                      </a:r>
                      <a:endParaRPr b="1" sz="8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Δ</a:t>
                      </a:r>
                      <a:endParaRPr b="1" sz="8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Impressions</a:t>
                      </a:r>
                      <a:endParaRPr b="1" sz="8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Δ</a:t>
                      </a:r>
                      <a:endParaRPr b="1" sz="8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Notes</a:t>
                      </a:r>
                      <a:endParaRPr b="1" sz="8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0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Mental Health Conditions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10085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2F0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-6.57%</a:t>
                      </a:r>
                      <a:endParaRPr sz="800">
                        <a:solidFill>
                          <a:srgbClr val="FF2F0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586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2F0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-52.05%</a:t>
                      </a:r>
                      <a:endParaRPr sz="800">
                        <a:solidFill>
                          <a:srgbClr val="FF2F0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110921</a:t>
                      </a:r>
                      <a:endParaRPr sz="8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2F0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-4.13%</a:t>
                      </a:r>
                      <a:endParaRPr sz="800">
                        <a:solidFill>
                          <a:srgbClr val="FF2F0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Traffic fluctuations are expected as Google continues to recategorize the site during our strategic pivot toward mental health.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9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Medications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3886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2F0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-23.25%</a:t>
                      </a:r>
                      <a:endParaRPr sz="800">
                        <a:solidFill>
                          <a:srgbClr val="FF2F0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408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2F0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-17.41%</a:t>
                      </a:r>
                      <a:endParaRPr sz="800">
                        <a:solidFill>
                          <a:srgbClr val="FF2F0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55156</a:t>
                      </a:r>
                      <a:endParaRPr sz="8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2F0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-31.53%</a:t>
                      </a:r>
                      <a:endParaRPr sz="800">
                        <a:solidFill>
                          <a:srgbClr val="FF2F0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Decline aligns with reduced focus on medication-specific content during the content audit and restructuring.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Substance Use/Alcohol/Drugs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4101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2F0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-35.87%</a:t>
                      </a:r>
                      <a:endParaRPr sz="800">
                        <a:solidFill>
                          <a:srgbClr val="FF2F0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343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2F0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-31.40%</a:t>
                      </a:r>
                      <a:endParaRPr sz="800">
                        <a:solidFill>
                          <a:srgbClr val="FF2F0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49015</a:t>
                      </a:r>
                      <a:endParaRPr sz="8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2F0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-42.58%</a:t>
                      </a:r>
                      <a:endParaRPr sz="800">
                        <a:solidFill>
                          <a:srgbClr val="FF2F0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Decline is expected as the site shifts away from substance-use-focused content and removes legacy pages.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Dual Diagnosis/Co-occurring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2466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2F0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-10.59%</a:t>
                      </a:r>
                      <a:endParaRPr sz="800">
                        <a:solidFill>
                          <a:srgbClr val="FF2F0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172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2F0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-49.71%</a:t>
                      </a:r>
                      <a:endParaRPr sz="800">
                        <a:solidFill>
                          <a:srgbClr val="FF2F0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38465</a:t>
                      </a:r>
                      <a:endParaRPr sz="8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2F0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-14.39%</a:t>
                      </a:r>
                      <a:endParaRPr sz="800">
                        <a:solidFill>
                          <a:srgbClr val="FF2F0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Slight volatility expected as related content is being reviewed and realigned with the new mental health positioning.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Other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8448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2F0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-22.94%</a:t>
                      </a:r>
                      <a:endParaRPr sz="1000">
                        <a:solidFill>
                          <a:srgbClr val="FF2F0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146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2F0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-47.29%</a:t>
                      </a:r>
                      <a:endParaRPr sz="1000">
                        <a:solidFill>
                          <a:srgbClr val="FF2F0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52462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2F0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-28.22%</a:t>
                      </a:r>
                      <a:endParaRPr sz="1000">
                        <a:solidFill>
                          <a:srgbClr val="FF2F0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Declines reflect broader content cleanup and de-prioritization of non-core topics during the audit phase.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Admissions/Help Now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747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2F0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-10.54%</a:t>
                      </a:r>
                      <a:endParaRPr sz="1000">
                        <a:solidFill>
                          <a:srgbClr val="FF2F0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8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DB95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33.33%</a:t>
                      </a:r>
                      <a:endParaRPr sz="1000">
                        <a:solidFill>
                          <a:srgbClr val="1DB95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6867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DB95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13.19%</a:t>
                      </a:r>
                      <a:endParaRPr sz="1000">
                        <a:solidFill>
                          <a:srgbClr val="1DB95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Increase in clicks and impressions is positive and aligns with stronger intent-focused traffic during the repositioning.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5" name="Google Shape;125;p20"/>
          <p:cNvSpPr/>
          <p:nvPr/>
        </p:nvSpPr>
        <p:spPr>
          <a:xfrm>
            <a:off x="267685" y="95950"/>
            <a:ext cx="27309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70700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Archivo"/>
              <a:buNone/>
            </a:pPr>
            <a:r>
              <a:rPr b="1" lang="en" sz="1050">
                <a:solidFill>
                  <a:srgbClr val="141413"/>
                </a:solidFill>
                <a:latin typeface="Archivo"/>
                <a:ea typeface="Archivo"/>
                <a:cs typeface="Archivo"/>
                <a:sym typeface="Archivo"/>
              </a:rPr>
              <a:t>Keyword Tracking </a:t>
            </a:r>
            <a:endParaRPr b="1" sz="1050">
              <a:solidFill>
                <a:srgbClr val="14141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/>
          <p:nvPr/>
        </p:nvSpPr>
        <p:spPr>
          <a:xfrm>
            <a:off x="381000" y="6934200"/>
            <a:ext cx="8382000" cy="40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1"/>
          <p:cNvSpPr/>
          <p:nvPr/>
        </p:nvSpPr>
        <p:spPr>
          <a:xfrm>
            <a:off x="381000" y="7753350"/>
            <a:ext cx="8382000" cy="40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1"/>
          <p:cNvSpPr/>
          <p:nvPr/>
        </p:nvSpPr>
        <p:spPr>
          <a:xfrm>
            <a:off x="380960" y="358625"/>
            <a:ext cx="27309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70700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Archivo"/>
              <a:buNone/>
            </a:pPr>
            <a:r>
              <a:rPr b="1" lang="en" sz="1050">
                <a:solidFill>
                  <a:srgbClr val="141413"/>
                </a:solidFill>
                <a:latin typeface="Archivo"/>
                <a:ea typeface="Archivo"/>
                <a:cs typeface="Archivo"/>
                <a:sym typeface="Archivo"/>
              </a:rPr>
              <a:t>Supporting </a:t>
            </a:r>
            <a:r>
              <a:rPr b="1" lang="en" sz="1050">
                <a:solidFill>
                  <a:srgbClr val="141413"/>
                </a:solidFill>
                <a:latin typeface="Archivo"/>
                <a:ea typeface="Archivo"/>
                <a:cs typeface="Archivo"/>
                <a:sym typeface="Archivo"/>
              </a:rPr>
              <a:t>Strategic Initiatives</a:t>
            </a:r>
            <a:endParaRPr b="1" sz="1050">
              <a:solidFill>
                <a:srgbClr val="14141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134" name="Google Shape;134;p21"/>
          <p:cNvGraphicFramePr/>
          <p:nvPr/>
        </p:nvGraphicFramePr>
        <p:xfrm>
          <a:off x="380950" y="7871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{DCFC6901-E120-4251-B9A9-170771BAFC2A}</a:tableStyleId>
              </a:tblPr>
              <a:tblGrid>
                <a:gridCol w="2631425"/>
                <a:gridCol w="2572400"/>
                <a:gridCol w="2611825"/>
              </a:tblGrid>
              <a:tr h="622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Initiative</a:t>
                      </a:r>
                      <a:endParaRPr sz="13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Status</a:t>
                      </a:r>
                      <a:endParaRPr sz="13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Notes </a:t>
                      </a:r>
                      <a:endParaRPr sz="13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34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Remove</a:t>
                      </a:r>
                      <a:r>
                        <a:rPr lang="en" sz="13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&amp; Redirect all SUD content.</a:t>
                      </a:r>
                      <a:endParaRPr sz="13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8275" marB="19050" marR="28575" marL="28575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1DB954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Complete.</a:t>
                      </a:r>
                      <a:endParaRPr b="1" sz="1300">
                        <a:solidFill>
                          <a:srgbClr val="1DB954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8275" marB="19050" marR="28575" marL="28575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42 additional calls came from organic search linked to SUD pages, which has a low conversion potential. 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Update content per audit.</a:t>
                      </a:r>
                      <a:endParaRPr sz="13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8275" marB="19050" marR="28575" marL="28575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In progress</a:t>
                      </a:r>
                      <a:endParaRPr b="1" sz="13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8275" marB="19050" marR="28575" marL="28575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ncludes removal of SUD on existing pages.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/>
          <p:nvPr/>
        </p:nvSpPr>
        <p:spPr>
          <a:xfrm>
            <a:off x="342430" y="320492"/>
            <a:ext cx="3459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70700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Archivo"/>
              <a:buNone/>
            </a:pPr>
            <a:r>
              <a:rPr b="1" lang="en" sz="1050">
                <a:solidFill>
                  <a:srgbClr val="141413"/>
                </a:solidFill>
                <a:latin typeface="Archivo"/>
                <a:ea typeface="Archivo"/>
                <a:cs typeface="Archivo"/>
                <a:sym typeface="Archivo"/>
              </a:rPr>
              <a:t>February AUDIT Content</a:t>
            </a:r>
            <a:endParaRPr b="1" i="0" sz="1050" u="none" cap="none" strike="noStrike">
              <a:solidFill>
                <a:srgbClr val="1414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533875" y="713300"/>
            <a:ext cx="4620900" cy="25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Focus: </a:t>
            </a:r>
            <a:r>
              <a:rPr lang="en"/>
              <a:t>High- or Mid- Level Rewrite, correct, polished, narrative flow, why SCSMHC stands out.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https://socalsunrise.com/treatments/trauma-disorders/</a:t>
            </a:r>
            <a:r>
              <a:rPr lang="en"/>
              <a:t>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https://socalsunrise.com/programs/behavioral-therapy/</a:t>
            </a:r>
            <a:r>
              <a:rPr lang="en"/>
              <a:t>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https://socalsunrise.com/treatments/anxiety/</a:t>
            </a:r>
            <a:r>
              <a:rPr lang="en"/>
              <a:t>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https://socalsunrise.com/treatments/aspd/</a:t>
            </a:r>
            <a:r>
              <a:rPr lang="en"/>
              <a:t>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https://socalsunrise.com/programs/narrative-therapy-orange-county/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https://socalsunrise.com/treatments/bipolar-disorder/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u="sng">
                <a:solidFill>
                  <a:schemeClr val="hlink"/>
                </a:solidFill>
                <a:hlinkClick r:id="rId9"/>
              </a:rPr>
              <a:t>https://socalsunrise.com/treatments/bpd/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u="sng">
                <a:solidFill>
                  <a:schemeClr val="hlink"/>
                </a:solidFill>
                <a:hlinkClick r:id="rId10"/>
              </a:rPr>
              <a:t>https://socalsunrise.com/programs/psychotherapy/</a:t>
            </a:r>
            <a:r>
              <a:rPr lang="en">
                <a:solidFill>
                  <a:schemeClr val="dk1"/>
                </a:solidFill>
              </a:rPr>
              <a:t> </a:t>
            </a:r>
            <a:endParaRPr/>
          </a:p>
        </p:txBody>
      </p:sp>
      <p:graphicFrame>
        <p:nvGraphicFramePr>
          <p:cNvPr id="141" name="Google Shape;141;p22"/>
          <p:cNvGraphicFramePr/>
          <p:nvPr/>
        </p:nvGraphicFramePr>
        <p:xfrm>
          <a:off x="5796450" y="787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{C223BB82-001F-4F7C-AF14-67AEEF97AA30}</a:tableStyleId>
              </a:tblPr>
              <a:tblGrid>
                <a:gridCol w="1529300"/>
                <a:gridCol w="1529300"/>
              </a:tblGrid>
              <a:tr h="5685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Audit Progress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</a:tr>
              <a:tr h="38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Redirects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100% done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8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Low Level Rewrites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100% done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0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Medium Level Rewrites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50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8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High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Level Rewrites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50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%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/>
          <p:nvPr/>
        </p:nvSpPr>
        <p:spPr>
          <a:xfrm>
            <a:off x="381000" y="6934200"/>
            <a:ext cx="8382000" cy="40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3"/>
          <p:cNvSpPr/>
          <p:nvPr/>
        </p:nvSpPr>
        <p:spPr>
          <a:xfrm>
            <a:off x="381000" y="7753350"/>
            <a:ext cx="8382000" cy="40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3"/>
          <p:cNvSpPr/>
          <p:nvPr/>
        </p:nvSpPr>
        <p:spPr>
          <a:xfrm>
            <a:off x="278897" y="278150"/>
            <a:ext cx="3459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70700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Archivo"/>
              <a:buNone/>
            </a:pPr>
            <a:r>
              <a:rPr b="1" lang="en" sz="1050">
                <a:solidFill>
                  <a:srgbClr val="141413"/>
                </a:solidFill>
                <a:latin typeface="Archivo"/>
                <a:ea typeface="Archivo"/>
                <a:cs typeface="Archivo"/>
                <a:sym typeface="Archivo"/>
              </a:rPr>
              <a:t>February Content Completion: 5 credits</a:t>
            </a:r>
            <a:endParaRPr b="1" i="0" sz="1050" u="none" cap="none" strike="noStrike">
              <a:solidFill>
                <a:srgbClr val="1414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3"/>
          <p:cNvGraphicFramePr/>
          <p:nvPr/>
        </p:nvGraphicFramePr>
        <p:xfrm>
          <a:off x="278900" y="57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{C223BB82-001F-4F7C-AF14-67AEEF97AA30}</a:tableStyleId>
              </a:tblPr>
              <a:tblGrid>
                <a:gridCol w="864375"/>
                <a:gridCol w="3181800"/>
                <a:gridCol w="822475"/>
                <a:gridCol w="1182050"/>
                <a:gridCol w="1076100"/>
                <a:gridCol w="1076100"/>
              </a:tblGrid>
              <a:tr h="51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Page</a:t>
                      </a:r>
                      <a:endParaRPr sz="11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Target kw </a:t>
                      </a:r>
                      <a:endParaRPr sz="11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Current Rank</a:t>
                      </a:r>
                      <a:endParaRPr sz="11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Page Type </a:t>
                      </a:r>
                      <a:endParaRPr sz="11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Credit Type</a:t>
                      </a:r>
                      <a:endParaRPr sz="11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Credit Cost</a:t>
                      </a:r>
                      <a:endParaRPr sz="11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1F1F"/>
                    </a:solidFill>
                  </a:tcPr>
                </a:tc>
              </a:tr>
              <a:tr h="393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sng">
                          <a:solidFill>
                            <a:schemeClr val="hlink"/>
                          </a:solidFill>
                          <a:hlinkClick r:id="rId3"/>
                        </a:rPr>
                        <a:t>Link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.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What is residual </a:t>
                      </a:r>
                      <a:r>
                        <a:rPr lang="en" sz="1100"/>
                        <a:t>schizophrenia?</a:t>
                      </a:r>
                      <a:endParaRPr sz="11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15</a:t>
                      </a:r>
                      <a:endParaRPr sz="11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Blog</a:t>
                      </a:r>
                      <a:endParaRPr sz="11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Optimize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0.5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sng">
                          <a:solidFill>
                            <a:schemeClr val="hlink"/>
                          </a:solidFill>
                          <a:hlinkClick r:id="rId4"/>
                        </a:rPr>
                        <a:t>Link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What is trauma bonding?</a:t>
                      </a:r>
                      <a:endParaRPr sz="11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69.8</a:t>
                      </a:r>
                      <a:endParaRPr sz="11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Blog</a:t>
                      </a:r>
                      <a:endParaRPr sz="11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Optimize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0.5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sng">
                          <a:solidFill>
                            <a:schemeClr val="hlink"/>
                          </a:solidFill>
                          <a:hlinkClick r:id="rId5"/>
                        </a:rPr>
                        <a:t>Link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OCD and Trauma</a:t>
                      </a:r>
                      <a:endParaRPr sz="11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 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6.8</a:t>
                      </a:r>
                      <a:endParaRPr sz="11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Blog</a:t>
                      </a:r>
                      <a:endParaRPr sz="11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Optimize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0.5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sng">
                          <a:solidFill>
                            <a:schemeClr val="hlink"/>
                          </a:solidFill>
                          <a:hlinkClick r:id="rId6"/>
                        </a:rPr>
                        <a:t>Link</a:t>
                      </a:r>
                      <a:r>
                        <a:rPr b="1" lang="en" sz="1100"/>
                        <a:t>.</a:t>
                      </a:r>
                      <a:endParaRPr b="1" sz="11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CPTSD symptoms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9.1</a:t>
                      </a:r>
                      <a:endParaRPr sz="11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Blog</a:t>
                      </a:r>
                      <a:endParaRPr sz="11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Optimize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0.5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sng">
                          <a:solidFill>
                            <a:schemeClr val="hlink"/>
                          </a:solidFill>
                          <a:hlinkClick r:id="rId7"/>
                        </a:rPr>
                        <a:t>Link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.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Intrusive thoughts example</a:t>
                      </a:r>
                      <a:endParaRPr sz="11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N/A</a:t>
                      </a:r>
                      <a:endParaRPr sz="11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Blog</a:t>
                      </a:r>
                      <a:endParaRPr sz="11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New post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sng">
                          <a:solidFill>
                            <a:schemeClr val="hlink"/>
                          </a:solidFill>
                          <a:hlinkClick r:id="rId8"/>
                        </a:rPr>
                        <a:t>Link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.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How to heal childhood trauma</a:t>
                      </a:r>
                      <a:endParaRPr sz="11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N/A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Blog</a:t>
                      </a:r>
                      <a:endParaRPr sz="11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New post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sng">
                          <a:solidFill>
                            <a:schemeClr val="hlink"/>
                          </a:solidFill>
                          <a:hlinkClick r:id="rId9"/>
                        </a:rPr>
                        <a:t>Link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.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What is emotional dysregulation?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N/A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Blog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New post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