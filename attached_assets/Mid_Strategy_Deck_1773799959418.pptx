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3"/>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Inter SemiBold"/>
      <p:regular r:id="rId19"/>
      <p:bold r:id="rId20"/>
      <p:italic r:id="rId21"/>
      <p:boldItalic r:id="rId22"/>
    </p:embeddedFont>
    <p:embeddedFont>
      <p:font typeface="Inter"/>
      <p:regular r:id="rId23"/>
      <p:bold r:id="rId24"/>
      <p:italic r:id="rId25"/>
      <p:boldItalic r:id="rId26"/>
    </p:embeddedFont>
    <p:embeddedFont>
      <p:font typeface="Archivo Medium"/>
      <p:regular r:id="rId27"/>
      <p:bold r:id="rId28"/>
      <p:italic r:id="rId29"/>
      <p:boldItalic r:id="rId30"/>
    </p:embeddedFont>
    <p:embeddedFont>
      <p:font typeface="Inter ExtraBold"/>
      <p:bold r:id="rId31"/>
      <p:boldItalic r:id="rId32"/>
    </p:embeddedFont>
    <p:embeddedFont>
      <p:font typeface="Mulish Medium"/>
      <p:regular r:id="rId33"/>
      <p:bold r:id="rId34"/>
      <p:italic r:id="rId35"/>
      <p:boldItalic r:id="rId36"/>
    </p:embeddedFont>
    <p:embeddedFont>
      <p:font typeface="Inter Medium"/>
      <p:regular r:id="rId37"/>
      <p:bold r:id="rId38"/>
      <p:italic r:id="rId39"/>
      <p:boldItalic r:id="rId40"/>
    </p:embeddedFont>
    <p:embeddedFont>
      <p:font typeface="Archivo"/>
      <p:regular r:id="rId41"/>
      <p:bold r:id="rId42"/>
      <p:italic r:id="rId43"/>
      <p:boldItalic r:id="rId44"/>
    </p:embeddedFont>
    <p:embeddedFont>
      <p:font typeface="Archivo SemiBold"/>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InterMedium-boldItalic.fntdata"/><Relationship Id="rId20" Type="http://schemas.openxmlformats.org/officeDocument/2006/relationships/font" Target="fonts/InterSemiBold-bold.fntdata"/><Relationship Id="rId42" Type="http://schemas.openxmlformats.org/officeDocument/2006/relationships/font" Target="fonts/Archivo-bold.fntdata"/><Relationship Id="rId41" Type="http://schemas.openxmlformats.org/officeDocument/2006/relationships/font" Target="fonts/Archivo-regular.fntdata"/><Relationship Id="rId22" Type="http://schemas.openxmlformats.org/officeDocument/2006/relationships/font" Target="fonts/InterSemiBold-boldItalic.fntdata"/><Relationship Id="rId44" Type="http://schemas.openxmlformats.org/officeDocument/2006/relationships/font" Target="fonts/Archivo-boldItalic.fntdata"/><Relationship Id="rId21" Type="http://schemas.openxmlformats.org/officeDocument/2006/relationships/font" Target="fonts/InterSemiBold-italic.fntdata"/><Relationship Id="rId43" Type="http://schemas.openxmlformats.org/officeDocument/2006/relationships/font" Target="fonts/Archivo-italic.fntdata"/><Relationship Id="rId24" Type="http://schemas.openxmlformats.org/officeDocument/2006/relationships/font" Target="fonts/Inter-bold.fntdata"/><Relationship Id="rId46" Type="http://schemas.openxmlformats.org/officeDocument/2006/relationships/font" Target="fonts/ArchivoSemiBold-bold.fntdata"/><Relationship Id="rId23" Type="http://schemas.openxmlformats.org/officeDocument/2006/relationships/font" Target="fonts/Inter-regular.fntdata"/><Relationship Id="rId45" Type="http://schemas.openxmlformats.org/officeDocument/2006/relationships/font" Target="fonts/ArchivoSemiBold-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Inter-boldItalic.fntdata"/><Relationship Id="rId48" Type="http://schemas.openxmlformats.org/officeDocument/2006/relationships/font" Target="fonts/ArchivoSemiBold-boldItalic.fntdata"/><Relationship Id="rId25" Type="http://schemas.openxmlformats.org/officeDocument/2006/relationships/font" Target="fonts/Inter-italic.fntdata"/><Relationship Id="rId47" Type="http://schemas.openxmlformats.org/officeDocument/2006/relationships/font" Target="fonts/ArchivoSemiBold-italic.fntdata"/><Relationship Id="rId28" Type="http://schemas.openxmlformats.org/officeDocument/2006/relationships/font" Target="fonts/ArchivoMedium-bold.fntdata"/><Relationship Id="rId27" Type="http://schemas.openxmlformats.org/officeDocument/2006/relationships/font" Target="fonts/ArchivoMedium-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ArchivoMedium-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nterExtraBold-bold.fntdata"/><Relationship Id="rId30" Type="http://schemas.openxmlformats.org/officeDocument/2006/relationships/font" Target="fonts/ArchivoMedium-boldItalic.fntdata"/><Relationship Id="rId11" Type="http://schemas.openxmlformats.org/officeDocument/2006/relationships/slide" Target="slides/slide6.xml"/><Relationship Id="rId33" Type="http://schemas.openxmlformats.org/officeDocument/2006/relationships/font" Target="fonts/MulishMedium-regular.fntdata"/><Relationship Id="rId10" Type="http://schemas.openxmlformats.org/officeDocument/2006/relationships/slide" Target="slides/slide5.xml"/><Relationship Id="rId32" Type="http://schemas.openxmlformats.org/officeDocument/2006/relationships/font" Target="fonts/InterExtraBold-boldItalic.fntdata"/><Relationship Id="rId13" Type="http://schemas.openxmlformats.org/officeDocument/2006/relationships/slide" Target="slides/slide8.xml"/><Relationship Id="rId35" Type="http://schemas.openxmlformats.org/officeDocument/2006/relationships/font" Target="fonts/MulishMedium-italic.fntdata"/><Relationship Id="rId12" Type="http://schemas.openxmlformats.org/officeDocument/2006/relationships/slide" Target="slides/slide7.xml"/><Relationship Id="rId34" Type="http://schemas.openxmlformats.org/officeDocument/2006/relationships/font" Target="fonts/MulishMedium-bold.fntdata"/><Relationship Id="rId15" Type="http://schemas.openxmlformats.org/officeDocument/2006/relationships/slide" Target="slides/slide10.xml"/><Relationship Id="rId37" Type="http://schemas.openxmlformats.org/officeDocument/2006/relationships/font" Target="fonts/InterMedium-regular.fntdata"/><Relationship Id="rId14" Type="http://schemas.openxmlformats.org/officeDocument/2006/relationships/slide" Target="slides/slide9.xml"/><Relationship Id="rId36" Type="http://schemas.openxmlformats.org/officeDocument/2006/relationships/font" Target="fonts/MulishMedium-boldItalic.fntdata"/><Relationship Id="rId17" Type="http://schemas.openxmlformats.org/officeDocument/2006/relationships/slide" Target="slides/slide12.xml"/><Relationship Id="rId39" Type="http://schemas.openxmlformats.org/officeDocument/2006/relationships/font" Target="fonts/InterMedium-italic.fntdata"/><Relationship Id="rId16" Type="http://schemas.openxmlformats.org/officeDocument/2006/relationships/slide" Target="slides/slide11.xml"/><Relationship Id="rId38" Type="http://schemas.openxmlformats.org/officeDocument/2006/relationships/font" Target="fonts/InterMedium-bold.fntdata"/><Relationship Id="rId19" Type="http://schemas.openxmlformats.org/officeDocument/2006/relationships/font" Target="fonts/InterSemiBold-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a26c3cb319_0_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g3a26c3cb319_0_5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b108a19007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b108a19007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bab2809e2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bab2809e2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b108a19007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b108a19007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cf10b9dcc1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cf10b9dcc1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cf10b9dcc1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cf10b9dcc1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b6f4721494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b6f4721494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cf699b64b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cf699b64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cf699b64b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cf699b64b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bab2809e2d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bab2809e2d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bab2809e2d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bab2809e2d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bab2809e2d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bab2809e2d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39700" rtl="0" algn="l">
              <a:lnSpc>
                <a:spcPct val="115000"/>
              </a:lnSpc>
              <a:spcBef>
                <a:spcPts val="0"/>
              </a:spcBef>
              <a:spcAft>
                <a:spcPts val="0"/>
              </a:spcAft>
              <a:buClr>
                <a:schemeClr val="dk1"/>
              </a:buClr>
              <a:buSzPts val="1100"/>
              <a:buFont typeface="Arial"/>
              <a:buNone/>
            </a:pPr>
            <a:r>
              <a:rPr lang="en" sz="900">
                <a:solidFill>
                  <a:srgbClr val="0E0E0E"/>
                </a:solidFill>
              </a:rPr>
              <a:t>What you’re seeing here isn’t something we’re rolling out all at once. This is the </a:t>
            </a:r>
            <a:r>
              <a:rPr b="1" lang="en" sz="900">
                <a:solidFill>
                  <a:srgbClr val="0E0E0E"/>
                </a:solidFill>
              </a:rPr>
              <a:t>direction we’re building toward over the next ~6 months</a:t>
            </a:r>
            <a:r>
              <a:rPr lang="en" sz="900">
                <a:solidFill>
                  <a:srgbClr val="0E0E0E"/>
                </a:solidFill>
              </a:rPr>
              <a:t>, based on a 4-credit monthly content cadence.</a:t>
            </a:r>
            <a:endParaRPr sz="900">
              <a:solidFill>
                <a:srgbClr val="0E0E0E"/>
              </a:solidFill>
            </a:endParaRPr>
          </a:p>
          <a:p>
            <a:pPr indent="0" lvl="0" marL="139700" rtl="0" algn="l">
              <a:lnSpc>
                <a:spcPct val="115000"/>
              </a:lnSpc>
              <a:spcBef>
                <a:spcPts val="0"/>
              </a:spcBef>
              <a:spcAft>
                <a:spcPts val="0"/>
              </a:spcAft>
              <a:buClr>
                <a:schemeClr val="dk1"/>
              </a:buClr>
              <a:buSzPts val="1100"/>
              <a:buFont typeface="Arial"/>
              <a:buNone/>
            </a:pPr>
            <a:r>
              <a:t/>
            </a:r>
            <a:endParaRPr sz="900">
              <a:solidFill>
                <a:srgbClr val="0E0E0E"/>
              </a:solidFill>
            </a:endParaRPr>
          </a:p>
          <a:p>
            <a:pPr indent="0" lvl="0" marL="139700" rtl="0" algn="l">
              <a:lnSpc>
                <a:spcPct val="115000"/>
              </a:lnSpc>
              <a:spcBef>
                <a:spcPts val="0"/>
              </a:spcBef>
              <a:spcAft>
                <a:spcPts val="0"/>
              </a:spcAft>
              <a:buClr>
                <a:schemeClr val="dk1"/>
              </a:buClr>
              <a:buSzPts val="1100"/>
              <a:buFont typeface="Arial"/>
              <a:buNone/>
            </a:pPr>
            <a:r>
              <a:rPr lang="en" sz="900">
                <a:solidFill>
                  <a:srgbClr val="0E0E0E"/>
                </a:solidFill>
              </a:rPr>
              <a:t>Before we start executing content, we want to make sure we’re aligned on the </a:t>
            </a:r>
            <a:r>
              <a:rPr i="1" lang="en" sz="900">
                <a:solidFill>
                  <a:srgbClr val="0E0E0E"/>
                </a:solidFill>
              </a:rPr>
              <a:t>shape</a:t>
            </a:r>
            <a:r>
              <a:rPr lang="en" sz="900">
                <a:solidFill>
                  <a:srgbClr val="0E0E0E"/>
                </a:solidFill>
              </a:rPr>
              <a:t> of the site — how services, conditions, and therapies will ultimately be organized — so that every page we build plugs into the same structure.”</a:t>
            </a:r>
            <a:endParaRPr sz="900">
              <a:solidFill>
                <a:srgbClr val="0E0E0E"/>
              </a:solidFill>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b6f4721494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b6f4721494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List">
  <p:cSld name="DEFAULT">
    <p:spTree>
      <p:nvGrpSpPr>
        <p:cNvPr id="51" name="Shape 51"/>
        <p:cNvGrpSpPr/>
        <p:nvPr/>
      </p:nvGrpSpPr>
      <p:grpSpPr>
        <a:xfrm>
          <a:off x="0" y="0"/>
          <a:ext cx="0" cy="0"/>
          <a:chOff x="0" y="0"/>
          <a:chExt cx="0" cy="0"/>
        </a:xfrm>
      </p:grpSpPr>
      <p:cxnSp>
        <p:nvCxnSpPr>
          <p:cNvPr id="52" name="Google Shape;52;p14"/>
          <p:cNvCxnSpPr/>
          <p:nvPr/>
        </p:nvCxnSpPr>
        <p:spPr>
          <a:xfrm>
            <a:off x="-7300" y="4673817"/>
            <a:ext cx="9180300" cy="0"/>
          </a:xfrm>
          <a:prstGeom prst="straightConnector1">
            <a:avLst/>
          </a:prstGeom>
          <a:noFill/>
          <a:ln cap="flat" cmpd="sng" w="9525">
            <a:solidFill>
              <a:schemeClr val="dk2"/>
            </a:solidFill>
            <a:prstDash val="solid"/>
            <a:round/>
            <a:headEnd len="med" w="med" type="none"/>
            <a:tailEnd len="med" w="med" type="none"/>
          </a:ln>
        </p:spPr>
      </p:cxnSp>
      <p:sp>
        <p:nvSpPr>
          <p:cNvPr id="53" name="Google Shape;53;p14"/>
          <p:cNvSpPr txBox="1"/>
          <p:nvPr>
            <p:ph type="title"/>
          </p:nvPr>
        </p:nvSpPr>
        <p:spPr>
          <a:xfrm>
            <a:off x="171950" y="272275"/>
            <a:ext cx="4901700" cy="640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Font typeface="Inter Medium"/>
              <a:buNone/>
              <a:defRPr sz="2400">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4"/>
          <p:cNvSpPr txBox="1"/>
          <p:nvPr>
            <p:ph idx="1" type="body"/>
          </p:nvPr>
        </p:nvSpPr>
        <p:spPr>
          <a:xfrm>
            <a:off x="535050" y="1074900"/>
            <a:ext cx="4672200" cy="26562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rgbClr val="FF2F0A"/>
              </a:buClr>
              <a:buSzPts val="1400"/>
              <a:buFont typeface="Archivo"/>
              <a:buChar char="●"/>
              <a:defRPr>
                <a:latin typeface="Archivo"/>
                <a:ea typeface="Archivo"/>
                <a:cs typeface="Archivo"/>
                <a:sym typeface="Archivo"/>
              </a:defRPr>
            </a:lvl1pPr>
            <a:lvl2pPr indent="-317500" lvl="1" marL="914400">
              <a:spcBef>
                <a:spcPts val="0"/>
              </a:spcBef>
              <a:spcAft>
                <a:spcPts val="0"/>
              </a:spcAft>
              <a:buClr>
                <a:srgbClr val="FF2F0A"/>
              </a:buClr>
              <a:buSzPts val="1400"/>
              <a:buFont typeface="Archivo"/>
              <a:buChar char="○"/>
              <a:defRPr>
                <a:latin typeface="Archivo"/>
                <a:ea typeface="Archivo"/>
                <a:cs typeface="Archivo"/>
                <a:sym typeface="Archivo"/>
              </a:defRPr>
            </a:lvl2pPr>
            <a:lvl3pPr indent="-317500" lvl="2" marL="1371600">
              <a:spcBef>
                <a:spcPts val="0"/>
              </a:spcBef>
              <a:spcAft>
                <a:spcPts val="0"/>
              </a:spcAft>
              <a:buClr>
                <a:srgbClr val="FF2F0A"/>
              </a:buClr>
              <a:buSzPts val="1400"/>
              <a:buFont typeface="Archivo"/>
              <a:buChar char="■"/>
              <a:defRPr>
                <a:latin typeface="Archivo"/>
                <a:ea typeface="Archivo"/>
                <a:cs typeface="Archivo"/>
                <a:sym typeface="Archivo"/>
              </a:defRPr>
            </a:lvl3pPr>
            <a:lvl4pPr indent="-317500" lvl="3" marL="1828800">
              <a:spcBef>
                <a:spcPts val="0"/>
              </a:spcBef>
              <a:spcAft>
                <a:spcPts val="0"/>
              </a:spcAft>
              <a:buClr>
                <a:srgbClr val="FF2F0A"/>
              </a:buClr>
              <a:buSzPts val="1400"/>
              <a:buFont typeface="Archivo"/>
              <a:buChar char="●"/>
              <a:defRPr>
                <a:latin typeface="Archivo"/>
                <a:ea typeface="Archivo"/>
                <a:cs typeface="Archivo"/>
                <a:sym typeface="Archivo"/>
              </a:defRPr>
            </a:lvl4pPr>
            <a:lvl5pPr indent="-317500" lvl="4" marL="2286000">
              <a:spcBef>
                <a:spcPts val="0"/>
              </a:spcBef>
              <a:spcAft>
                <a:spcPts val="0"/>
              </a:spcAft>
              <a:buClr>
                <a:srgbClr val="FF2F0A"/>
              </a:buClr>
              <a:buSzPts val="1400"/>
              <a:buFont typeface="Archivo"/>
              <a:buChar char="○"/>
              <a:defRPr>
                <a:latin typeface="Archivo"/>
                <a:ea typeface="Archivo"/>
                <a:cs typeface="Archivo"/>
                <a:sym typeface="Archivo"/>
              </a:defRPr>
            </a:lvl5pPr>
            <a:lvl6pPr indent="-317500" lvl="5" marL="2743200">
              <a:spcBef>
                <a:spcPts val="0"/>
              </a:spcBef>
              <a:spcAft>
                <a:spcPts val="0"/>
              </a:spcAft>
              <a:buClr>
                <a:srgbClr val="FF0000"/>
              </a:buClr>
              <a:buSzPts val="1400"/>
              <a:buFont typeface="Archivo"/>
              <a:buChar char="■"/>
              <a:defRPr>
                <a:latin typeface="Archivo"/>
                <a:ea typeface="Archivo"/>
                <a:cs typeface="Archivo"/>
                <a:sym typeface="Archivo"/>
              </a:defRPr>
            </a:lvl6pPr>
            <a:lvl7pPr indent="-317500" lvl="6" marL="3200400">
              <a:spcBef>
                <a:spcPts val="0"/>
              </a:spcBef>
              <a:spcAft>
                <a:spcPts val="0"/>
              </a:spcAft>
              <a:buClr>
                <a:srgbClr val="FF0000"/>
              </a:buClr>
              <a:buSzPts val="1400"/>
              <a:buFont typeface="Archivo"/>
              <a:buChar char="●"/>
              <a:defRPr>
                <a:latin typeface="Archivo"/>
                <a:ea typeface="Archivo"/>
                <a:cs typeface="Archivo"/>
                <a:sym typeface="Archivo"/>
              </a:defRPr>
            </a:lvl7pPr>
            <a:lvl8pPr indent="-317500" lvl="7" marL="3657600">
              <a:spcBef>
                <a:spcPts val="0"/>
              </a:spcBef>
              <a:spcAft>
                <a:spcPts val="0"/>
              </a:spcAft>
              <a:buClr>
                <a:srgbClr val="FF2F0A"/>
              </a:buClr>
              <a:buSzPts val="1400"/>
              <a:buFont typeface="Archivo"/>
              <a:buChar char="○"/>
              <a:defRPr>
                <a:latin typeface="Archivo"/>
                <a:ea typeface="Archivo"/>
                <a:cs typeface="Archivo"/>
                <a:sym typeface="Archivo"/>
              </a:defRPr>
            </a:lvl8pPr>
            <a:lvl9pPr indent="-317500" lvl="8" marL="4114800">
              <a:spcBef>
                <a:spcPts val="0"/>
              </a:spcBef>
              <a:spcAft>
                <a:spcPts val="0"/>
              </a:spcAft>
              <a:buClr>
                <a:srgbClr val="FF0000"/>
              </a:buClr>
              <a:buSzPts val="1400"/>
              <a:buFont typeface="Archivo"/>
              <a:buChar char="■"/>
              <a:defRPr>
                <a:latin typeface="Archivo"/>
                <a:ea typeface="Archivo"/>
                <a:cs typeface="Archivo"/>
                <a:sym typeface="Archivo"/>
              </a:defRPr>
            </a:lvl9pPr>
          </a:lstStyle>
          <a:p/>
        </p:txBody>
      </p:sp>
      <p:pic>
        <p:nvPicPr>
          <p:cNvPr id="55" name="Google Shape;55;p14" title="W Full blk txt.png"/>
          <p:cNvPicPr preferRelativeResize="0"/>
          <p:nvPr/>
        </p:nvPicPr>
        <p:blipFill>
          <a:blip r:embed="rId2">
            <a:alphaModFix/>
          </a:blip>
          <a:stretch>
            <a:fillRect/>
          </a:stretch>
        </p:blipFill>
        <p:spPr>
          <a:xfrm>
            <a:off x="194475" y="4804579"/>
            <a:ext cx="826800" cy="19842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showMasterSp="0">
  <p:cSld name="1_Title Slide">
    <p:bg>
      <p:bgPr>
        <a:solidFill>
          <a:schemeClr val="lt1"/>
        </a:solidFill>
      </p:bgPr>
    </p:bg>
    <p:spTree>
      <p:nvGrpSpPr>
        <p:cNvPr id="56" name="Shape 56"/>
        <p:cNvGrpSpPr/>
        <p:nvPr/>
      </p:nvGrpSpPr>
      <p:grpSpPr>
        <a:xfrm>
          <a:off x="0" y="0"/>
          <a:ext cx="0" cy="0"/>
          <a:chOff x="0" y="0"/>
          <a:chExt cx="0" cy="0"/>
        </a:xfrm>
      </p:grpSpPr>
      <p:sp>
        <p:nvSpPr>
          <p:cNvPr id="57" name="Google Shape;57;p15"/>
          <p:cNvSpPr txBox="1"/>
          <p:nvPr/>
        </p:nvSpPr>
        <p:spPr>
          <a:xfrm>
            <a:off x="477400" y="4808225"/>
            <a:ext cx="10620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900">
                <a:solidFill>
                  <a:schemeClr val="lt1"/>
                </a:solidFill>
                <a:latin typeface="Archivo Medium"/>
                <a:ea typeface="Archivo Medium"/>
                <a:cs typeface="Archivo Medium"/>
                <a:sym typeface="Archivo Medium"/>
              </a:rPr>
              <a:t>2025</a:t>
            </a:r>
            <a:endParaRPr sz="900">
              <a:solidFill>
                <a:schemeClr val="lt1"/>
              </a:solidFill>
              <a:latin typeface="Archivo Medium"/>
              <a:ea typeface="Archivo Medium"/>
              <a:cs typeface="Archivo Medium"/>
              <a:sym typeface="Archivo Medium"/>
            </a:endParaRPr>
          </a:p>
        </p:txBody>
      </p:sp>
      <p:sp>
        <p:nvSpPr>
          <p:cNvPr id="58" name="Google Shape;58;p15"/>
          <p:cNvSpPr txBox="1"/>
          <p:nvPr/>
        </p:nvSpPr>
        <p:spPr>
          <a:xfrm flipH="1">
            <a:off x="4295890" y="4808230"/>
            <a:ext cx="552300" cy="2079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fld id="{00000000-1234-1234-1234-123412341234}" type="slidenum">
              <a:rPr b="0" lang="en" sz="900">
                <a:solidFill>
                  <a:schemeClr val="lt1"/>
                </a:solidFill>
                <a:latin typeface="Mulish Medium"/>
                <a:ea typeface="Mulish Medium"/>
                <a:cs typeface="Mulish Medium"/>
                <a:sym typeface="Mulish Medium"/>
              </a:rPr>
              <a:t>‹#›</a:t>
            </a:fld>
            <a:endParaRPr b="0" sz="900">
              <a:solidFill>
                <a:schemeClr val="lt1"/>
              </a:solidFill>
              <a:latin typeface="Mulish Medium"/>
              <a:ea typeface="Mulish Medium"/>
              <a:cs typeface="Mulish Medium"/>
              <a:sym typeface="Mulish Medium"/>
            </a:endParaRPr>
          </a:p>
        </p:txBody>
      </p:sp>
      <p:cxnSp>
        <p:nvCxnSpPr>
          <p:cNvPr id="59" name="Google Shape;59;p15"/>
          <p:cNvCxnSpPr/>
          <p:nvPr/>
        </p:nvCxnSpPr>
        <p:spPr>
          <a:xfrm>
            <a:off x="-7300" y="4673817"/>
            <a:ext cx="9180300" cy="0"/>
          </a:xfrm>
          <a:prstGeom prst="straightConnector1">
            <a:avLst/>
          </a:prstGeom>
          <a:noFill/>
          <a:ln cap="flat" cmpd="sng" w="9525">
            <a:solidFill>
              <a:schemeClr val="dk2"/>
            </a:solidFill>
            <a:prstDash val="solid"/>
            <a:round/>
            <a:headEnd len="med" w="med" type="none"/>
            <a:tailEnd len="med" w="med" type="none"/>
          </a:ln>
        </p:spPr>
      </p:cxnSp>
      <p:pic>
        <p:nvPicPr>
          <p:cNvPr id="60" name="Google Shape;60;p15" title="W Full blk txt.png"/>
          <p:cNvPicPr preferRelativeResize="0"/>
          <p:nvPr/>
        </p:nvPicPr>
        <p:blipFill>
          <a:blip r:embed="rId2">
            <a:alphaModFix/>
          </a:blip>
          <a:stretch>
            <a:fillRect/>
          </a:stretch>
        </p:blipFill>
        <p:spPr>
          <a:xfrm>
            <a:off x="194475" y="4804579"/>
            <a:ext cx="826800" cy="198425"/>
          </a:xfrm>
          <a:prstGeom prst="rect">
            <a:avLst/>
          </a:prstGeom>
          <a:noFill/>
          <a:ln>
            <a:noFill/>
          </a:ln>
        </p:spPr>
      </p:pic>
      <p:sp>
        <p:nvSpPr>
          <p:cNvPr id="61" name="Google Shape;61;p15"/>
          <p:cNvSpPr txBox="1"/>
          <p:nvPr>
            <p:ph type="title"/>
          </p:nvPr>
        </p:nvSpPr>
        <p:spPr>
          <a:xfrm>
            <a:off x="171950" y="272275"/>
            <a:ext cx="4901700" cy="640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Font typeface="Inter Medium"/>
              <a:buNone/>
              <a:defRPr sz="2400">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5"/>
          <p:cNvSpPr txBox="1"/>
          <p:nvPr>
            <p:ph idx="1" type="body"/>
          </p:nvPr>
        </p:nvSpPr>
        <p:spPr>
          <a:xfrm>
            <a:off x="535050" y="1074900"/>
            <a:ext cx="4672200" cy="26562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rgbClr val="FF2F0A"/>
              </a:buClr>
              <a:buSzPts val="1400"/>
              <a:buFont typeface="Archivo"/>
              <a:buChar char="●"/>
              <a:defRPr>
                <a:latin typeface="Archivo"/>
                <a:ea typeface="Archivo"/>
                <a:cs typeface="Archivo"/>
                <a:sym typeface="Archivo"/>
              </a:defRPr>
            </a:lvl1pPr>
            <a:lvl2pPr indent="-317500" lvl="1" marL="914400">
              <a:spcBef>
                <a:spcPts val="0"/>
              </a:spcBef>
              <a:spcAft>
                <a:spcPts val="0"/>
              </a:spcAft>
              <a:buClr>
                <a:srgbClr val="FF2F0A"/>
              </a:buClr>
              <a:buSzPts val="1400"/>
              <a:buFont typeface="Archivo"/>
              <a:buChar char="○"/>
              <a:defRPr>
                <a:latin typeface="Archivo"/>
                <a:ea typeface="Archivo"/>
                <a:cs typeface="Archivo"/>
                <a:sym typeface="Archivo"/>
              </a:defRPr>
            </a:lvl2pPr>
            <a:lvl3pPr indent="-317500" lvl="2" marL="1371600">
              <a:spcBef>
                <a:spcPts val="0"/>
              </a:spcBef>
              <a:spcAft>
                <a:spcPts val="0"/>
              </a:spcAft>
              <a:buClr>
                <a:srgbClr val="FF2F0A"/>
              </a:buClr>
              <a:buSzPts val="1400"/>
              <a:buFont typeface="Archivo"/>
              <a:buChar char="■"/>
              <a:defRPr>
                <a:latin typeface="Archivo"/>
                <a:ea typeface="Archivo"/>
                <a:cs typeface="Archivo"/>
                <a:sym typeface="Archivo"/>
              </a:defRPr>
            </a:lvl3pPr>
            <a:lvl4pPr indent="-317500" lvl="3" marL="1828800">
              <a:spcBef>
                <a:spcPts val="0"/>
              </a:spcBef>
              <a:spcAft>
                <a:spcPts val="0"/>
              </a:spcAft>
              <a:buClr>
                <a:srgbClr val="FF2F0A"/>
              </a:buClr>
              <a:buSzPts val="1400"/>
              <a:buFont typeface="Archivo"/>
              <a:buChar char="●"/>
              <a:defRPr>
                <a:latin typeface="Archivo"/>
                <a:ea typeface="Archivo"/>
                <a:cs typeface="Archivo"/>
                <a:sym typeface="Archivo"/>
              </a:defRPr>
            </a:lvl4pPr>
            <a:lvl5pPr indent="-317500" lvl="4" marL="2286000">
              <a:spcBef>
                <a:spcPts val="0"/>
              </a:spcBef>
              <a:spcAft>
                <a:spcPts val="0"/>
              </a:spcAft>
              <a:buClr>
                <a:srgbClr val="FF2F0A"/>
              </a:buClr>
              <a:buSzPts val="1400"/>
              <a:buFont typeface="Archivo"/>
              <a:buChar char="○"/>
              <a:defRPr>
                <a:latin typeface="Archivo"/>
                <a:ea typeface="Archivo"/>
                <a:cs typeface="Archivo"/>
                <a:sym typeface="Archivo"/>
              </a:defRPr>
            </a:lvl5pPr>
            <a:lvl6pPr indent="-317500" lvl="5" marL="2743200">
              <a:spcBef>
                <a:spcPts val="0"/>
              </a:spcBef>
              <a:spcAft>
                <a:spcPts val="0"/>
              </a:spcAft>
              <a:buClr>
                <a:srgbClr val="FF0000"/>
              </a:buClr>
              <a:buSzPts val="1400"/>
              <a:buFont typeface="Archivo"/>
              <a:buChar char="■"/>
              <a:defRPr>
                <a:latin typeface="Archivo"/>
                <a:ea typeface="Archivo"/>
                <a:cs typeface="Archivo"/>
                <a:sym typeface="Archivo"/>
              </a:defRPr>
            </a:lvl6pPr>
            <a:lvl7pPr indent="-317500" lvl="6" marL="3200400">
              <a:spcBef>
                <a:spcPts val="0"/>
              </a:spcBef>
              <a:spcAft>
                <a:spcPts val="0"/>
              </a:spcAft>
              <a:buClr>
                <a:srgbClr val="FF0000"/>
              </a:buClr>
              <a:buSzPts val="1400"/>
              <a:buFont typeface="Archivo"/>
              <a:buChar char="●"/>
              <a:defRPr>
                <a:latin typeface="Archivo"/>
                <a:ea typeface="Archivo"/>
                <a:cs typeface="Archivo"/>
                <a:sym typeface="Archivo"/>
              </a:defRPr>
            </a:lvl7pPr>
            <a:lvl8pPr indent="-317500" lvl="7" marL="3657600">
              <a:spcBef>
                <a:spcPts val="0"/>
              </a:spcBef>
              <a:spcAft>
                <a:spcPts val="0"/>
              </a:spcAft>
              <a:buClr>
                <a:srgbClr val="FF2F0A"/>
              </a:buClr>
              <a:buSzPts val="1400"/>
              <a:buFont typeface="Archivo"/>
              <a:buChar char="○"/>
              <a:defRPr>
                <a:latin typeface="Archivo"/>
                <a:ea typeface="Archivo"/>
                <a:cs typeface="Archivo"/>
                <a:sym typeface="Archivo"/>
              </a:defRPr>
            </a:lvl8pPr>
            <a:lvl9pPr indent="-317500" lvl="8" marL="4114800">
              <a:spcBef>
                <a:spcPts val="0"/>
              </a:spcBef>
              <a:spcAft>
                <a:spcPts val="0"/>
              </a:spcAft>
              <a:buClr>
                <a:srgbClr val="FF0000"/>
              </a:buClr>
              <a:buSzPts val="1400"/>
              <a:buFont typeface="Archivo"/>
              <a:buChar char="■"/>
              <a:defRPr>
                <a:latin typeface="Archivo"/>
                <a:ea typeface="Archivo"/>
                <a:cs typeface="Archivo"/>
                <a:sym typeface="Archivo"/>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1" showMasterSp="0">
  <p:cSld name="1_Title Slide_1">
    <p:bg>
      <p:bgPr>
        <a:solidFill>
          <a:schemeClr val="lt1"/>
        </a:solidFill>
      </p:bgPr>
    </p:bg>
    <p:spTree>
      <p:nvGrpSpPr>
        <p:cNvPr id="63" name="Shape 63"/>
        <p:cNvGrpSpPr/>
        <p:nvPr/>
      </p:nvGrpSpPr>
      <p:grpSpPr>
        <a:xfrm>
          <a:off x="0" y="0"/>
          <a:ext cx="0" cy="0"/>
          <a:chOff x="0" y="0"/>
          <a:chExt cx="0" cy="0"/>
        </a:xfrm>
      </p:grpSpPr>
      <p:sp>
        <p:nvSpPr>
          <p:cNvPr id="64" name="Google Shape;64;p16"/>
          <p:cNvSpPr/>
          <p:nvPr/>
        </p:nvSpPr>
        <p:spPr>
          <a:xfrm>
            <a:off x="5876200" y="-119475"/>
            <a:ext cx="3296700" cy="53220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 name="Google Shape;65;p16"/>
          <p:cNvSpPr txBox="1"/>
          <p:nvPr/>
        </p:nvSpPr>
        <p:spPr>
          <a:xfrm>
            <a:off x="477400" y="4808225"/>
            <a:ext cx="10620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900">
                <a:solidFill>
                  <a:schemeClr val="lt1"/>
                </a:solidFill>
                <a:latin typeface="Archivo Medium"/>
                <a:ea typeface="Archivo Medium"/>
                <a:cs typeface="Archivo Medium"/>
                <a:sym typeface="Archivo Medium"/>
              </a:rPr>
              <a:t>2025</a:t>
            </a:r>
            <a:endParaRPr sz="900">
              <a:solidFill>
                <a:schemeClr val="lt1"/>
              </a:solidFill>
              <a:latin typeface="Archivo Medium"/>
              <a:ea typeface="Archivo Medium"/>
              <a:cs typeface="Archivo Medium"/>
              <a:sym typeface="Archivo Medium"/>
            </a:endParaRPr>
          </a:p>
        </p:txBody>
      </p:sp>
      <p:sp>
        <p:nvSpPr>
          <p:cNvPr id="66" name="Google Shape;66;p16"/>
          <p:cNvSpPr txBox="1"/>
          <p:nvPr/>
        </p:nvSpPr>
        <p:spPr>
          <a:xfrm flipH="1">
            <a:off x="4295890" y="4808230"/>
            <a:ext cx="552300" cy="2079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fld id="{00000000-1234-1234-1234-123412341234}" type="slidenum">
              <a:rPr b="0" lang="en" sz="900">
                <a:solidFill>
                  <a:schemeClr val="lt1"/>
                </a:solidFill>
                <a:latin typeface="Mulish Medium"/>
                <a:ea typeface="Mulish Medium"/>
                <a:cs typeface="Mulish Medium"/>
                <a:sym typeface="Mulish Medium"/>
              </a:rPr>
              <a:t>‹#›</a:t>
            </a:fld>
            <a:endParaRPr b="0" sz="900">
              <a:solidFill>
                <a:schemeClr val="lt1"/>
              </a:solidFill>
              <a:latin typeface="Mulish Medium"/>
              <a:ea typeface="Mulish Medium"/>
              <a:cs typeface="Mulish Medium"/>
              <a:sym typeface="Mulish Medium"/>
            </a:endParaRPr>
          </a:p>
        </p:txBody>
      </p:sp>
      <p:pic>
        <p:nvPicPr>
          <p:cNvPr id="67" name="Google Shape;67;p16" title="W Full blk txt.png"/>
          <p:cNvPicPr preferRelativeResize="0"/>
          <p:nvPr/>
        </p:nvPicPr>
        <p:blipFill>
          <a:blip r:embed="rId2">
            <a:alphaModFix/>
          </a:blip>
          <a:stretch>
            <a:fillRect/>
          </a:stretch>
        </p:blipFill>
        <p:spPr>
          <a:xfrm>
            <a:off x="194475" y="4804579"/>
            <a:ext cx="826800" cy="198425"/>
          </a:xfrm>
          <a:prstGeom prst="rect">
            <a:avLst/>
          </a:prstGeom>
          <a:noFill/>
          <a:ln>
            <a:noFill/>
          </a:ln>
        </p:spPr>
      </p:pic>
      <p:cxnSp>
        <p:nvCxnSpPr>
          <p:cNvPr id="68" name="Google Shape;68;p16"/>
          <p:cNvCxnSpPr/>
          <p:nvPr/>
        </p:nvCxnSpPr>
        <p:spPr>
          <a:xfrm>
            <a:off x="-7300" y="4673817"/>
            <a:ext cx="9180300" cy="0"/>
          </a:xfrm>
          <a:prstGeom prst="straightConnector1">
            <a:avLst/>
          </a:prstGeom>
          <a:noFill/>
          <a:ln cap="flat" cmpd="sng" w="9525">
            <a:solidFill>
              <a:schemeClr val="dk2"/>
            </a:solidFill>
            <a:prstDash val="solid"/>
            <a:round/>
            <a:headEnd len="med" w="med" type="none"/>
            <a:tailEnd len="med" w="med" type="none"/>
          </a:ln>
        </p:spPr>
      </p:cxnSp>
      <p:sp>
        <p:nvSpPr>
          <p:cNvPr id="69" name="Google Shape;69;p16"/>
          <p:cNvSpPr txBox="1"/>
          <p:nvPr>
            <p:ph type="title"/>
          </p:nvPr>
        </p:nvSpPr>
        <p:spPr>
          <a:xfrm>
            <a:off x="171950" y="272275"/>
            <a:ext cx="4901700" cy="640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Font typeface="Inter Medium"/>
              <a:buNone/>
              <a:defRPr sz="2400">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6"/>
          <p:cNvSpPr txBox="1"/>
          <p:nvPr>
            <p:ph idx="1" type="body"/>
          </p:nvPr>
        </p:nvSpPr>
        <p:spPr>
          <a:xfrm>
            <a:off x="535050" y="1074900"/>
            <a:ext cx="4672200" cy="26562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rgbClr val="FF2F0A"/>
              </a:buClr>
              <a:buSzPts val="1400"/>
              <a:buFont typeface="Archivo"/>
              <a:buChar char="●"/>
              <a:defRPr>
                <a:latin typeface="Archivo"/>
                <a:ea typeface="Archivo"/>
                <a:cs typeface="Archivo"/>
                <a:sym typeface="Archivo"/>
              </a:defRPr>
            </a:lvl1pPr>
            <a:lvl2pPr indent="-317500" lvl="1" marL="914400">
              <a:spcBef>
                <a:spcPts val="0"/>
              </a:spcBef>
              <a:spcAft>
                <a:spcPts val="0"/>
              </a:spcAft>
              <a:buClr>
                <a:srgbClr val="FF2F0A"/>
              </a:buClr>
              <a:buSzPts val="1400"/>
              <a:buFont typeface="Archivo"/>
              <a:buChar char="○"/>
              <a:defRPr>
                <a:latin typeface="Archivo"/>
                <a:ea typeface="Archivo"/>
                <a:cs typeface="Archivo"/>
                <a:sym typeface="Archivo"/>
              </a:defRPr>
            </a:lvl2pPr>
            <a:lvl3pPr indent="-317500" lvl="2" marL="1371600">
              <a:spcBef>
                <a:spcPts val="0"/>
              </a:spcBef>
              <a:spcAft>
                <a:spcPts val="0"/>
              </a:spcAft>
              <a:buClr>
                <a:srgbClr val="FF2F0A"/>
              </a:buClr>
              <a:buSzPts val="1400"/>
              <a:buFont typeface="Archivo"/>
              <a:buChar char="■"/>
              <a:defRPr>
                <a:latin typeface="Archivo"/>
                <a:ea typeface="Archivo"/>
                <a:cs typeface="Archivo"/>
                <a:sym typeface="Archivo"/>
              </a:defRPr>
            </a:lvl3pPr>
            <a:lvl4pPr indent="-317500" lvl="3" marL="1828800">
              <a:spcBef>
                <a:spcPts val="0"/>
              </a:spcBef>
              <a:spcAft>
                <a:spcPts val="0"/>
              </a:spcAft>
              <a:buClr>
                <a:srgbClr val="FF2F0A"/>
              </a:buClr>
              <a:buSzPts val="1400"/>
              <a:buFont typeface="Archivo"/>
              <a:buChar char="●"/>
              <a:defRPr>
                <a:latin typeface="Archivo"/>
                <a:ea typeface="Archivo"/>
                <a:cs typeface="Archivo"/>
                <a:sym typeface="Archivo"/>
              </a:defRPr>
            </a:lvl4pPr>
            <a:lvl5pPr indent="-317500" lvl="4" marL="2286000">
              <a:spcBef>
                <a:spcPts val="0"/>
              </a:spcBef>
              <a:spcAft>
                <a:spcPts val="0"/>
              </a:spcAft>
              <a:buClr>
                <a:srgbClr val="FF2F0A"/>
              </a:buClr>
              <a:buSzPts val="1400"/>
              <a:buFont typeface="Archivo"/>
              <a:buChar char="○"/>
              <a:defRPr>
                <a:latin typeface="Archivo"/>
                <a:ea typeface="Archivo"/>
                <a:cs typeface="Archivo"/>
                <a:sym typeface="Archivo"/>
              </a:defRPr>
            </a:lvl5pPr>
            <a:lvl6pPr indent="-317500" lvl="5" marL="2743200">
              <a:spcBef>
                <a:spcPts val="0"/>
              </a:spcBef>
              <a:spcAft>
                <a:spcPts val="0"/>
              </a:spcAft>
              <a:buClr>
                <a:srgbClr val="FF0000"/>
              </a:buClr>
              <a:buSzPts val="1400"/>
              <a:buFont typeface="Archivo"/>
              <a:buChar char="■"/>
              <a:defRPr>
                <a:latin typeface="Archivo"/>
                <a:ea typeface="Archivo"/>
                <a:cs typeface="Archivo"/>
                <a:sym typeface="Archivo"/>
              </a:defRPr>
            </a:lvl6pPr>
            <a:lvl7pPr indent="-317500" lvl="6" marL="3200400">
              <a:spcBef>
                <a:spcPts val="0"/>
              </a:spcBef>
              <a:spcAft>
                <a:spcPts val="0"/>
              </a:spcAft>
              <a:buClr>
                <a:srgbClr val="FF0000"/>
              </a:buClr>
              <a:buSzPts val="1400"/>
              <a:buFont typeface="Archivo"/>
              <a:buChar char="●"/>
              <a:defRPr>
                <a:latin typeface="Archivo"/>
                <a:ea typeface="Archivo"/>
                <a:cs typeface="Archivo"/>
                <a:sym typeface="Archivo"/>
              </a:defRPr>
            </a:lvl7pPr>
            <a:lvl8pPr indent="-317500" lvl="7" marL="3657600">
              <a:spcBef>
                <a:spcPts val="0"/>
              </a:spcBef>
              <a:spcAft>
                <a:spcPts val="0"/>
              </a:spcAft>
              <a:buClr>
                <a:srgbClr val="FF2F0A"/>
              </a:buClr>
              <a:buSzPts val="1400"/>
              <a:buFont typeface="Archivo"/>
              <a:buChar char="○"/>
              <a:defRPr>
                <a:latin typeface="Archivo"/>
                <a:ea typeface="Archivo"/>
                <a:cs typeface="Archivo"/>
                <a:sym typeface="Archivo"/>
              </a:defRPr>
            </a:lvl8pPr>
            <a:lvl9pPr indent="-317500" lvl="8" marL="4114800">
              <a:spcBef>
                <a:spcPts val="0"/>
              </a:spcBef>
              <a:spcAft>
                <a:spcPts val="0"/>
              </a:spcAft>
              <a:buClr>
                <a:srgbClr val="FF0000"/>
              </a:buClr>
              <a:buSzPts val="1400"/>
              <a:buFont typeface="Archivo"/>
              <a:buChar char="■"/>
              <a:defRPr>
                <a:latin typeface="Archivo"/>
                <a:ea typeface="Archivo"/>
                <a:cs typeface="Archivo"/>
                <a:sym typeface="Archivo"/>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7"/>
          <p:cNvSpPr/>
          <p:nvPr/>
        </p:nvSpPr>
        <p:spPr>
          <a:xfrm>
            <a:off x="481030" y="2831914"/>
            <a:ext cx="5105400" cy="37050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BCC0C5"/>
              </a:buClr>
              <a:buSzPts val="1050"/>
              <a:buFont typeface="Inter"/>
              <a:buNone/>
            </a:pPr>
            <a:r>
              <a:rPr lang="en" sz="1200">
                <a:solidFill>
                  <a:srgbClr val="141413"/>
                </a:solidFill>
                <a:latin typeface="Archivo Medium"/>
                <a:ea typeface="Archivo Medium"/>
                <a:cs typeface="Archivo Medium"/>
                <a:sym typeface="Archivo Medium"/>
              </a:rPr>
              <a:t>Building durable organic </a:t>
            </a:r>
            <a:r>
              <a:rPr lang="en" sz="1200">
                <a:solidFill>
                  <a:srgbClr val="141413"/>
                </a:solidFill>
                <a:latin typeface="Archivo Medium"/>
                <a:ea typeface="Archivo Medium"/>
                <a:cs typeface="Archivo Medium"/>
                <a:sym typeface="Archivo Medium"/>
              </a:rPr>
              <a:t>performance</a:t>
            </a:r>
            <a:r>
              <a:rPr lang="en" sz="1200">
                <a:solidFill>
                  <a:srgbClr val="141413"/>
                </a:solidFill>
                <a:latin typeface="Archivo Medium"/>
                <a:ea typeface="Archivo Medium"/>
                <a:cs typeface="Archivo Medium"/>
                <a:sym typeface="Archivo Medium"/>
              </a:rPr>
              <a:t> with purpose. </a:t>
            </a:r>
            <a:endParaRPr i="0" sz="1200" u="none" cap="none" strike="noStrike">
              <a:solidFill>
                <a:srgbClr val="141413"/>
              </a:solidFill>
              <a:latin typeface="Archivo Medium"/>
              <a:ea typeface="Archivo Medium"/>
              <a:cs typeface="Archivo Medium"/>
              <a:sym typeface="Archivo Medium"/>
            </a:endParaRPr>
          </a:p>
          <a:p>
            <a:pPr indent="0" lvl="0" marL="0" marR="0" rtl="0" algn="l">
              <a:lnSpc>
                <a:spcPct val="120000"/>
              </a:lnSpc>
              <a:spcBef>
                <a:spcPts val="0"/>
              </a:spcBef>
              <a:spcAft>
                <a:spcPts val="0"/>
              </a:spcAft>
              <a:buClr>
                <a:srgbClr val="BCC0C5"/>
              </a:buClr>
              <a:buSzPts val="1050"/>
              <a:buFont typeface="Inter"/>
              <a:buNone/>
            </a:pPr>
            <a:r>
              <a:rPr i="0" lang="en" sz="1200" u="none" cap="none" strike="noStrike">
                <a:solidFill>
                  <a:srgbClr val="141413"/>
                </a:solidFill>
                <a:latin typeface="Archivo Medium"/>
                <a:ea typeface="Archivo Medium"/>
                <a:cs typeface="Archivo Medium"/>
                <a:sym typeface="Archivo Medium"/>
              </a:rPr>
              <a:t>Date:</a:t>
            </a:r>
            <a:r>
              <a:rPr lang="en" sz="1200">
                <a:solidFill>
                  <a:srgbClr val="141413"/>
                </a:solidFill>
                <a:latin typeface="Archivo Medium"/>
                <a:ea typeface="Archivo Medium"/>
                <a:cs typeface="Archivo Medium"/>
                <a:sym typeface="Archivo Medium"/>
              </a:rPr>
              <a:t> Mar 18, 2026</a:t>
            </a:r>
            <a:br>
              <a:rPr lang="en" sz="1200">
                <a:solidFill>
                  <a:srgbClr val="141413"/>
                </a:solidFill>
                <a:latin typeface="Archivo Medium"/>
                <a:ea typeface="Archivo Medium"/>
                <a:cs typeface="Archivo Medium"/>
                <a:sym typeface="Archivo Medium"/>
              </a:rPr>
            </a:br>
            <a:r>
              <a:rPr lang="en" sz="1200">
                <a:solidFill>
                  <a:srgbClr val="141413"/>
                </a:solidFill>
                <a:latin typeface="Archivo Medium"/>
                <a:ea typeface="Archivo Medium"/>
                <a:cs typeface="Archivo Medium"/>
                <a:sym typeface="Archivo Medium"/>
              </a:rPr>
              <a:t>Prepared by: Jay Hall</a:t>
            </a:r>
            <a:endParaRPr i="0" sz="1200" u="none" cap="none" strike="noStrike">
              <a:solidFill>
                <a:srgbClr val="141413"/>
              </a:solidFill>
              <a:latin typeface="Archivo Medium"/>
              <a:ea typeface="Archivo Medium"/>
              <a:cs typeface="Archivo Medium"/>
              <a:sym typeface="Archivo Medium"/>
            </a:endParaRPr>
          </a:p>
        </p:txBody>
      </p:sp>
      <p:sp>
        <p:nvSpPr>
          <p:cNvPr id="76" name="Google Shape;76;p17"/>
          <p:cNvSpPr/>
          <p:nvPr/>
        </p:nvSpPr>
        <p:spPr>
          <a:xfrm>
            <a:off x="483969" y="1941076"/>
            <a:ext cx="7410600" cy="16200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BCC0C5"/>
              </a:buClr>
              <a:buSzPts val="1050"/>
              <a:buFont typeface="Inter"/>
              <a:buNone/>
            </a:pPr>
            <a:r>
              <a:rPr lang="en" sz="1250">
                <a:solidFill>
                  <a:srgbClr val="141413"/>
                </a:solidFill>
                <a:latin typeface="Archivo Medium"/>
                <a:ea typeface="Archivo Medium"/>
                <a:cs typeface="Archivo Medium"/>
                <a:sym typeface="Archivo Medium"/>
              </a:rPr>
              <a:t>Content &amp; SEO Mid-</a:t>
            </a:r>
            <a:r>
              <a:rPr lang="en" sz="1250">
                <a:solidFill>
                  <a:srgbClr val="141413"/>
                </a:solidFill>
                <a:latin typeface="Archivo Medium"/>
                <a:ea typeface="Archivo Medium"/>
                <a:cs typeface="Archivo Medium"/>
                <a:sym typeface="Archivo Medium"/>
              </a:rPr>
              <a:t>Strategy Check-in</a:t>
            </a:r>
            <a:r>
              <a:rPr lang="en" sz="1250">
                <a:solidFill>
                  <a:srgbClr val="141413"/>
                </a:solidFill>
                <a:latin typeface="Archivo Medium"/>
                <a:ea typeface="Archivo Medium"/>
                <a:cs typeface="Archivo Medium"/>
                <a:sym typeface="Archivo Medium"/>
              </a:rPr>
              <a:t> </a:t>
            </a:r>
            <a:endParaRPr i="0" sz="1250" u="none" cap="none" strike="noStrike">
              <a:solidFill>
                <a:srgbClr val="141413"/>
              </a:solidFill>
              <a:latin typeface="Archivo Medium"/>
              <a:ea typeface="Archivo Medium"/>
              <a:cs typeface="Archivo Medium"/>
              <a:sym typeface="Archivo Medium"/>
            </a:endParaRPr>
          </a:p>
        </p:txBody>
      </p:sp>
      <p:sp>
        <p:nvSpPr>
          <p:cNvPr id="77" name="Google Shape;77;p17"/>
          <p:cNvSpPr/>
          <p:nvPr/>
        </p:nvSpPr>
        <p:spPr>
          <a:xfrm>
            <a:off x="459451" y="2001338"/>
            <a:ext cx="8225100" cy="833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5250"/>
              <a:buFont typeface="Inter"/>
              <a:buNone/>
            </a:pPr>
            <a:r>
              <a:rPr lang="en" sz="3150">
                <a:solidFill>
                  <a:schemeClr val="dk1"/>
                </a:solidFill>
                <a:latin typeface="Archivo SemiBold"/>
                <a:ea typeface="Archivo SemiBold"/>
                <a:cs typeface="Archivo SemiBold"/>
                <a:sym typeface="Archivo SemiBold"/>
              </a:rPr>
              <a:t>Horseshoe Ridge RV Resort</a:t>
            </a:r>
            <a:endParaRPr i="0" sz="3150" u="none" cap="none" strike="noStrike">
              <a:solidFill>
                <a:schemeClr val="dk1"/>
              </a:solidFill>
              <a:latin typeface="Archivo SemiBold"/>
              <a:ea typeface="Archivo SemiBold"/>
              <a:cs typeface="Archivo SemiBold"/>
              <a:sym typeface="Archivo SemiBold"/>
            </a:endParaRPr>
          </a:p>
        </p:txBody>
      </p:sp>
      <p:pic>
        <p:nvPicPr>
          <p:cNvPr id="78" name="Google Shape;78;p17" title="W Full blk txt.png"/>
          <p:cNvPicPr preferRelativeResize="0"/>
          <p:nvPr/>
        </p:nvPicPr>
        <p:blipFill>
          <a:blip r:embed="rId3">
            <a:alphaModFix/>
          </a:blip>
          <a:stretch>
            <a:fillRect/>
          </a:stretch>
        </p:blipFill>
        <p:spPr>
          <a:xfrm>
            <a:off x="568275" y="447625"/>
            <a:ext cx="1026251" cy="2463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txBox="1"/>
          <p:nvPr>
            <p:ph type="title"/>
          </p:nvPr>
        </p:nvSpPr>
        <p:spPr>
          <a:xfrm>
            <a:off x="297020" y="287909"/>
            <a:ext cx="4901700" cy="6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0E0E0E"/>
                </a:solidFill>
                <a:latin typeface="Archivo"/>
                <a:ea typeface="Archivo"/>
                <a:cs typeface="Archivo"/>
                <a:sym typeface="Archivo"/>
              </a:rPr>
              <a:t>Mid-Strategy Month Review</a:t>
            </a:r>
            <a:br>
              <a:rPr lang="en">
                <a:solidFill>
                  <a:srgbClr val="0E0E0E"/>
                </a:solidFill>
                <a:latin typeface="Archivo Medium"/>
                <a:ea typeface="Archivo Medium"/>
                <a:cs typeface="Archivo Medium"/>
                <a:sym typeface="Archivo Medium"/>
              </a:rPr>
            </a:br>
            <a:r>
              <a:rPr i="1" lang="en" sz="1700">
                <a:solidFill>
                  <a:srgbClr val="0E0E0E"/>
                </a:solidFill>
                <a:latin typeface="Archivo Medium"/>
                <a:ea typeface="Archivo Medium"/>
                <a:cs typeface="Archivo Medium"/>
                <a:sym typeface="Archivo Medium"/>
              </a:rPr>
              <a:t>What’s in this deck</a:t>
            </a:r>
            <a:endParaRPr i="1" sz="1700">
              <a:solidFill>
                <a:srgbClr val="0E0E0E"/>
              </a:solidFill>
              <a:latin typeface="Archivo Medium"/>
              <a:ea typeface="Archivo Medium"/>
              <a:cs typeface="Archivo Medium"/>
              <a:sym typeface="Archivo Medium"/>
            </a:endParaRPr>
          </a:p>
        </p:txBody>
      </p:sp>
      <p:sp>
        <p:nvSpPr>
          <p:cNvPr id="84" name="Google Shape;84;p18"/>
          <p:cNvSpPr txBox="1"/>
          <p:nvPr>
            <p:ph idx="1" type="body"/>
          </p:nvPr>
        </p:nvSpPr>
        <p:spPr>
          <a:xfrm>
            <a:off x="782787" y="1425793"/>
            <a:ext cx="7421100" cy="2656200"/>
          </a:xfrm>
          <a:prstGeom prst="rect">
            <a:avLst/>
          </a:prstGeom>
          <a:solidFill>
            <a:schemeClr val="lt1"/>
          </a:solidFill>
        </p:spPr>
        <p:txBody>
          <a:bodyPr anchorCtr="0" anchor="t" bIns="91425" lIns="91425" spcFirstLastPara="1" rIns="91425" wrap="square" tIns="91425">
            <a:noAutofit/>
          </a:bodyPr>
          <a:lstStyle/>
          <a:p>
            <a:pPr indent="-317500" lvl="0" marL="457200" rtl="0" algn="l">
              <a:lnSpc>
                <a:spcPct val="200000"/>
              </a:lnSpc>
              <a:spcBef>
                <a:spcPts val="0"/>
              </a:spcBef>
              <a:spcAft>
                <a:spcPts val="0"/>
              </a:spcAft>
              <a:buClr>
                <a:srgbClr val="FF2F0A"/>
              </a:buClr>
              <a:buSzPts val="1400"/>
              <a:buChar char="●"/>
            </a:pPr>
            <a:r>
              <a:rPr lang="en">
                <a:solidFill>
                  <a:schemeClr val="dk1"/>
                </a:solidFill>
              </a:rPr>
              <a:t>Competitive Benchmarking </a:t>
            </a:r>
            <a:endParaRPr>
              <a:solidFill>
                <a:schemeClr val="dk1"/>
              </a:solidFill>
            </a:endParaRPr>
          </a:p>
          <a:p>
            <a:pPr indent="-317500" lvl="0" marL="457200" rtl="0" algn="l">
              <a:lnSpc>
                <a:spcPct val="200000"/>
              </a:lnSpc>
              <a:spcBef>
                <a:spcPts val="0"/>
              </a:spcBef>
              <a:spcAft>
                <a:spcPts val="0"/>
              </a:spcAft>
              <a:buClr>
                <a:srgbClr val="FF2F0A"/>
              </a:buClr>
              <a:buSzPts val="1400"/>
              <a:buChar char="●"/>
            </a:pPr>
            <a:r>
              <a:rPr lang="en">
                <a:solidFill>
                  <a:schemeClr val="dk1"/>
                </a:solidFill>
              </a:rPr>
              <a:t>First Core Focus: Structural Cleanup for the Bliss navigation menu and blog</a:t>
            </a:r>
            <a:endParaRPr>
              <a:solidFill>
                <a:schemeClr val="dk1"/>
              </a:solidFill>
            </a:endParaRPr>
          </a:p>
          <a:p>
            <a:pPr indent="-317500" lvl="0" marL="457200" rtl="0" algn="l">
              <a:lnSpc>
                <a:spcPct val="200000"/>
              </a:lnSpc>
              <a:spcBef>
                <a:spcPts val="0"/>
              </a:spcBef>
              <a:spcAft>
                <a:spcPts val="0"/>
              </a:spcAft>
              <a:buClr>
                <a:srgbClr val="FF2F0A"/>
              </a:buClr>
              <a:buSzPts val="1400"/>
              <a:buChar char="●"/>
            </a:pPr>
            <a:r>
              <a:rPr lang="en">
                <a:solidFill>
                  <a:schemeClr val="dk1"/>
                </a:solidFill>
              </a:rPr>
              <a:t>What’s next  </a:t>
            </a:r>
            <a:endParaRPr>
              <a:solidFill>
                <a:schemeClr val="dk1"/>
              </a:solidFill>
            </a:endParaRPr>
          </a:p>
          <a:p>
            <a:pPr indent="0" lvl="0" marL="0" rtl="0" algn="l">
              <a:lnSpc>
                <a:spcPct val="200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cxnSp>
        <p:nvCxnSpPr>
          <p:cNvPr id="85" name="Google Shape;85;p18"/>
          <p:cNvCxnSpPr/>
          <p:nvPr/>
        </p:nvCxnSpPr>
        <p:spPr>
          <a:xfrm flipH="1">
            <a:off x="694979" y="1554406"/>
            <a:ext cx="15300" cy="1029600"/>
          </a:xfrm>
          <a:prstGeom prst="straightConnector1">
            <a:avLst/>
          </a:prstGeom>
          <a:noFill/>
          <a:ln cap="flat" cmpd="sng" w="19050">
            <a:solidFill>
              <a:srgbClr val="FF2F0A"/>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nvSpPr>
        <p:spPr>
          <a:xfrm>
            <a:off x="180125" y="1288632"/>
            <a:ext cx="8604300" cy="1944900"/>
          </a:xfrm>
          <a:prstGeom prst="rect">
            <a:avLst/>
          </a:prstGeom>
          <a:noFill/>
          <a:ln>
            <a:noFill/>
          </a:ln>
        </p:spPr>
        <p:txBody>
          <a:bodyPr anchorCtr="0" anchor="t" bIns="109075" lIns="109075" spcFirstLastPara="1" rIns="109075" wrap="square" tIns="109075">
            <a:spAutoFit/>
          </a:bodyPr>
          <a:lstStyle/>
          <a:p>
            <a:pPr indent="0" lvl="0" marL="0" rtl="0" algn="l">
              <a:lnSpc>
                <a:spcPct val="100000"/>
              </a:lnSpc>
              <a:spcBef>
                <a:spcPts val="0"/>
              </a:spcBef>
              <a:spcAft>
                <a:spcPts val="0"/>
              </a:spcAft>
              <a:buNone/>
            </a:pPr>
            <a:r>
              <a:rPr b="1" lang="en" sz="1254">
                <a:solidFill>
                  <a:schemeClr val="dk1"/>
                </a:solidFill>
                <a:latin typeface="Archivo"/>
                <a:ea typeface="Archivo"/>
                <a:cs typeface="Archivo"/>
                <a:sym typeface="Archivo"/>
              </a:rPr>
              <a:t>Launch Strategy &amp; Roadmap Review - Date TBD (2 weeks from now) </a:t>
            </a:r>
            <a:endParaRPr b="1" sz="1254">
              <a:solidFill>
                <a:schemeClr val="dk1"/>
              </a:solidFill>
              <a:latin typeface="Archivo"/>
              <a:ea typeface="Archivo"/>
              <a:cs typeface="Archivo"/>
              <a:sym typeface="Archivo"/>
            </a:endParaRPr>
          </a:p>
          <a:p>
            <a:pPr indent="-352398" lvl="0" marL="545480" rtl="0" algn="l">
              <a:lnSpc>
                <a:spcPct val="100000"/>
              </a:lnSpc>
              <a:spcBef>
                <a:spcPts val="1193"/>
              </a:spcBef>
              <a:spcAft>
                <a:spcPts val="0"/>
              </a:spcAft>
              <a:buClr>
                <a:srgbClr val="FF2F0A"/>
              </a:buClr>
              <a:buSzPts val="1254"/>
              <a:buFont typeface="Archivo"/>
              <a:buChar char="●"/>
            </a:pPr>
            <a:r>
              <a:rPr lang="en" sz="1254">
                <a:solidFill>
                  <a:schemeClr val="dk1"/>
                </a:solidFill>
                <a:latin typeface="Archivo"/>
                <a:ea typeface="Archivo"/>
                <a:cs typeface="Archivo"/>
                <a:sym typeface="Archivo"/>
              </a:rPr>
              <a:t>Finalizes goals, North Star Metrics, and success benchmarks</a:t>
            </a:r>
            <a:endParaRPr sz="1254">
              <a:solidFill>
                <a:schemeClr val="dk1"/>
              </a:solidFill>
              <a:latin typeface="Archivo"/>
              <a:ea typeface="Archivo"/>
              <a:cs typeface="Archivo"/>
              <a:sym typeface="Archivo"/>
            </a:endParaRPr>
          </a:p>
          <a:p>
            <a:pPr indent="-352398" lvl="0" marL="545480" rtl="0" algn="l">
              <a:lnSpc>
                <a:spcPct val="100000"/>
              </a:lnSpc>
              <a:spcBef>
                <a:spcPts val="1193"/>
              </a:spcBef>
              <a:spcAft>
                <a:spcPts val="0"/>
              </a:spcAft>
              <a:buClr>
                <a:srgbClr val="FF2F0A"/>
              </a:buClr>
              <a:buSzPts val="1254"/>
              <a:buFont typeface="Archivo"/>
              <a:buChar char="●"/>
            </a:pPr>
            <a:r>
              <a:rPr lang="en" sz="1254">
                <a:solidFill>
                  <a:schemeClr val="dk1"/>
                </a:solidFill>
                <a:latin typeface="Archivo"/>
                <a:ea typeface="Archivo"/>
                <a:cs typeface="Archivo"/>
                <a:sym typeface="Archivo"/>
              </a:rPr>
              <a:t>Aligns on the execution plan across content, SEO, and site improvements</a:t>
            </a:r>
            <a:endParaRPr sz="1254">
              <a:solidFill>
                <a:schemeClr val="dk1"/>
              </a:solidFill>
              <a:latin typeface="Archivo"/>
              <a:ea typeface="Archivo"/>
              <a:cs typeface="Archivo"/>
              <a:sym typeface="Archivo"/>
            </a:endParaRPr>
          </a:p>
          <a:p>
            <a:pPr indent="-352398" lvl="0" marL="545480" rtl="0" algn="l">
              <a:lnSpc>
                <a:spcPct val="100000"/>
              </a:lnSpc>
              <a:spcBef>
                <a:spcPts val="1193"/>
              </a:spcBef>
              <a:spcAft>
                <a:spcPts val="0"/>
              </a:spcAft>
              <a:buClr>
                <a:srgbClr val="FF2F0A"/>
              </a:buClr>
              <a:buSzPts val="1254"/>
              <a:buFont typeface="Archivo"/>
              <a:buChar char="●"/>
            </a:pPr>
            <a:r>
              <a:rPr lang="en" sz="1254">
                <a:solidFill>
                  <a:schemeClr val="dk1"/>
                </a:solidFill>
                <a:latin typeface="Archivo"/>
                <a:ea typeface="Archivo"/>
                <a:cs typeface="Archivo"/>
                <a:sym typeface="Archivo"/>
              </a:rPr>
              <a:t>Confirms launch-ready priorities for the next phase</a:t>
            </a:r>
            <a:endParaRPr sz="1254">
              <a:solidFill>
                <a:schemeClr val="dk1"/>
              </a:solidFill>
              <a:latin typeface="Archivo"/>
              <a:ea typeface="Archivo"/>
              <a:cs typeface="Archivo"/>
              <a:sym typeface="Archivo"/>
            </a:endParaRPr>
          </a:p>
          <a:p>
            <a:pPr indent="-333348" lvl="0" marL="545480" rtl="0" algn="l">
              <a:lnSpc>
                <a:spcPct val="100000"/>
              </a:lnSpc>
              <a:spcBef>
                <a:spcPts val="1193"/>
              </a:spcBef>
              <a:spcAft>
                <a:spcPts val="1193"/>
              </a:spcAft>
              <a:buClr>
                <a:srgbClr val="FF2F0A"/>
              </a:buClr>
              <a:buSzPts val="954"/>
              <a:buFont typeface="Archivo"/>
              <a:buChar char="●"/>
            </a:pPr>
            <a:r>
              <a:rPr lang="en" sz="1254">
                <a:solidFill>
                  <a:schemeClr val="dk1"/>
                </a:solidFill>
                <a:latin typeface="Archivo"/>
                <a:ea typeface="Archivo"/>
                <a:cs typeface="Archivo"/>
                <a:sym typeface="Archivo"/>
              </a:rPr>
              <a:t>Signals the transition from planning → active execution</a:t>
            </a:r>
            <a:br>
              <a:rPr lang="en" sz="954">
                <a:solidFill>
                  <a:schemeClr val="dk1"/>
                </a:solidFill>
                <a:latin typeface="Archivo"/>
                <a:ea typeface="Archivo"/>
                <a:cs typeface="Archivo"/>
                <a:sym typeface="Archivo"/>
              </a:rPr>
            </a:br>
            <a:endParaRPr sz="954">
              <a:solidFill>
                <a:schemeClr val="dk1"/>
              </a:solidFill>
              <a:latin typeface="Archivo"/>
              <a:ea typeface="Archivo"/>
              <a:cs typeface="Archivo"/>
              <a:sym typeface="Archivo"/>
            </a:endParaRPr>
          </a:p>
        </p:txBody>
      </p:sp>
      <p:sp>
        <p:nvSpPr>
          <p:cNvPr id="91" name="Google Shape;91;p19"/>
          <p:cNvSpPr txBox="1"/>
          <p:nvPr>
            <p:ph type="title"/>
          </p:nvPr>
        </p:nvSpPr>
        <p:spPr>
          <a:xfrm>
            <a:off x="297020" y="287909"/>
            <a:ext cx="4901700" cy="6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0E0E0E"/>
                </a:solidFill>
                <a:latin typeface="Archivo"/>
                <a:ea typeface="Archivo"/>
                <a:cs typeface="Archivo"/>
                <a:sym typeface="Archivo"/>
              </a:rPr>
              <a:t>Our Next Checkpoint</a:t>
            </a:r>
            <a:br>
              <a:rPr lang="en">
                <a:solidFill>
                  <a:srgbClr val="0E0E0E"/>
                </a:solidFill>
                <a:latin typeface="Archivo Medium"/>
                <a:ea typeface="Archivo Medium"/>
                <a:cs typeface="Archivo Medium"/>
                <a:sym typeface="Archivo Medium"/>
              </a:rPr>
            </a:br>
            <a:endParaRPr i="1" sz="1700">
              <a:solidFill>
                <a:srgbClr val="0E0E0E"/>
              </a:solidFill>
              <a:latin typeface="Archivo Medium"/>
              <a:ea typeface="Archivo Medium"/>
              <a:cs typeface="Archivo Medium"/>
              <a:sym typeface="Archivo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pic>
        <p:nvPicPr>
          <p:cNvPr id="96" name="Google Shape;96;p20" title="Chart"/>
          <p:cNvPicPr preferRelativeResize="0"/>
          <p:nvPr/>
        </p:nvPicPr>
        <p:blipFill>
          <a:blip r:embed="rId3">
            <a:alphaModFix/>
          </a:blip>
          <a:stretch>
            <a:fillRect/>
          </a:stretch>
        </p:blipFill>
        <p:spPr>
          <a:xfrm>
            <a:off x="4196725" y="1640725"/>
            <a:ext cx="4616101" cy="2647744"/>
          </a:xfrm>
          <a:prstGeom prst="rect">
            <a:avLst/>
          </a:prstGeom>
          <a:noFill/>
          <a:ln>
            <a:noFill/>
          </a:ln>
        </p:spPr>
      </p:pic>
      <p:sp>
        <p:nvSpPr>
          <p:cNvPr id="97" name="Google Shape;97;p20"/>
          <p:cNvSpPr/>
          <p:nvPr/>
        </p:nvSpPr>
        <p:spPr>
          <a:xfrm>
            <a:off x="-30775" y="0"/>
            <a:ext cx="9144000" cy="1325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p>
        </p:txBody>
      </p:sp>
      <p:sp>
        <p:nvSpPr>
          <p:cNvPr id="98" name="Google Shape;98;p20"/>
          <p:cNvSpPr txBox="1"/>
          <p:nvPr/>
        </p:nvSpPr>
        <p:spPr>
          <a:xfrm>
            <a:off x="570500" y="579550"/>
            <a:ext cx="6668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lang="en" sz="2400">
                <a:solidFill>
                  <a:srgbClr val="FFFFFF"/>
                </a:solidFill>
                <a:latin typeface="Inter SemiBold"/>
                <a:ea typeface="Inter SemiBold"/>
                <a:cs typeface="Inter SemiBold"/>
                <a:sym typeface="Inter SemiBold"/>
              </a:rPr>
              <a:t>Where you stand vs. everybody else</a:t>
            </a:r>
            <a:endParaRPr sz="2400">
              <a:solidFill>
                <a:srgbClr val="FFFFFF"/>
              </a:solidFill>
              <a:latin typeface="Inter SemiBold"/>
              <a:ea typeface="Inter SemiBold"/>
              <a:cs typeface="Inter SemiBold"/>
              <a:sym typeface="Inter SemiBold"/>
            </a:endParaRPr>
          </a:p>
        </p:txBody>
      </p:sp>
      <p:sp>
        <p:nvSpPr>
          <p:cNvPr id="99" name="Google Shape;99;p20"/>
          <p:cNvSpPr txBox="1"/>
          <p:nvPr/>
        </p:nvSpPr>
        <p:spPr>
          <a:xfrm>
            <a:off x="584674" y="278550"/>
            <a:ext cx="651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lang="en">
                <a:solidFill>
                  <a:srgbClr val="FF2F0A"/>
                </a:solidFill>
                <a:latin typeface="Inter ExtraBold"/>
                <a:ea typeface="Inter ExtraBold"/>
                <a:cs typeface="Inter ExtraBold"/>
                <a:sym typeface="Inter ExtraBold"/>
              </a:rPr>
              <a:t>HORSESHOE RIDGE: </a:t>
            </a:r>
            <a:r>
              <a:rPr lang="en">
                <a:solidFill>
                  <a:srgbClr val="FF2F0A"/>
                </a:solidFill>
                <a:latin typeface="Inter ExtraBold"/>
                <a:ea typeface="Inter ExtraBold"/>
                <a:cs typeface="Inter ExtraBold"/>
                <a:sym typeface="Inter ExtraBold"/>
              </a:rPr>
              <a:t>COMPETITIVE ANALYSIS BASELINE</a:t>
            </a:r>
            <a:endParaRPr b="1">
              <a:solidFill>
                <a:srgbClr val="262626"/>
              </a:solidFill>
              <a:latin typeface="Inter"/>
              <a:ea typeface="Inter"/>
              <a:cs typeface="Inter"/>
              <a:sym typeface="Inter"/>
            </a:endParaRPr>
          </a:p>
        </p:txBody>
      </p:sp>
      <p:sp>
        <p:nvSpPr>
          <p:cNvPr id="100" name="Google Shape;100;p20"/>
          <p:cNvSpPr txBox="1"/>
          <p:nvPr/>
        </p:nvSpPr>
        <p:spPr>
          <a:xfrm>
            <a:off x="261850" y="1528775"/>
            <a:ext cx="3998400" cy="2936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latin typeface="Inter"/>
                <a:ea typeface="Inter"/>
                <a:cs typeface="Inter"/>
                <a:sym typeface="Inter"/>
              </a:rPr>
              <a:t>Horseshoe is outperforming its size, but the site is still too dependent on a small number of pages.</a:t>
            </a:r>
            <a:endParaRPr b="1" sz="1100">
              <a:solidFill>
                <a:schemeClr val="dk1"/>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lang="en" sz="1000">
                <a:solidFill>
                  <a:schemeClr val="dk1"/>
                </a:solidFill>
                <a:latin typeface="Inter"/>
                <a:ea typeface="Inter"/>
                <a:cs typeface="Inter"/>
                <a:sym typeface="Inter"/>
              </a:rPr>
              <a:t>Horseshoe Ridge is performing well with a relatively small page base. But too much of that visibility is tied to the homepage and a limited set of URLs, while key booking-supporting sections remain underbuilt.</a:t>
            </a:r>
            <a:endParaRPr sz="1000">
              <a:solidFill>
                <a:schemeClr val="dk1"/>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lang="en" sz="1000">
                <a:solidFill>
                  <a:schemeClr val="dk1"/>
                </a:solidFill>
                <a:latin typeface="Inter"/>
                <a:ea typeface="Inter"/>
                <a:cs typeface="Inter"/>
                <a:sym typeface="Inter"/>
              </a:rPr>
              <a:t>As a result, the site has fewer ranking entry points than it should across accommodations, amenities, services, and trip-planning searches.</a:t>
            </a:r>
            <a:endParaRPr sz="1000">
              <a:solidFill>
                <a:schemeClr val="dk1"/>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b="1" lang="en" sz="1000">
                <a:solidFill>
                  <a:srgbClr val="FF2F0A"/>
                </a:solidFill>
                <a:latin typeface="Inter"/>
                <a:ea typeface="Inter"/>
                <a:cs typeface="Inter"/>
                <a:sym typeface="Inter"/>
              </a:rPr>
              <a:t>Our Opportunity:</a:t>
            </a:r>
            <a:endParaRPr b="1" sz="1000">
              <a:solidFill>
                <a:srgbClr val="FF2F0A"/>
              </a:solidFill>
              <a:latin typeface="Inter"/>
              <a:ea typeface="Inter"/>
              <a:cs typeface="Inter"/>
              <a:sym typeface="Inter"/>
            </a:endParaRPr>
          </a:p>
          <a:p>
            <a:pPr indent="0" lvl="0" marL="0" rtl="0" algn="l">
              <a:lnSpc>
                <a:spcPct val="115000"/>
              </a:lnSpc>
              <a:spcBef>
                <a:spcPts val="1200"/>
              </a:spcBef>
              <a:spcAft>
                <a:spcPts val="1200"/>
              </a:spcAft>
              <a:buClr>
                <a:schemeClr val="dk1"/>
              </a:buClr>
              <a:buSzPts val="1100"/>
              <a:buFont typeface="Arial"/>
              <a:buNone/>
            </a:pPr>
            <a:r>
              <a:rPr lang="en" sz="1000">
                <a:solidFill>
                  <a:schemeClr val="dk1"/>
                </a:solidFill>
                <a:latin typeface="Inter"/>
                <a:ea typeface="Inter"/>
                <a:cs typeface="Inter"/>
                <a:sym typeface="Inter"/>
              </a:rPr>
              <a:t>Expand core stay, resort, and service content to convert existing demand into broader organic visibility.</a:t>
            </a:r>
            <a:endParaRPr sz="1000">
              <a:solidFill>
                <a:schemeClr val="dk1"/>
              </a:solidFill>
              <a:latin typeface="Inter"/>
              <a:ea typeface="Inter"/>
              <a:cs typeface="Inter"/>
              <a:sym typeface="Inter"/>
            </a:endParaRPr>
          </a:p>
        </p:txBody>
      </p:sp>
      <p:sp>
        <p:nvSpPr>
          <p:cNvPr id="101" name="Google Shape;101;p20"/>
          <p:cNvSpPr/>
          <p:nvPr/>
        </p:nvSpPr>
        <p:spPr>
          <a:xfrm>
            <a:off x="4725055" y="1696125"/>
            <a:ext cx="470100" cy="2275800"/>
          </a:xfrm>
          <a:prstGeom prst="rect">
            <a:avLst/>
          </a:prstGeom>
          <a:noFill/>
          <a:ln cap="flat" cmpd="sng" w="9525">
            <a:solidFill>
              <a:srgbClr val="FF2F0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p:nvPr/>
        </p:nvSpPr>
        <p:spPr>
          <a:xfrm>
            <a:off x="-1125" y="-4100"/>
            <a:ext cx="9144000" cy="1325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p>
        </p:txBody>
      </p:sp>
      <p:sp>
        <p:nvSpPr>
          <p:cNvPr id="107" name="Google Shape;107;p21"/>
          <p:cNvSpPr txBox="1"/>
          <p:nvPr/>
        </p:nvSpPr>
        <p:spPr>
          <a:xfrm>
            <a:off x="570500" y="579550"/>
            <a:ext cx="6668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lang="en" sz="2400">
                <a:solidFill>
                  <a:srgbClr val="FFFFFF"/>
                </a:solidFill>
                <a:latin typeface="Inter SemiBold"/>
                <a:ea typeface="Inter SemiBold"/>
                <a:cs typeface="Inter SemiBold"/>
                <a:sym typeface="Inter SemiBold"/>
              </a:rPr>
              <a:t>Where you stand vs. everybody else</a:t>
            </a:r>
            <a:endParaRPr sz="2400">
              <a:solidFill>
                <a:srgbClr val="FFFFFF"/>
              </a:solidFill>
              <a:latin typeface="Inter SemiBold"/>
              <a:ea typeface="Inter SemiBold"/>
              <a:cs typeface="Inter SemiBold"/>
              <a:sym typeface="Inter SemiBold"/>
            </a:endParaRPr>
          </a:p>
        </p:txBody>
      </p:sp>
      <p:sp>
        <p:nvSpPr>
          <p:cNvPr id="108" name="Google Shape;108;p21"/>
          <p:cNvSpPr txBox="1"/>
          <p:nvPr/>
        </p:nvSpPr>
        <p:spPr>
          <a:xfrm>
            <a:off x="142075" y="1466350"/>
            <a:ext cx="4237800" cy="272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latin typeface="Inter"/>
                <a:ea typeface="Inter"/>
                <a:cs typeface="Inter"/>
                <a:sym typeface="Inter"/>
              </a:rPr>
              <a:t>You’re adding content, but it isn’t yet turning into enough Top 10 wins.</a:t>
            </a:r>
            <a:endParaRPr b="1" sz="1100">
              <a:solidFill>
                <a:schemeClr val="dk1"/>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latin typeface="Inter"/>
                <a:ea typeface="Inter"/>
                <a:cs typeface="Inter"/>
                <a:sym typeface="Inter"/>
              </a:rPr>
              <a:t>Horseshoe Ridge has built a solid page base, but competitors are getting more Top 10 rankings out of less. That signals a keyword alignment problem, not just a volume problem.</a:t>
            </a:r>
            <a:endParaRPr sz="1100">
              <a:solidFill>
                <a:schemeClr val="dk1"/>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latin typeface="Inter"/>
                <a:ea typeface="Inter"/>
                <a:cs typeface="Inter"/>
                <a:sym typeface="Inter"/>
              </a:rPr>
              <a:t>Right now, the content footprint is bigger than the ranking payoff.</a:t>
            </a:r>
            <a:endParaRPr sz="1100">
              <a:solidFill>
                <a:schemeClr val="dk1"/>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b="1" lang="en" sz="1100">
                <a:solidFill>
                  <a:srgbClr val="FF2F0A"/>
                </a:solidFill>
                <a:latin typeface="Inter"/>
                <a:ea typeface="Inter"/>
                <a:cs typeface="Inter"/>
                <a:sym typeface="Inter"/>
              </a:rPr>
              <a:t>Our Opportunity:</a:t>
            </a:r>
            <a:endParaRPr b="1" sz="1100">
              <a:solidFill>
                <a:srgbClr val="FF2F0A"/>
              </a:solidFill>
              <a:latin typeface="Inter"/>
              <a:ea typeface="Inter"/>
              <a:cs typeface="Inter"/>
              <a:sym typeface="Inter"/>
            </a:endParaRPr>
          </a:p>
          <a:p>
            <a:pPr indent="0" lvl="0" marL="0" rtl="0" algn="l">
              <a:lnSpc>
                <a:spcPct val="115000"/>
              </a:lnSpc>
              <a:spcBef>
                <a:spcPts val="1200"/>
              </a:spcBef>
              <a:spcAft>
                <a:spcPts val="1200"/>
              </a:spcAft>
              <a:buClr>
                <a:schemeClr val="dk1"/>
              </a:buClr>
              <a:buSzPts val="1100"/>
              <a:buFont typeface="Arial"/>
              <a:buNone/>
            </a:pPr>
            <a:r>
              <a:rPr lang="en" sz="1100">
                <a:solidFill>
                  <a:schemeClr val="dk1"/>
                </a:solidFill>
                <a:latin typeface="Inter"/>
                <a:ea typeface="Inter"/>
                <a:cs typeface="Inter"/>
                <a:sym typeface="Inter"/>
              </a:rPr>
              <a:t>Tighten page targeting around the searches most likely to drive rankings, traffic, and bookings.</a:t>
            </a:r>
            <a:endParaRPr sz="1100">
              <a:solidFill>
                <a:srgbClr val="595959"/>
              </a:solidFill>
              <a:highlight>
                <a:srgbClr val="FFFF00"/>
              </a:highlight>
              <a:latin typeface="Inter"/>
              <a:ea typeface="Inter"/>
              <a:cs typeface="Inter"/>
              <a:sym typeface="Inter"/>
            </a:endParaRPr>
          </a:p>
        </p:txBody>
      </p:sp>
      <p:sp>
        <p:nvSpPr>
          <p:cNvPr id="109" name="Google Shape;109;p21"/>
          <p:cNvSpPr txBox="1"/>
          <p:nvPr/>
        </p:nvSpPr>
        <p:spPr>
          <a:xfrm>
            <a:off x="584678" y="278550"/>
            <a:ext cx="619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solidFill>
                  <a:srgbClr val="FF2F0A"/>
                </a:solidFill>
                <a:latin typeface="Inter ExtraBold"/>
                <a:ea typeface="Inter ExtraBold"/>
                <a:cs typeface="Inter ExtraBold"/>
                <a:sym typeface="Inter ExtraBold"/>
              </a:rPr>
              <a:t>HORSESHOE RIDGE: COMPETITIVE ANALYSIS BASELINE</a:t>
            </a:r>
            <a:endParaRPr b="1">
              <a:solidFill>
                <a:srgbClr val="262626"/>
              </a:solidFill>
              <a:latin typeface="Inter"/>
              <a:ea typeface="Inter"/>
              <a:cs typeface="Inter"/>
              <a:sym typeface="Inter"/>
            </a:endParaRPr>
          </a:p>
        </p:txBody>
      </p:sp>
      <p:pic>
        <p:nvPicPr>
          <p:cNvPr id="110" name="Google Shape;110;p21" title="Chart"/>
          <p:cNvPicPr preferRelativeResize="0"/>
          <p:nvPr/>
        </p:nvPicPr>
        <p:blipFill>
          <a:blip r:embed="rId3">
            <a:alphaModFix/>
          </a:blip>
          <a:stretch>
            <a:fillRect/>
          </a:stretch>
        </p:blipFill>
        <p:spPr>
          <a:xfrm>
            <a:off x="4515925" y="1686000"/>
            <a:ext cx="4459323" cy="25578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p:nvPr/>
        </p:nvSpPr>
        <p:spPr>
          <a:xfrm>
            <a:off x="-1125" y="-4100"/>
            <a:ext cx="9144000" cy="1325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p>
        </p:txBody>
      </p:sp>
      <p:sp>
        <p:nvSpPr>
          <p:cNvPr id="116" name="Google Shape;116;p22"/>
          <p:cNvSpPr txBox="1"/>
          <p:nvPr/>
        </p:nvSpPr>
        <p:spPr>
          <a:xfrm>
            <a:off x="570500" y="579550"/>
            <a:ext cx="6668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lang="en" sz="2400">
                <a:solidFill>
                  <a:srgbClr val="FFFFFF"/>
                </a:solidFill>
                <a:latin typeface="Inter SemiBold"/>
                <a:ea typeface="Inter SemiBold"/>
                <a:cs typeface="Inter SemiBold"/>
                <a:sym typeface="Inter SemiBold"/>
              </a:rPr>
              <a:t>Where you stand vs. everybody else</a:t>
            </a:r>
            <a:endParaRPr sz="2400">
              <a:solidFill>
                <a:srgbClr val="FFFFFF"/>
              </a:solidFill>
              <a:latin typeface="Inter SemiBold"/>
              <a:ea typeface="Inter SemiBold"/>
              <a:cs typeface="Inter SemiBold"/>
              <a:sym typeface="Inter SemiBold"/>
            </a:endParaRPr>
          </a:p>
        </p:txBody>
      </p:sp>
      <p:sp>
        <p:nvSpPr>
          <p:cNvPr id="117" name="Google Shape;117;p22"/>
          <p:cNvSpPr txBox="1"/>
          <p:nvPr/>
        </p:nvSpPr>
        <p:spPr>
          <a:xfrm>
            <a:off x="243250" y="1420741"/>
            <a:ext cx="3315000" cy="318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 sz="1000">
                <a:solidFill>
                  <a:schemeClr val="dk1"/>
                </a:solidFill>
                <a:latin typeface="Inter"/>
                <a:ea typeface="Inter"/>
                <a:cs typeface="Inter"/>
                <a:sym typeface="Inter"/>
              </a:rPr>
              <a:t>Your competitors are showing up in AI answers more often than you are.</a:t>
            </a:r>
            <a:endParaRPr b="1" sz="1000">
              <a:solidFill>
                <a:schemeClr val="dk1"/>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lang="en" sz="1000">
                <a:solidFill>
                  <a:schemeClr val="dk1"/>
                </a:solidFill>
                <a:latin typeface="Inter"/>
                <a:ea typeface="Inter"/>
                <a:cs typeface="Inter"/>
                <a:sym typeface="Inter"/>
              </a:rPr>
              <a:t>Several competitors are earning stronger AI visibility and snippet coverage, which means their content is being surfaced more often in AI-generated answers and SERP features.</a:t>
            </a:r>
            <a:endParaRPr sz="1000">
              <a:solidFill>
                <a:schemeClr val="dk1"/>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lang="en" sz="1000">
                <a:solidFill>
                  <a:schemeClr val="dk1"/>
                </a:solidFill>
                <a:latin typeface="Inter"/>
                <a:ea typeface="Inter"/>
                <a:cs typeface="Inter"/>
                <a:sym typeface="Inter"/>
              </a:rPr>
              <a:t>Horseshoe Ridge currently has limited citation share and snippet reach, which reduces visibility in both AI results and traditional search features.</a:t>
            </a:r>
            <a:endParaRPr sz="1000">
              <a:solidFill>
                <a:schemeClr val="dk1"/>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b="1" lang="en" sz="1000">
                <a:solidFill>
                  <a:srgbClr val="FF2E0A"/>
                </a:solidFill>
                <a:latin typeface="Inter"/>
                <a:ea typeface="Inter"/>
                <a:cs typeface="Inter"/>
                <a:sym typeface="Inter"/>
              </a:rPr>
              <a:t>Our Opportunity:</a:t>
            </a:r>
            <a:endParaRPr b="1" sz="1000">
              <a:solidFill>
                <a:srgbClr val="FF2E0A"/>
              </a:solidFill>
              <a:latin typeface="Inter"/>
              <a:ea typeface="Inter"/>
              <a:cs typeface="Inter"/>
              <a:sym typeface="Inter"/>
            </a:endParaRPr>
          </a:p>
          <a:p>
            <a:pPr indent="0" lvl="0" marL="0" rtl="0" algn="l">
              <a:spcBef>
                <a:spcPts val="1200"/>
              </a:spcBef>
              <a:spcAft>
                <a:spcPts val="0"/>
              </a:spcAft>
              <a:buNone/>
            </a:pPr>
            <a:r>
              <a:rPr lang="en" sz="1000">
                <a:solidFill>
                  <a:schemeClr val="dk1"/>
                </a:solidFill>
                <a:latin typeface="Inter"/>
                <a:ea typeface="Inter"/>
                <a:cs typeface="Inter"/>
                <a:sym typeface="Inter"/>
              </a:rPr>
              <a:t>Structure key pages with clearer answers, stronger definitions, and more snippet-friendly formatting so Horseshoe can earn more AI citations and SERP features.</a:t>
            </a:r>
            <a:endParaRPr sz="1000">
              <a:solidFill>
                <a:srgbClr val="595959"/>
              </a:solidFill>
              <a:highlight>
                <a:srgbClr val="FFFF00"/>
              </a:highlight>
              <a:latin typeface="Inter"/>
              <a:ea typeface="Inter"/>
              <a:cs typeface="Inter"/>
              <a:sym typeface="Inter"/>
            </a:endParaRPr>
          </a:p>
        </p:txBody>
      </p:sp>
      <p:sp>
        <p:nvSpPr>
          <p:cNvPr id="118" name="Google Shape;118;p22"/>
          <p:cNvSpPr txBox="1"/>
          <p:nvPr/>
        </p:nvSpPr>
        <p:spPr>
          <a:xfrm>
            <a:off x="584679" y="278550"/>
            <a:ext cx="670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solidFill>
                  <a:srgbClr val="FF2F0A"/>
                </a:solidFill>
                <a:latin typeface="Inter ExtraBold"/>
                <a:ea typeface="Inter ExtraBold"/>
                <a:cs typeface="Inter ExtraBold"/>
                <a:sym typeface="Inter ExtraBold"/>
              </a:rPr>
              <a:t>HORSESHOE RIDGE: COMPETITIVE ANALYSIS BASELINE</a:t>
            </a:r>
            <a:endParaRPr b="1">
              <a:solidFill>
                <a:srgbClr val="262626"/>
              </a:solidFill>
              <a:latin typeface="Inter"/>
              <a:ea typeface="Inter"/>
              <a:cs typeface="Inter"/>
              <a:sym typeface="Inter"/>
            </a:endParaRPr>
          </a:p>
        </p:txBody>
      </p:sp>
      <p:pic>
        <p:nvPicPr>
          <p:cNvPr id="119" name="Google Shape;119;p22" title="Chart"/>
          <p:cNvPicPr preferRelativeResize="0"/>
          <p:nvPr/>
        </p:nvPicPr>
        <p:blipFill>
          <a:blip r:embed="rId3">
            <a:alphaModFix/>
          </a:blip>
          <a:stretch>
            <a:fillRect/>
          </a:stretch>
        </p:blipFill>
        <p:spPr>
          <a:xfrm>
            <a:off x="3710650" y="1473400"/>
            <a:ext cx="5280950" cy="30291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3"/>
          <p:cNvSpPr txBox="1"/>
          <p:nvPr>
            <p:ph type="title"/>
          </p:nvPr>
        </p:nvSpPr>
        <p:spPr>
          <a:xfrm>
            <a:off x="171950" y="272275"/>
            <a:ext cx="4901700" cy="6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3"/>
          <p:cNvSpPr/>
          <p:nvPr/>
        </p:nvSpPr>
        <p:spPr>
          <a:xfrm>
            <a:off x="-1125" y="-4100"/>
            <a:ext cx="9144000" cy="1325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p>
        </p:txBody>
      </p:sp>
      <p:sp>
        <p:nvSpPr>
          <p:cNvPr id="126" name="Google Shape;126;p23"/>
          <p:cNvSpPr txBox="1"/>
          <p:nvPr/>
        </p:nvSpPr>
        <p:spPr>
          <a:xfrm>
            <a:off x="570500" y="579550"/>
            <a:ext cx="6668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lang="en" sz="2400">
                <a:solidFill>
                  <a:srgbClr val="FFFFFF"/>
                </a:solidFill>
                <a:latin typeface="Inter SemiBold"/>
                <a:ea typeface="Inter SemiBold"/>
                <a:cs typeface="Inter SemiBold"/>
                <a:sym typeface="Inter SemiBold"/>
              </a:rPr>
              <a:t>Where you stand vs. everybody else</a:t>
            </a:r>
            <a:endParaRPr sz="2400">
              <a:solidFill>
                <a:srgbClr val="FFFFFF"/>
              </a:solidFill>
              <a:latin typeface="Inter SemiBold"/>
              <a:ea typeface="Inter SemiBold"/>
              <a:cs typeface="Inter SemiBold"/>
              <a:sym typeface="Inter SemiBold"/>
            </a:endParaRPr>
          </a:p>
        </p:txBody>
      </p:sp>
      <p:sp>
        <p:nvSpPr>
          <p:cNvPr id="127" name="Google Shape;127;p23"/>
          <p:cNvSpPr txBox="1"/>
          <p:nvPr/>
        </p:nvSpPr>
        <p:spPr>
          <a:xfrm>
            <a:off x="474650" y="1496450"/>
            <a:ext cx="8014500" cy="275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
                <a:latin typeface="Inter"/>
                <a:ea typeface="Inter"/>
                <a:cs typeface="Inter"/>
                <a:sym typeface="Inter"/>
              </a:rPr>
              <a:t>Across the core metrics that matter most ... visibility, coverage, and AI readiness ... Horseshoe is competitive, but still leaving room to grow.</a:t>
            </a:r>
            <a:endParaRPr>
              <a:latin typeface="Inter"/>
              <a:ea typeface="Inter"/>
              <a:cs typeface="Inter"/>
              <a:sym typeface="Inter"/>
            </a:endParaRPr>
          </a:p>
          <a:p>
            <a:pPr indent="0" lvl="0" marL="0" rtl="0" algn="l">
              <a:lnSpc>
                <a:spcPct val="115000"/>
              </a:lnSpc>
              <a:spcBef>
                <a:spcPts val="1200"/>
              </a:spcBef>
              <a:spcAft>
                <a:spcPts val="0"/>
              </a:spcAft>
              <a:buNone/>
            </a:pPr>
            <a:r>
              <a:rPr b="1" lang="en">
                <a:solidFill>
                  <a:srgbClr val="FF2E0A"/>
                </a:solidFill>
                <a:latin typeface="Inter"/>
                <a:ea typeface="Inter"/>
                <a:cs typeface="Inter"/>
                <a:sym typeface="Inter"/>
              </a:rPr>
              <a:t>Horseshoe Ridge Competitive Position: </a:t>
            </a:r>
            <a:r>
              <a:rPr b="1" lang="en">
                <a:latin typeface="Inter"/>
                <a:ea typeface="Inter"/>
                <a:cs typeface="Inter"/>
                <a:sym typeface="Inter"/>
              </a:rPr>
              <a:t>Mid-pack with upside</a:t>
            </a:r>
            <a:endParaRPr b="1">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lang="en">
                <a:latin typeface="Inter"/>
                <a:ea typeface="Inter"/>
                <a:cs typeface="Inter"/>
                <a:sym typeface="Inter"/>
              </a:rPr>
              <a:t>The clearest growth levers are better content distribution, stronger page targeting, and a smarter site structure.</a:t>
            </a:r>
            <a:endParaRPr>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lang="en">
                <a:latin typeface="Inter"/>
                <a:ea typeface="Inter"/>
                <a:cs typeface="Inter"/>
                <a:sym typeface="Inter"/>
              </a:rPr>
              <a:t>Not just more pages, but better-connected ones that earn visibility, support AI discovery, and turn more searches into bookings.</a:t>
            </a:r>
            <a:endParaRPr>
              <a:latin typeface="Inter"/>
              <a:ea typeface="Inter"/>
              <a:cs typeface="Inter"/>
              <a:sym typeface="Inter"/>
            </a:endParaRPr>
          </a:p>
          <a:p>
            <a:pPr indent="0" lvl="0" marL="0" rtl="0" algn="l">
              <a:lnSpc>
                <a:spcPct val="115000"/>
              </a:lnSpc>
              <a:spcBef>
                <a:spcPts val="1200"/>
              </a:spcBef>
              <a:spcAft>
                <a:spcPts val="1200"/>
              </a:spcAft>
              <a:buNone/>
            </a:pPr>
            <a:r>
              <a:t/>
            </a:r>
            <a:endParaRPr>
              <a:latin typeface="Inter"/>
              <a:ea typeface="Inter"/>
              <a:cs typeface="Inter"/>
              <a:sym typeface="Inter"/>
            </a:endParaRPr>
          </a:p>
        </p:txBody>
      </p:sp>
      <p:sp>
        <p:nvSpPr>
          <p:cNvPr id="128" name="Google Shape;128;p23"/>
          <p:cNvSpPr txBox="1"/>
          <p:nvPr/>
        </p:nvSpPr>
        <p:spPr>
          <a:xfrm>
            <a:off x="584678" y="278550"/>
            <a:ext cx="6292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solidFill>
                  <a:srgbClr val="FF2F0A"/>
                </a:solidFill>
                <a:latin typeface="Inter ExtraBold"/>
                <a:ea typeface="Inter ExtraBold"/>
                <a:cs typeface="Inter ExtraBold"/>
                <a:sym typeface="Inter ExtraBold"/>
              </a:rPr>
              <a:t>HORSESHOE RIDGE COMPETITIVE ANALYSIS BASELINE</a:t>
            </a:r>
            <a:endParaRPr b="1">
              <a:solidFill>
                <a:srgbClr val="262626"/>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4"/>
          <p:cNvSpPr/>
          <p:nvPr/>
        </p:nvSpPr>
        <p:spPr>
          <a:xfrm>
            <a:off x="-1125" y="-4100"/>
            <a:ext cx="9144000" cy="10554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p>
        </p:txBody>
      </p:sp>
      <p:sp>
        <p:nvSpPr>
          <p:cNvPr id="134" name="Google Shape;134;p24"/>
          <p:cNvSpPr txBox="1"/>
          <p:nvPr>
            <p:ph type="title"/>
          </p:nvPr>
        </p:nvSpPr>
        <p:spPr>
          <a:xfrm>
            <a:off x="516150" y="157800"/>
            <a:ext cx="8111700" cy="6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Archivo"/>
                <a:ea typeface="Archivo"/>
                <a:cs typeface="Archivo"/>
                <a:sym typeface="Archivo"/>
              </a:rPr>
              <a:t>Organic visibility is too concentrated, and the site needs more entry points that can rank outside branded search.</a:t>
            </a:r>
            <a:endParaRPr b="1" sz="1800">
              <a:solidFill>
                <a:schemeClr val="lt1"/>
              </a:solidFill>
              <a:latin typeface="Archivo"/>
              <a:ea typeface="Archivo"/>
              <a:cs typeface="Archivo"/>
              <a:sym typeface="Archivo"/>
            </a:endParaRPr>
          </a:p>
        </p:txBody>
      </p:sp>
      <p:sp>
        <p:nvSpPr>
          <p:cNvPr id="135" name="Google Shape;135;p24"/>
          <p:cNvSpPr txBox="1"/>
          <p:nvPr/>
        </p:nvSpPr>
        <p:spPr>
          <a:xfrm>
            <a:off x="73827" y="1506888"/>
            <a:ext cx="3614700" cy="2568000"/>
          </a:xfrm>
          <a:prstGeom prst="rect">
            <a:avLst/>
          </a:prstGeom>
          <a:noFill/>
          <a:ln>
            <a:noFill/>
          </a:ln>
        </p:spPr>
        <p:txBody>
          <a:bodyPr anchorCtr="0" anchor="t" bIns="91425" lIns="91425" spcFirstLastPara="1" rIns="91425" wrap="square" tIns="91425">
            <a:spAutoFit/>
          </a:bodyPr>
          <a:lstStyle/>
          <a:p>
            <a:pPr indent="-292100" lvl="0" marL="457200" rtl="0" algn="l">
              <a:lnSpc>
                <a:spcPct val="115000"/>
              </a:lnSpc>
              <a:spcBef>
                <a:spcPts val="1200"/>
              </a:spcBef>
              <a:spcAft>
                <a:spcPts val="0"/>
              </a:spcAft>
              <a:buClr>
                <a:srgbClr val="FF2E0A"/>
              </a:buClr>
              <a:buSzPts val="1000"/>
              <a:buFont typeface="Inter"/>
              <a:buChar char="●"/>
            </a:pPr>
            <a:r>
              <a:rPr lang="en" sz="1000">
                <a:solidFill>
                  <a:schemeClr val="dk1"/>
                </a:solidFill>
                <a:latin typeface="Inter"/>
                <a:ea typeface="Inter"/>
                <a:cs typeface="Inter"/>
                <a:sym typeface="Inter"/>
              </a:rPr>
              <a:t>Homepage is carrying too much of the organic load, which suggests visibility is still concentrated around branded demand instead of being distributed across the site.</a:t>
            </a:r>
            <a:endParaRPr sz="1000">
              <a:solidFill>
                <a:schemeClr val="dk1"/>
              </a:solidFill>
              <a:latin typeface="Inter"/>
              <a:ea typeface="Inter"/>
              <a:cs typeface="Inter"/>
              <a:sym typeface="Inter"/>
            </a:endParaRPr>
          </a:p>
          <a:p>
            <a:pPr indent="-292100" lvl="0" marL="457200" rtl="0" algn="l">
              <a:lnSpc>
                <a:spcPct val="115000"/>
              </a:lnSpc>
              <a:spcBef>
                <a:spcPts val="1000"/>
              </a:spcBef>
              <a:spcAft>
                <a:spcPts val="0"/>
              </a:spcAft>
              <a:buClr>
                <a:srgbClr val="FF2E0A"/>
              </a:buClr>
              <a:buSzPts val="1000"/>
              <a:buFont typeface="Inter"/>
              <a:buChar char="●"/>
            </a:pPr>
            <a:r>
              <a:rPr lang="en" sz="1000">
                <a:solidFill>
                  <a:schemeClr val="dk1"/>
                </a:solidFill>
                <a:latin typeface="Inter"/>
                <a:ea typeface="Inter"/>
                <a:cs typeface="Inter"/>
                <a:sym typeface="Inter"/>
              </a:rPr>
              <a:t>Most other page types are contributing far less than they should, despite making up the majority of the site’s content footprint.</a:t>
            </a:r>
            <a:endParaRPr sz="1000">
              <a:solidFill>
                <a:schemeClr val="dk1"/>
              </a:solidFill>
              <a:latin typeface="Inter"/>
              <a:ea typeface="Inter"/>
              <a:cs typeface="Inter"/>
              <a:sym typeface="Inter"/>
            </a:endParaRPr>
          </a:p>
          <a:p>
            <a:pPr indent="-292100" lvl="0" marL="457200" rtl="0" algn="l">
              <a:lnSpc>
                <a:spcPct val="115000"/>
              </a:lnSpc>
              <a:spcBef>
                <a:spcPts val="1200"/>
              </a:spcBef>
              <a:spcAft>
                <a:spcPts val="1000"/>
              </a:spcAft>
              <a:buClr>
                <a:srgbClr val="FF2E0A"/>
              </a:buClr>
              <a:buSzPts val="1000"/>
              <a:buFont typeface="Inter"/>
              <a:buChar char="●"/>
            </a:pPr>
            <a:r>
              <a:rPr lang="en" sz="1000">
                <a:solidFill>
                  <a:schemeClr val="dk1"/>
                </a:solidFill>
                <a:latin typeface="Inter"/>
                <a:ea typeface="Inter"/>
                <a:cs typeface="Inter"/>
                <a:sym typeface="Inter"/>
              </a:rPr>
              <a:t>The biggest gap is in question-led content. Reframing the blog as a true FAQ-style resource hub would give Horseshoe a better shot at capturing non-brand discovery and reducing dependence on the homepage.</a:t>
            </a:r>
            <a:endParaRPr sz="1200">
              <a:solidFill>
                <a:schemeClr val="dk1"/>
              </a:solidFill>
              <a:latin typeface="Inter"/>
              <a:ea typeface="Inter"/>
              <a:cs typeface="Inter"/>
              <a:sym typeface="Inter"/>
            </a:endParaRPr>
          </a:p>
        </p:txBody>
      </p:sp>
      <p:pic>
        <p:nvPicPr>
          <p:cNvPr id="136" name="Google Shape;136;p24" title="Chart"/>
          <p:cNvPicPr preferRelativeResize="0"/>
          <p:nvPr/>
        </p:nvPicPr>
        <p:blipFill>
          <a:blip r:embed="rId3">
            <a:alphaModFix/>
          </a:blip>
          <a:stretch>
            <a:fillRect/>
          </a:stretch>
        </p:blipFill>
        <p:spPr>
          <a:xfrm>
            <a:off x="3857277" y="1203700"/>
            <a:ext cx="5134321" cy="317436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5"/>
          <p:cNvSpPr/>
          <p:nvPr/>
        </p:nvSpPr>
        <p:spPr>
          <a:xfrm>
            <a:off x="-1125" y="-4100"/>
            <a:ext cx="9144000" cy="10554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p>
        </p:txBody>
      </p:sp>
      <p:sp>
        <p:nvSpPr>
          <p:cNvPr id="142" name="Google Shape;142;p25"/>
          <p:cNvSpPr txBox="1"/>
          <p:nvPr>
            <p:ph type="title"/>
          </p:nvPr>
        </p:nvSpPr>
        <p:spPr>
          <a:xfrm>
            <a:off x="177525" y="154450"/>
            <a:ext cx="8786700" cy="6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chemeClr val="lt1"/>
                </a:solidFill>
                <a:latin typeface="Archivo"/>
                <a:ea typeface="Archivo"/>
                <a:cs typeface="Archivo"/>
                <a:sym typeface="Archivo"/>
              </a:rPr>
              <a:t>Horseshoe has session demand, but too much of it is concentrated or underleveraged at the page level.</a:t>
            </a:r>
            <a:endParaRPr b="1" sz="2100">
              <a:solidFill>
                <a:schemeClr val="lt1"/>
              </a:solidFill>
              <a:latin typeface="Archivo"/>
              <a:ea typeface="Archivo"/>
              <a:cs typeface="Archivo"/>
              <a:sym typeface="Archivo"/>
            </a:endParaRPr>
          </a:p>
        </p:txBody>
      </p:sp>
      <p:sp>
        <p:nvSpPr>
          <p:cNvPr id="143" name="Google Shape;143;p25"/>
          <p:cNvSpPr txBox="1"/>
          <p:nvPr/>
        </p:nvSpPr>
        <p:spPr>
          <a:xfrm>
            <a:off x="19842" y="1402661"/>
            <a:ext cx="3992700" cy="2820000"/>
          </a:xfrm>
          <a:prstGeom prst="rect">
            <a:avLst/>
          </a:prstGeom>
          <a:noFill/>
          <a:ln>
            <a:noFill/>
          </a:ln>
        </p:spPr>
        <p:txBody>
          <a:bodyPr anchorCtr="0" anchor="t" bIns="91425" lIns="91425" spcFirstLastPara="1" rIns="91425" wrap="square" tIns="91425">
            <a:spAutoFit/>
          </a:bodyPr>
          <a:lstStyle/>
          <a:p>
            <a:pPr indent="-285750" lvl="0" marL="457200" rtl="0" algn="l">
              <a:lnSpc>
                <a:spcPct val="115000"/>
              </a:lnSpc>
              <a:spcBef>
                <a:spcPts val="1200"/>
              </a:spcBef>
              <a:spcAft>
                <a:spcPts val="0"/>
              </a:spcAft>
              <a:buClr>
                <a:srgbClr val="FF2E0A"/>
              </a:buClr>
              <a:buSzPts val="900"/>
              <a:buFont typeface="Inter"/>
              <a:buChar char="●"/>
            </a:pPr>
            <a:r>
              <a:rPr b="1" lang="en" sz="900">
                <a:solidFill>
                  <a:schemeClr val="dk1"/>
                </a:solidFill>
                <a:latin typeface="Inter"/>
                <a:ea typeface="Inter"/>
                <a:cs typeface="Inter"/>
                <a:sym typeface="Inter"/>
              </a:rPr>
              <a:t>Homepage drives 73.9% of all sessions from just 1 page.</a:t>
            </a:r>
            <a:br>
              <a:rPr b="1" lang="en" sz="900">
                <a:solidFill>
                  <a:schemeClr val="dk1"/>
                </a:solidFill>
                <a:latin typeface="Inter"/>
                <a:ea typeface="Inter"/>
                <a:cs typeface="Inter"/>
                <a:sym typeface="Inter"/>
              </a:rPr>
            </a:br>
            <a:r>
              <a:rPr b="1" lang="en" sz="900">
                <a:solidFill>
                  <a:schemeClr val="dk1"/>
                </a:solidFill>
                <a:latin typeface="Inter"/>
                <a:ea typeface="Inter"/>
                <a:cs typeface="Inter"/>
                <a:sym typeface="Inter"/>
              </a:rPr>
              <a:t> Insight: </a:t>
            </a:r>
            <a:r>
              <a:rPr lang="en" sz="900">
                <a:solidFill>
                  <a:schemeClr val="dk1"/>
                </a:solidFill>
                <a:latin typeface="Inter"/>
                <a:ea typeface="Inter"/>
                <a:cs typeface="Inter"/>
                <a:sym typeface="Inter"/>
              </a:rPr>
              <a:t>The site is attracting attention, but most of it is not being distributed deeper into the experience.</a:t>
            </a:r>
            <a:endParaRPr sz="900">
              <a:solidFill>
                <a:schemeClr val="dk1"/>
              </a:solidFill>
              <a:latin typeface="Inter"/>
              <a:ea typeface="Inter"/>
              <a:cs typeface="Inter"/>
              <a:sym typeface="Inter"/>
            </a:endParaRPr>
          </a:p>
          <a:p>
            <a:pPr indent="-285750" lvl="0" marL="457200" rtl="0" algn="l">
              <a:lnSpc>
                <a:spcPct val="115000"/>
              </a:lnSpc>
              <a:spcBef>
                <a:spcPts val="1000"/>
              </a:spcBef>
              <a:spcAft>
                <a:spcPts val="0"/>
              </a:spcAft>
              <a:buClr>
                <a:srgbClr val="FF2E0A"/>
              </a:buClr>
              <a:buSzPts val="900"/>
              <a:buFont typeface="Inter"/>
              <a:buChar char="●"/>
            </a:pPr>
            <a:r>
              <a:rPr b="1" lang="en" sz="900">
                <a:solidFill>
                  <a:schemeClr val="dk1"/>
                </a:solidFill>
                <a:latin typeface="Inter"/>
                <a:ea typeface="Inter"/>
                <a:cs typeface="Inter"/>
                <a:sym typeface="Inter"/>
              </a:rPr>
              <a:t>About pages generate 679 sessions across 7 pages, or 97 sessions per page.</a:t>
            </a:r>
            <a:br>
              <a:rPr b="1" lang="en" sz="900">
                <a:solidFill>
                  <a:schemeClr val="dk1"/>
                </a:solidFill>
                <a:latin typeface="Inter"/>
                <a:ea typeface="Inter"/>
                <a:cs typeface="Inter"/>
                <a:sym typeface="Inter"/>
              </a:rPr>
            </a:br>
            <a:r>
              <a:rPr b="1" lang="en" sz="900">
                <a:solidFill>
                  <a:schemeClr val="dk1"/>
                </a:solidFill>
                <a:latin typeface="Inter"/>
                <a:ea typeface="Inter"/>
                <a:cs typeface="Inter"/>
                <a:sym typeface="Inter"/>
              </a:rPr>
              <a:t> Insight: </a:t>
            </a:r>
            <a:r>
              <a:rPr lang="en" sz="900">
                <a:solidFill>
                  <a:schemeClr val="dk1"/>
                </a:solidFill>
                <a:latin typeface="Inter"/>
                <a:ea typeface="Inter"/>
                <a:cs typeface="Inter"/>
                <a:sym typeface="Inter"/>
              </a:rPr>
              <a:t>Resort and amenity content is pulling solid engagement and can do more heavy lifting if surfaced better in navigation.</a:t>
            </a:r>
            <a:endParaRPr sz="900">
              <a:solidFill>
                <a:schemeClr val="dk1"/>
              </a:solidFill>
              <a:latin typeface="Inter"/>
              <a:ea typeface="Inter"/>
              <a:cs typeface="Inter"/>
              <a:sym typeface="Inter"/>
            </a:endParaRPr>
          </a:p>
          <a:p>
            <a:pPr indent="-285750" lvl="0" marL="457200" rtl="0" algn="l">
              <a:lnSpc>
                <a:spcPct val="115000"/>
              </a:lnSpc>
              <a:spcBef>
                <a:spcPts val="1200"/>
              </a:spcBef>
              <a:spcAft>
                <a:spcPts val="0"/>
              </a:spcAft>
              <a:buClr>
                <a:srgbClr val="FF2E0A"/>
              </a:buClr>
              <a:buSzPts val="900"/>
              <a:buFont typeface="Inter"/>
              <a:buChar char="●"/>
            </a:pPr>
            <a:r>
              <a:rPr b="1" lang="en" sz="900">
                <a:solidFill>
                  <a:schemeClr val="dk1"/>
                </a:solidFill>
                <a:latin typeface="Inter"/>
                <a:ea typeface="Inter"/>
                <a:cs typeface="Inter"/>
                <a:sym typeface="Inter"/>
              </a:rPr>
              <a:t>Blog pages generate 952 sessions across 170 pages, or just 5.2 sessions per page.</a:t>
            </a:r>
            <a:br>
              <a:rPr b="1" lang="en" sz="900">
                <a:solidFill>
                  <a:schemeClr val="dk1"/>
                </a:solidFill>
                <a:latin typeface="Inter"/>
                <a:ea typeface="Inter"/>
                <a:cs typeface="Inter"/>
                <a:sym typeface="Inter"/>
              </a:rPr>
            </a:br>
            <a:r>
              <a:rPr b="1" lang="en" sz="900">
                <a:solidFill>
                  <a:schemeClr val="dk1"/>
                </a:solidFill>
                <a:latin typeface="Inter"/>
                <a:ea typeface="Inter"/>
                <a:cs typeface="Inter"/>
                <a:sym typeface="Inter"/>
              </a:rPr>
              <a:t> Insight: </a:t>
            </a:r>
            <a:r>
              <a:rPr lang="en" sz="900">
                <a:solidFill>
                  <a:schemeClr val="dk1"/>
                </a:solidFill>
                <a:latin typeface="Inter"/>
                <a:ea typeface="Inter"/>
                <a:cs typeface="Inter"/>
                <a:sym typeface="Inter"/>
              </a:rPr>
              <a:t>The content hub has reach, but article-level performance is thin ... which is why a question-led FAQ structure could improve both discoverability and usefulness.</a:t>
            </a:r>
            <a:endParaRPr sz="900">
              <a:solidFill>
                <a:schemeClr val="dk1"/>
              </a:solidFill>
              <a:latin typeface="Inter"/>
              <a:ea typeface="Inter"/>
              <a:cs typeface="Inter"/>
              <a:sym typeface="Inter"/>
            </a:endParaRPr>
          </a:p>
          <a:p>
            <a:pPr indent="0" lvl="0" marL="0" rtl="0" algn="l">
              <a:spcBef>
                <a:spcPts val="1000"/>
              </a:spcBef>
              <a:spcAft>
                <a:spcPts val="1000"/>
              </a:spcAft>
              <a:buNone/>
            </a:pPr>
            <a:r>
              <a:t/>
            </a:r>
            <a:endParaRPr sz="1000">
              <a:solidFill>
                <a:schemeClr val="dk1"/>
              </a:solidFill>
              <a:latin typeface="Inter"/>
              <a:ea typeface="Inter"/>
              <a:cs typeface="Inter"/>
              <a:sym typeface="Inter"/>
            </a:endParaRPr>
          </a:p>
        </p:txBody>
      </p:sp>
      <p:pic>
        <p:nvPicPr>
          <p:cNvPr id="144" name="Google Shape;144;p25" title="Chart"/>
          <p:cNvPicPr preferRelativeResize="0"/>
          <p:nvPr/>
        </p:nvPicPr>
        <p:blipFill>
          <a:blip r:embed="rId3">
            <a:alphaModFix/>
          </a:blip>
          <a:stretch>
            <a:fillRect/>
          </a:stretch>
        </p:blipFill>
        <p:spPr>
          <a:xfrm>
            <a:off x="4137567" y="1552650"/>
            <a:ext cx="4826659" cy="268469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6"/>
          <p:cNvSpPr txBox="1"/>
          <p:nvPr>
            <p:ph type="title"/>
          </p:nvPr>
        </p:nvSpPr>
        <p:spPr>
          <a:xfrm>
            <a:off x="171950" y="272275"/>
            <a:ext cx="4901700" cy="6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6"/>
          <p:cNvSpPr/>
          <p:nvPr/>
        </p:nvSpPr>
        <p:spPr>
          <a:xfrm>
            <a:off x="0" y="0"/>
            <a:ext cx="9168900" cy="1325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p>
        </p:txBody>
      </p:sp>
      <p:sp>
        <p:nvSpPr>
          <p:cNvPr id="151" name="Google Shape;151;p26"/>
          <p:cNvSpPr txBox="1"/>
          <p:nvPr/>
        </p:nvSpPr>
        <p:spPr>
          <a:xfrm>
            <a:off x="584675" y="579550"/>
            <a:ext cx="84306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lang="en" sz="1700">
                <a:solidFill>
                  <a:srgbClr val="FFFFFF"/>
                </a:solidFill>
                <a:latin typeface="Inter SemiBold"/>
                <a:ea typeface="Inter SemiBold"/>
                <a:cs typeface="Inter SemiBold"/>
                <a:sym typeface="Inter SemiBold"/>
              </a:rPr>
              <a:t>Your SEO growth depends on distributing visibility beyond the homepage.</a:t>
            </a:r>
            <a:endParaRPr sz="1600">
              <a:solidFill>
                <a:srgbClr val="FFFFFF"/>
              </a:solidFill>
              <a:latin typeface="Inter SemiBold"/>
              <a:ea typeface="Inter SemiBold"/>
              <a:cs typeface="Inter SemiBold"/>
              <a:sym typeface="Inter SemiBold"/>
            </a:endParaRPr>
          </a:p>
        </p:txBody>
      </p:sp>
      <p:sp>
        <p:nvSpPr>
          <p:cNvPr id="152" name="Google Shape;152;p26"/>
          <p:cNvSpPr txBox="1"/>
          <p:nvPr/>
        </p:nvSpPr>
        <p:spPr>
          <a:xfrm>
            <a:off x="430600" y="1443750"/>
            <a:ext cx="8332800" cy="375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200">
                <a:solidFill>
                  <a:schemeClr val="dk1"/>
                </a:solidFill>
                <a:latin typeface="Archivo"/>
                <a:ea typeface="Archivo"/>
                <a:cs typeface="Archivo"/>
                <a:sym typeface="Archivo"/>
              </a:rPr>
              <a:t>1. </a:t>
            </a:r>
            <a:r>
              <a:rPr b="1" lang="en" sz="1200">
                <a:solidFill>
                  <a:schemeClr val="dk1"/>
                </a:solidFill>
                <a:latin typeface="Archivo"/>
                <a:ea typeface="Archivo"/>
                <a:cs typeface="Archivo"/>
                <a:sym typeface="Archivo"/>
              </a:rPr>
              <a:t>Fix the Funnel Between Discovery and Booking</a:t>
            </a:r>
            <a:endParaRPr b="1" sz="1200">
              <a:solidFill>
                <a:schemeClr val="dk1"/>
              </a:solidFill>
              <a:latin typeface="Archivo"/>
              <a:ea typeface="Archivo"/>
              <a:cs typeface="Archivo"/>
              <a:sym typeface="Archivo"/>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latin typeface="Archivo Medium"/>
                <a:ea typeface="Archivo Medium"/>
                <a:cs typeface="Archivo Medium"/>
                <a:sym typeface="Archivo Medium"/>
              </a:rPr>
              <a:t>Right now, too much visibility is concentrated in the homepage, while key stay, service, and planning pages are not pulling their weight. Expand and strengthen the pages that help users move from search interest to booking confidence.</a:t>
            </a:r>
            <a:endParaRPr sz="1200">
              <a:solidFill>
                <a:schemeClr val="dk1"/>
              </a:solidFill>
              <a:latin typeface="Archivo Medium"/>
              <a:ea typeface="Archivo Medium"/>
              <a:cs typeface="Archivo Medium"/>
              <a:sym typeface="Archivo Medium"/>
            </a:endParaRPr>
          </a:p>
          <a:p>
            <a:pPr indent="0" lvl="0" marL="0" rtl="0" algn="l">
              <a:lnSpc>
                <a:spcPct val="115000"/>
              </a:lnSpc>
              <a:spcBef>
                <a:spcPts val="1200"/>
              </a:spcBef>
              <a:spcAft>
                <a:spcPts val="0"/>
              </a:spcAft>
              <a:buNone/>
            </a:pPr>
            <a:r>
              <a:rPr b="1" lang="en" sz="1200">
                <a:solidFill>
                  <a:schemeClr val="dk1"/>
                </a:solidFill>
                <a:latin typeface="Archivo"/>
                <a:ea typeface="Archivo"/>
                <a:cs typeface="Archivo"/>
                <a:sym typeface="Archivo"/>
              </a:rPr>
              <a:t>2. Turn the Blog Into a Question-Lich FAQ Hub</a:t>
            </a:r>
            <a:endParaRPr b="1" sz="1200">
              <a:solidFill>
                <a:schemeClr val="dk1"/>
              </a:solidFill>
              <a:latin typeface="Archivo"/>
              <a:ea typeface="Archivo"/>
              <a:cs typeface="Archivo"/>
              <a:sym typeface="Archivo"/>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latin typeface="Archivo Medium"/>
                <a:ea typeface="Archivo Medium"/>
                <a:cs typeface="Archivo Medium"/>
                <a:sym typeface="Archivo Medium"/>
              </a:rPr>
              <a:t>The blog is already driving 1,194 clicks, but performance is spread thin across too many pages. Rebuild it around real guest questions so each article has a clearer purpose, stronger search alignment, and a better path into core booking pages.</a:t>
            </a:r>
            <a:endParaRPr sz="1200">
              <a:solidFill>
                <a:schemeClr val="dk1"/>
              </a:solidFill>
              <a:latin typeface="Archivo Medium"/>
              <a:ea typeface="Archivo Medium"/>
              <a:cs typeface="Archivo Medium"/>
              <a:sym typeface="Archivo Medium"/>
            </a:endParaRPr>
          </a:p>
          <a:p>
            <a:pPr indent="0" lvl="0" marL="0" rtl="0" algn="l">
              <a:lnSpc>
                <a:spcPct val="115000"/>
              </a:lnSpc>
              <a:spcBef>
                <a:spcPts val="1200"/>
              </a:spcBef>
              <a:spcAft>
                <a:spcPts val="0"/>
              </a:spcAft>
              <a:buNone/>
            </a:pPr>
            <a:r>
              <a:rPr b="1" lang="en" sz="1200">
                <a:solidFill>
                  <a:schemeClr val="dk1"/>
                </a:solidFill>
                <a:latin typeface="Archivo"/>
                <a:ea typeface="Archivo"/>
                <a:cs typeface="Archivo"/>
                <a:sym typeface="Archivo"/>
              </a:rPr>
              <a:t>3. Improve Navigation and Structure for AI &amp; SERP Visibility</a:t>
            </a:r>
            <a:endParaRPr b="1" sz="1200">
              <a:solidFill>
                <a:schemeClr val="dk1"/>
              </a:solidFill>
              <a:latin typeface="Archivo"/>
              <a:ea typeface="Archivo"/>
              <a:cs typeface="Archivo"/>
              <a:sym typeface="Archivo"/>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latin typeface="Archivo Medium"/>
                <a:ea typeface="Archivo Medium"/>
                <a:cs typeface="Archivo Medium"/>
                <a:sym typeface="Archivo Medium"/>
              </a:rPr>
              <a:t>Competitors are showing up more often in AI answers and SERP features. Clearer navigation, stronger page hierarchy, and more direct-answer formatting will help Horseshoe earn more citations, snippets, and non-brand visibility.</a:t>
            </a:r>
            <a:endParaRPr sz="1200">
              <a:solidFill>
                <a:schemeClr val="dk1"/>
              </a:solidFill>
              <a:latin typeface="Archivo Medium"/>
              <a:ea typeface="Archivo Medium"/>
              <a:cs typeface="Archivo Medium"/>
              <a:sym typeface="Archivo Medium"/>
            </a:endParaRPr>
          </a:p>
          <a:p>
            <a:pPr indent="0" lvl="0" marL="0" rtl="0" algn="l">
              <a:lnSpc>
                <a:spcPct val="115000"/>
              </a:lnSpc>
              <a:spcBef>
                <a:spcPts val="1200"/>
              </a:spcBef>
              <a:spcAft>
                <a:spcPts val="0"/>
              </a:spcAft>
              <a:buClr>
                <a:schemeClr val="dk1"/>
              </a:buClr>
              <a:buSzPts val="1100"/>
              <a:buFont typeface="Arial"/>
              <a:buNone/>
            </a:pPr>
            <a:r>
              <a:t/>
            </a:r>
            <a:endParaRPr b="1" sz="1200">
              <a:solidFill>
                <a:schemeClr val="dk1"/>
              </a:solidFill>
              <a:latin typeface="Archivo"/>
              <a:ea typeface="Archivo"/>
              <a:cs typeface="Archivo"/>
              <a:sym typeface="Archivo"/>
            </a:endParaRPr>
          </a:p>
          <a:p>
            <a:pPr indent="0" lvl="0" marL="0" rtl="0" algn="l">
              <a:lnSpc>
                <a:spcPct val="115000"/>
              </a:lnSpc>
              <a:spcBef>
                <a:spcPts val="1200"/>
              </a:spcBef>
              <a:spcAft>
                <a:spcPts val="1200"/>
              </a:spcAft>
              <a:buNone/>
            </a:pPr>
            <a:r>
              <a:t/>
            </a:r>
            <a:endParaRPr sz="1000">
              <a:solidFill>
                <a:schemeClr val="dk1"/>
              </a:solidFill>
              <a:highlight>
                <a:srgbClr val="FFFF00"/>
              </a:highlight>
              <a:latin typeface="Inter"/>
              <a:ea typeface="Inter"/>
              <a:cs typeface="Inter"/>
              <a:sym typeface="Inter"/>
            </a:endParaRPr>
          </a:p>
        </p:txBody>
      </p:sp>
      <p:sp>
        <p:nvSpPr>
          <p:cNvPr id="153" name="Google Shape;153;p26"/>
          <p:cNvSpPr txBox="1"/>
          <p:nvPr/>
        </p:nvSpPr>
        <p:spPr>
          <a:xfrm>
            <a:off x="584671" y="278550"/>
            <a:ext cx="3315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lang="en">
                <a:solidFill>
                  <a:srgbClr val="FF2F0A"/>
                </a:solidFill>
                <a:latin typeface="Inter ExtraBold"/>
                <a:ea typeface="Inter ExtraBold"/>
                <a:cs typeface="Inter ExtraBold"/>
                <a:sym typeface="Inter ExtraBold"/>
              </a:rPr>
              <a:t>FIRST</a:t>
            </a:r>
            <a:r>
              <a:rPr lang="en">
                <a:solidFill>
                  <a:srgbClr val="FF2F0A"/>
                </a:solidFill>
                <a:latin typeface="Inter ExtraBold"/>
                <a:ea typeface="Inter ExtraBold"/>
                <a:cs typeface="Inter ExtraBold"/>
                <a:sym typeface="Inter ExtraBold"/>
              </a:rPr>
              <a:t> PRIOS</a:t>
            </a:r>
            <a:endParaRPr b="1">
              <a:solidFill>
                <a:srgbClr val="262626"/>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7"/>
          <p:cNvSpPr txBox="1"/>
          <p:nvPr/>
        </p:nvSpPr>
        <p:spPr>
          <a:xfrm>
            <a:off x="142650" y="440250"/>
            <a:ext cx="9069900" cy="1757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 sz="1300">
                <a:solidFill>
                  <a:srgbClr val="FF2F0A"/>
                </a:solidFill>
                <a:latin typeface="Inter"/>
                <a:ea typeface="Inter"/>
                <a:cs typeface="Inter"/>
                <a:sym typeface="Inter"/>
              </a:rPr>
              <a:t>Our goal: improve both usability and search performance.</a:t>
            </a:r>
            <a:endParaRPr b="1" sz="1300">
              <a:solidFill>
                <a:srgbClr val="FF2F0A"/>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latin typeface="Inter"/>
                <a:ea typeface="Inter"/>
                <a:cs typeface="Inter"/>
                <a:sym typeface="Inter"/>
              </a:rPr>
              <a:t>The new IA moves up the most important parts of your site to the top level . These map to real searches and support stronger internal linking—helping key pages rank, earn snippets, and convert. New buttons to highlight Verify insurance and a font change for legibility are also recommended.</a:t>
            </a:r>
            <a:endParaRPr sz="1100">
              <a:solidFill>
                <a:schemeClr val="dk1"/>
              </a:solidFill>
              <a:latin typeface="Inter"/>
              <a:ea typeface="Inter"/>
              <a:cs typeface="Inter"/>
              <a:sym typeface="Inter"/>
            </a:endParaRPr>
          </a:p>
          <a:p>
            <a:pPr indent="0" lvl="0" marL="139700" rtl="0" algn="l">
              <a:lnSpc>
                <a:spcPct val="115000"/>
              </a:lnSpc>
              <a:spcBef>
                <a:spcPts val="1200"/>
              </a:spcBef>
              <a:spcAft>
                <a:spcPts val="0"/>
              </a:spcAft>
              <a:buClr>
                <a:schemeClr val="dk1"/>
              </a:buClr>
              <a:buSzPts val="1100"/>
              <a:buFont typeface="Arial"/>
              <a:buNone/>
            </a:pPr>
            <a:r>
              <a:t/>
            </a:r>
            <a:endParaRPr sz="1500">
              <a:solidFill>
                <a:srgbClr val="FF2F0A"/>
              </a:solidFill>
              <a:latin typeface="Inter"/>
              <a:ea typeface="Inter"/>
              <a:cs typeface="Inter"/>
              <a:sym typeface="Inter"/>
            </a:endParaRPr>
          </a:p>
          <a:p>
            <a:pPr indent="0" lvl="0" marL="0" rtl="0" algn="l">
              <a:spcBef>
                <a:spcPts val="0"/>
              </a:spcBef>
              <a:spcAft>
                <a:spcPts val="0"/>
              </a:spcAft>
              <a:buNone/>
            </a:pPr>
            <a:r>
              <a:t/>
            </a:r>
            <a:endParaRPr sz="1200">
              <a:latin typeface="Inter"/>
              <a:ea typeface="Inter"/>
              <a:cs typeface="Inter"/>
              <a:sym typeface="Inter"/>
            </a:endParaRPr>
          </a:p>
        </p:txBody>
      </p:sp>
      <p:sp>
        <p:nvSpPr>
          <p:cNvPr id="159" name="Google Shape;159;p27"/>
          <p:cNvSpPr txBox="1"/>
          <p:nvPr/>
        </p:nvSpPr>
        <p:spPr>
          <a:xfrm>
            <a:off x="157475" y="2859500"/>
            <a:ext cx="28296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900">
                <a:solidFill>
                  <a:srgbClr val="FF2F0A"/>
                </a:solidFill>
                <a:latin typeface="Inter"/>
                <a:ea typeface="Inter"/>
                <a:cs typeface="Inter"/>
                <a:sym typeface="Inter"/>
              </a:rPr>
              <a:t>Future: </a:t>
            </a:r>
            <a:endParaRPr i="1" sz="900">
              <a:solidFill>
                <a:srgbClr val="FF2F0A"/>
              </a:solidFill>
              <a:latin typeface="Inter"/>
              <a:ea typeface="Inter"/>
              <a:cs typeface="Inter"/>
              <a:sym typeface="Inter"/>
            </a:endParaRPr>
          </a:p>
        </p:txBody>
      </p:sp>
      <p:sp>
        <p:nvSpPr>
          <p:cNvPr id="160" name="Google Shape;160;p27"/>
          <p:cNvSpPr txBox="1"/>
          <p:nvPr/>
        </p:nvSpPr>
        <p:spPr>
          <a:xfrm>
            <a:off x="157475" y="1577850"/>
            <a:ext cx="28296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900">
                <a:solidFill>
                  <a:srgbClr val="595959"/>
                </a:solidFill>
                <a:latin typeface="Inter"/>
                <a:ea typeface="Inter"/>
                <a:cs typeface="Inter"/>
                <a:sym typeface="Inter"/>
              </a:rPr>
              <a:t>Current:</a:t>
            </a:r>
            <a:endParaRPr i="1" sz="900">
              <a:solidFill>
                <a:srgbClr val="595959"/>
              </a:solidFill>
              <a:latin typeface="Inter"/>
              <a:ea typeface="Inter"/>
              <a:cs typeface="Inter"/>
              <a:sym typeface="Inter"/>
            </a:endParaRPr>
          </a:p>
        </p:txBody>
      </p:sp>
      <p:pic>
        <p:nvPicPr>
          <p:cNvPr id="161" name="Google Shape;161;p27" title="Screenshot 2026-03-17 at 5.46.52 PM.png"/>
          <p:cNvPicPr preferRelativeResize="0"/>
          <p:nvPr/>
        </p:nvPicPr>
        <p:blipFill>
          <a:blip r:embed="rId3">
            <a:alphaModFix/>
          </a:blip>
          <a:stretch>
            <a:fillRect/>
          </a:stretch>
        </p:blipFill>
        <p:spPr>
          <a:xfrm>
            <a:off x="235188" y="1973600"/>
            <a:ext cx="8391106" cy="357350"/>
          </a:xfrm>
          <a:prstGeom prst="rect">
            <a:avLst/>
          </a:prstGeom>
          <a:noFill/>
          <a:ln>
            <a:noFill/>
          </a:ln>
        </p:spPr>
      </p:pic>
      <p:pic>
        <p:nvPicPr>
          <p:cNvPr id="162" name="Google Shape;162;p27" title="Screenshot 2026-03-17 at 5.52.52 PM.png"/>
          <p:cNvPicPr preferRelativeResize="0"/>
          <p:nvPr/>
        </p:nvPicPr>
        <p:blipFill rotWithShape="1">
          <a:blip r:embed="rId4">
            <a:alphaModFix/>
          </a:blip>
          <a:srcRect b="13217" l="0" r="0" t="0"/>
          <a:stretch/>
        </p:blipFill>
        <p:spPr>
          <a:xfrm>
            <a:off x="625225" y="3399948"/>
            <a:ext cx="7893576" cy="288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8"/>
          <p:cNvSpPr txBox="1"/>
          <p:nvPr/>
        </p:nvSpPr>
        <p:spPr>
          <a:xfrm>
            <a:off x="366324" y="177675"/>
            <a:ext cx="8588400" cy="157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
                <a:solidFill>
                  <a:srgbClr val="FF2F0A"/>
                </a:solidFill>
                <a:latin typeface="Inter"/>
                <a:ea typeface="Inter"/>
                <a:cs typeface="Inter"/>
                <a:sym typeface="Inter"/>
              </a:rPr>
              <a:t>A scalable blueprint for what we publish next.</a:t>
            </a:r>
            <a:endParaRPr b="1">
              <a:solidFill>
                <a:srgbClr val="FF2F0A"/>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latin typeface="Inter"/>
                <a:ea typeface="Inter"/>
                <a:cs typeface="Inter"/>
                <a:sym typeface="Inter"/>
              </a:rPr>
              <a:t>We’ll build out Horseshoe Ridge’s top-level hubs in the order that best supports rankings, internal linking, and admissions—starting with Programs, What We Treat, and Admissions, then expanding trust-supporting content in FAQ and Resort.</a:t>
            </a:r>
            <a:endParaRPr sz="1100">
              <a:solidFill>
                <a:schemeClr val="dk1"/>
              </a:solidFill>
              <a:latin typeface="Inter"/>
              <a:ea typeface="Inter"/>
              <a:cs typeface="Inter"/>
              <a:sym typeface="Inter"/>
            </a:endParaRPr>
          </a:p>
          <a:p>
            <a:pPr indent="0" lvl="0" marL="0" rtl="0" algn="l">
              <a:spcBef>
                <a:spcPts val="1200"/>
              </a:spcBef>
              <a:spcAft>
                <a:spcPts val="0"/>
              </a:spcAft>
              <a:buNone/>
            </a:pPr>
            <a:r>
              <a:t/>
            </a:r>
            <a:endParaRPr sz="1600">
              <a:solidFill>
                <a:srgbClr val="FF2F0A"/>
              </a:solidFill>
              <a:latin typeface="Inter"/>
              <a:ea typeface="Inter"/>
              <a:cs typeface="Inter"/>
              <a:sym typeface="Inter"/>
            </a:endParaRPr>
          </a:p>
        </p:txBody>
      </p:sp>
      <p:sp>
        <p:nvSpPr>
          <p:cNvPr id="168" name="Google Shape;168;p28"/>
          <p:cNvSpPr txBox="1"/>
          <p:nvPr/>
        </p:nvSpPr>
        <p:spPr>
          <a:xfrm>
            <a:off x="2130350" y="2695250"/>
            <a:ext cx="2082600" cy="144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1"/>
                </a:solidFill>
                <a:latin typeface="Inter"/>
                <a:ea typeface="Inter"/>
                <a:cs typeface="Inter"/>
                <a:sym typeface="Inter"/>
              </a:rPr>
              <a:t>/resort/</a:t>
            </a:r>
            <a:endParaRPr sz="800">
              <a:solidFill>
                <a:schemeClr val="dk1"/>
              </a:solidFill>
              <a:latin typeface="Inter"/>
              <a:ea typeface="Inter"/>
              <a:cs typeface="Inter"/>
              <a:sym typeface="Inter"/>
            </a:endParaRPr>
          </a:p>
          <a:p>
            <a:pPr indent="-279400" lvl="0" marL="457200" rtl="0" algn="l">
              <a:lnSpc>
                <a:spcPct val="115000"/>
              </a:lnSpc>
              <a:spcBef>
                <a:spcPts val="1200"/>
              </a:spcBef>
              <a:spcAft>
                <a:spcPts val="0"/>
              </a:spcAft>
              <a:buClr>
                <a:schemeClr val="dk1"/>
              </a:buClr>
              <a:buSzPts val="800"/>
              <a:buFont typeface="Inter"/>
              <a:buChar char="➔"/>
            </a:pPr>
            <a:r>
              <a:rPr lang="en" sz="800">
                <a:solidFill>
                  <a:schemeClr val="dk1"/>
                </a:solidFill>
                <a:latin typeface="Inter"/>
                <a:ea typeface="Inter"/>
                <a:cs typeface="Inter"/>
                <a:sym typeface="Inter"/>
              </a:rPr>
              <a:t>amenities/</a:t>
            </a:r>
            <a:endParaRPr sz="800">
              <a:solidFill>
                <a:schemeClr val="dk1"/>
              </a:solidFill>
              <a:latin typeface="Inter"/>
              <a:ea typeface="Inter"/>
              <a:cs typeface="Inter"/>
              <a:sym typeface="Inter"/>
            </a:endParaRPr>
          </a:p>
          <a:p>
            <a:pPr indent="-279400" lvl="0" marL="457200" rtl="0" algn="l">
              <a:lnSpc>
                <a:spcPct val="115000"/>
              </a:lnSpc>
              <a:spcBef>
                <a:spcPts val="0"/>
              </a:spcBef>
              <a:spcAft>
                <a:spcPts val="0"/>
              </a:spcAft>
              <a:buClr>
                <a:schemeClr val="dk1"/>
              </a:buClr>
              <a:buSzPts val="800"/>
              <a:buFont typeface="Inter"/>
              <a:buChar char="➔"/>
            </a:pPr>
            <a:r>
              <a:rPr lang="en" sz="800">
                <a:solidFill>
                  <a:schemeClr val="dk1"/>
                </a:solidFill>
                <a:latin typeface="Inter"/>
                <a:ea typeface="Inter"/>
                <a:cs typeface="Inter"/>
                <a:sym typeface="Inter"/>
              </a:rPr>
              <a:t>activities/</a:t>
            </a:r>
            <a:endParaRPr sz="800">
              <a:solidFill>
                <a:schemeClr val="dk1"/>
              </a:solidFill>
              <a:latin typeface="Inter"/>
              <a:ea typeface="Inter"/>
              <a:cs typeface="Inter"/>
              <a:sym typeface="Inter"/>
            </a:endParaRPr>
          </a:p>
          <a:p>
            <a:pPr indent="-279400" lvl="0" marL="457200" rtl="0" algn="l">
              <a:lnSpc>
                <a:spcPct val="115000"/>
              </a:lnSpc>
              <a:spcBef>
                <a:spcPts val="0"/>
              </a:spcBef>
              <a:spcAft>
                <a:spcPts val="0"/>
              </a:spcAft>
              <a:buClr>
                <a:schemeClr val="dk1"/>
              </a:buClr>
              <a:buSzPts val="800"/>
              <a:buFont typeface="Inter"/>
              <a:buChar char="➔"/>
            </a:pPr>
            <a:r>
              <a:rPr lang="en" sz="800">
                <a:solidFill>
                  <a:schemeClr val="dk1"/>
                </a:solidFill>
                <a:latin typeface="Inter"/>
                <a:ea typeface="Inter"/>
                <a:cs typeface="Inter"/>
                <a:sym typeface="Inter"/>
              </a:rPr>
              <a:t>area-attractions/</a:t>
            </a:r>
            <a:endParaRPr sz="800">
              <a:solidFill>
                <a:schemeClr val="dk1"/>
              </a:solidFill>
              <a:latin typeface="Inter"/>
              <a:ea typeface="Inter"/>
              <a:cs typeface="Inter"/>
              <a:sym typeface="Inter"/>
            </a:endParaRPr>
          </a:p>
          <a:p>
            <a:pPr indent="-279400" lvl="0" marL="457200" rtl="0" algn="l">
              <a:lnSpc>
                <a:spcPct val="115000"/>
              </a:lnSpc>
              <a:spcBef>
                <a:spcPts val="0"/>
              </a:spcBef>
              <a:spcAft>
                <a:spcPts val="0"/>
              </a:spcAft>
              <a:buClr>
                <a:schemeClr val="dk1"/>
              </a:buClr>
              <a:buSzPts val="800"/>
              <a:buFont typeface="Inter"/>
              <a:buChar char="➔"/>
            </a:pPr>
            <a:r>
              <a:rPr lang="en" sz="800">
                <a:solidFill>
                  <a:schemeClr val="dk1"/>
                </a:solidFill>
                <a:latin typeface="Inter"/>
                <a:ea typeface="Inter"/>
                <a:cs typeface="Inter"/>
                <a:sym typeface="Inter"/>
              </a:rPr>
              <a:t>resort-map/</a:t>
            </a:r>
            <a:endParaRPr sz="800">
              <a:solidFill>
                <a:schemeClr val="dk1"/>
              </a:solidFill>
              <a:latin typeface="Inter"/>
              <a:ea typeface="Inter"/>
              <a:cs typeface="Inter"/>
              <a:sym typeface="Inter"/>
            </a:endParaRPr>
          </a:p>
          <a:p>
            <a:pPr indent="-279400" lvl="0" marL="457200" rtl="0" algn="l">
              <a:lnSpc>
                <a:spcPct val="115000"/>
              </a:lnSpc>
              <a:spcBef>
                <a:spcPts val="0"/>
              </a:spcBef>
              <a:spcAft>
                <a:spcPts val="0"/>
              </a:spcAft>
              <a:buClr>
                <a:schemeClr val="dk1"/>
              </a:buClr>
              <a:buSzPts val="800"/>
              <a:buFont typeface="Inter"/>
              <a:buChar char="➔"/>
            </a:pPr>
            <a:r>
              <a:rPr lang="en" sz="800">
                <a:solidFill>
                  <a:schemeClr val="dk1"/>
                </a:solidFill>
                <a:latin typeface="Inter"/>
                <a:ea typeface="Inter"/>
                <a:cs typeface="Inter"/>
                <a:sym typeface="Inter"/>
              </a:rPr>
              <a:t>gallery/</a:t>
            </a:r>
            <a:endParaRPr sz="800">
              <a:solidFill>
                <a:schemeClr val="dk1"/>
              </a:solidFill>
              <a:latin typeface="Inter"/>
              <a:ea typeface="Inter"/>
              <a:cs typeface="Inter"/>
              <a:sym typeface="Inter"/>
            </a:endParaRPr>
          </a:p>
          <a:p>
            <a:pPr indent="0" lvl="0" marL="0" rtl="0" algn="l">
              <a:spcBef>
                <a:spcPts val="1200"/>
              </a:spcBef>
              <a:spcAft>
                <a:spcPts val="0"/>
              </a:spcAft>
              <a:buNone/>
            </a:pPr>
            <a:r>
              <a:t/>
            </a:r>
            <a:endParaRPr sz="800">
              <a:solidFill>
                <a:schemeClr val="dk1"/>
              </a:solidFill>
              <a:latin typeface="Inter"/>
              <a:ea typeface="Inter"/>
              <a:cs typeface="Inter"/>
              <a:sym typeface="Inter"/>
            </a:endParaRPr>
          </a:p>
        </p:txBody>
      </p:sp>
      <p:sp>
        <p:nvSpPr>
          <p:cNvPr id="169" name="Google Shape;169;p28"/>
          <p:cNvSpPr txBox="1"/>
          <p:nvPr/>
        </p:nvSpPr>
        <p:spPr>
          <a:xfrm>
            <a:off x="276375" y="2499500"/>
            <a:ext cx="1589400" cy="132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800">
                <a:latin typeface="Inter"/>
                <a:ea typeface="Inter"/>
                <a:cs typeface="Inter"/>
                <a:sym typeface="Inter"/>
              </a:rPr>
              <a:t>/stay/</a:t>
            </a:r>
            <a:endParaRPr sz="800">
              <a:latin typeface="Inter"/>
              <a:ea typeface="Inter"/>
              <a:cs typeface="Inter"/>
              <a:sym typeface="Inter"/>
            </a:endParaRPr>
          </a:p>
          <a:p>
            <a:pPr indent="-279400" lvl="0" marL="457200" rtl="0" algn="l">
              <a:lnSpc>
                <a:spcPct val="115000"/>
              </a:lnSpc>
              <a:spcBef>
                <a:spcPts val="1200"/>
              </a:spcBef>
              <a:spcAft>
                <a:spcPts val="0"/>
              </a:spcAft>
              <a:buSzPts val="800"/>
              <a:buFont typeface="Inter"/>
              <a:buChar char="➔"/>
            </a:pPr>
            <a:r>
              <a:rPr lang="en" sz="800">
                <a:solidFill>
                  <a:schemeClr val="dk1"/>
                </a:solidFill>
                <a:latin typeface="Inter"/>
                <a:ea typeface="Inter"/>
                <a:cs typeface="Inter"/>
                <a:sym typeface="Inter"/>
              </a:rPr>
              <a:t>rv-sites/</a:t>
            </a:r>
            <a:endParaRPr sz="800">
              <a:solidFill>
                <a:schemeClr val="dk1"/>
              </a:solidFill>
              <a:latin typeface="Inter"/>
              <a:ea typeface="Inter"/>
              <a:cs typeface="Inter"/>
              <a:sym typeface="Inter"/>
            </a:endParaRPr>
          </a:p>
          <a:p>
            <a:pPr indent="-279400" lvl="0" marL="457200" rtl="0" algn="l">
              <a:lnSpc>
                <a:spcPct val="115000"/>
              </a:lnSpc>
              <a:spcBef>
                <a:spcPts val="0"/>
              </a:spcBef>
              <a:spcAft>
                <a:spcPts val="0"/>
              </a:spcAft>
              <a:buSzPts val="800"/>
              <a:buFont typeface="Inter"/>
              <a:buChar char="➔"/>
            </a:pPr>
            <a:r>
              <a:rPr lang="en" sz="800">
                <a:latin typeface="Inter"/>
                <a:ea typeface="Inter"/>
                <a:cs typeface="Inter"/>
                <a:sym typeface="Inter"/>
              </a:rPr>
              <a:t>cabins/</a:t>
            </a:r>
            <a:endParaRPr sz="800">
              <a:latin typeface="Inter"/>
              <a:ea typeface="Inter"/>
              <a:cs typeface="Inter"/>
              <a:sym typeface="Inter"/>
            </a:endParaRPr>
          </a:p>
          <a:p>
            <a:pPr indent="-279400" lvl="0" marL="457200" rtl="0" algn="l">
              <a:lnSpc>
                <a:spcPct val="115000"/>
              </a:lnSpc>
              <a:spcBef>
                <a:spcPts val="0"/>
              </a:spcBef>
              <a:spcAft>
                <a:spcPts val="0"/>
              </a:spcAft>
              <a:buSzPts val="800"/>
              <a:buFont typeface="Inter"/>
              <a:buChar char="➔"/>
            </a:pPr>
            <a:r>
              <a:rPr lang="en" sz="800">
                <a:latin typeface="Inter"/>
                <a:ea typeface="Inter"/>
                <a:cs typeface="Inter"/>
                <a:sym typeface="Inter"/>
              </a:rPr>
              <a:t>monthly-rv-stays/</a:t>
            </a:r>
            <a:br>
              <a:rPr lang="en" sz="800">
                <a:latin typeface="Inter"/>
                <a:ea typeface="Inter"/>
                <a:cs typeface="Inter"/>
                <a:sym typeface="Inter"/>
              </a:rPr>
            </a:br>
            <a:endParaRPr sz="800">
              <a:latin typeface="Inter"/>
              <a:ea typeface="Inter"/>
              <a:cs typeface="Inter"/>
              <a:sym typeface="Inter"/>
            </a:endParaRPr>
          </a:p>
          <a:p>
            <a:pPr indent="0" lvl="0" marL="0" rtl="0" algn="l">
              <a:spcBef>
                <a:spcPts val="1200"/>
              </a:spcBef>
              <a:spcAft>
                <a:spcPts val="0"/>
              </a:spcAft>
              <a:buNone/>
            </a:pPr>
            <a:r>
              <a:t/>
            </a:r>
            <a:endParaRPr sz="800">
              <a:latin typeface="Inter"/>
              <a:ea typeface="Inter"/>
              <a:cs typeface="Inter"/>
              <a:sym typeface="Inter"/>
            </a:endParaRPr>
          </a:p>
        </p:txBody>
      </p:sp>
      <p:sp>
        <p:nvSpPr>
          <p:cNvPr id="170" name="Google Shape;170;p28"/>
          <p:cNvSpPr/>
          <p:nvPr/>
        </p:nvSpPr>
        <p:spPr>
          <a:xfrm>
            <a:off x="556050" y="1927675"/>
            <a:ext cx="2755718" cy="447158"/>
          </a:xfrm>
          <a:custGeom>
            <a:rect b="b" l="l" r="r" t="t"/>
            <a:pathLst>
              <a:path extrusionOk="0" h="20025" w="92373">
                <a:moveTo>
                  <a:pt x="92373" y="0"/>
                </a:moveTo>
                <a:cubicBezTo>
                  <a:pt x="75252" y="17121"/>
                  <a:pt x="44697" y="8623"/>
                  <a:pt x="20671" y="11627"/>
                </a:cubicBezTo>
                <a:cubicBezTo>
                  <a:pt x="13291" y="12550"/>
                  <a:pt x="2352" y="12969"/>
                  <a:pt x="0" y="20025"/>
                </a:cubicBezTo>
              </a:path>
            </a:pathLst>
          </a:custGeom>
          <a:noFill/>
          <a:ln cap="flat" cmpd="sng" w="19050">
            <a:solidFill>
              <a:srgbClr val="FF2F0A"/>
            </a:solidFill>
            <a:prstDash val="solid"/>
            <a:round/>
            <a:headEnd len="med" w="med" type="none"/>
            <a:tailEnd len="med" w="med" type="stealth"/>
          </a:ln>
        </p:spPr>
      </p:sp>
      <p:sp>
        <p:nvSpPr>
          <p:cNvPr id="171" name="Google Shape;171;p28"/>
          <p:cNvSpPr/>
          <p:nvPr/>
        </p:nvSpPr>
        <p:spPr>
          <a:xfrm>
            <a:off x="2441600" y="1927699"/>
            <a:ext cx="1344461" cy="705379"/>
          </a:xfrm>
          <a:custGeom>
            <a:rect b="b" l="l" r="r" t="t"/>
            <a:pathLst>
              <a:path extrusionOk="0" h="18410" w="39727">
                <a:moveTo>
                  <a:pt x="39727" y="0"/>
                </a:moveTo>
                <a:cubicBezTo>
                  <a:pt x="34307" y="13551"/>
                  <a:pt x="0" y="3815"/>
                  <a:pt x="0" y="18410"/>
                </a:cubicBezTo>
              </a:path>
            </a:pathLst>
          </a:custGeom>
          <a:noFill/>
          <a:ln cap="flat" cmpd="sng" w="19050">
            <a:solidFill>
              <a:srgbClr val="FF2F0A"/>
            </a:solidFill>
            <a:prstDash val="solid"/>
            <a:round/>
            <a:headEnd len="med" w="med" type="none"/>
            <a:tailEnd len="med" w="med" type="stealth"/>
          </a:ln>
        </p:spPr>
      </p:sp>
      <p:sp>
        <p:nvSpPr>
          <p:cNvPr id="172" name="Google Shape;172;p28"/>
          <p:cNvSpPr txBox="1"/>
          <p:nvPr/>
        </p:nvSpPr>
        <p:spPr>
          <a:xfrm>
            <a:off x="3722300" y="2428350"/>
            <a:ext cx="2082600" cy="1606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800">
                <a:latin typeface="Inter"/>
                <a:ea typeface="Inter"/>
                <a:cs typeface="Inter"/>
                <a:sym typeface="Inter"/>
              </a:rPr>
              <a:t>/faq/</a:t>
            </a:r>
            <a:endParaRPr sz="800">
              <a:latin typeface="Inter"/>
              <a:ea typeface="Inter"/>
              <a:cs typeface="Inter"/>
              <a:sym typeface="Inter"/>
            </a:endParaRPr>
          </a:p>
          <a:p>
            <a:pPr indent="-279400" lvl="0" marL="457200" rtl="0" algn="l">
              <a:lnSpc>
                <a:spcPct val="115000"/>
              </a:lnSpc>
              <a:spcBef>
                <a:spcPts val="1200"/>
              </a:spcBef>
              <a:spcAft>
                <a:spcPts val="0"/>
              </a:spcAft>
              <a:buSzPts val="800"/>
              <a:buFont typeface="Inter"/>
              <a:buChar char="➔"/>
            </a:pPr>
            <a:r>
              <a:rPr lang="en" sz="800">
                <a:solidFill>
                  <a:schemeClr val="dk1"/>
                </a:solidFill>
                <a:latin typeface="Inter"/>
                <a:ea typeface="Inter"/>
                <a:cs typeface="Inter"/>
                <a:sym typeface="Inter"/>
              </a:rPr>
              <a:t>a</a:t>
            </a:r>
            <a:r>
              <a:rPr lang="en" sz="800">
                <a:solidFill>
                  <a:schemeClr val="dk1"/>
                </a:solidFill>
                <a:latin typeface="Inter"/>
                <a:ea typeface="Inter"/>
                <a:cs typeface="Inter"/>
                <a:sym typeface="Inter"/>
              </a:rPr>
              <a:t>ll-faqs/</a:t>
            </a:r>
            <a:endParaRPr sz="800">
              <a:solidFill>
                <a:schemeClr val="dk1"/>
              </a:solidFill>
              <a:latin typeface="Inter"/>
              <a:ea typeface="Inter"/>
              <a:cs typeface="Inter"/>
              <a:sym typeface="Inter"/>
            </a:endParaRPr>
          </a:p>
          <a:p>
            <a:pPr indent="-279400" lvl="0" marL="457200" rtl="0" algn="l">
              <a:lnSpc>
                <a:spcPct val="115000"/>
              </a:lnSpc>
              <a:spcBef>
                <a:spcPts val="0"/>
              </a:spcBef>
              <a:spcAft>
                <a:spcPts val="0"/>
              </a:spcAft>
              <a:buSzPts val="800"/>
              <a:buFont typeface="Inter"/>
              <a:buChar char="➔"/>
            </a:pPr>
            <a:r>
              <a:rPr lang="en" sz="800">
                <a:latin typeface="Inter"/>
                <a:ea typeface="Inter"/>
                <a:cs typeface="Inter"/>
                <a:sym typeface="Inter"/>
              </a:rPr>
              <a:t>rv-questions/</a:t>
            </a:r>
            <a:endParaRPr sz="800">
              <a:latin typeface="Inter"/>
              <a:ea typeface="Inter"/>
              <a:cs typeface="Inter"/>
              <a:sym typeface="Inter"/>
            </a:endParaRPr>
          </a:p>
          <a:p>
            <a:pPr indent="-279400" lvl="0" marL="457200" rtl="0" algn="l">
              <a:lnSpc>
                <a:spcPct val="115000"/>
              </a:lnSpc>
              <a:spcBef>
                <a:spcPts val="0"/>
              </a:spcBef>
              <a:spcAft>
                <a:spcPts val="0"/>
              </a:spcAft>
              <a:buSzPts val="800"/>
              <a:buFont typeface="Inter"/>
              <a:buChar char="➔"/>
            </a:pPr>
            <a:r>
              <a:rPr lang="en" sz="800">
                <a:latin typeface="Inter"/>
                <a:ea typeface="Inter"/>
                <a:cs typeface="Inter"/>
                <a:sym typeface="Inter"/>
              </a:rPr>
              <a:t>cabin-questions/</a:t>
            </a:r>
            <a:endParaRPr sz="800">
              <a:latin typeface="Inter"/>
              <a:ea typeface="Inter"/>
              <a:cs typeface="Inter"/>
              <a:sym typeface="Inter"/>
            </a:endParaRPr>
          </a:p>
          <a:p>
            <a:pPr indent="-279400" lvl="0" marL="457200" rtl="0" algn="l">
              <a:lnSpc>
                <a:spcPct val="115000"/>
              </a:lnSpc>
              <a:spcBef>
                <a:spcPts val="0"/>
              </a:spcBef>
              <a:spcAft>
                <a:spcPts val="0"/>
              </a:spcAft>
              <a:buSzPts val="800"/>
              <a:buFont typeface="Inter"/>
              <a:buChar char="➔"/>
            </a:pPr>
            <a:r>
              <a:rPr lang="en" sz="800">
                <a:latin typeface="Inter"/>
                <a:ea typeface="Inter"/>
                <a:cs typeface="Inter"/>
                <a:sym typeface="Inter"/>
              </a:rPr>
              <a:t>local-area-questions/</a:t>
            </a:r>
            <a:endParaRPr sz="800">
              <a:latin typeface="Inter"/>
              <a:ea typeface="Inter"/>
              <a:cs typeface="Inter"/>
              <a:sym typeface="Inter"/>
            </a:endParaRPr>
          </a:p>
          <a:p>
            <a:pPr indent="-279400" lvl="0" marL="457200" rtl="0" algn="l">
              <a:lnSpc>
                <a:spcPct val="115000"/>
              </a:lnSpc>
              <a:spcBef>
                <a:spcPts val="0"/>
              </a:spcBef>
              <a:spcAft>
                <a:spcPts val="0"/>
              </a:spcAft>
              <a:buSzPts val="800"/>
              <a:buFont typeface="Inter"/>
              <a:buChar char="➔"/>
            </a:pPr>
            <a:r>
              <a:rPr lang="en" sz="800">
                <a:latin typeface="Inter"/>
                <a:ea typeface="Inter"/>
                <a:cs typeface="Inter"/>
                <a:sym typeface="Inter"/>
              </a:rPr>
              <a:t>politics-planning/</a:t>
            </a:r>
            <a:br>
              <a:rPr lang="en" sz="800">
                <a:latin typeface="Inter"/>
                <a:ea typeface="Inter"/>
                <a:cs typeface="Inter"/>
                <a:sym typeface="Inter"/>
              </a:rPr>
            </a:br>
            <a:endParaRPr sz="800">
              <a:latin typeface="Inter"/>
              <a:ea typeface="Inter"/>
              <a:cs typeface="Inter"/>
              <a:sym typeface="Inter"/>
            </a:endParaRPr>
          </a:p>
          <a:p>
            <a:pPr indent="0" lvl="0" marL="0" rtl="0" algn="l">
              <a:spcBef>
                <a:spcPts val="1200"/>
              </a:spcBef>
              <a:spcAft>
                <a:spcPts val="0"/>
              </a:spcAft>
              <a:buNone/>
            </a:pPr>
            <a:r>
              <a:t/>
            </a:r>
            <a:endParaRPr sz="800">
              <a:latin typeface="Inter"/>
              <a:ea typeface="Inter"/>
              <a:cs typeface="Inter"/>
              <a:sym typeface="Inter"/>
            </a:endParaRPr>
          </a:p>
        </p:txBody>
      </p:sp>
      <p:sp>
        <p:nvSpPr>
          <p:cNvPr id="173" name="Google Shape;173;p28"/>
          <p:cNvSpPr/>
          <p:nvPr/>
        </p:nvSpPr>
        <p:spPr>
          <a:xfrm flipH="1">
            <a:off x="4088583" y="1927700"/>
            <a:ext cx="343438" cy="500639"/>
          </a:xfrm>
          <a:custGeom>
            <a:rect b="b" l="l" r="r" t="t"/>
            <a:pathLst>
              <a:path extrusionOk="0" h="14410" w="17703">
                <a:moveTo>
                  <a:pt x="358" y="0"/>
                </a:moveTo>
                <a:cubicBezTo>
                  <a:pt x="-629" y="3289"/>
                  <a:pt x="546" y="7814"/>
                  <a:pt x="3293" y="9874"/>
                </a:cubicBezTo>
                <a:cubicBezTo>
                  <a:pt x="7322" y="12895"/>
                  <a:pt x="12926" y="12818"/>
                  <a:pt x="17703" y="14410"/>
                </a:cubicBezTo>
              </a:path>
            </a:pathLst>
          </a:custGeom>
          <a:noFill/>
          <a:ln cap="flat" cmpd="sng" w="19050">
            <a:solidFill>
              <a:srgbClr val="FF2F0A"/>
            </a:solidFill>
            <a:prstDash val="solid"/>
            <a:round/>
            <a:headEnd len="med" w="med" type="none"/>
            <a:tailEnd len="med" w="med" type="stealth"/>
          </a:ln>
        </p:spPr>
      </p:sp>
      <p:pic>
        <p:nvPicPr>
          <p:cNvPr id="174" name="Google Shape;174;p28" title="Screenshot 2026-03-17 at 5.52.52 PM.png"/>
          <p:cNvPicPr preferRelativeResize="0"/>
          <p:nvPr/>
        </p:nvPicPr>
        <p:blipFill rotWithShape="1">
          <a:blip r:embed="rId3">
            <a:alphaModFix/>
          </a:blip>
          <a:srcRect b="13217" l="0" r="0" t="0"/>
          <a:stretch/>
        </p:blipFill>
        <p:spPr>
          <a:xfrm>
            <a:off x="625213" y="1586198"/>
            <a:ext cx="7893576" cy="288000"/>
          </a:xfrm>
          <a:prstGeom prst="rect">
            <a:avLst/>
          </a:prstGeom>
          <a:noFill/>
          <a:ln>
            <a:noFill/>
          </a:ln>
        </p:spPr>
      </p:pic>
      <p:sp>
        <p:nvSpPr>
          <p:cNvPr id="175" name="Google Shape;175;p28"/>
          <p:cNvSpPr/>
          <p:nvPr/>
        </p:nvSpPr>
        <p:spPr>
          <a:xfrm flipH="1">
            <a:off x="5027586" y="1906625"/>
            <a:ext cx="892765" cy="1675034"/>
          </a:xfrm>
          <a:custGeom>
            <a:rect b="b" l="l" r="r" t="t"/>
            <a:pathLst>
              <a:path extrusionOk="0" h="18410" w="39727">
                <a:moveTo>
                  <a:pt x="39727" y="0"/>
                </a:moveTo>
                <a:cubicBezTo>
                  <a:pt x="34307" y="13551"/>
                  <a:pt x="0" y="3815"/>
                  <a:pt x="0" y="18410"/>
                </a:cubicBezTo>
              </a:path>
            </a:pathLst>
          </a:custGeom>
          <a:noFill/>
          <a:ln cap="flat" cmpd="sng" w="19050">
            <a:solidFill>
              <a:srgbClr val="FF2F0A"/>
            </a:solidFill>
            <a:prstDash val="solid"/>
            <a:round/>
            <a:headEnd len="med" w="med" type="none"/>
            <a:tailEnd len="med" w="med" type="stealth"/>
          </a:ln>
        </p:spPr>
      </p:sp>
      <p:sp>
        <p:nvSpPr>
          <p:cNvPr id="176" name="Google Shape;176;p28"/>
          <p:cNvSpPr txBox="1"/>
          <p:nvPr/>
        </p:nvSpPr>
        <p:spPr>
          <a:xfrm>
            <a:off x="5551075" y="3688350"/>
            <a:ext cx="2082600" cy="1182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800">
                <a:latin typeface="Inter"/>
                <a:ea typeface="Inter"/>
                <a:cs typeface="Inter"/>
                <a:sym typeface="Inter"/>
              </a:rPr>
              <a:t>/services/</a:t>
            </a:r>
            <a:endParaRPr sz="800">
              <a:latin typeface="Inter"/>
              <a:ea typeface="Inter"/>
              <a:cs typeface="Inter"/>
              <a:sym typeface="Inter"/>
            </a:endParaRPr>
          </a:p>
          <a:p>
            <a:pPr indent="-279400" lvl="0" marL="457200" rtl="0" algn="l">
              <a:lnSpc>
                <a:spcPct val="115000"/>
              </a:lnSpc>
              <a:spcBef>
                <a:spcPts val="1200"/>
              </a:spcBef>
              <a:spcAft>
                <a:spcPts val="0"/>
              </a:spcAft>
              <a:buSzPts val="800"/>
              <a:buFont typeface="Inter"/>
              <a:buChar char="➔"/>
            </a:pPr>
            <a:r>
              <a:rPr lang="en" sz="800">
                <a:solidFill>
                  <a:schemeClr val="dk1"/>
                </a:solidFill>
                <a:latin typeface="Inter"/>
                <a:ea typeface="Inter"/>
                <a:cs typeface="Inter"/>
                <a:sym typeface="Inter"/>
              </a:rPr>
              <a:t>golf-cart-rentals/</a:t>
            </a:r>
            <a:endParaRPr sz="800">
              <a:solidFill>
                <a:schemeClr val="dk1"/>
              </a:solidFill>
              <a:latin typeface="Inter"/>
              <a:ea typeface="Inter"/>
              <a:cs typeface="Inter"/>
              <a:sym typeface="Inter"/>
            </a:endParaRPr>
          </a:p>
          <a:p>
            <a:pPr indent="-279400" lvl="0" marL="457200" rtl="0" algn="l">
              <a:lnSpc>
                <a:spcPct val="115000"/>
              </a:lnSpc>
              <a:spcBef>
                <a:spcPts val="0"/>
              </a:spcBef>
              <a:spcAft>
                <a:spcPts val="0"/>
              </a:spcAft>
              <a:buSzPts val="800"/>
              <a:buFont typeface="Inter"/>
              <a:buChar char="➔"/>
            </a:pPr>
            <a:r>
              <a:rPr lang="en" sz="800">
                <a:latin typeface="Inter"/>
                <a:ea typeface="Inter"/>
                <a:cs typeface="Inter"/>
                <a:sym typeface="Inter"/>
              </a:rPr>
              <a:t>valet/propane/services</a:t>
            </a:r>
            <a:br>
              <a:rPr lang="en" sz="800">
                <a:latin typeface="Inter"/>
                <a:ea typeface="Inter"/>
                <a:cs typeface="Inter"/>
                <a:sym typeface="Inter"/>
              </a:rPr>
            </a:br>
            <a:endParaRPr sz="800">
              <a:latin typeface="Inter"/>
              <a:ea typeface="Inter"/>
              <a:cs typeface="Inter"/>
              <a:sym typeface="Inter"/>
            </a:endParaRPr>
          </a:p>
          <a:p>
            <a:pPr indent="0" lvl="0" marL="0" rtl="0" algn="l">
              <a:spcBef>
                <a:spcPts val="1200"/>
              </a:spcBef>
              <a:spcAft>
                <a:spcPts val="0"/>
              </a:spcAft>
              <a:buNone/>
            </a:pPr>
            <a:r>
              <a:t/>
            </a:r>
            <a:endParaRPr sz="800">
              <a:latin typeface="Inter"/>
              <a:ea typeface="Inter"/>
              <a:cs typeface="Inter"/>
              <a:sym typeface="Inter"/>
            </a:endParaRPr>
          </a:p>
        </p:txBody>
      </p:sp>
      <p:sp>
        <p:nvSpPr>
          <p:cNvPr id="177" name="Google Shape;177;p28"/>
          <p:cNvSpPr/>
          <p:nvPr/>
        </p:nvSpPr>
        <p:spPr>
          <a:xfrm>
            <a:off x="5675024" y="1927701"/>
            <a:ext cx="956228" cy="447142"/>
          </a:xfrm>
          <a:custGeom>
            <a:rect b="b" l="l" r="r" t="t"/>
            <a:pathLst>
              <a:path extrusionOk="0" h="14410" w="17703">
                <a:moveTo>
                  <a:pt x="358" y="0"/>
                </a:moveTo>
                <a:cubicBezTo>
                  <a:pt x="-629" y="3289"/>
                  <a:pt x="546" y="7814"/>
                  <a:pt x="3293" y="9874"/>
                </a:cubicBezTo>
                <a:cubicBezTo>
                  <a:pt x="7322" y="12895"/>
                  <a:pt x="12926" y="12818"/>
                  <a:pt x="17703" y="14410"/>
                </a:cubicBezTo>
              </a:path>
            </a:pathLst>
          </a:custGeom>
          <a:noFill/>
          <a:ln cap="flat" cmpd="sng" w="19050">
            <a:solidFill>
              <a:srgbClr val="FF2F0A"/>
            </a:solidFill>
            <a:prstDash val="solid"/>
            <a:round/>
            <a:headEnd len="med" w="med" type="none"/>
            <a:tailEnd len="med" w="med" type="stealth"/>
          </a:ln>
        </p:spPr>
      </p:sp>
      <p:sp>
        <p:nvSpPr>
          <p:cNvPr id="178" name="Google Shape;178;p28"/>
          <p:cNvSpPr txBox="1"/>
          <p:nvPr/>
        </p:nvSpPr>
        <p:spPr>
          <a:xfrm>
            <a:off x="6695850" y="2216300"/>
            <a:ext cx="2082600" cy="132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800">
                <a:latin typeface="Inter"/>
                <a:ea typeface="Inter"/>
                <a:cs typeface="Inter"/>
                <a:sym typeface="Inter"/>
              </a:rPr>
              <a:t>/guest-info/</a:t>
            </a:r>
            <a:endParaRPr sz="800">
              <a:latin typeface="Inter"/>
              <a:ea typeface="Inter"/>
              <a:cs typeface="Inter"/>
              <a:sym typeface="Inter"/>
            </a:endParaRPr>
          </a:p>
          <a:p>
            <a:pPr indent="-279400" lvl="0" marL="457200" rtl="0" algn="l">
              <a:lnSpc>
                <a:spcPct val="115000"/>
              </a:lnSpc>
              <a:spcBef>
                <a:spcPts val="1200"/>
              </a:spcBef>
              <a:spcAft>
                <a:spcPts val="0"/>
              </a:spcAft>
              <a:buSzPts val="800"/>
              <a:buFont typeface="Inter"/>
              <a:buChar char="➔"/>
            </a:pPr>
            <a:r>
              <a:rPr lang="en" sz="800">
                <a:solidFill>
                  <a:schemeClr val="dk1"/>
                </a:solidFill>
                <a:latin typeface="Inter"/>
                <a:ea typeface="Inter"/>
                <a:cs typeface="Inter"/>
                <a:sym typeface="Inter"/>
              </a:rPr>
              <a:t>general-info/</a:t>
            </a:r>
            <a:endParaRPr sz="800">
              <a:solidFill>
                <a:schemeClr val="dk1"/>
              </a:solidFill>
              <a:latin typeface="Inter"/>
              <a:ea typeface="Inter"/>
              <a:cs typeface="Inter"/>
              <a:sym typeface="Inter"/>
            </a:endParaRPr>
          </a:p>
          <a:p>
            <a:pPr indent="-279400" lvl="0" marL="457200" rtl="0" algn="l">
              <a:lnSpc>
                <a:spcPct val="115000"/>
              </a:lnSpc>
              <a:spcBef>
                <a:spcPts val="0"/>
              </a:spcBef>
              <a:spcAft>
                <a:spcPts val="0"/>
              </a:spcAft>
              <a:buSzPts val="800"/>
              <a:buFont typeface="Inter"/>
              <a:buChar char="➔"/>
            </a:pPr>
            <a:r>
              <a:rPr lang="en" sz="800">
                <a:latin typeface="Inter"/>
                <a:ea typeface="Inter"/>
                <a:cs typeface="Inter"/>
                <a:sym typeface="Inter"/>
              </a:rPr>
              <a:t>rules-policies/</a:t>
            </a:r>
            <a:endParaRPr sz="800">
              <a:latin typeface="Inter"/>
              <a:ea typeface="Inter"/>
              <a:cs typeface="Inter"/>
              <a:sym typeface="Inter"/>
            </a:endParaRPr>
          </a:p>
          <a:p>
            <a:pPr indent="-279400" lvl="0" marL="457200" rtl="0" algn="l">
              <a:lnSpc>
                <a:spcPct val="115000"/>
              </a:lnSpc>
              <a:spcBef>
                <a:spcPts val="0"/>
              </a:spcBef>
              <a:spcAft>
                <a:spcPts val="0"/>
              </a:spcAft>
              <a:buSzPts val="800"/>
              <a:buFont typeface="Inter"/>
              <a:buChar char="➔"/>
            </a:pPr>
            <a:r>
              <a:rPr lang="en" sz="800">
                <a:latin typeface="Inter"/>
                <a:ea typeface="Inter"/>
                <a:cs typeface="Inter"/>
                <a:sym typeface="Inter"/>
              </a:rPr>
              <a:t>contact-us/</a:t>
            </a:r>
            <a:br>
              <a:rPr lang="en" sz="800">
                <a:latin typeface="Inter"/>
                <a:ea typeface="Inter"/>
                <a:cs typeface="Inter"/>
                <a:sym typeface="Inter"/>
              </a:rPr>
            </a:br>
            <a:endParaRPr sz="800">
              <a:latin typeface="Inter"/>
              <a:ea typeface="Inter"/>
              <a:cs typeface="Inter"/>
              <a:sym typeface="Inter"/>
            </a:endParaRPr>
          </a:p>
          <a:p>
            <a:pPr indent="0" lvl="0" marL="0" rtl="0" algn="l">
              <a:spcBef>
                <a:spcPts val="1200"/>
              </a:spcBef>
              <a:spcAft>
                <a:spcPts val="0"/>
              </a:spcAft>
              <a:buNone/>
            </a:pPr>
            <a:r>
              <a:t/>
            </a:r>
            <a:endParaRPr sz="800">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9"/>
          <p:cNvSpPr/>
          <p:nvPr/>
        </p:nvSpPr>
        <p:spPr>
          <a:xfrm>
            <a:off x="-1125" y="-4100"/>
            <a:ext cx="9144000" cy="1325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p>
        </p:txBody>
      </p:sp>
      <p:sp>
        <p:nvSpPr>
          <p:cNvPr id="184" name="Google Shape;184;p29"/>
          <p:cNvSpPr txBox="1"/>
          <p:nvPr/>
        </p:nvSpPr>
        <p:spPr>
          <a:xfrm>
            <a:off x="380850" y="480275"/>
            <a:ext cx="8115600" cy="1593900"/>
          </a:xfrm>
          <a:prstGeom prst="rect">
            <a:avLst/>
          </a:prstGeom>
          <a:noFill/>
          <a:ln>
            <a:noFill/>
          </a:ln>
        </p:spPr>
        <p:txBody>
          <a:bodyPr anchorCtr="0" anchor="t" bIns="112725" lIns="112725" spcFirstLastPara="1" rIns="112725" wrap="square" tIns="112725">
            <a:spAutoFit/>
          </a:bodyPr>
          <a:lstStyle/>
          <a:p>
            <a:pPr indent="0" lvl="0" marL="0" rtl="0" algn="l">
              <a:spcBef>
                <a:spcPts val="0"/>
              </a:spcBef>
              <a:spcAft>
                <a:spcPts val="0"/>
              </a:spcAft>
              <a:buClr>
                <a:srgbClr val="000000"/>
              </a:buClr>
              <a:buSzPts val="1356"/>
              <a:buFont typeface="Arial"/>
              <a:buNone/>
            </a:pPr>
            <a:r>
              <a:rPr lang="en" sz="2958">
                <a:solidFill>
                  <a:srgbClr val="FFFFFF"/>
                </a:solidFill>
                <a:latin typeface="Inter SemiBold"/>
                <a:ea typeface="Inter SemiBold"/>
                <a:cs typeface="Inter SemiBold"/>
                <a:sym typeface="Inter SemiBold"/>
              </a:rPr>
              <a:t>What’s Next:</a:t>
            </a:r>
            <a:endParaRPr sz="2958">
              <a:solidFill>
                <a:srgbClr val="FFFFFF"/>
              </a:solidFill>
              <a:latin typeface="Inter SemiBold"/>
              <a:ea typeface="Inter SemiBold"/>
              <a:cs typeface="Inter SemiBold"/>
              <a:sym typeface="Inter SemiBold"/>
            </a:endParaRPr>
          </a:p>
          <a:p>
            <a:pPr indent="0" lvl="0" marL="0" rtl="0" algn="l">
              <a:spcBef>
                <a:spcPts val="0"/>
              </a:spcBef>
              <a:spcAft>
                <a:spcPts val="0"/>
              </a:spcAft>
              <a:buClr>
                <a:srgbClr val="000000"/>
              </a:buClr>
              <a:buSzPts val="1356"/>
              <a:buFont typeface="Arial"/>
              <a:buNone/>
            </a:pPr>
            <a:r>
              <a:t/>
            </a:r>
            <a:endParaRPr sz="2958">
              <a:solidFill>
                <a:srgbClr val="FFFFFF"/>
              </a:solidFill>
              <a:latin typeface="Inter SemiBold"/>
              <a:ea typeface="Inter SemiBold"/>
              <a:cs typeface="Inter SemiBold"/>
              <a:sym typeface="Inter SemiBold"/>
            </a:endParaRPr>
          </a:p>
          <a:p>
            <a:pPr indent="0" lvl="0" marL="0" rtl="0" algn="l">
              <a:spcBef>
                <a:spcPts val="0"/>
              </a:spcBef>
              <a:spcAft>
                <a:spcPts val="0"/>
              </a:spcAft>
              <a:buClr>
                <a:srgbClr val="000000"/>
              </a:buClr>
              <a:buSzPts val="1356"/>
              <a:buFont typeface="Arial"/>
              <a:buNone/>
            </a:pPr>
            <a:r>
              <a:t/>
            </a:r>
            <a:endParaRPr sz="2958">
              <a:solidFill>
                <a:srgbClr val="FFFFFF"/>
              </a:solidFill>
              <a:latin typeface="Inter SemiBold"/>
              <a:ea typeface="Inter SemiBold"/>
              <a:cs typeface="Inter SemiBold"/>
              <a:sym typeface="Inter SemiBold"/>
            </a:endParaRPr>
          </a:p>
        </p:txBody>
      </p:sp>
      <p:sp>
        <p:nvSpPr>
          <p:cNvPr id="185" name="Google Shape;185;p29"/>
          <p:cNvSpPr txBox="1"/>
          <p:nvPr/>
        </p:nvSpPr>
        <p:spPr>
          <a:xfrm>
            <a:off x="783825" y="1546475"/>
            <a:ext cx="7574100" cy="26799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Archivo"/>
                <a:ea typeface="Archivo"/>
                <a:cs typeface="Archivo"/>
                <a:sym typeface="Archivo"/>
              </a:rPr>
              <a:t>Webserv</a:t>
            </a:r>
            <a:r>
              <a:rPr lang="en" sz="1800">
                <a:solidFill>
                  <a:schemeClr val="dk1"/>
                </a:solidFill>
                <a:latin typeface="Archivo"/>
                <a:ea typeface="Archivo"/>
                <a:cs typeface="Archivo"/>
                <a:sym typeface="Archivo"/>
              </a:rPr>
              <a:t>:</a:t>
            </a:r>
            <a:endParaRPr sz="1800">
              <a:solidFill>
                <a:schemeClr val="dk1"/>
              </a:solidFill>
              <a:latin typeface="Archivo"/>
              <a:ea typeface="Archivo"/>
              <a:cs typeface="Archivo"/>
              <a:sym typeface="Archivo"/>
            </a:endParaRPr>
          </a:p>
          <a:p>
            <a:pPr indent="0" lvl="0" marL="0" rtl="0" algn="l">
              <a:spcBef>
                <a:spcPts val="0"/>
              </a:spcBef>
              <a:spcAft>
                <a:spcPts val="0"/>
              </a:spcAft>
              <a:buNone/>
            </a:pPr>
            <a:r>
              <a:t/>
            </a:r>
            <a:endParaRPr sz="900">
              <a:solidFill>
                <a:schemeClr val="dk1"/>
              </a:solidFill>
              <a:latin typeface="Archivo"/>
              <a:ea typeface="Archivo"/>
              <a:cs typeface="Archivo"/>
              <a:sym typeface="Archivo"/>
            </a:endParaRPr>
          </a:p>
          <a:p>
            <a:pPr indent="-285750" lvl="0" marL="457200" rtl="0" algn="l">
              <a:lnSpc>
                <a:spcPct val="115000"/>
              </a:lnSpc>
              <a:spcBef>
                <a:spcPts val="0"/>
              </a:spcBef>
              <a:spcAft>
                <a:spcPts val="0"/>
              </a:spcAft>
              <a:buClr>
                <a:schemeClr val="dk1"/>
              </a:buClr>
              <a:buSzPts val="900"/>
              <a:buFont typeface="Inter"/>
              <a:buAutoNum type="arabicPeriod"/>
            </a:pPr>
            <a:r>
              <a:rPr b="1" lang="en" sz="900">
                <a:solidFill>
                  <a:schemeClr val="dk1"/>
                </a:solidFill>
                <a:latin typeface="Inter"/>
                <a:ea typeface="Inter"/>
                <a:cs typeface="Inter"/>
                <a:sym typeface="Inter"/>
              </a:rPr>
              <a:t>Content, keyword, and site structure planning: </a:t>
            </a:r>
            <a:r>
              <a:rPr lang="en" sz="900">
                <a:solidFill>
                  <a:schemeClr val="dk1"/>
                </a:solidFill>
                <a:latin typeface="Inter"/>
                <a:ea typeface="Inter"/>
                <a:cs typeface="Inter"/>
                <a:sym typeface="Inter"/>
              </a:rPr>
              <a:t>We’ll map the highest-priority opportunities across navigation, core pages, and question-led content so the site can capture more non-brand traffic.</a:t>
            </a:r>
            <a:endParaRPr sz="900">
              <a:solidFill>
                <a:schemeClr val="dk1"/>
              </a:solidFill>
              <a:latin typeface="Inter"/>
              <a:ea typeface="Inter"/>
              <a:cs typeface="Inter"/>
              <a:sym typeface="Inter"/>
            </a:endParaRPr>
          </a:p>
          <a:p>
            <a:pPr indent="-285750" lvl="0" marL="457200" rtl="0" algn="l">
              <a:lnSpc>
                <a:spcPct val="115000"/>
              </a:lnSpc>
              <a:spcBef>
                <a:spcPts val="1000"/>
              </a:spcBef>
              <a:spcAft>
                <a:spcPts val="0"/>
              </a:spcAft>
              <a:buClr>
                <a:schemeClr val="dk1"/>
              </a:buClr>
              <a:buSzPts val="900"/>
              <a:buFont typeface="Inter"/>
              <a:buAutoNum type="arabicPeriod"/>
            </a:pPr>
            <a:r>
              <a:rPr b="1" lang="en" sz="900">
                <a:solidFill>
                  <a:schemeClr val="dk1"/>
                </a:solidFill>
                <a:latin typeface="Inter"/>
                <a:ea typeface="Inter"/>
                <a:cs typeface="Inter"/>
                <a:sym typeface="Inter"/>
              </a:rPr>
              <a:t>Technical and visibility groundwork: </a:t>
            </a:r>
            <a:r>
              <a:rPr lang="en" sz="900">
                <a:solidFill>
                  <a:schemeClr val="dk1"/>
                </a:solidFill>
                <a:latin typeface="Inter"/>
                <a:ea typeface="Inter"/>
                <a:cs typeface="Inter"/>
                <a:sym typeface="Inter"/>
              </a:rPr>
              <a:t>We’ll continue evaluating crawlability, page structure, and local visibility foundations so Horseshoe is better positioned to grow in both search and AI-driven discovery.</a:t>
            </a:r>
            <a:endParaRPr b="1" sz="900">
              <a:solidFill>
                <a:schemeClr val="dk1"/>
              </a:solidFill>
              <a:latin typeface="Inter"/>
              <a:ea typeface="Inter"/>
              <a:cs typeface="Inter"/>
              <a:sym typeface="Inter"/>
            </a:endParaRPr>
          </a:p>
          <a:p>
            <a:pPr indent="0" lvl="0" marL="0" rtl="0" algn="l">
              <a:spcBef>
                <a:spcPts val="1000"/>
              </a:spcBef>
              <a:spcAft>
                <a:spcPts val="0"/>
              </a:spcAft>
              <a:buNone/>
            </a:pPr>
            <a:r>
              <a:rPr b="1" lang="en" sz="1700">
                <a:solidFill>
                  <a:schemeClr val="dk1"/>
                </a:solidFill>
                <a:latin typeface="Archivo"/>
                <a:ea typeface="Archivo"/>
                <a:cs typeface="Archivo"/>
                <a:sym typeface="Archivo"/>
              </a:rPr>
              <a:t>Horseshoe Ridge</a:t>
            </a:r>
            <a:r>
              <a:rPr lang="en" sz="1700">
                <a:solidFill>
                  <a:schemeClr val="dk1"/>
                </a:solidFill>
                <a:latin typeface="Archivo"/>
                <a:ea typeface="Archivo"/>
                <a:cs typeface="Archivo"/>
                <a:sym typeface="Archivo"/>
              </a:rPr>
              <a:t>: </a:t>
            </a:r>
            <a:endParaRPr sz="1700">
              <a:solidFill>
                <a:schemeClr val="dk1"/>
              </a:solidFill>
              <a:latin typeface="Archivo"/>
              <a:ea typeface="Archivo"/>
              <a:cs typeface="Archivo"/>
              <a:sym typeface="Archivo"/>
            </a:endParaRPr>
          </a:p>
          <a:p>
            <a:pPr indent="-285750" lvl="0" marL="457200" rtl="0" algn="l">
              <a:lnSpc>
                <a:spcPct val="115000"/>
              </a:lnSpc>
              <a:spcBef>
                <a:spcPts val="1200"/>
              </a:spcBef>
              <a:spcAft>
                <a:spcPts val="0"/>
              </a:spcAft>
              <a:buClr>
                <a:schemeClr val="dk1"/>
              </a:buClr>
              <a:buSzPts val="900"/>
              <a:buFont typeface="Inter"/>
              <a:buAutoNum type="arabicPeriod"/>
            </a:pPr>
            <a:r>
              <a:rPr b="1" lang="en" sz="900">
                <a:solidFill>
                  <a:schemeClr val="dk1"/>
                </a:solidFill>
                <a:latin typeface="Inter"/>
                <a:ea typeface="Inter"/>
                <a:cs typeface="Inter"/>
                <a:sym typeface="Inter"/>
              </a:rPr>
              <a:t>Confirm the proposed long-term site structure: </a:t>
            </a:r>
            <a:r>
              <a:rPr lang="en" sz="900">
                <a:solidFill>
                  <a:schemeClr val="dk1"/>
                </a:solidFill>
                <a:latin typeface="Inter"/>
                <a:ea typeface="Inter"/>
                <a:cs typeface="Inter"/>
                <a:sym typeface="Inter"/>
              </a:rPr>
              <a:t>Take the day to think about the proposed menu and FAQs based blog. It’s a big change and if you have any questions, reach out to me.</a:t>
            </a:r>
            <a:endParaRPr sz="900">
              <a:solidFill>
                <a:schemeClr val="dk1"/>
              </a:solidFill>
              <a:latin typeface="Inter"/>
              <a:ea typeface="Inter"/>
              <a:cs typeface="Inter"/>
              <a:sym typeface="Inter"/>
            </a:endParaRPr>
          </a:p>
          <a:p>
            <a:pPr indent="-285750" lvl="0" marL="457200" rtl="0" algn="l">
              <a:lnSpc>
                <a:spcPct val="115000"/>
              </a:lnSpc>
              <a:spcBef>
                <a:spcPts val="1200"/>
              </a:spcBef>
              <a:spcAft>
                <a:spcPts val="1000"/>
              </a:spcAft>
              <a:buClr>
                <a:schemeClr val="dk1"/>
              </a:buClr>
              <a:buSzPts val="900"/>
              <a:buFont typeface="Inter"/>
              <a:buAutoNum type="arabicPeriod"/>
            </a:pPr>
            <a:r>
              <a:rPr b="1" lang="en" sz="900">
                <a:solidFill>
                  <a:schemeClr val="dk1"/>
                </a:solidFill>
                <a:latin typeface="Inter"/>
                <a:ea typeface="Inter"/>
                <a:cs typeface="Inter"/>
                <a:sym typeface="Inter"/>
              </a:rPr>
              <a:t>Additional suggestion: </a:t>
            </a:r>
            <a:r>
              <a:rPr lang="en" sz="900">
                <a:solidFill>
                  <a:schemeClr val="dk1"/>
                </a:solidFill>
                <a:latin typeface="Inter"/>
                <a:ea typeface="Inter"/>
                <a:cs typeface="Inter"/>
                <a:sym typeface="Inter"/>
              </a:rPr>
              <a:t>There is strategic miss. A polished owner-led walkthrough at golden hour, showing the grounds, amenities, guest interaction, and the feel of the place, would likely help on trust, conversion, and brand differentiation.</a:t>
            </a:r>
            <a:endParaRPr sz="1456">
              <a:solidFill>
                <a:schemeClr val="dk1"/>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WebServ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