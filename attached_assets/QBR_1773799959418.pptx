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4"/>
    <p:sldMasterId id="214748366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embeddedFontLst>
    <p:embeddedFont>
      <p:font typeface="Inter"/>
      <p:regular r:id="rId27"/>
      <p:bold r:id="rId28"/>
      <p:italic r:id="rId29"/>
      <p:boldItalic r:id="rId30"/>
    </p:embeddedFont>
    <p:embeddedFont>
      <p:font typeface="Archivo Medium"/>
      <p:regular r:id="rId31"/>
      <p:bold r:id="rId32"/>
      <p:italic r:id="rId33"/>
      <p:boldItalic r:id="rId34"/>
    </p:embeddedFont>
    <p:embeddedFont>
      <p:font typeface="Manrope"/>
      <p:regular r:id="rId35"/>
      <p:bold r:id="rId36"/>
    </p:embeddedFont>
    <p:embeddedFont>
      <p:font typeface="Archivo"/>
      <p:regular r:id="rId37"/>
      <p:bold r:id="rId38"/>
      <p:italic r:id="rId39"/>
      <p:boldItalic r:id="rId40"/>
    </p:embeddedFont>
    <p:embeddedFont>
      <p:font typeface="Archivo SemiBold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EB9D091-70FA-4423-9D58-DE7C9ABF08E8}">
  <a:tblStyle styleId="{5EB9D091-70FA-4423-9D58-DE7C9ABF08E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Archivo-boldItalic.fntdata"/><Relationship Id="rId20" Type="http://schemas.openxmlformats.org/officeDocument/2006/relationships/slide" Target="slides/slide14.xml"/><Relationship Id="rId42" Type="http://schemas.openxmlformats.org/officeDocument/2006/relationships/font" Target="fonts/ArchivoSemiBold-bold.fntdata"/><Relationship Id="rId41" Type="http://schemas.openxmlformats.org/officeDocument/2006/relationships/font" Target="fonts/ArchivoSemiBold-regular.fntdata"/><Relationship Id="rId22" Type="http://schemas.openxmlformats.org/officeDocument/2006/relationships/slide" Target="slides/slide16.xml"/><Relationship Id="rId44" Type="http://schemas.openxmlformats.org/officeDocument/2006/relationships/font" Target="fonts/ArchivoSemiBold-boldItalic.fntdata"/><Relationship Id="rId21" Type="http://schemas.openxmlformats.org/officeDocument/2006/relationships/slide" Target="slides/slide15.xml"/><Relationship Id="rId43" Type="http://schemas.openxmlformats.org/officeDocument/2006/relationships/font" Target="fonts/ArchivoSemiBold-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Inter-bold.fntdata"/><Relationship Id="rId27" Type="http://schemas.openxmlformats.org/officeDocument/2006/relationships/font" Target="fonts/Inter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ArchivoMedium-regular.fntdata"/><Relationship Id="rId30" Type="http://schemas.openxmlformats.org/officeDocument/2006/relationships/font" Target="fonts/Inter-boldItalic.fntdata"/><Relationship Id="rId11" Type="http://schemas.openxmlformats.org/officeDocument/2006/relationships/slide" Target="slides/slide5.xml"/><Relationship Id="rId33" Type="http://schemas.openxmlformats.org/officeDocument/2006/relationships/font" Target="fonts/ArchivoMedium-italic.fntdata"/><Relationship Id="rId10" Type="http://schemas.openxmlformats.org/officeDocument/2006/relationships/slide" Target="slides/slide4.xml"/><Relationship Id="rId32" Type="http://schemas.openxmlformats.org/officeDocument/2006/relationships/font" Target="fonts/ArchivoMedium-bold.fntdata"/><Relationship Id="rId13" Type="http://schemas.openxmlformats.org/officeDocument/2006/relationships/slide" Target="slides/slide7.xml"/><Relationship Id="rId35" Type="http://schemas.openxmlformats.org/officeDocument/2006/relationships/font" Target="fonts/Manrope-regular.fntdata"/><Relationship Id="rId12" Type="http://schemas.openxmlformats.org/officeDocument/2006/relationships/slide" Target="slides/slide6.xml"/><Relationship Id="rId34" Type="http://schemas.openxmlformats.org/officeDocument/2006/relationships/font" Target="fonts/ArchivoMedium-boldItalic.fntdata"/><Relationship Id="rId15" Type="http://schemas.openxmlformats.org/officeDocument/2006/relationships/slide" Target="slides/slide9.xml"/><Relationship Id="rId37" Type="http://schemas.openxmlformats.org/officeDocument/2006/relationships/font" Target="fonts/Archivo-regular.fntdata"/><Relationship Id="rId14" Type="http://schemas.openxmlformats.org/officeDocument/2006/relationships/slide" Target="slides/slide8.xml"/><Relationship Id="rId36" Type="http://schemas.openxmlformats.org/officeDocument/2006/relationships/font" Target="fonts/Manrope-bold.fntdata"/><Relationship Id="rId17" Type="http://schemas.openxmlformats.org/officeDocument/2006/relationships/slide" Target="slides/slide11.xml"/><Relationship Id="rId39" Type="http://schemas.openxmlformats.org/officeDocument/2006/relationships/font" Target="fonts/Archivo-italic.fntdata"/><Relationship Id="rId16" Type="http://schemas.openxmlformats.org/officeDocument/2006/relationships/slide" Target="slides/slide10.xml"/><Relationship Id="rId38" Type="http://schemas.openxmlformats.org/officeDocument/2006/relationships/font" Target="fonts/Archivo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61839acaa_1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g3a61839acaa_1_1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a801fe06ce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g3a801fe06ce_0_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801fe06ce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3a801fe06ce_0_1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801fe06ce_1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3a801fe06ce_1_2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61839acaa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a61839acaa_0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801fe06ce_1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a801fe06ce_1_3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61839acaa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a61839acaa_0_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61839acaa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a61839acaa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61839acaa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a61839acaa_0_1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61839acaa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a61839acaa_0_2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a801fe06ce_1_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3a801fe06ce_1_3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a61839aca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3a61839acaa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a61839acaa_1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a61839acaa_1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a61839acaa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3a61839acaa_1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a801fe06ce_1_5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3a801fe06ce_1_5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b0af6e2a8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b0af6e2a8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b0af6e2a8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g3b0af6e2a89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a801fe06ce_1_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g3a801fe06ce_1_5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a801fe06ce_1_6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a801fe06ce_1_6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a801fe06ce_1_5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g3a801fe06ce_1_5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1">
  <p:cSld name="DEFAULT_1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showMasterSp="0">
  <p:cSld name="1_Title Slide">
    <p:bg>
      <p:bgPr>
        <a:solidFill>
          <a:schemeClr val="accen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Slide" showMasterSp="0">
  <p:cSld name="3_Title Slide">
    <p:bg>
      <p:bgPr>
        <a:solidFill>
          <a:schemeClr val="accen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7"/>
          <p:cNvPicPr preferRelativeResize="0"/>
          <p:nvPr/>
        </p:nvPicPr>
        <p:blipFill rotWithShape="1">
          <a:blip r:embed="rId2">
            <a:alphaModFix/>
          </a:blip>
          <a:srcRect b="0" l="29274" r="29278" t="0"/>
          <a:stretch/>
        </p:blipFill>
        <p:spPr>
          <a:xfrm>
            <a:off x="630473" y="1750764"/>
            <a:ext cx="4070950" cy="5525034"/>
          </a:xfrm>
          <a:custGeom>
            <a:rect b="b" l="l" r="r" t="t"/>
            <a:pathLst>
              <a:path extrusionOk="0" h="7366712" w="5427933">
                <a:moveTo>
                  <a:pt x="187589" y="0"/>
                </a:moveTo>
                <a:lnTo>
                  <a:pt x="5240344" y="0"/>
                </a:lnTo>
                <a:cubicBezTo>
                  <a:pt x="5343947" y="0"/>
                  <a:pt x="5427933" y="83986"/>
                  <a:pt x="5427933" y="187589"/>
                </a:cubicBezTo>
                <a:lnTo>
                  <a:pt x="5427933" y="7179123"/>
                </a:lnTo>
                <a:cubicBezTo>
                  <a:pt x="5427933" y="7282726"/>
                  <a:pt x="5343947" y="7366712"/>
                  <a:pt x="5240344" y="7366712"/>
                </a:cubicBezTo>
                <a:lnTo>
                  <a:pt x="187589" y="7366712"/>
                </a:lnTo>
                <a:cubicBezTo>
                  <a:pt x="83986" y="7366712"/>
                  <a:pt x="0" y="7282726"/>
                  <a:pt x="0" y="7179123"/>
                </a:cubicBezTo>
                <a:lnTo>
                  <a:pt x="0" y="187589"/>
                </a:lnTo>
                <a:cubicBezTo>
                  <a:pt x="0" y="83986"/>
                  <a:pt x="83986" y="0"/>
                  <a:pt x="187589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Relationship Id="rId5" Type="http://schemas.openxmlformats.org/officeDocument/2006/relationships/image" Target="../media/image6.png"/><Relationship Id="rId6" Type="http://schemas.openxmlformats.org/officeDocument/2006/relationships/image" Target="../media/image8.png"/><Relationship Id="rId7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Relationship Id="rId4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8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8"/>
          <p:cNvSpPr/>
          <p:nvPr/>
        </p:nvSpPr>
        <p:spPr>
          <a:xfrm>
            <a:off x="259950" y="4076674"/>
            <a:ext cx="5105400" cy="7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1050"/>
              <a:buFont typeface="Inter"/>
              <a:buNone/>
            </a:pPr>
            <a:r>
              <a:rPr lang="en" sz="12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Confidential Recovery</a:t>
            </a:r>
            <a:endParaRPr sz="1200">
              <a:solidFill>
                <a:schemeClr val="lt1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1050"/>
              <a:buFont typeface="Inter"/>
              <a:buNone/>
            </a:pPr>
            <a:r>
              <a:rPr lang="en" sz="12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Content &amp; SEO</a:t>
            </a:r>
            <a:endParaRPr i="0" sz="1200" u="none" cap="none" strike="noStrike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1050"/>
              <a:buFont typeface="Inter"/>
              <a:buNone/>
            </a:pPr>
            <a:r>
              <a:rPr i="0" lang="en" sz="1200" u="none" cap="none" strike="noStrike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Date: 1</a:t>
            </a:r>
            <a:r>
              <a:rPr lang="en" sz="1200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2</a:t>
            </a:r>
            <a:r>
              <a:rPr i="0" lang="en" sz="1200" u="none" cap="none" strike="noStrike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/</a:t>
            </a:r>
            <a:r>
              <a:rPr lang="en" sz="1200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10/2025</a:t>
            </a:r>
            <a:endParaRPr i="0" sz="1200" u="none" cap="none" strike="noStrike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61" name="Google Shape;61;p18"/>
          <p:cNvSpPr/>
          <p:nvPr/>
        </p:nvSpPr>
        <p:spPr>
          <a:xfrm>
            <a:off x="259950" y="3012375"/>
            <a:ext cx="39465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1050"/>
              <a:buFont typeface="Inter"/>
              <a:buNone/>
            </a:pPr>
            <a:r>
              <a:rPr b="1" lang="en" sz="165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Q4 2025</a:t>
            </a:r>
            <a:r>
              <a:rPr lang="en" sz="1650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 </a:t>
            </a:r>
            <a:r>
              <a:rPr lang="en" sz="165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Review &amp; Strategic Roadmap</a:t>
            </a:r>
            <a:endParaRPr i="0" sz="1650" u="none" cap="none" strike="noStrike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2" name="Google Shape;62;p18"/>
          <p:cNvSpPr/>
          <p:nvPr/>
        </p:nvSpPr>
        <p:spPr>
          <a:xfrm>
            <a:off x="259950" y="338475"/>
            <a:ext cx="7692000" cy="26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50"/>
              <a:buFont typeface="Inter"/>
              <a:buNone/>
            </a:pPr>
            <a:r>
              <a:rPr lang="en" sz="8000">
                <a:solidFill>
                  <a:srgbClr val="FF2F0A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Q</a:t>
            </a:r>
            <a:r>
              <a:rPr lang="en" sz="8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UARTERLY </a:t>
            </a:r>
            <a:r>
              <a:rPr lang="en" sz="8000">
                <a:solidFill>
                  <a:srgbClr val="FF2F0A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B</a:t>
            </a:r>
            <a:r>
              <a:rPr lang="en" sz="8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USINESS </a:t>
            </a:r>
            <a:r>
              <a:rPr lang="en" sz="8000">
                <a:solidFill>
                  <a:srgbClr val="FF2F0A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R</a:t>
            </a:r>
            <a:r>
              <a:rPr lang="en" sz="8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EVIEW</a:t>
            </a:r>
            <a:endParaRPr i="0" sz="8000" u="none" cap="none" strike="noStrike">
              <a:solidFill>
                <a:schemeClr val="lt1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</p:txBody>
      </p:sp>
      <p:pic>
        <p:nvPicPr>
          <p:cNvPr id="63" name="Google Shape;63;p18" title="W Full blk txt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9425" y="4620789"/>
            <a:ext cx="1026250" cy="246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8" title="ChatGPT Image Nov 26, 2025, 12_42_54 PM 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71775" y="4485325"/>
            <a:ext cx="1275052" cy="517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8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/>
          <p:nvPr/>
        </p:nvSpPr>
        <p:spPr>
          <a:xfrm>
            <a:off x="283350" y="266675"/>
            <a:ext cx="35595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50"/>
              <a:buFont typeface="Inter"/>
              <a:buNone/>
            </a:pPr>
            <a:r>
              <a:rPr lang="en" sz="46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Agenda </a:t>
            </a:r>
            <a:endParaRPr i="0" sz="4600" u="none" cap="none" strike="noStrike">
              <a:solidFill>
                <a:schemeClr val="lt1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</p:txBody>
      </p:sp>
      <p:sp>
        <p:nvSpPr>
          <p:cNvPr id="70" name="Google Shape;70;p19"/>
          <p:cNvSpPr/>
          <p:nvPr/>
        </p:nvSpPr>
        <p:spPr>
          <a:xfrm>
            <a:off x="526050" y="2255350"/>
            <a:ext cx="26148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975" lIns="85925" spcFirstLastPara="1" rIns="85925" wrap="square" tIns="429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987"/>
              <a:buFont typeface="Inter"/>
              <a:buNone/>
            </a:pPr>
            <a:r>
              <a:rPr b="1" lang="en" sz="155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Performance Review</a:t>
            </a:r>
            <a:endParaRPr b="1" sz="155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987"/>
              <a:buFont typeface="Inter"/>
              <a:buNone/>
            </a:pPr>
            <a:r>
              <a:rPr lang="en" sz="1133">
                <a:solidFill>
                  <a:srgbClr val="EAEAEA"/>
                </a:solidFill>
                <a:latin typeface="Archivo"/>
                <a:ea typeface="Archivo"/>
                <a:cs typeface="Archivo"/>
                <a:sym typeface="Archivo"/>
              </a:rPr>
              <a:t>A transparent look at last quarter’s results, funnel movement, and NSM alignment.</a:t>
            </a:r>
            <a:endParaRPr sz="1133">
              <a:solidFill>
                <a:srgbClr val="EAEAE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1" name="Google Shape;71;p19"/>
          <p:cNvSpPr/>
          <p:nvPr/>
        </p:nvSpPr>
        <p:spPr>
          <a:xfrm>
            <a:off x="3263025" y="2263175"/>
            <a:ext cx="26148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975" lIns="85925" spcFirstLastPara="1" rIns="85925" wrap="square" tIns="429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987"/>
              <a:buFont typeface="Inter"/>
              <a:buNone/>
            </a:pPr>
            <a:r>
              <a:rPr b="1" lang="en" sz="155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Strategy Overview</a:t>
            </a:r>
            <a:endParaRPr b="1" sz="155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987"/>
              <a:buFont typeface="Inter"/>
              <a:buNone/>
            </a:pPr>
            <a:r>
              <a:rPr lang="en" sz="1133">
                <a:solidFill>
                  <a:srgbClr val="EAEAEA"/>
                </a:solidFill>
                <a:latin typeface="Archivo"/>
                <a:ea typeface="Archivo"/>
                <a:cs typeface="Archivo"/>
                <a:sym typeface="Archivo"/>
              </a:rPr>
              <a:t>The external factors shaping performance and where the market is heading.</a:t>
            </a:r>
            <a:endParaRPr sz="1133">
              <a:solidFill>
                <a:srgbClr val="EAEAE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2" name="Google Shape;72;p19"/>
          <p:cNvSpPr/>
          <p:nvPr/>
        </p:nvSpPr>
        <p:spPr>
          <a:xfrm>
            <a:off x="6013775" y="2270050"/>
            <a:ext cx="26148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975" lIns="85925" spcFirstLastPara="1" rIns="85925" wrap="square" tIns="429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987"/>
              <a:buFont typeface="Inter"/>
              <a:buNone/>
            </a:pPr>
            <a:r>
              <a:rPr b="1" lang="en" sz="155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Strategic Plan</a:t>
            </a:r>
            <a:endParaRPr b="1" sz="155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987"/>
              <a:buFont typeface="Inter"/>
              <a:buNone/>
            </a:pPr>
            <a:r>
              <a:rPr lang="en" sz="1133">
                <a:solidFill>
                  <a:srgbClr val="EAEAEA"/>
                </a:solidFill>
                <a:latin typeface="Archivo"/>
                <a:ea typeface="Archivo"/>
                <a:cs typeface="Archivo"/>
                <a:sym typeface="Archivo"/>
              </a:rPr>
              <a:t>Data-backed initiatives designed to accelerate next-quarter performance.</a:t>
            </a:r>
            <a:endParaRPr sz="1133">
              <a:solidFill>
                <a:srgbClr val="EAEAE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3" name="Google Shape;73;p19"/>
          <p:cNvSpPr/>
          <p:nvPr/>
        </p:nvSpPr>
        <p:spPr>
          <a:xfrm>
            <a:off x="499825" y="3874725"/>
            <a:ext cx="26148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975" lIns="85925" spcFirstLastPara="1" rIns="85925" wrap="square" tIns="429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987"/>
              <a:buFont typeface="Inter"/>
              <a:buNone/>
            </a:pPr>
            <a:r>
              <a:rPr b="1" lang="en" sz="155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Roadmap &amp; Alignment</a:t>
            </a:r>
            <a:endParaRPr b="1" sz="155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987"/>
              <a:buFont typeface="Inter"/>
              <a:buNone/>
            </a:pPr>
            <a:r>
              <a:rPr lang="en" sz="1133">
                <a:solidFill>
                  <a:srgbClr val="EAEAEA"/>
                </a:solidFill>
                <a:latin typeface="Archivo"/>
                <a:ea typeface="Archivo"/>
                <a:cs typeface="Archivo"/>
                <a:sym typeface="Archivo"/>
              </a:rPr>
              <a:t>A clear path forward with prioritized actions, timelines, and ownership.</a:t>
            </a:r>
            <a:endParaRPr sz="1133">
              <a:solidFill>
                <a:srgbClr val="EAEAE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4" name="Google Shape;74;p19"/>
          <p:cNvSpPr/>
          <p:nvPr/>
        </p:nvSpPr>
        <p:spPr>
          <a:xfrm>
            <a:off x="3290650" y="3815175"/>
            <a:ext cx="28431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975" lIns="85925" spcFirstLastPara="1" rIns="85925" wrap="square" tIns="429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987"/>
              <a:buFont typeface="Inter"/>
              <a:buNone/>
            </a:pPr>
            <a:r>
              <a:rPr b="1" lang="en" sz="155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Partnership Items</a:t>
            </a:r>
            <a:endParaRPr b="1" sz="155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987"/>
              <a:buFont typeface="Inter"/>
              <a:buNone/>
            </a:pPr>
            <a:r>
              <a:rPr lang="en" sz="1133">
                <a:solidFill>
                  <a:srgbClr val="EAEAEA"/>
                </a:solidFill>
                <a:latin typeface="Archivo"/>
                <a:ea typeface="Archivo"/>
                <a:cs typeface="Archivo"/>
                <a:sym typeface="Archivo"/>
              </a:rPr>
              <a:t>Strengthening our partnership through shared goals, referrals, and collaboration.</a:t>
            </a:r>
            <a:endParaRPr sz="1133">
              <a:solidFill>
                <a:srgbClr val="EAEAE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5" name="Google Shape;75;p19"/>
          <p:cNvSpPr/>
          <p:nvPr/>
        </p:nvSpPr>
        <p:spPr>
          <a:xfrm>
            <a:off x="552091" y="1886111"/>
            <a:ext cx="104400" cy="104400"/>
          </a:xfrm>
          <a:prstGeom prst="ellipse">
            <a:avLst/>
          </a:prstGeom>
          <a:solidFill>
            <a:srgbClr val="FF2F0A"/>
          </a:solidFill>
          <a:ln>
            <a:noFill/>
          </a:ln>
        </p:spPr>
        <p:txBody>
          <a:bodyPr anchorCtr="0" anchor="ctr" bIns="93900" lIns="93900" spcFirstLastPara="1" rIns="93900" wrap="square" tIns="93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38"/>
          </a:p>
        </p:txBody>
      </p:sp>
      <p:sp>
        <p:nvSpPr>
          <p:cNvPr id="76" name="Google Shape;76;p19"/>
          <p:cNvSpPr/>
          <p:nvPr/>
        </p:nvSpPr>
        <p:spPr>
          <a:xfrm>
            <a:off x="656557" y="1827548"/>
            <a:ext cx="378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975" lIns="85925" spcFirstLastPara="1" rIns="85925" wrap="square" tIns="429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987"/>
              <a:buFont typeface="Inter"/>
              <a:buNone/>
            </a:pPr>
            <a:r>
              <a:rPr i="1" lang="en" sz="1239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01</a:t>
            </a:r>
            <a:endParaRPr i="1" sz="1239">
              <a:solidFill>
                <a:schemeClr val="lt1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</p:txBody>
      </p:sp>
      <p:cxnSp>
        <p:nvCxnSpPr>
          <p:cNvPr id="77" name="Google Shape;77;p19"/>
          <p:cNvCxnSpPr/>
          <p:nvPr/>
        </p:nvCxnSpPr>
        <p:spPr>
          <a:xfrm>
            <a:off x="552091" y="2087223"/>
            <a:ext cx="2562600" cy="0"/>
          </a:xfrm>
          <a:prstGeom prst="straightConnector1">
            <a:avLst/>
          </a:prstGeom>
          <a:noFill/>
          <a:ln cap="flat" cmpd="sng" w="9775">
            <a:solidFill>
              <a:srgbClr val="B8B7B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" name="Google Shape;78;p19"/>
          <p:cNvSpPr/>
          <p:nvPr/>
        </p:nvSpPr>
        <p:spPr>
          <a:xfrm>
            <a:off x="3290708" y="1889896"/>
            <a:ext cx="104400" cy="104400"/>
          </a:xfrm>
          <a:prstGeom prst="ellipse">
            <a:avLst/>
          </a:prstGeom>
          <a:solidFill>
            <a:srgbClr val="FF2F0A"/>
          </a:solidFill>
          <a:ln>
            <a:noFill/>
          </a:ln>
        </p:spPr>
        <p:txBody>
          <a:bodyPr anchorCtr="0" anchor="ctr" bIns="93900" lIns="93900" spcFirstLastPara="1" rIns="93900" wrap="square" tIns="93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38"/>
          </a:p>
        </p:txBody>
      </p:sp>
      <p:sp>
        <p:nvSpPr>
          <p:cNvPr id="79" name="Google Shape;79;p19"/>
          <p:cNvSpPr/>
          <p:nvPr/>
        </p:nvSpPr>
        <p:spPr>
          <a:xfrm>
            <a:off x="3395174" y="1831333"/>
            <a:ext cx="378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975" lIns="85925" spcFirstLastPara="1" rIns="85925" wrap="square" tIns="429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987"/>
              <a:buFont typeface="Inter"/>
              <a:buNone/>
            </a:pPr>
            <a:r>
              <a:rPr i="1" lang="en" sz="1239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02 </a:t>
            </a:r>
            <a:endParaRPr i="1" sz="1239">
              <a:solidFill>
                <a:schemeClr val="lt1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</p:txBody>
      </p:sp>
      <p:cxnSp>
        <p:nvCxnSpPr>
          <p:cNvPr id="80" name="Google Shape;80;p19"/>
          <p:cNvCxnSpPr/>
          <p:nvPr/>
        </p:nvCxnSpPr>
        <p:spPr>
          <a:xfrm>
            <a:off x="3290708" y="2091008"/>
            <a:ext cx="2562600" cy="0"/>
          </a:xfrm>
          <a:prstGeom prst="straightConnector1">
            <a:avLst/>
          </a:prstGeom>
          <a:noFill/>
          <a:ln cap="flat" cmpd="sng" w="9775">
            <a:solidFill>
              <a:srgbClr val="B8B7B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" name="Google Shape;81;p19"/>
          <p:cNvSpPr/>
          <p:nvPr/>
        </p:nvSpPr>
        <p:spPr>
          <a:xfrm>
            <a:off x="6029325" y="1894349"/>
            <a:ext cx="104400" cy="104400"/>
          </a:xfrm>
          <a:prstGeom prst="ellipse">
            <a:avLst/>
          </a:prstGeom>
          <a:solidFill>
            <a:srgbClr val="FF2F0A"/>
          </a:solidFill>
          <a:ln>
            <a:noFill/>
          </a:ln>
        </p:spPr>
        <p:txBody>
          <a:bodyPr anchorCtr="0" anchor="ctr" bIns="93900" lIns="93900" spcFirstLastPara="1" rIns="93900" wrap="square" tIns="93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38"/>
          </a:p>
        </p:txBody>
      </p:sp>
      <p:sp>
        <p:nvSpPr>
          <p:cNvPr id="82" name="Google Shape;82;p19"/>
          <p:cNvSpPr/>
          <p:nvPr/>
        </p:nvSpPr>
        <p:spPr>
          <a:xfrm>
            <a:off x="6133791" y="1835786"/>
            <a:ext cx="378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975" lIns="85925" spcFirstLastPara="1" rIns="85925" wrap="square" tIns="429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987"/>
              <a:buFont typeface="Inter"/>
              <a:buNone/>
            </a:pPr>
            <a:r>
              <a:rPr i="1" lang="en" sz="1239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03 </a:t>
            </a:r>
            <a:endParaRPr i="1" sz="1239">
              <a:solidFill>
                <a:schemeClr val="lt1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</p:txBody>
      </p:sp>
      <p:cxnSp>
        <p:nvCxnSpPr>
          <p:cNvPr id="83" name="Google Shape;83;p19"/>
          <p:cNvCxnSpPr/>
          <p:nvPr/>
        </p:nvCxnSpPr>
        <p:spPr>
          <a:xfrm>
            <a:off x="6029325" y="2095461"/>
            <a:ext cx="2562600" cy="0"/>
          </a:xfrm>
          <a:prstGeom prst="straightConnector1">
            <a:avLst/>
          </a:prstGeom>
          <a:noFill/>
          <a:ln cap="flat" cmpd="sng" w="9775">
            <a:solidFill>
              <a:srgbClr val="B8B7B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" name="Google Shape;84;p19"/>
          <p:cNvSpPr/>
          <p:nvPr/>
        </p:nvSpPr>
        <p:spPr>
          <a:xfrm>
            <a:off x="552032" y="3500396"/>
            <a:ext cx="104400" cy="104400"/>
          </a:xfrm>
          <a:prstGeom prst="ellipse">
            <a:avLst/>
          </a:prstGeom>
          <a:solidFill>
            <a:srgbClr val="FF2F0A"/>
          </a:solidFill>
          <a:ln>
            <a:noFill/>
          </a:ln>
        </p:spPr>
        <p:txBody>
          <a:bodyPr anchorCtr="0" anchor="ctr" bIns="93900" lIns="93900" spcFirstLastPara="1" rIns="93900" wrap="square" tIns="93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38"/>
          </a:p>
        </p:txBody>
      </p:sp>
      <p:sp>
        <p:nvSpPr>
          <p:cNvPr id="85" name="Google Shape;85;p19"/>
          <p:cNvSpPr/>
          <p:nvPr/>
        </p:nvSpPr>
        <p:spPr>
          <a:xfrm>
            <a:off x="656498" y="3441833"/>
            <a:ext cx="378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975" lIns="85925" spcFirstLastPara="1" rIns="85925" wrap="square" tIns="429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987"/>
              <a:buFont typeface="Inter"/>
              <a:buNone/>
            </a:pPr>
            <a:r>
              <a:rPr i="1" lang="en" sz="1239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0</a:t>
            </a:r>
            <a:r>
              <a:rPr i="1" lang="en" sz="1239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4</a:t>
            </a:r>
            <a:endParaRPr i="1" sz="1239">
              <a:solidFill>
                <a:schemeClr val="lt1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</p:txBody>
      </p:sp>
      <p:cxnSp>
        <p:nvCxnSpPr>
          <p:cNvPr id="86" name="Google Shape;86;p19"/>
          <p:cNvCxnSpPr/>
          <p:nvPr/>
        </p:nvCxnSpPr>
        <p:spPr>
          <a:xfrm>
            <a:off x="552032" y="3701509"/>
            <a:ext cx="2562600" cy="0"/>
          </a:xfrm>
          <a:prstGeom prst="straightConnector1">
            <a:avLst/>
          </a:prstGeom>
          <a:noFill/>
          <a:ln cap="flat" cmpd="sng" w="9775">
            <a:solidFill>
              <a:srgbClr val="B8B7B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" name="Google Shape;87;p19"/>
          <p:cNvSpPr/>
          <p:nvPr/>
        </p:nvSpPr>
        <p:spPr>
          <a:xfrm>
            <a:off x="3290649" y="3504181"/>
            <a:ext cx="104400" cy="104400"/>
          </a:xfrm>
          <a:prstGeom prst="ellipse">
            <a:avLst/>
          </a:prstGeom>
          <a:solidFill>
            <a:srgbClr val="FF2F0A"/>
          </a:solidFill>
          <a:ln>
            <a:noFill/>
          </a:ln>
        </p:spPr>
        <p:txBody>
          <a:bodyPr anchorCtr="0" anchor="ctr" bIns="93900" lIns="93900" spcFirstLastPara="1" rIns="93900" wrap="square" tIns="93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38"/>
          </a:p>
        </p:txBody>
      </p:sp>
      <p:sp>
        <p:nvSpPr>
          <p:cNvPr id="88" name="Google Shape;88;p19"/>
          <p:cNvSpPr/>
          <p:nvPr/>
        </p:nvSpPr>
        <p:spPr>
          <a:xfrm>
            <a:off x="3395115" y="3445618"/>
            <a:ext cx="378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975" lIns="85925" spcFirstLastPara="1" rIns="85925" wrap="square" tIns="429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987"/>
              <a:buFont typeface="Inter"/>
              <a:buNone/>
            </a:pPr>
            <a:r>
              <a:rPr i="1" lang="en" sz="1239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0</a:t>
            </a:r>
            <a:r>
              <a:rPr i="1" lang="en" sz="1239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5</a:t>
            </a:r>
            <a:r>
              <a:rPr i="1" lang="en" sz="1239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 </a:t>
            </a:r>
            <a:endParaRPr i="1" sz="1239">
              <a:solidFill>
                <a:schemeClr val="lt1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</p:txBody>
      </p:sp>
      <p:cxnSp>
        <p:nvCxnSpPr>
          <p:cNvPr id="89" name="Google Shape;89;p19"/>
          <p:cNvCxnSpPr/>
          <p:nvPr/>
        </p:nvCxnSpPr>
        <p:spPr>
          <a:xfrm>
            <a:off x="3290649" y="3705294"/>
            <a:ext cx="2562600" cy="0"/>
          </a:xfrm>
          <a:prstGeom prst="straightConnector1">
            <a:avLst/>
          </a:prstGeom>
          <a:noFill/>
          <a:ln cap="flat" cmpd="sng" w="9775">
            <a:solidFill>
              <a:srgbClr val="B8B7B6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0" name="Google Shape;90;p19" title="W Full blk txt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35738" y="201625"/>
            <a:ext cx="1025576" cy="24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8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/>
          <p:nvPr/>
        </p:nvSpPr>
        <p:spPr>
          <a:xfrm>
            <a:off x="1343374" y="2001513"/>
            <a:ext cx="182700" cy="182700"/>
          </a:xfrm>
          <a:prstGeom prst="ellipse">
            <a:avLst/>
          </a:prstGeom>
          <a:solidFill>
            <a:srgbClr val="FF2F0A"/>
          </a:solidFill>
          <a:ln>
            <a:noFill/>
          </a:ln>
        </p:spPr>
        <p:txBody>
          <a:bodyPr anchorCtr="0" anchor="ctr" bIns="164100" lIns="164100" spcFirstLastPara="1" rIns="164100" wrap="square" tIns="164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13"/>
          </a:p>
        </p:txBody>
      </p:sp>
      <p:sp>
        <p:nvSpPr>
          <p:cNvPr id="96" name="Google Shape;96;p20"/>
          <p:cNvSpPr/>
          <p:nvPr/>
        </p:nvSpPr>
        <p:spPr>
          <a:xfrm>
            <a:off x="1525936" y="1899166"/>
            <a:ext cx="6603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100" lIns="150175" spcFirstLastPara="1" rIns="150175" wrap="square" tIns="751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1725"/>
              <a:buFont typeface="Inter"/>
              <a:buNone/>
            </a:pPr>
            <a:r>
              <a:rPr i="1" lang="en" sz="2165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01</a:t>
            </a:r>
            <a:endParaRPr i="1" sz="2165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pic>
        <p:nvPicPr>
          <p:cNvPr id="97" name="Google Shape;97;p20" title="W Full blk txt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35738" y="201625"/>
            <a:ext cx="1025576" cy="2463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0"/>
          <p:cNvSpPr/>
          <p:nvPr/>
        </p:nvSpPr>
        <p:spPr>
          <a:xfrm>
            <a:off x="1126200" y="2119736"/>
            <a:ext cx="6891600" cy="938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50"/>
              <a:buFont typeface="Inter"/>
              <a:buNone/>
            </a:pPr>
            <a:r>
              <a:rPr b="1" lang="en" sz="52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Performance Review</a:t>
            </a:r>
            <a:endParaRPr b="1" i="0" sz="5200" u="none" cap="none" strike="noStrike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9" name="Google Shape;99;p20"/>
          <p:cNvSpPr/>
          <p:nvPr/>
        </p:nvSpPr>
        <p:spPr>
          <a:xfrm>
            <a:off x="2598750" y="2963161"/>
            <a:ext cx="3946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1050"/>
              <a:buFont typeface="Inter"/>
              <a:buNone/>
            </a:pPr>
            <a:r>
              <a:rPr lang="en" sz="2000">
                <a:solidFill>
                  <a:srgbClr val="EAEAEA"/>
                </a:solidFill>
                <a:latin typeface="Archivo"/>
                <a:ea typeface="Archivo"/>
                <a:cs typeface="Archivo"/>
                <a:sym typeface="Archivo"/>
              </a:rPr>
              <a:t>Key data and insights from</a:t>
            </a:r>
            <a:r>
              <a:rPr b="1" lang="en" sz="2000">
                <a:solidFill>
                  <a:srgbClr val="EAEAEA"/>
                </a:solidFill>
                <a:latin typeface="Archivo"/>
                <a:ea typeface="Archivo"/>
                <a:cs typeface="Archivo"/>
                <a:sym typeface="Archivo"/>
              </a:rPr>
              <a:t> Q3</a:t>
            </a:r>
            <a:endParaRPr i="0" sz="2000" u="none" cap="none" strike="noStrike">
              <a:solidFill>
                <a:srgbClr val="EAEAE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AEA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/>
          <p:nvPr/>
        </p:nvSpPr>
        <p:spPr>
          <a:xfrm>
            <a:off x="4972300" y="4040550"/>
            <a:ext cx="3815700" cy="704700"/>
          </a:xfrm>
          <a:prstGeom prst="roundRect">
            <a:avLst>
              <a:gd fmla="val 16667" name="adj"/>
            </a:avLst>
          </a:prstGeom>
          <a:solidFill>
            <a:srgbClr val="31AA98">
              <a:alpha val="15000"/>
            </a:srgbClr>
          </a:solidFill>
          <a:ln cap="flat" cmpd="sng" w="9525">
            <a:solidFill>
              <a:srgbClr val="31AA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1"/>
          <p:cNvSpPr/>
          <p:nvPr/>
        </p:nvSpPr>
        <p:spPr>
          <a:xfrm>
            <a:off x="5088900" y="4117400"/>
            <a:ext cx="35538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25" lIns="76025" spcFirstLastPara="1" rIns="76025" wrap="square" tIns="3802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873"/>
              <a:buFont typeface="Inter"/>
              <a:buNone/>
            </a:pPr>
            <a:r>
              <a:rPr lang="en" sz="1114">
                <a:solidFill>
                  <a:srgbClr val="31AA98"/>
                </a:solidFill>
                <a:latin typeface="Archivo"/>
                <a:ea typeface="Archivo"/>
                <a:cs typeface="Archivo"/>
                <a:sym typeface="Archivo"/>
              </a:rPr>
              <a:t>Top-of-funnel demand grew meaningfully in Q4, but conversion tightened as insurance quality declined and deductible cycles hit.</a:t>
            </a:r>
            <a:endParaRPr i="1" sz="1114">
              <a:solidFill>
                <a:srgbClr val="31AA98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106" name="Google Shape;106;p21"/>
          <p:cNvSpPr/>
          <p:nvPr/>
        </p:nvSpPr>
        <p:spPr>
          <a:xfrm>
            <a:off x="479925" y="509388"/>
            <a:ext cx="14598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100" lIns="68175" spcFirstLastPara="1" rIns="68175" wrap="square" tIns="341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783"/>
              <a:buFont typeface="Inter"/>
              <a:buNone/>
            </a:pPr>
            <a:r>
              <a:rPr i="1" lang="en" sz="983">
                <a:solidFill>
                  <a:srgbClr val="080808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NSM Overview</a:t>
            </a:r>
            <a:endParaRPr i="1" sz="983">
              <a:solidFill>
                <a:srgbClr val="080808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107" name="Google Shape;107;p21"/>
          <p:cNvSpPr/>
          <p:nvPr/>
        </p:nvSpPr>
        <p:spPr>
          <a:xfrm>
            <a:off x="221750" y="813263"/>
            <a:ext cx="42111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100" lIns="78225" spcFirstLastPara="1" rIns="78225" wrap="square" tIns="3910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91"/>
              <a:buFont typeface="Inter"/>
              <a:buNone/>
            </a:pPr>
            <a:r>
              <a:rPr b="1" lang="en" sz="2622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rPr>
              <a:t>Search demand for treatment-focused queries lifted overall top-of-funnel activity</a:t>
            </a:r>
            <a:endParaRPr b="1" sz="2622">
              <a:solidFill>
                <a:srgbClr val="08080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8" name="Google Shape;108;p21"/>
          <p:cNvSpPr/>
          <p:nvPr/>
        </p:nvSpPr>
        <p:spPr>
          <a:xfrm>
            <a:off x="299550" y="555727"/>
            <a:ext cx="82800" cy="83100"/>
          </a:xfrm>
          <a:prstGeom prst="ellipse">
            <a:avLst/>
          </a:prstGeom>
          <a:solidFill>
            <a:srgbClr val="FF2F0A"/>
          </a:solidFill>
          <a:ln>
            <a:noFill/>
          </a:ln>
        </p:spPr>
        <p:txBody>
          <a:bodyPr anchorCtr="0" anchor="ctr" bIns="74500" lIns="74500" spcFirstLastPara="1" rIns="74500" wrap="square" tIns="74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41"/>
          </a:p>
        </p:txBody>
      </p:sp>
      <p:graphicFrame>
        <p:nvGraphicFramePr>
          <p:cNvPr id="109" name="Google Shape;109;p21"/>
          <p:cNvGraphicFramePr/>
          <p:nvPr/>
        </p:nvGraphicFramePr>
        <p:xfrm>
          <a:off x="299550" y="2460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{5EB9D091-70FA-4423-9D58-DE7C9ABF08E8}</a:tableStyleId>
              </a:tblPr>
              <a:tblGrid>
                <a:gridCol w="987350"/>
                <a:gridCol w="987350"/>
                <a:gridCol w="987350"/>
                <a:gridCol w="987350"/>
              </a:tblGrid>
              <a:tr h="237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KPI</a:t>
                      </a:r>
                      <a:endParaRPr sz="1000">
                        <a:solidFill>
                          <a:schemeClr val="lt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91425" marB="91425" marR="91425" marL="91425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Q3</a:t>
                      </a:r>
                      <a:endParaRPr sz="1000">
                        <a:solidFill>
                          <a:schemeClr val="lt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91425" marB="91425" marR="91425" marL="91425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Q4</a:t>
                      </a:r>
                      <a:endParaRPr sz="1000">
                        <a:solidFill>
                          <a:schemeClr val="lt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91425" marB="91425" marR="91425" marL="91425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51">
                          <a:solidFill>
                            <a:schemeClr val="lt1"/>
                          </a:solidFill>
                          <a:latin typeface="Archivo Medium"/>
                          <a:ea typeface="Archivo Medium"/>
                          <a:cs typeface="Archivo Medium"/>
                          <a:sym typeface="Archivo Medium"/>
                        </a:rPr>
                        <a:t>Delta Δ</a:t>
                      </a:r>
                      <a:endParaRPr sz="1000">
                        <a:solidFill>
                          <a:schemeClr val="lt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91425" marB="91425" marR="91425" marL="91425">
                    <a:solidFill>
                      <a:srgbClr val="080808"/>
                    </a:solidFill>
                  </a:tcPr>
                </a:tc>
              </a:tr>
              <a:tr h="32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Leads (Calls)</a:t>
                      </a:r>
                      <a:endParaRPr sz="9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1,160</a:t>
                      </a:r>
                      <a:endParaRPr sz="9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1,237</a:t>
                      </a:r>
                      <a:endParaRPr sz="9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31AA98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+6.6%</a:t>
                      </a:r>
                      <a:endParaRPr sz="900">
                        <a:solidFill>
                          <a:srgbClr val="31AA98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91425" marB="91425" marR="91425" marL="91425"/>
                </a:tc>
              </a:tr>
              <a:tr h="32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VOBs</a:t>
                      </a:r>
                      <a:endParaRPr sz="9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240</a:t>
                      </a:r>
                      <a:endParaRPr sz="9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252</a:t>
                      </a:r>
                      <a:endParaRPr sz="9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31AA98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+5.0%</a:t>
                      </a:r>
                      <a:endParaRPr sz="900">
                        <a:solidFill>
                          <a:srgbClr val="31AA98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91425" marB="91425" marR="91425" marL="91425"/>
                </a:tc>
              </a:tr>
              <a:tr h="32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Viable VOBs</a:t>
                      </a:r>
                      <a:endParaRPr sz="9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101</a:t>
                      </a:r>
                      <a:endParaRPr sz="9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96</a:t>
                      </a:r>
                      <a:endParaRPr sz="9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94C2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–5.0%</a:t>
                      </a:r>
                      <a:endParaRPr sz="900">
                        <a:solidFill>
                          <a:srgbClr val="F94C2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91425" marB="91425" marR="91425" marL="91425"/>
                </a:tc>
              </a:tr>
              <a:tr h="32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Admits</a:t>
                      </a:r>
                      <a:endParaRPr sz="9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10</a:t>
                      </a:r>
                      <a:endParaRPr sz="9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7</a:t>
                      </a:r>
                      <a:endParaRPr sz="9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94C2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–30.0%</a:t>
                      </a:r>
                      <a:endParaRPr sz="900">
                        <a:solidFill>
                          <a:srgbClr val="F94C2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10" name="Google Shape;110;p21" title="Group (13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5125" y="284200"/>
            <a:ext cx="3815701" cy="35975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/>
          <p:nvPr/>
        </p:nvSpPr>
        <p:spPr>
          <a:xfrm>
            <a:off x="505400" y="2153300"/>
            <a:ext cx="3462600" cy="63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25" lIns="76025" spcFirstLastPara="1" rIns="76025" wrap="square" tIns="3802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873"/>
              <a:buFont typeface="Inter"/>
              <a:buNone/>
            </a:pPr>
            <a:r>
              <a:rPr lang="en" sz="1214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Quarter-over-quarter organic calls increased due to stronger performance in high-intent sources such as Google Organic and GMB.</a:t>
            </a:r>
            <a:endParaRPr sz="1214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6" name="Google Shape;116;p22"/>
          <p:cNvSpPr/>
          <p:nvPr/>
        </p:nvSpPr>
        <p:spPr>
          <a:xfrm>
            <a:off x="453538" y="1295313"/>
            <a:ext cx="36393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100" lIns="78225" spcFirstLastPara="1" rIns="78225" wrap="square" tIns="3910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91"/>
              <a:buFont typeface="Inter"/>
              <a:buNone/>
            </a:pPr>
            <a:r>
              <a:rPr b="1" lang="en" sz="3022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rPr>
              <a:t>Call Volume by Organic Source</a:t>
            </a:r>
            <a:endParaRPr b="1" i="0" sz="3022" u="none" cap="none" strike="noStrike">
              <a:solidFill>
                <a:srgbClr val="08080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7" name="Google Shape;117;p22"/>
          <p:cNvSpPr/>
          <p:nvPr/>
        </p:nvSpPr>
        <p:spPr>
          <a:xfrm>
            <a:off x="505400" y="1013002"/>
            <a:ext cx="82800" cy="83100"/>
          </a:xfrm>
          <a:prstGeom prst="ellipse">
            <a:avLst/>
          </a:prstGeom>
          <a:solidFill>
            <a:srgbClr val="FF2F0A"/>
          </a:solidFill>
          <a:ln>
            <a:noFill/>
          </a:ln>
        </p:spPr>
        <p:txBody>
          <a:bodyPr anchorCtr="0" anchor="ctr" bIns="74500" lIns="74500" spcFirstLastPara="1" rIns="74500" wrap="square" tIns="74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41"/>
          </a:p>
        </p:txBody>
      </p:sp>
      <p:sp>
        <p:nvSpPr>
          <p:cNvPr id="118" name="Google Shape;118;p22"/>
          <p:cNvSpPr/>
          <p:nvPr/>
        </p:nvSpPr>
        <p:spPr>
          <a:xfrm>
            <a:off x="588216" y="966550"/>
            <a:ext cx="24750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100" lIns="68175" spcFirstLastPara="1" rIns="68175" wrap="square" tIns="341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783"/>
              <a:buFont typeface="Inter"/>
              <a:buNone/>
            </a:pPr>
            <a:r>
              <a:rPr i="1" lang="en" sz="983">
                <a:solidFill>
                  <a:srgbClr val="080808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SEO Performance</a:t>
            </a:r>
            <a:endParaRPr i="1" sz="983">
              <a:solidFill>
                <a:srgbClr val="080808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119" name="Google Shape;119;p22"/>
          <p:cNvSpPr/>
          <p:nvPr/>
        </p:nvSpPr>
        <p:spPr>
          <a:xfrm>
            <a:off x="453550" y="3033950"/>
            <a:ext cx="3639300" cy="1143000"/>
          </a:xfrm>
          <a:prstGeom prst="roundRect">
            <a:avLst>
              <a:gd fmla="val 16667" name="adj"/>
            </a:avLst>
          </a:prstGeom>
          <a:solidFill>
            <a:srgbClr val="31AA98">
              <a:alpha val="15000"/>
            </a:srgbClr>
          </a:solidFill>
          <a:ln cap="flat" cmpd="sng" w="9525">
            <a:solidFill>
              <a:srgbClr val="31AA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2"/>
          <p:cNvSpPr/>
          <p:nvPr/>
        </p:nvSpPr>
        <p:spPr>
          <a:xfrm>
            <a:off x="563321" y="3143414"/>
            <a:ext cx="2979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25" lIns="76025" spcFirstLastPara="1" rIns="76025" wrap="square" tIns="3802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873"/>
              <a:buFont typeface="Inter"/>
              <a:buNone/>
            </a:pPr>
            <a:r>
              <a:rPr lang="en" sz="1214">
                <a:solidFill>
                  <a:srgbClr val="31AA98"/>
                </a:solidFill>
                <a:latin typeface="Archivo"/>
                <a:ea typeface="Archivo"/>
                <a:cs typeface="Archivo"/>
                <a:sym typeface="Archivo"/>
              </a:rPr>
              <a:t>GMB Optimization Fueled the Largest Lift</a:t>
            </a:r>
            <a:endParaRPr i="1" sz="1214">
              <a:solidFill>
                <a:srgbClr val="31AA98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121" name="Google Shape;121;p22"/>
          <p:cNvSpPr/>
          <p:nvPr/>
        </p:nvSpPr>
        <p:spPr>
          <a:xfrm>
            <a:off x="563325" y="3349241"/>
            <a:ext cx="34626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25" lIns="76025" spcFirstLastPara="1" rIns="76025" wrap="square" tIns="380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14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Improved Map Pack rankings and GMB profile activity drove a sharp increase in calls, making GMB the fastest-growing source.</a:t>
            </a:r>
            <a:endParaRPr sz="1214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22" name="Google Shape;122;p22" title="Group (3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8250" y="120600"/>
            <a:ext cx="4237229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8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/>
          <p:nvPr/>
        </p:nvSpPr>
        <p:spPr>
          <a:xfrm>
            <a:off x="1727576" y="2001513"/>
            <a:ext cx="182700" cy="182700"/>
          </a:xfrm>
          <a:prstGeom prst="ellipse">
            <a:avLst/>
          </a:prstGeom>
          <a:solidFill>
            <a:srgbClr val="FF2F0A"/>
          </a:solidFill>
          <a:ln>
            <a:noFill/>
          </a:ln>
        </p:spPr>
        <p:txBody>
          <a:bodyPr anchorCtr="0" anchor="ctr" bIns="164100" lIns="164100" spcFirstLastPara="1" rIns="164100" wrap="square" tIns="164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13"/>
          </a:p>
        </p:txBody>
      </p:sp>
      <p:sp>
        <p:nvSpPr>
          <p:cNvPr id="128" name="Google Shape;128;p23"/>
          <p:cNvSpPr/>
          <p:nvPr/>
        </p:nvSpPr>
        <p:spPr>
          <a:xfrm>
            <a:off x="1910138" y="1899166"/>
            <a:ext cx="6603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100" lIns="150175" spcFirstLastPara="1" rIns="150175" wrap="square" tIns="751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1725"/>
              <a:buFont typeface="Inter"/>
              <a:buNone/>
            </a:pPr>
            <a:r>
              <a:rPr i="1" lang="en" sz="2165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02</a:t>
            </a:r>
            <a:endParaRPr i="1" sz="2165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pic>
        <p:nvPicPr>
          <p:cNvPr id="129" name="Google Shape;129;p23" title="W Full blk txt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35738" y="201625"/>
            <a:ext cx="1025576" cy="24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3"/>
          <p:cNvSpPr/>
          <p:nvPr/>
        </p:nvSpPr>
        <p:spPr>
          <a:xfrm>
            <a:off x="1126200" y="2119736"/>
            <a:ext cx="6891600" cy="938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50"/>
              <a:buFont typeface="Inter"/>
              <a:buNone/>
            </a:pPr>
            <a:r>
              <a:rPr b="1" lang="en" sz="52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Strategy Overview</a:t>
            </a:r>
            <a:endParaRPr b="1" sz="52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31" name="Google Shape;131;p23"/>
          <p:cNvSpPr/>
          <p:nvPr/>
        </p:nvSpPr>
        <p:spPr>
          <a:xfrm>
            <a:off x="2598750" y="2963161"/>
            <a:ext cx="3946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1050"/>
              <a:buFont typeface="Inter"/>
              <a:buNone/>
            </a:pPr>
            <a:r>
              <a:rPr lang="en" sz="2000">
                <a:solidFill>
                  <a:srgbClr val="EAEAEA"/>
                </a:solidFill>
                <a:latin typeface="Archivo"/>
                <a:ea typeface="Archivo"/>
                <a:cs typeface="Archivo"/>
                <a:sym typeface="Archivo"/>
              </a:rPr>
              <a:t>Factors shaping performance</a:t>
            </a:r>
            <a:endParaRPr sz="2000">
              <a:solidFill>
                <a:srgbClr val="EAEAE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/>
          <p:nvPr/>
        </p:nvSpPr>
        <p:spPr>
          <a:xfrm>
            <a:off x="435875" y="1734688"/>
            <a:ext cx="4195200" cy="12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100" lIns="78225" spcFirstLastPara="1" rIns="78225" wrap="square" tIns="391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91"/>
              <a:buFont typeface="Inter"/>
              <a:buNone/>
            </a:pPr>
            <a:r>
              <a:rPr b="1" lang="en" sz="2822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rPr>
              <a:t>AI Overviews Are Reshaping Recovery Search Behavior</a:t>
            </a:r>
            <a:endParaRPr b="1" i="0" sz="2822" u="none" cap="none" strike="noStrike">
              <a:solidFill>
                <a:srgbClr val="08080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37" name="Google Shape;137;p24"/>
          <p:cNvSpPr/>
          <p:nvPr/>
        </p:nvSpPr>
        <p:spPr>
          <a:xfrm>
            <a:off x="435877" y="1451688"/>
            <a:ext cx="14115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100" lIns="68175" spcFirstLastPara="1" rIns="68175" wrap="square" tIns="341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783"/>
              <a:buFont typeface="Inter"/>
              <a:buNone/>
            </a:pPr>
            <a:r>
              <a:rPr i="1" lang="en" sz="983">
                <a:solidFill>
                  <a:srgbClr val="2B2B2A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Market Insights - SEO</a:t>
            </a:r>
            <a:endParaRPr i="1" sz="983">
              <a:solidFill>
                <a:srgbClr val="2B2B2A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138" name="Google Shape;138;p24"/>
          <p:cNvSpPr txBox="1"/>
          <p:nvPr/>
        </p:nvSpPr>
        <p:spPr>
          <a:xfrm>
            <a:off x="5179925" y="1069038"/>
            <a:ext cx="808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200">
                <a:solidFill>
                  <a:srgbClr val="080808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INSIGHTS</a:t>
            </a:r>
            <a:endParaRPr sz="1200">
              <a:solidFill>
                <a:srgbClr val="080808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cxnSp>
        <p:nvCxnSpPr>
          <p:cNvPr id="139" name="Google Shape;139;p24"/>
          <p:cNvCxnSpPr/>
          <p:nvPr/>
        </p:nvCxnSpPr>
        <p:spPr>
          <a:xfrm flipH="1">
            <a:off x="5988425" y="1159788"/>
            <a:ext cx="2184000" cy="3300"/>
          </a:xfrm>
          <a:prstGeom prst="straightConnector1">
            <a:avLst/>
          </a:prstGeom>
          <a:noFill/>
          <a:ln cap="flat" cmpd="sng" w="19050">
            <a:solidFill>
              <a:srgbClr val="FF2F0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" name="Google Shape;140;p24"/>
          <p:cNvSpPr txBox="1"/>
          <p:nvPr/>
        </p:nvSpPr>
        <p:spPr>
          <a:xfrm>
            <a:off x="5065325" y="1361545"/>
            <a:ext cx="3454500" cy="27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-195072" lvl="0" marL="29260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2B2A"/>
              </a:buClr>
              <a:buSzPts val="1200"/>
              <a:buFont typeface="Archivo"/>
              <a:buChar char="■"/>
            </a:pPr>
            <a:r>
              <a:rPr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AI Overviews now appear across many treatment-related searches such as</a:t>
            </a:r>
            <a:r>
              <a:rPr b="1"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 “</a:t>
            </a:r>
            <a:r>
              <a:rPr b="1" i="1"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residential rehab near me</a:t>
            </a:r>
            <a:r>
              <a:rPr b="1"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” </a:t>
            </a:r>
            <a:r>
              <a:rPr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and</a:t>
            </a:r>
            <a:r>
              <a:rPr b="1"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 “</a:t>
            </a:r>
            <a:r>
              <a:rPr b="1" i="1"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IOP mental health programs.</a:t>
            </a:r>
            <a:r>
              <a:rPr b="1"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”</a:t>
            </a:r>
            <a:endParaRPr sz="1200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195072" lvl="0" marL="292608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B2B2A"/>
              </a:buClr>
              <a:buSzPts val="1200"/>
              <a:buFont typeface="Archivo"/>
              <a:buChar char="■"/>
            </a:pPr>
            <a:r>
              <a:rPr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Sites with comprehensive service content, strong local SEO signals, and clear insurance information tend to be referenced more frequently.</a:t>
            </a:r>
            <a:endParaRPr sz="1200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195072" lvl="0" marL="292608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B2B2A"/>
              </a:buClr>
              <a:buSzPts val="1200"/>
              <a:buFont typeface="Archivo"/>
              <a:buChar char="■"/>
            </a:pPr>
            <a:r>
              <a:rPr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This shift emphasizes the need for content clarity, local authority, and structured metadata to ensure visibility.</a:t>
            </a:r>
            <a:endParaRPr sz="1200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EAEAE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41" name="Google Shape;141;p24"/>
          <p:cNvSpPr txBox="1"/>
          <p:nvPr/>
        </p:nvSpPr>
        <p:spPr>
          <a:xfrm>
            <a:off x="521675" y="3060488"/>
            <a:ext cx="40236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Google’s early rollout of AI-generated summaries is changing how patients discover treatment options.</a:t>
            </a:r>
            <a:endParaRPr sz="1200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AEA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 txBox="1"/>
          <p:nvPr/>
        </p:nvSpPr>
        <p:spPr>
          <a:xfrm>
            <a:off x="570500" y="579550"/>
            <a:ext cx="5855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080808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Who’s Winning AI Overview Visibility</a:t>
            </a:r>
            <a:endParaRPr sz="2400">
              <a:solidFill>
                <a:srgbClr val="080808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</p:txBody>
      </p:sp>
      <p:sp>
        <p:nvSpPr>
          <p:cNvPr id="147" name="Google Shape;147;p25"/>
          <p:cNvSpPr/>
          <p:nvPr/>
        </p:nvSpPr>
        <p:spPr>
          <a:xfrm>
            <a:off x="846250" y="411611"/>
            <a:ext cx="14598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100" lIns="68175" spcFirstLastPara="1" rIns="68175" wrap="square" tIns="341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783"/>
              <a:buFont typeface="Inter"/>
              <a:buNone/>
            </a:pPr>
            <a:r>
              <a:rPr i="1" lang="en" sz="983">
                <a:solidFill>
                  <a:srgbClr val="080808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Competitive Snapshot</a:t>
            </a:r>
            <a:endParaRPr i="1" sz="983">
              <a:solidFill>
                <a:srgbClr val="080808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148" name="Google Shape;148;p25"/>
          <p:cNvSpPr/>
          <p:nvPr/>
        </p:nvSpPr>
        <p:spPr>
          <a:xfrm>
            <a:off x="665875" y="457951"/>
            <a:ext cx="82800" cy="83100"/>
          </a:xfrm>
          <a:prstGeom prst="ellipse">
            <a:avLst/>
          </a:prstGeom>
          <a:solidFill>
            <a:srgbClr val="FF2F0A"/>
          </a:solidFill>
          <a:ln>
            <a:noFill/>
          </a:ln>
        </p:spPr>
        <p:txBody>
          <a:bodyPr anchorCtr="0" anchor="ctr" bIns="74500" lIns="74500" spcFirstLastPara="1" rIns="74500" wrap="square" tIns="74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41"/>
          </a:p>
        </p:txBody>
      </p:sp>
      <p:pic>
        <p:nvPicPr>
          <p:cNvPr id="149" name="Google Shape;149;p25" title="Desktop.png"/>
          <p:cNvPicPr preferRelativeResize="0"/>
          <p:nvPr/>
        </p:nvPicPr>
        <p:blipFill rotWithShape="1">
          <a:blip r:embed="rId3">
            <a:alphaModFix/>
          </a:blip>
          <a:srcRect b="0" l="0" r="27573" t="0"/>
          <a:stretch/>
        </p:blipFill>
        <p:spPr>
          <a:xfrm>
            <a:off x="4639550" y="1581425"/>
            <a:ext cx="4532850" cy="325539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453650" y="3555400"/>
            <a:ext cx="3656100" cy="996900"/>
          </a:xfrm>
          <a:prstGeom prst="roundRect">
            <a:avLst>
              <a:gd fmla="val 16667" name="adj"/>
            </a:avLst>
          </a:prstGeom>
          <a:solidFill>
            <a:srgbClr val="FF2F0A">
              <a:alpha val="15000"/>
            </a:srgbClr>
          </a:solidFill>
          <a:ln cap="flat" cmpd="sng" w="9525">
            <a:solidFill>
              <a:srgbClr val="FF2F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/>
          <p:nvPr/>
        </p:nvSpPr>
        <p:spPr>
          <a:xfrm>
            <a:off x="563288" y="3634006"/>
            <a:ext cx="17904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25" lIns="76025" spcFirstLastPara="1" rIns="76025" wrap="square" tIns="3802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873"/>
              <a:buFont typeface="Inter"/>
              <a:buNone/>
            </a:pPr>
            <a:r>
              <a:rPr lang="en" sz="1214">
                <a:solidFill>
                  <a:srgbClr val="FF2F0A"/>
                </a:solidFill>
                <a:latin typeface="Archivo"/>
                <a:ea typeface="Archivo"/>
                <a:cs typeface="Archivo"/>
                <a:sym typeface="Archivo"/>
              </a:rPr>
              <a:t>Key Insight</a:t>
            </a:r>
            <a:endParaRPr i="1" sz="1214">
              <a:solidFill>
                <a:srgbClr val="FF2F0A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152" name="Google Shape;152;p25"/>
          <p:cNvSpPr/>
          <p:nvPr/>
        </p:nvSpPr>
        <p:spPr>
          <a:xfrm>
            <a:off x="555275" y="3873505"/>
            <a:ext cx="3474000" cy="5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25" lIns="76025" spcFirstLastPara="1" rIns="76025" wrap="square" tIns="3802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873"/>
              <a:buFont typeface="Inter"/>
              <a:buNone/>
            </a:pPr>
            <a:r>
              <a:rPr lang="en" sz="1114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Without showing up in these summaries, Confidential Recovery is missing high-intent opportunities now being redirected to competing facilities.</a:t>
            </a:r>
            <a:endParaRPr sz="1114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53" name="Google Shape;153;p25"/>
          <p:cNvSpPr txBox="1"/>
          <p:nvPr/>
        </p:nvSpPr>
        <p:spPr>
          <a:xfrm>
            <a:off x="569525" y="1819625"/>
            <a:ext cx="542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200">
                <a:solidFill>
                  <a:srgbClr val="080808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WHAT</a:t>
            </a:r>
            <a:endParaRPr sz="1200">
              <a:solidFill>
                <a:srgbClr val="080808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cxnSp>
        <p:nvCxnSpPr>
          <p:cNvPr id="154" name="Google Shape;154;p25"/>
          <p:cNvCxnSpPr>
            <a:endCxn id="153" idx="3"/>
          </p:cNvCxnSpPr>
          <p:nvPr/>
        </p:nvCxnSpPr>
        <p:spPr>
          <a:xfrm flipH="1">
            <a:off x="1112225" y="1910225"/>
            <a:ext cx="2449800" cy="1800"/>
          </a:xfrm>
          <a:prstGeom prst="straightConnector1">
            <a:avLst/>
          </a:prstGeom>
          <a:noFill/>
          <a:ln cap="flat" cmpd="sng" w="19050">
            <a:solidFill>
              <a:srgbClr val="FF2F0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" name="Google Shape;155;p25"/>
          <p:cNvSpPr txBox="1"/>
          <p:nvPr/>
        </p:nvSpPr>
        <p:spPr>
          <a:xfrm>
            <a:off x="468575" y="2129875"/>
            <a:ext cx="3807000" cy="11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-195072" lvl="0" marL="29260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2B2A"/>
              </a:buClr>
              <a:buSzPts val="1200"/>
              <a:buFont typeface="Archivo"/>
              <a:buChar char="■"/>
            </a:pPr>
            <a:r>
              <a:rPr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AI-generated summaries now highlight facilities like Make Believe Recovery, Fake Mental Health Center, and Rehabs R Us for recovery searches.</a:t>
            </a:r>
            <a:endParaRPr sz="1200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195072" lvl="0" marL="292608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2B2B2A"/>
              </a:buClr>
              <a:buSzPts val="1200"/>
              <a:buFont typeface="Archivo"/>
              <a:buChar char="■"/>
            </a:pPr>
            <a:r>
              <a:rPr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Your competitors are receiving disproportionate visibility and early click-share.</a:t>
            </a:r>
            <a:endParaRPr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AEA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 txBox="1"/>
          <p:nvPr/>
        </p:nvSpPr>
        <p:spPr>
          <a:xfrm>
            <a:off x="248000" y="795900"/>
            <a:ext cx="3416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080808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Why we aren’t appearing in AI overviews</a:t>
            </a:r>
            <a:endParaRPr sz="2200">
              <a:solidFill>
                <a:srgbClr val="080808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</p:txBody>
      </p:sp>
      <p:sp>
        <p:nvSpPr>
          <p:cNvPr id="161" name="Google Shape;161;p26"/>
          <p:cNvSpPr/>
          <p:nvPr/>
        </p:nvSpPr>
        <p:spPr>
          <a:xfrm>
            <a:off x="523750" y="627950"/>
            <a:ext cx="24333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100" lIns="68175" spcFirstLastPara="1" rIns="68175" wrap="square" tIns="341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783"/>
              <a:buFont typeface="Inter"/>
              <a:buNone/>
            </a:pPr>
            <a:r>
              <a:rPr i="1" lang="en" sz="983">
                <a:solidFill>
                  <a:srgbClr val="080808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The Challenge</a:t>
            </a:r>
            <a:endParaRPr i="1" sz="983">
              <a:solidFill>
                <a:srgbClr val="080808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162" name="Google Shape;162;p26"/>
          <p:cNvSpPr/>
          <p:nvPr/>
        </p:nvSpPr>
        <p:spPr>
          <a:xfrm>
            <a:off x="343375" y="674288"/>
            <a:ext cx="82800" cy="83100"/>
          </a:xfrm>
          <a:prstGeom prst="ellipse">
            <a:avLst/>
          </a:prstGeom>
          <a:solidFill>
            <a:srgbClr val="FF2F0A"/>
          </a:solidFill>
          <a:ln>
            <a:noFill/>
          </a:ln>
        </p:spPr>
        <p:txBody>
          <a:bodyPr anchorCtr="0" anchor="ctr" bIns="74500" lIns="74500" spcFirstLastPara="1" rIns="74500" wrap="square" tIns="74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41"/>
          </a:p>
        </p:txBody>
      </p:sp>
      <p:sp>
        <p:nvSpPr>
          <p:cNvPr id="163" name="Google Shape;163;p26"/>
          <p:cNvSpPr txBox="1"/>
          <p:nvPr/>
        </p:nvSpPr>
        <p:spPr>
          <a:xfrm>
            <a:off x="303450" y="1771450"/>
            <a:ext cx="3249600" cy="27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2F0A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Current content depth and update frequency limit AI Overview eligibility.</a:t>
            </a:r>
            <a:endParaRPr>
              <a:solidFill>
                <a:srgbClr val="FF2F0A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Confidential Recovery isn’t appearing in AI Overviews because priority service pages don’t yet have the depth, structure, and topical authority signals.</a:t>
            </a:r>
            <a:endParaRPr sz="1200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98450" lvl="0" marL="3429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B2B2A"/>
              </a:buClr>
              <a:buSzPts val="1100"/>
              <a:buFont typeface="Inter"/>
              <a:buChar char="●"/>
            </a:pPr>
            <a:r>
              <a:rPr b="1" lang="en" sz="11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Content credits are spread thin, </a:t>
            </a:r>
            <a:r>
              <a:rPr lang="en" sz="11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limiting our ability to produce the long-form Signature Content AI Overviews favor.</a:t>
            </a:r>
            <a:endParaRPr sz="1100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9845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2B2A"/>
              </a:buClr>
              <a:buSzPts val="1100"/>
              <a:buFont typeface="Inter"/>
              <a:buChar char="●"/>
            </a:pPr>
            <a:r>
              <a:rPr b="1"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Competitors have been publishing content more frequently, </a:t>
            </a:r>
            <a:r>
              <a:rPr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reinforcing them as trusted sources.</a:t>
            </a:r>
            <a:endParaRPr sz="1200">
              <a:solidFill>
                <a:srgbClr val="2B2B2A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64" name="Google Shape;164;p26" title="ChatGPT Image Dec 10, 2025, 12_27_22 PM.png"/>
          <p:cNvPicPr preferRelativeResize="0"/>
          <p:nvPr/>
        </p:nvPicPr>
        <p:blipFill rotWithShape="1">
          <a:blip r:embed="rId3">
            <a:alphaModFix/>
          </a:blip>
          <a:srcRect b="4059" l="6063" r="7079" t="4105"/>
          <a:stretch/>
        </p:blipFill>
        <p:spPr>
          <a:xfrm>
            <a:off x="4125887" y="349800"/>
            <a:ext cx="2801838" cy="4443901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6"/>
          <p:cNvSpPr txBox="1"/>
          <p:nvPr/>
        </p:nvSpPr>
        <p:spPr>
          <a:xfrm>
            <a:off x="7169050" y="485988"/>
            <a:ext cx="808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200">
                <a:solidFill>
                  <a:srgbClr val="080808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Challenges</a:t>
            </a:r>
            <a:endParaRPr sz="1200">
              <a:solidFill>
                <a:srgbClr val="080808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cxnSp>
        <p:nvCxnSpPr>
          <p:cNvPr id="166" name="Google Shape;166;p26"/>
          <p:cNvCxnSpPr/>
          <p:nvPr/>
        </p:nvCxnSpPr>
        <p:spPr>
          <a:xfrm flipH="1">
            <a:off x="8032900" y="577150"/>
            <a:ext cx="803700" cy="1800"/>
          </a:xfrm>
          <a:prstGeom prst="straightConnector1">
            <a:avLst/>
          </a:prstGeom>
          <a:noFill/>
          <a:ln cap="flat" cmpd="sng" w="19050">
            <a:solidFill>
              <a:srgbClr val="FF2F0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7" name="Google Shape;167;p26"/>
          <p:cNvSpPr txBox="1"/>
          <p:nvPr/>
        </p:nvSpPr>
        <p:spPr>
          <a:xfrm>
            <a:off x="7118050" y="778225"/>
            <a:ext cx="1797900" cy="25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-195072" lvl="0" marL="29260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2B2A"/>
              </a:buClr>
              <a:buSzPts val="1200"/>
              <a:buFont typeface="Archivo"/>
              <a:buChar char="■"/>
            </a:pPr>
            <a:r>
              <a:rPr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Too thin to qualify for AI Overview inclusion.</a:t>
            </a:r>
            <a:endParaRPr sz="1200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195072" lvl="0" marL="292608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B2B2A"/>
              </a:buClr>
              <a:buSzPts val="1200"/>
              <a:buFont typeface="Archivo"/>
              <a:buChar char="■"/>
            </a:pPr>
            <a:r>
              <a:rPr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Missing the content depth competitors have.</a:t>
            </a:r>
            <a:endParaRPr sz="1200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195072" lvl="0" marL="292608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2B2B2A"/>
              </a:buClr>
              <a:buSzPts val="1200"/>
              <a:buFont typeface="Archivo"/>
              <a:buChar char="■"/>
            </a:pPr>
            <a:r>
              <a:rPr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Insufficient structured information for AI summarization.</a:t>
            </a:r>
            <a:endParaRPr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7"/>
          <p:cNvSpPr/>
          <p:nvPr/>
        </p:nvSpPr>
        <p:spPr>
          <a:xfrm>
            <a:off x="569713" y="493563"/>
            <a:ext cx="1021500" cy="246600"/>
          </a:xfrm>
          <a:prstGeom prst="roundRect">
            <a:avLst>
              <a:gd fmla="val 16667" name="adj"/>
            </a:avLst>
          </a:prstGeom>
          <a:solidFill>
            <a:srgbClr val="FF2F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7"/>
          <p:cNvSpPr txBox="1"/>
          <p:nvPr/>
        </p:nvSpPr>
        <p:spPr>
          <a:xfrm>
            <a:off x="569713" y="1934988"/>
            <a:ext cx="41196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We recommend re-allocating content credits toward deeper, more authoritative content that aligns with AI Overview requirements.</a:t>
            </a:r>
            <a:endParaRPr sz="1200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74" name="Google Shape;174;p27"/>
          <p:cNvSpPr/>
          <p:nvPr/>
        </p:nvSpPr>
        <p:spPr>
          <a:xfrm>
            <a:off x="506124" y="1012250"/>
            <a:ext cx="4379400" cy="8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100" lIns="78225" spcFirstLastPara="1" rIns="78225" wrap="square" tIns="391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91"/>
              <a:buFont typeface="Inter"/>
              <a:buNone/>
            </a:pPr>
            <a:r>
              <a:rPr b="1" lang="en" sz="2622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rPr>
              <a:t>Shift Current Content Credits for AI Overviews</a:t>
            </a:r>
            <a:endParaRPr b="1" i="0" sz="2622" u="none" cap="none" strike="noStrike">
              <a:solidFill>
                <a:srgbClr val="08080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75" name="Google Shape;175;p27"/>
          <p:cNvSpPr/>
          <p:nvPr/>
        </p:nvSpPr>
        <p:spPr>
          <a:xfrm>
            <a:off x="663613" y="528963"/>
            <a:ext cx="8085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100" lIns="68175" spcFirstLastPara="1" rIns="68175" wrap="square" tIns="341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783"/>
              <a:buFont typeface="Inter"/>
              <a:buNone/>
            </a:pPr>
            <a:r>
              <a:rPr i="1" lang="en" sz="983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Opportunity</a:t>
            </a:r>
            <a:endParaRPr i="1" sz="983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176" name="Google Shape;176;p27"/>
          <p:cNvSpPr txBox="1"/>
          <p:nvPr/>
        </p:nvSpPr>
        <p:spPr>
          <a:xfrm>
            <a:off x="5001888" y="941213"/>
            <a:ext cx="1012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200">
                <a:solidFill>
                  <a:srgbClr val="080808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KEY POINTS</a:t>
            </a:r>
            <a:endParaRPr sz="1200">
              <a:solidFill>
                <a:srgbClr val="080808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cxnSp>
        <p:nvCxnSpPr>
          <p:cNvPr id="177" name="Google Shape;177;p27"/>
          <p:cNvCxnSpPr/>
          <p:nvPr/>
        </p:nvCxnSpPr>
        <p:spPr>
          <a:xfrm flipH="1">
            <a:off x="6057338" y="1027063"/>
            <a:ext cx="2466300" cy="8100"/>
          </a:xfrm>
          <a:prstGeom prst="straightConnector1">
            <a:avLst/>
          </a:prstGeom>
          <a:noFill/>
          <a:ln cap="flat" cmpd="sng" w="19050">
            <a:solidFill>
              <a:srgbClr val="FF2F0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8" name="Google Shape;178;p27"/>
          <p:cNvSpPr txBox="1"/>
          <p:nvPr/>
        </p:nvSpPr>
        <p:spPr>
          <a:xfrm>
            <a:off x="5001900" y="1281450"/>
            <a:ext cx="3759000" cy="13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-195072" lvl="0" marL="29260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2B2A"/>
              </a:buClr>
              <a:buSzPts val="1200"/>
              <a:buFont typeface="Archivo"/>
              <a:buChar char="■"/>
            </a:pPr>
            <a:r>
              <a:rPr b="1"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Foundational SEO is in place: </a:t>
            </a:r>
            <a:r>
              <a:rPr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baseline rankings, technical improvements are now established.</a:t>
            </a:r>
            <a:endParaRPr sz="1200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195072" lvl="0" marL="292608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B2B2A"/>
              </a:buClr>
              <a:buSzPts val="1200"/>
              <a:buFont typeface="Archivo"/>
              <a:buChar char="■"/>
            </a:pPr>
            <a:r>
              <a:rPr b="1"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AI Overviews demand depth, freshness, and structured expertise, </a:t>
            </a:r>
            <a:r>
              <a:rPr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reallocating credits lets us strengthen core service pages without increasing spend.</a:t>
            </a:r>
            <a:endParaRPr sz="1200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179" name="Google Shape;179;p27"/>
          <p:cNvGrpSpPr/>
          <p:nvPr/>
        </p:nvGrpSpPr>
        <p:grpSpPr>
          <a:xfrm>
            <a:off x="445462" y="3123343"/>
            <a:ext cx="2210879" cy="1651519"/>
            <a:chOff x="569724" y="3188290"/>
            <a:chExt cx="2210879" cy="1651519"/>
          </a:xfrm>
        </p:grpSpPr>
        <p:sp>
          <p:nvSpPr>
            <p:cNvPr id="180" name="Google Shape;180;p27"/>
            <p:cNvSpPr/>
            <p:nvPr/>
          </p:nvSpPr>
          <p:spPr>
            <a:xfrm>
              <a:off x="569724" y="3188290"/>
              <a:ext cx="2066700" cy="26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375" lIns="84800" spcFirstLastPara="1" rIns="84800" wrap="square" tIns="42375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868"/>
                <a:buFont typeface="Inter"/>
                <a:buNone/>
              </a:pPr>
              <a:r>
                <a:rPr b="1" lang="en" sz="1216">
                  <a:solidFill>
                    <a:srgbClr val="080808"/>
                  </a:solidFill>
                  <a:latin typeface="Archivo"/>
                  <a:ea typeface="Archivo"/>
                  <a:cs typeface="Archivo"/>
                  <a:sym typeface="Archivo"/>
                </a:rPr>
                <a:t>Current Credit Allocation</a:t>
              </a:r>
              <a:endParaRPr b="1" i="0" sz="1216" u="none" cap="none" strike="noStrike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181" name="Google Shape;181;p27"/>
            <p:cNvSpPr/>
            <p:nvPr/>
          </p:nvSpPr>
          <p:spPr>
            <a:xfrm>
              <a:off x="640640" y="3553925"/>
              <a:ext cx="147900" cy="147900"/>
            </a:xfrm>
            <a:prstGeom prst="rect">
              <a:avLst/>
            </a:prstGeom>
            <a:solidFill>
              <a:srgbClr val="FF2F0A"/>
            </a:solidFill>
            <a:ln>
              <a:noFill/>
            </a:ln>
          </p:spPr>
          <p:txBody>
            <a:bodyPr anchorCtr="0" anchor="ctr" bIns="77050" lIns="77050" spcFirstLastPara="1" rIns="77050" wrap="square" tIns="77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79"/>
            </a:p>
          </p:txBody>
        </p:sp>
        <p:sp>
          <p:nvSpPr>
            <p:cNvPr id="182" name="Google Shape;182;p27"/>
            <p:cNvSpPr/>
            <p:nvPr/>
          </p:nvSpPr>
          <p:spPr>
            <a:xfrm>
              <a:off x="640640" y="3796484"/>
              <a:ext cx="147900" cy="147900"/>
            </a:xfrm>
            <a:prstGeom prst="rect">
              <a:avLst/>
            </a:prstGeom>
            <a:solidFill>
              <a:srgbClr val="31AA98"/>
            </a:solidFill>
            <a:ln>
              <a:noFill/>
            </a:ln>
          </p:spPr>
          <p:txBody>
            <a:bodyPr anchorCtr="0" anchor="ctr" bIns="77050" lIns="77050" spcFirstLastPara="1" rIns="77050" wrap="square" tIns="77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79"/>
            </a:p>
          </p:txBody>
        </p:sp>
        <p:sp>
          <p:nvSpPr>
            <p:cNvPr id="183" name="Google Shape;183;p27"/>
            <p:cNvSpPr/>
            <p:nvPr/>
          </p:nvSpPr>
          <p:spPr>
            <a:xfrm>
              <a:off x="640640" y="4039044"/>
              <a:ext cx="147900" cy="147900"/>
            </a:xfrm>
            <a:prstGeom prst="rect">
              <a:avLst/>
            </a:prstGeom>
            <a:solidFill>
              <a:srgbClr val="F94C25"/>
            </a:solidFill>
            <a:ln>
              <a:noFill/>
            </a:ln>
          </p:spPr>
          <p:txBody>
            <a:bodyPr anchorCtr="0" anchor="ctr" bIns="77050" lIns="77050" spcFirstLastPara="1" rIns="77050" wrap="square" tIns="77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79"/>
            </a:p>
          </p:txBody>
        </p:sp>
        <p:sp>
          <p:nvSpPr>
            <p:cNvPr id="184" name="Google Shape;184;p27"/>
            <p:cNvSpPr/>
            <p:nvPr/>
          </p:nvSpPr>
          <p:spPr>
            <a:xfrm>
              <a:off x="640640" y="4281603"/>
              <a:ext cx="147900" cy="147900"/>
            </a:xfrm>
            <a:prstGeom prst="rect">
              <a:avLst/>
            </a:prstGeom>
            <a:solidFill>
              <a:srgbClr val="715DC0"/>
            </a:solidFill>
            <a:ln>
              <a:noFill/>
            </a:ln>
          </p:spPr>
          <p:txBody>
            <a:bodyPr anchorCtr="0" anchor="ctr" bIns="77050" lIns="77050" spcFirstLastPara="1" rIns="77050" wrap="square" tIns="77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79"/>
            </a:p>
          </p:txBody>
        </p:sp>
        <p:sp>
          <p:nvSpPr>
            <p:cNvPr id="185" name="Google Shape;185;p27"/>
            <p:cNvSpPr/>
            <p:nvPr/>
          </p:nvSpPr>
          <p:spPr>
            <a:xfrm>
              <a:off x="831875" y="3553925"/>
              <a:ext cx="1107300" cy="1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375" lIns="84800" spcFirstLastPara="1" rIns="84800" wrap="square" tIns="42375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868"/>
                <a:buFont typeface="Inter"/>
                <a:buNone/>
              </a:pPr>
              <a:r>
                <a:rPr lang="en" sz="674">
                  <a:solidFill>
                    <a:srgbClr val="080808"/>
                  </a:solidFill>
                  <a:latin typeface="Archivo"/>
                  <a:ea typeface="Archivo"/>
                  <a:cs typeface="Archivo"/>
                  <a:sym typeface="Archivo"/>
                </a:rPr>
                <a:t>Signature Content (x1)</a:t>
              </a:r>
              <a:endParaRPr i="0" sz="674" u="none" cap="none" strike="noStrike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186" name="Google Shape;186;p27"/>
            <p:cNvSpPr/>
            <p:nvPr/>
          </p:nvSpPr>
          <p:spPr>
            <a:xfrm>
              <a:off x="1875503" y="3553925"/>
              <a:ext cx="905100" cy="1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375" lIns="84800" spcFirstLastPara="1" rIns="84800" wrap="square" tIns="42375">
              <a:no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868"/>
                <a:buFont typeface="Inter"/>
                <a:buNone/>
              </a:pPr>
              <a:r>
                <a:rPr b="1" lang="en" sz="674">
                  <a:solidFill>
                    <a:srgbClr val="080808"/>
                  </a:solidFill>
                  <a:latin typeface="Archivo"/>
                  <a:ea typeface="Archivo"/>
                  <a:cs typeface="Archivo"/>
                  <a:sym typeface="Archivo"/>
                </a:rPr>
                <a:t>2 Credits</a:t>
              </a:r>
              <a:endParaRPr b="1" i="0" sz="674" u="none" cap="none" strike="noStrike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187" name="Google Shape;187;p27"/>
            <p:cNvSpPr/>
            <p:nvPr/>
          </p:nvSpPr>
          <p:spPr>
            <a:xfrm>
              <a:off x="831875" y="3800225"/>
              <a:ext cx="996600" cy="1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375" lIns="84800" spcFirstLastPara="1" rIns="84800" wrap="square" tIns="42375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868"/>
                <a:buFont typeface="Inter"/>
                <a:buNone/>
              </a:pPr>
              <a:r>
                <a:rPr lang="en" sz="674">
                  <a:solidFill>
                    <a:srgbClr val="080808"/>
                  </a:solidFill>
                  <a:latin typeface="Archivo"/>
                  <a:ea typeface="Archivo"/>
                  <a:cs typeface="Archivo"/>
                  <a:sym typeface="Archivo"/>
                </a:rPr>
                <a:t>Service Content </a:t>
              </a:r>
              <a:r>
                <a:rPr lang="en" sz="674">
                  <a:solidFill>
                    <a:srgbClr val="080808"/>
                  </a:solidFill>
                  <a:latin typeface="Archivo"/>
                  <a:ea typeface="Archivo"/>
                  <a:cs typeface="Archivo"/>
                  <a:sym typeface="Archivo"/>
                </a:rPr>
                <a:t>(x1)</a:t>
              </a:r>
              <a:endParaRPr i="0" sz="674" u="none" cap="none" strike="noStrike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188" name="Google Shape;188;p27"/>
            <p:cNvSpPr/>
            <p:nvPr/>
          </p:nvSpPr>
          <p:spPr>
            <a:xfrm>
              <a:off x="1875503" y="3800220"/>
              <a:ext cx="905100" cy="1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375" lIns="84800" spcFirstLastPara="1" rIns="84800" wrap="square" tIns="42375">
              <a:no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868"/>
                <a:buFont typeface="Inter"/>
                <a:buNone/>
              </a:pPr>
              <a:r>
                <a:rPr b="1" lang="en" sz="674">
                  <a:solidFill>
                    <a:srgbClr val="080808"/>
                  </a:solidFill>
                  <a:latin typeface="Archivo"/>
                  <a:ea typeface="Archivo"/>
                  <a:cs typeface="Archivo"/>
                  <a:sym typeface="Archivo"/>
                </a:rPr>
                <a:t>2 Credits</a:t>
              </a:r>
              <a:endParaRPr b="1" i="0" sz="674" u="none" cap="none" strike="noStrike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189" name="Google Shape;189;p27"/>
            <p:cNvSpPr/>
            <p:nvPr/>
          </p:nvSpPr>
          <p:spPr>
            <a:xfrm>
              <a:off x="831875" y="4046525"/>
              <a:ext cx="996600" cy="1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375" lIns="84800" spcFirstLastPara="1" rIns="84800" wrap="square" tIns="42375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868"/>
                <a:buFont typeface="Inter"/>
                <a:buNone/>
              </a:pPr>
              <a:r>
                <a:rPr lang="en" sz="674">
                  <a:solidFill>
                    <a:srgbClr val="080808"/>
                  </a:solidFill>
                  <a:latin typeface="Archivo"/>
                  <a:ea typeface="Archivo"/>
                  <a:cs typeface="Archivo"/>
                  <a:sym typeface="Archivo"/>
                </a:rPr>
                <a:t>Scale Content </a:t>
              </a:r>
              <a:r>
                <a:rPr lang="en" sz="674">
                  <a:solidFill>
                    <a:srgbClr val="080808"/>
                  </a:solidFill>
                  <a:latin typeface="Archivo"/>
                  <a:ea typeface="Archivo"/>
                  <a:cs typeface="Archivo"/>
                  <a:sym typeface="Archivo"/>
                </a:rPr>
                <a:t>(x1)</a:t>
              </a:r>
              <a:endParaRPr i="0" sz="674" u="none" cap="none" strike="noStrike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190" name="Google Shape;190;p27"/>
            <p:cNvSpPr/>
            <p:nvPr/>
          </p:nvSpPr>
          <p:spPr>
            <a:xfrm>
              <a:off x="1875503" y="4046514"/>
              <a:ext cx="905100" cy="1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375" lIns="84800" spcFirstLastPara="1" rIns="84800" wrap="square" tIns="42375">
              <a:no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868"/>
                <a:buFont typeface="Inter"/>
                <a:buNone/>
              </a:pPr>
              <a:r>
                <a:rPr b="1" lang="en" sz="674">
                  <a:solidFill>
                    <a:srgbClr val="080808"/>
                  </a:solidFill>
                  <a:latin typeface="Archivo"/>
                  <a:ea typeface="Archivo"/>
                  <a:cs typeface="Archivo"/>
                  <a:sym typeface="Archivo"/>
                </a:rPr>
                <a:t>1 Credit</a:t>
              </a:r>
              <a:endParaRPr b="1" i="0" sz="674" u="none" cap="none" strike="noStrike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191" name="Google Shape;191;p27"/>
            <p:cNvSpPr/>
            <p:nvPr/>
          </p:nvSpPr>
          <p:spPr>
            <a:xfrm>
              <a:off x="831875" y="4281600"/>
              <a:ext cx="996600" cy="1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375" lIns="84800" spcFirstLastPara="1" rIns="84800" wrap="square" tIns="42375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868"/>
                <a:buFont typeface="Inter"/>
                <a:buNone/>
              </a:pPr>
              <a:r>
                <a:rPr lang="en" sz="674">
                  <a:solidFill>
                    <a:srgbClr val="080808"/>
                  </a:solidFill>
                  <a:latin typeface="Archivo"/>
                  <a:ea typeface="Archivo"/>
                  <a:cs typeface="Archivo"/>
                  <a:sym typeface="Archivo"/>
                </a:rPr>
                <a:t>Content Updates</a:t>
              </a:r>
              <a:endParaRPr i="0" sz="674" u="none" cap="none" strike="noStrike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192" name="Google Shape;192;p27"/>
            <p:cNvSpPr/>
            <p:nvPr/>
          </p:nvSpPr>
          <p:spPr>
            <a:xfrm>
              <a:off x="1875503" y="4281590"/>
              <a:ext cx="905100" cy="1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375" lIns="84800" spcFirstLastPara="1" rIns="84800" wrap="square" tIns="42375">
              <a:no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868"/>
                <a:buFont typeface="Inter"/>
                <a:buNone/>
              </a:pPr>
              <a:r>
                <a:rPr b="1" lang="en" sz="674">
                  <a:solidFill>
                    <a:srgbClr val="080808"/>
                  </a:solidFill>
                  <a:latin typeface="Archivo"/>
                  <a:ea typeface="Archivo"/>
                  <a:cs typeface="Archivo"/>
                  <a:sym typeface="Archivo"/>
                </a:rPr>
                <a:t>0 Credits</a:t>
              </a:r>
              <a:endParaRPr b="1" i="0" sz="674" u="none" cap="none" strike="noStrike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cxnSp>
          <p:nvCxnSpPr>
            <p:cNvPr id="193" name="Google Shape;193;p27"/>
            <p:cNvCxnSpPr/>
            <p:nvPr/>
          </p:nvCxnSpPr>
          <p:spPr>
            <a:xfrm>
              <a:off x="653810" y="4603516"/>
              <a:ext cx="2076300" cy="0"/>
            </a:xfrm>
            <a:prstGeom prst="straightConnector1">
              <a:avLst/>
            </a:prstGeom>
            <a:noFill/>
            <a:ln cap="flat" cmpd="sng" w="10325">
              <a:solidFill>
                <a:srgbClr val="B8B7B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4" name="Google Shape;194;p27"/>
            <p:cNvSpPr/>
            <p:nvPr/>
          </p:nvSpPr>
          <p:spPr>
            <a:xfrm>
              <a:off x="569724" y="4691910"/>
              <a:ext cx="905100" cy="1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375" lIns="84800" spcFirstLastPara="1" rIns="84800" wrap="square" tIns="42375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868"/>
                <a:buFont typeface="Inter"/>
                <a:buNone/>
              </a:pPr>
              <a:r>
                <a:rPr b="1" lang="en" sz="782">
                  <a:solidFill>
                    <a:srgbClr val="080808"/>
                  </a:solidFill>
                  <a:latin typeface="Archivo"/>
                  <a:ea typeface="Archivo"/>
                  <a:cs typeface="Archivo"/>
                  <a:sym typeface="Archivo"/>
                </a:rPr>
                <a:t>Total: 5 Credits</a:t>
              </a:r>
              <a:endParaRPr b="1" i="0" sz="782" u="none" cap="none" strike="noStrike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  <p:grpSp>
        <p:nvGrpSpPr>
          <p:cNvPr id="195" name="Google Shape;195;p27"/>
          <p:cNvGrpSpPr/>
          <p:nvPr/>
        </p:nvGrpSpPr>
        <p:grpSpPr>
          <a:xfrm>
            <a:off x="3345237" y="3123352"/>
            <a:ext cx="2332201" cy="1651510"/>
            <a:chOff x="3530624" y="3117950"/>
            <a:chExt cx="2332201" cy="1651510"/>
          </a:xfrm>
        </p:grpSpPr>
        <p:sp>
          <p:nvSpPr>
            <p:cNvPr id="196" name="Google Shape;196;p27"/>
            <p:cNvSpPr/>
            <p:nvPr/>
          </p:nvSpPr>
          <p:spPr>
            <a:xfrm>
              <a:off x="3530625" y="3117950"/>
              <a:ext cx="2332200" cy="26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375" lIns="84800" spcFirstLastPara="1" rIns="84800" wrap="square" tIns="42375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868"/>
                <a:buFont typeface="Inter"/>
                <a:buNone/>
              </a:pPr>
              <a:r>
                <a:rPr b="1" lang="en" sz="1216">
                  <a:solidFill>
                    <a:srgbClr val="080808"/>
                  </a:solidFill>
                  <a:latin typeface="Archivo"/>
                  <a:ea typeface="Archivo"/>
                  <a:cs typeface="Archivo"/>
                  <a:sym typeface="Archivo"/>
                </a:rPr>
                <a:t>Recommended Reallocation</a:t>
              </a:r>
              <a:endParaRPr b="1" sz="1216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197" name="Google Shape;197;p27"/>
            <p:cNvSpPr/>
            <p:nvPr/>
          </p:nvSpPr>
          <p:spPr>
            <a:xfrm>
              <a:off x="3601540" y="3483575"/>
              <a:ext cx="147900" cy="147900"/>
            </a:xfrm>
            <a:prstGeom prst="rect">
              <a:avLst/>
            </a:prstGeom>
            <a:solidFill>
              <a:srgbClr val="FF2F0A"/>
            </a:solidFill>
            <a:ln>
              <a:noFill/>
            </a:ln>
          </p:spPr>
          <p:txBody>
            <a:bodyPr anchorCtr="0" anchor="ctr" bIns="77050" lIns="77050" spcFirstLastPara="1" rIns="77050" wrap="square" tIns="77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79"/>
            </a:p>
          </p:txBody>
        </p:sp>
        <p:sp>
          <p:nvSpPr>
            <p:cNvPr id="198" name="Google Shape;198;p27"/>
            <p:cNvSpPr/>
            <p:nvPr/>
          </p:nvSpPr>
          <p:spPr>
            <a:xfrm>
              <a:off x="3601540" y="3726134"/>
              <a:ext cx="147900" cy="147900"/>
            </a:xfrm>
            <a:prstGeom prst="rect">
              <a:avLst/>
            </a:prstGeom>
            <a:solidFill>
              <a:srgbClr val="31AA98"/>
            </a:solidFill>
            <a:ln>
              <a:noFill/>
            </a:ln>
          </p:spPr>
          <p:txBody>
            <a:bodyPr anchorCtr="0" anchor="ctr" bIns="77050" lIns="77050" spcFirstLastPara="1" rIns="77050" wrap="square" tIns="77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79"/>
            </a:p>
          </p:txBody>
        </p:sp>
        <p:sp>
          <p:nvSpPr>
            <p:cNvPr id="199" name="Google Shape;199;p27"/>
            <p:cNvSpPr/>
            <p:nvPr/>
          </p:nvSpPr>
          <p:spPr>
            <a:xfrm>
              <a:off x="3601540" y="3968694"/>
              <a:ext cx="147900" cy="147900"/>
            </a:xfrm>
            <a:prstGeom prst="rect">
              <a:avLst/>
            </a:prstGeom>
            <a:solidFill>
              <a:srgbClr val="F94C25"/>
            </a:solidFill>
            <a:ln>
              <a:noFill/>
            </a:ln>
          </p:spPr>
          <p:txBody>
            <a:bodyPr anchorCtr="0" anchor="ctr" bIns="77050" lIns="77050" spcFirstLastPara="1" rIns="77050" wrap="square" tIns="77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79"/>
            </a:p>
          </p:txBody>
        </p:sp>
        <p:sp>
          <p:nvSpPr>
            <p:cNvPr id="200" name="Google Shape;200;p27"/>
            <p:cNvSpPr/>
            <p:nvPr/>
          </p:nvSpPr>
          <p:spPr>
            <a:xfrm>
              <a:off x="3601540" y="4211253"/>
              <a:ext cx="147900" cy="147900"/>
            </a:xfrm>
            <a:prstGeom prst="rect">
              <a:avLst/>
            </a:prstGeom>
            <a:solidFill>
              <a:srgbClr val="715DC0"/>
            </a:solidFill>
            <a:ln>
              <a:noFill/>
            </a:ln>
          </p:spPr>
          <p:txBody>
            <a:bodyPr anchorCtr="0" anchor="ctr" bIns="77050" lIns="77050" spcFirstLastPara="1" rIns="77050" wrap="square" tIns="77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79"/>
            </a:p>
          </p:txBody>
        </p:sp>
        <p:sp>
          <p:nvSpPr>
            <p:cNvPr id="201" name="Google Shape;201;p27"/>
            <p:cNvSpPr/>
            <p:nvPr/>
          </p:nvSpPr>
          <p:spPr>
            <a:xfrm>
              <a:off x="3792776" y="3483575"/>
              <a:ext cx="1064100" cy="1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375" lIns="84800" spcFirstLastPara="1" rIns="84800" wrap="square" tIns="42375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868"/>
                <a:buFont typeface="Inter"/>
                <a:buNone/>
              </a:pPr>
              <a:r>
                <a:rPr lang="en" sz="674">
                  <a:solidFill>
                    <a:srgbClr val="080808"/>
                  </a:solidFill>
                  <a:latin typeface="Archivo"/>
                  <a:ea typeface="Archivo"/>
                  <a:cs typeface="Archivo"/>
                  <a:sym typeface="Archivo"/>
                </a:rPr>
                <a:t>Signature Content </a:t>
              </a:r>
              <a:r>
                <a:rPr lang="en" sz="674">
                  <a:solidFill>
                    <a:srgbClr val="080808"/>
                  </a:solidFill>
                  <a:latin typeface="Archivo"/>
                  <a:ea typeface="Archivo"/>
                  <a:cs typeface="Archivo"/>
                  <a:sym typeface="Archivo"/>
                </a:rPr>
                <a:t>(x1)</a:t>
              </a:r>
              <a:endParaRPr i="0" sz="674" u="none" cap="none" strike="noStrike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02" name="Google Shape;202;p27"/>
            <p:cNvSpPr/>
            <p:nvPr/>
          </p:nvSpPr>
          <p:spPr>
            <a:xfrm>
              <a:off x="4836403" y="3483575"/>
              <a:ext cx="905100" cy="1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375" lIns="84800" spcFirstLastPara="1" rIns="84800" wrap="square" tIns="42375">
              <a:no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868"/>
                <a:buFont typeface="Inter"/>
                <a:buNone/>
              </a:pPr>
              <a:r>
                <a:rPr b="1" lang="en" sz="674">
                  <a:solidFill>
                    <a:srgbClr val="080808"/>
                  </a:solidFill>
                  <a:latin typeface="Archivo"/>
                  <a:ea typeface="Archivo"/>
                  <a:cs typeface="Archivo"/>
                  <a:sym typeface="Archivo"/>
                </a:rPr>
                <a:t>2 Credits</a:t>
              </a:r>
              <a:endParaRPr b="1" i="0" sz="674" u="none" cap="none" strike="noStrike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03" name="Google Shape;203;p27"/>
            <p:cNvSpPr/>
            <p:nvPr/>
          </p:nvSpPr>
          <p:spPr>
            <a:xfrm>
              <a:off x="3792772" y="3729870"/>
              <a:ext cx="905100" cy="1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375" lIns="84800" spcFirstLastPara="1" rIns="84800" wrap="square" tIns="42375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868"/>
                <a:buFont typeface="Inter"/>
                <a:buNone/>
              </a:pPr>
              <a:r>
                <a:rPr lang="en" sz="674">
                  <a:solidFill>
                    <a:srgbClr val="080808"/>
                  </a:solidFill>
                  <a:latin typeface="Archivo"/>
                  <a:ea typeface="Archivo"/>
                  <a:cs typeface="Archivo"/>
                  <a:sym typeface="Archivo"/>
                </a:rPr>
                <a:t>Service Content</a:t>
              </a:r>
              <a:endParaRPr i="0" sz="674" u="none" cap="none" strike="noStrike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04" name="Google Shape;204;p27"/>
            <p:cNvSpPr/>
            <p:nvPr/>
          </p:nvSpPr>
          <p:spPr>
            <a:xfrm>
              <a:off x="4836403" y="3729870"/>
              <a:ext cx="905100" cy="1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375" lIns="84800" spcFirstLastPara="1" rIns="84800" wrap="square" tIns="42375">
              <a:no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868"/>
                <a:buFont typeface="Inter"/>
                <a:buNone/>
              </a:pPr>
              <a:r>
                <a:rPr b="1" lang="en" sz="674">
                  <a:solidFill>
                    <a:srgbClr val="080808"/>
                  </a:solidFill>
                  <a:latin typeface="Archivo"/>
                  <a:ea typeface="Archivo"/>
                  <a:cs typeface="Archivo"/>
                  <a:sym typeface="Archivo"/>
                </a:rPr>
                <a:t>0</a:t>
              </a:r>
              <a:r>
                <a:rPr b="1" lang="en" sz="674">
                  <a:solidFill>
                    <a:srgbClr val="080808"/>
                  </a:solidFill>
                  <a:latin typeface="Archivo"/>
                  <a:ea typeface="Archivo"/>
                  <a:cs typeface="Archivo"/>
                  <a:sym typeface="Archivo"/>
                </a:rPr>
                <a:t> Credits</a:t>
              </a:r>
              <a:endParaRPr b="1" i="0" sz="674" u="none" cap="none" strike="noStrike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05" name="Google Shape;205;p27"/>
            <p:cNvSpPr/>
            <p:nvPr/>
          </p:nvSpPr>
          <p:spPr>
            <a:xfrm>
              <a:off x="3792772" y="3976164"/>
              <a:ext cx="905100" cy="1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375" lIns="84800" spcFirstLastPara="1" rIns="84800" wrap="square" tIns="42375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868"/>
                <a:buFont typeface="Inter"/>
                <a:buNone/>
              </a:pPr>
              <a:r>
                <a:rPr lang="en" sz="674">
                  <a:solidFill>
                    <a:srgbClr val="080808"/>
                  </a:solidFill>
                  <a:latin typeface="Archivo"/>
                  <a:ea typeface="Archivo"/>
                  <a:cs typeface="Archivo"/>
                  <a:sym typeface="Archivo"/>
                </a:rPr>
                <a:t>Scale Content</a:t>
              </a:r>
              <a:endParaRPr i="0" sz="674" u="none" cap="none" strike="noStrike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06" name="Google Shape;206;p27"/>
            <p:cNvSpPr/>
            <p:nvPr/>
          </p:nvSpPr>
          <p:spPr>
            <a:xfrm>
              <a:off x="4836403" y="3976164"/>
              <a:ext cx="905100" cy="1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375" lIns="84800" spcFirstLastPara="1" rIns="84800" wrap="square" tIns="42375">
              <a:no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868"/>
                <a:buFont typeface="Inter"/>
                <a:buNone/>
              </a:pPr>
              <a:r>
                <a:rPr b="1" lang="en" sz="674">
                  <a:solidFill>
                    <a:srgbClr val="080808"/>
                  </a:solidFill>
                  <a:latin typeface="Archivo"/>
                  <a:ea typeface="Archivo"/>
                  <a:cs typeface="Archivo"/>
                  <a:sym typeface="Archivo"/>
                </a:rPr>
                <a:t>0 </a:t>
              </a:r>
              <a:r>
                <a:rPr b="1" lang="en" sz="674">
                  <a:solidFill>
                    <a:srgbClr val="080808"/>
                  </a:solidFill>
                  <a:latin typeface="Archivo"/>
                  <a:ea typeface="Archivo"/>
                  <a:cs typeface="Archivo"/>
                  <a:sym typeface="Archivo"/>
                </a:rPr>
                <a:t>Credit</a:t>
              </a:r>
              <a:endParaRPr b="1" i="0" sz="674" u="none" cap="none" strike="noStrike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07" name="Google Shape;207;p27"/>
            <p:cNvSpPr/>
            <p:nvPr/>
          </p:nvSpPr>
          <p:spPr>
            <a:xfrm>
              <a:off x="3792775" y="4211250"/>
              <a:ext cx="1021500" cy="1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375" lIns="84800" spcFirstLastPara="1" rIns="84800" wrap="square" tIns="42375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868"/>
                <a:buFont typeface="Inter"/>
                <a:buNone/>
              </a:pPr>
              <a:r>
                <a:rPr lang="en" sz="674">
                  <a:solidFill>
                    <a:srgbClr val="080808"/>
                  </a:solidFill>
                  <a:latin typeface="Archivo"/>
                  <a:ea typeface="Archivo"/>
                  <a:cs typeface="Archivo"/>
                  <a:sym typeface="Archivo"/>
                </a:rPr>
                <a:t>Content Updates </a:t>
              </a:r>
              <a:r>
                <a:rPr lang="en" sz="674">
                  <a:solidFill>
                    <a:srgbClr val="080808"/>
                  </a:solidFill>
                  <a:latin typeface="Archivo"/>
                  <a:ea typeface="Archivo"/>
                  <a:cs typeface="Archivo"/>
                  <a:sym typeface="Archivo"/>
                </a:rPr>
                <a:t>(x6)</a:t>
              </a:r>
              <a:endParaRPr b="1" i="0" sz="674" u="none" cap="none" strike="noStrike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08" name="Google Shape;208;p27"/>
            <p:cNvSpPr/>
            <p:nvPr/>
          </p:nvSpPr>
          <p:spPr>
            <a:xfrm>
              <a:off x="4836403" y="4211240"/>
              <a:ext cx="905100" cy="1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375" lIns="84800" spcFirstLastPara="1" rIns="84800" wrap="square" tIns="42375">
              <a:no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868"/>
                <a:buFont typeface="Inter"/>
                <a:buNone/>
              </a:pPr>
              <a:r>
                <a:rPr b="1" lang="en" sz="674">
                  <a:solidFill>
                    <a:srgbClr val="080808"/>
                  </a:solidFill>
                  <a:latin typeface="Archivo"/>
                  <a:ea typeface="Archivo"/>
                  <a:cs typeface="Archivo"/>
                  <a:sym typeface="Archivo"/>
                </a:rPr>
                <a:t>3</a:t>
              </a:r>
              <a:r>
                <a:rPr b="1" lang="en" sz="674">
                  <a:solidFill>
                    <a:srgbClr val="080808"/>
                  </a:solidFill>
                  <a:latin typeface="Archivo"/>
                  <a:ea typeface="Archivo"/>
                  <a:cs typeface="Archivo"/>
                  <a:sym typeface="Archivo"/>
                </a:rPr>
                <a:t> Credits</a:t>
              </a:r>
              <a:endParaRPr b="1" i="0" sz="674" u="none" cap="none" strike="noStrike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cxnSp>
          <p:nvCxnSpPr>
            <p:cNvPr id="209" name="Google Shape;209;p27"/>
            <p:cNvCxnSpPr/>
            <p:nvPr/>
          </p:nvCxnSpPr>
          <p:spPr>
            <a:xfrm>
              <a:off x="3614710" y="4533166"/>
              <a:ext cx="2076300" cy="0"/>
            </a:xfrm>
            <a:prstGeom prst="straightConnector1">
              <a:avLst/>
            </a:prstGeom>
            <a:noFill/>
            <a:ln cap="flat" cmpd="sng" w="10325">
              <a:solidFill>
                <a:srgbClr val="B8B7B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10" name="Google Shape;210;p27"/>
            <p:cNvSpPr/>
            <p:nvPr/>
          </p:nvSpPr>
          <p:spPr>
            <a:xfrm>
              <a:off x="3530624" y="4621560"/>
              <a:ext cx="905100" cy="1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375" lIns="84800" spcFirstLastPara="1" rIns="84800" wrap="square" tIns="42375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868"/>
                <a:buFont typeface="Inter"/>
                <a:buNone/>
              </a:pPr>
              <a:r>
                <a:rPr b="1" lang="en" sz="782">
                  <a:solidFill>
                    <a:srgbClr val="080808"/>
                  </a:solidFill>
                  <a:latin typeface="Archivo"/>
                  <a:ea typeface="Archivo"/>
                  <a:cs typeface="Archivo"/>
                  <a:sym typeface="Archivo"/>
                </a:rPr>
                <a:t>Total: 5 Credits</a:t>
              </a:r>
              <a:endParaRPr b="1" i="0" sz="782" u="none" cap="none" strike="noStrike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11" name="Google Shape;211;p27"/>
            <p:cNvSpPr/>
            <p:nvPr/>
          </p:nvSpPr>
          <p:spPr>
            <a:xfrm>
              <a:off x="4545225" y="4621550"/>
              <a:ext cx="1196400" cy="1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1225" lIns="82400" spcFirstLastPara="1" rIns="82400" wrap="square" tIns="41225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CC0C5"/>
                </a:buClr>
                <a:buSzPts val="946"/>
                <a:buFont typeface="Inter"/>
                <a:buNone/>
              </a:pPr>
              <a:r>
                <a:rPr lang="en" sz="666">
                  <a:solidFill>
                    <a:srgbClr val="2B2B2A"/>
                  </a:solidFill>
                  <a:latin typeface="Archivo Medium"/>
                  <a:ea typeface="Archivo Medium"/>
                  <a:cs typeface="Archivo Medium"/>
                  <a:sym typeface="Archivo Medium"/>
                </a:rPr>
                <a:t>(No Additional Investment)</a:t>
              </a:r>
              <a:endParaRPr i="1" sz="666">
                <a:solidFill>
                  <a:srgbClr val="2B2B2A"/>
                </a:solidFill>
                <a:latin typeface="Archivo Medium"/>
                <a:ea typeface="Archivo Medium"/>
                <a:cs typeface="Archivo Medium"/>
                <a:sym typeface="Archivo Medium"/>
              </a:endParaRPr>
            </a:p>
          </p:txBody>
        </p:sp>
      </p:grpSp>
      <p:grpSp>
        <p:nvGrpSpPr>
          <p:cNvPr id="212" name="Google Shape;212;p27"/>
          <p:cNvGrpSpPr/>
          <p:nvPr/>
        </p:nvGrpSpPr>
        <p:grpSpPr>
          <a:xfrm>
            <a:off x="6366337" y="3123352"/>
            <a:ext cx="2332201" cy="1651510"/>
            <a:chOff x="6166999" y="3081875"/>
            <a:chExt cx="2332201" cy="1651510"/>
          </a:xfrm>
        </p:grpSpPr>
        <p:sp>
          <p:nvSpPr>
            <p:cNvPr id="213" name="Google Shape;213;p27"/>
            <p:cNvSpPr/>
            <p:nvPr/>
          </p:nvSpPr>
          <p:spPr>
            <a:xfrm>
              <a:off x="6167000" y="3081875"/>
              <a:ext cx="2332200" cy="26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375" lIns="84800" spcFirstLastPara="1" rIns="84800" wrap="square" tIns="42375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868"/>
                <a:buFont typeface="Inter"/>
                <a:buNone/>
              </a:pPr>
              <a:r>
                <a:rPr b="1" lang="en" sz="1216">
                  <a:solidFill>
                    <a:srgbClr val="31AA98"/>
                  </a:solidFill>
                  <a:latin typeface="Archivo"/>
                  <a:ea typeface="Archivo"/>
                  <a:cs typeface="Archivo"/>
                  <a:sym typeface="Archivo"/>
                </a:rPr>
                <a:t>Grow Faster</a:t>
              </a:r>
              <a:endParaRPr b="1" sz="1216">
                <a:solidFill>
                  <a:srgbClr val="31AA98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14" name="Google Shape;214;p27"/>
            <p:cNvSpPr/>
            <p:nvPr/>
          </p:nvSpPr>
          <p:spPr>
            <a:xfrm>
              <a:off x="6237915" y="3447500"/>
              <a:ext cx="147900" cy="147900"/>
            </a:xfrm>
            <a:prstGeom prst="rect">
              <a:avLst/>
            </a:prstGeom>
            <a:solidFill>
              <a:srgbClr val="FF2F0A"/>
            </a:solidFill>
            <a:ln>
              <a:noFill/>
            </a:ln>
          </p:spPr>
          <p:txBody>
            <a:bodyPr anchorCtr="0" anchor="ctr" bIns="77050" lIns="77050" spcFirstLastPara="1" rIns="77050" wrap="square" tIns="77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79"/>
            </a:p>
          </p:txBody>
        </p:sp>
        <p:sp>
          <p:nvSpPr>
            <p:cNvPr id="215" name="Google Shape;215;p27"/>
            <p:cNvSpPr/>
            <p:nvPr/>
          </p:nvSpPr>
          <p:spPr>
            <a:xfrm>
              <a:off x="6237915" y="3690059"/>
              <a:ext cx="147900" cy="147900"/>
            </a:xfrm>
            <a:prstGeom prst="rect">
              <a:avLst/>
            </a:prstGeom>
            <a:solidFill>
              <a:srgbClr val="31AA98"/>
            </a:solidFill>
            <a:ln>
              <a:noFill/>
            </a:ln>
          </p:spPr>
          <p:txBody>
            <a:bodyPr anchorCtr="0" anchor="ctr" bIns="77050" lIns="77050" spcFirstLastPara="1" rIns="77050" wrap="square" tIns="77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79"/>
            </a:p>
          </p:txBody>
        </p:sp>
        <p:sp>
          <p:nvSpPr>
            <p:cNvPr id="216" name="Google Shape;216;p27"/>
            <p:cNvSpPr/>
            <p:nvPr/>
          </p:nvSpPr>
          <p:spPr>
            <a:xfrm>
              <a:off x="6237915" y="3932619"/>
              <a:ext cx="147900" cy="147900"/>
            </a:xfrm>
            <a:prstGeom prst="rect">
              <a:avLst/>
            </a:prstGeom>
            <a:solidFill>
              <a:srgbClr val="F94C25"/>
            </a:solidFill>
            <a:ln>
              <a:noFill/>
            </a:ln>
          </p:spPr>
          <p:txBody>
            <a:bodyPr anchorCtr="0" anchor="ctr" bIns="77050" lIns="77050" spcFirstLastPara="1" rIns="77050" wrap="square" tIns="77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79"/>
            </a:p>
          </p:txBody>
        </p:sp>
        <p:sp>
          <p:nvSpPr>
            <p:cNvPr id="217" name="Google Shape;217;p27"/>
            <p:cNvSpPr/>
            <p:nvPr/>
          </p:nvSpPr>
          <p:spPr>
            <a:xfrm>
              <a:off x="6237915" y="4175178"/>
              <a:ext cx="147900" cy="147900"/>
            </a:xfrm>
            <a:prstGeom prst="rect">
              <a:avLst/>
            </a:prstGeom>
            <a:solidFill>
              <a:srgbClr val="715DC0"/>
            </a:solidFill>
            <a:ln>
              <a:noFill/>
            </a:ln>
          </p:spPr>
          <p:txBody>
            <a:bodyPr anchorCtr="0" anchor="ctr" bIns="77050" lIns="77050" spcFirstLastPara="1" rIns="77050" wrap="square" tIns="77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79"/>
            </a:p>
          </p:txBody>
        </p:sp>
        <p:sp>
          <p:nvSpPr>
            <p:cNvPr id="218" name="Google Shape;218;p27"/>
            <p:cNvSpPr/>
            <p:nvPr/>
          </p:nvSpPr>
          <p:spPr>
            <a:xfrm>
              <a:off x="6429151" y="3447500"/>
              <a:ext cx="1064100" cy="1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375" lIns="84800" spcFirstLastPara="1" rIns="84800" wrap="square" tIns="42375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868"/>
                <a:buFont typeface="Inter"/>
                <a:buNone/>
              </a:pPr>
              <a:r>
                <a:rPr lang="en" sz="674">
                  <a:solidFill>
                    <a:srgbClr val="080808"/>
                  </a:solidFill>
                  <a:latin typeface="Archivo"/>
                  <a:ea typeface="Archivo"/>
                  <a:cs typeface="Archivo"/>
                  <a:sym typeface="Archivo"/>
                </a:rPr>
                <a:t>Signature Content (x1)</a:t>
              </a:r>
              <a:endParaRPr i="0" sz="674" u="none" cap="none" strike="noStrike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19" name="Google Shape;219;p27"/>
            <p:cNvSpPr/>
            <p:nvPr/>
          </p:nvSpPr>
          <p:spPr>
            <a:xfrm>
              <a:off x="7472778" y="3447500"/>
              <a:ext cx="905100" cy="1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375" lIns="84800" spcFirstLastPara="1" rIns="84800" wrap="square" tIns="42375">
              <a:no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868"/>
                <a:buFont typeface="Inter"/>
                <a:buNone/>
              </a:pPr>
              <a:r>
                <a:rPr b="1" lang="en" sz="674">
                  <a:solidFill>
                    <a:srgbClr val="080808"/>
                  </a:solidFill>
                  <a:latin typeface="Archivo"/>
                  <a:ea typeface="Archivo"/>
                  <a:cs typeface="Archivo"/>
                  <a:sym typeface="Archivo"/>
                </a:rPr>
                <a:t>2 Credits</a:t>
              </a:r>
              <a:endParaRPr b="1" i="0" sz="674" u="none" cap="none" strike="noStrike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20" name="Google Shape;220;p27"/>
            <p:cNvSpPr/>
            <p:nvPr/>
          </p:nvSpPr>
          <p:spPr>
            <a:xfrm>
              <a:off x="6429151" y="3693800"/>
              <a:ext cx="1064100" cy="1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375" lIns="84800" spcFirstLastPara="1" rIns="84800" wrap="square" tIns="42375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868"/>
                <a:buFont typeface="Inter"/>
                <a:buNone/>
              </a:pPr>
              <a:r>
                <a:rPr lang="en" sz="674">
                  <a:solidFill>
                    <a:srgbClr val="080808"/>
                  </a:solidFill>
                  <a:latin typeface="Archivo"/>
                  <a:ea typeface="Archivo"/>
                  <a:cs typeface="Archivo"/>
                  <a:sym typeface="Archivo"/>
                </a:rPr>
                <a:t>Service Content </a:t>
              </a:r>
              <a:r>
                <a:rPr lang="en" sz="674">
                  <a:solidFill>
                    <a:srgbClr val="080808"/>
                  </a:solidFill>
                  <a:latin typeface="Archivo"/>
                  <a:ea typeface="Archivo"/>
                  <a:cs typeface="Archivo"/>
                  <a:sym typeface="Archivo"/>
                </a:rPr>
                <a:t>(x1)</a:t>
              </a:r>
              <a:endParaRPr sz="674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21" name="Google Shape;221;p27"/>
            <p:cNvSpPr/>
            <p:nvPr/>
          </p:nvSpPr>
          <p:spPr>
            <a:xfrm>
              <a:off x="7472778" y="3693795"/>
              <a:ext cx="905100" cy="1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375" lIns="84800" spcFirstLastPara="1" rIns="84800" wrap="square" tIns="42375">
              <a:no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868"/>
                <a:buFont typeface="Inter"/>
                <a:buNone/>
              </a:pPr>
              <a:r>
                <a:rPr b="1" lang="en" sz="674">
                  <a:solidFill>
                    <a:srgbClr val="080808"/>
                  </a:solidFill>
                  <a:latin typeface="Archivo"/>
                  <a:ea typeface="Archivo"/>
                  <a:cs typeface="Archivo"/>
                  <a:sym typeface="Archivo"/>
                </a:rPr>
                <a:t>2 </a:t>
              </a:r>
              <a:r>
                <a:rPr b="1" lang="en" sz="674">
                  <a:solidFill>
                    <a:srgbClr val="080808"/>
                  </a:solidFill>
                  <a:latin typeface="Archivo"/>
                  <a:ea typeface="Archivo"/>
                  <a:cs typeface="Archivo"/>
                  <a:sym typeface="Archivo"/>
                </a:rPr>
                <a:t>Credits</a:t>
              </a:r>
              <a:endParaRPr b="1" i="0" sz="674" u="none" cap="none" strike="noStrike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22" name="Google Shape;222;p27"/>
            <p:cNvSpPr/>
            <p:nvPr/>
          </p:nvSpPr>
          <p:spPr>
            <a:xfrm>
              <a:off x="6429150" y="3940100"/>
              <a:ext cx="996600" cy="1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375" lIns="84800" spcFirstLastPara="1" rIns="84800" wrap="square" tIns="42375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868"/>
                <a:buFont typeface="Inter"/>
                <a:buNone/>
              </a:pPr>
              <a:r>
                <a:rPr lang="en" sz="674">
                  <a:solidFill>
                    <a:srgbClr val="080808"/>
                  </a:solidFill>
                  <a:latin typeface="Archivo"/>
                  <a:ea typeface="Archivo"/>
                  <a:cs typeface="Archivo"/>
                  <a:sym typeface="Archivo"/>
                </a:rPr>
                <a:t>Scale Content </a:t>
              </a:r>
              <a:r>
                <a:rPr lang="en" sz="674">
                  <a:solidFill>
                    <a:srgbClr val="080808"/>
                  </a:solidFill>
                  <a:latin typeface="Archivo"/>
                  <a:ea typeface="Archivo"/>
                  <a:cs typeface="Archivo"/>
                  <a:sym typeface="Archivo"/>
                </a:rPr>
                <a:t>(x1)</a:t>
              </a:r>
              <a:endParaRPr sz="674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23" name="Google Shape;223;p27"/>
            <p:cNvSpPr/>
            <p:nvPr/>
          </p:nvSpPr>
          <p:spPr>
            <a:xfrm>
              <a:off x="7472778" y="3940089"/>
              <a:ext cx="905100" cy="1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375" lIns="84800" spcFirstLastPara="1" rIns="84800" wrap="square" tIns="42375">
              <a:no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868"/>
                <a:buFont typeface="Inter"/>
                <a:buNone/>
              </a:pPr>
              <a:r>
                <a:rPr b="1" lang="en" sz="674">
                  <a:solidFill>
                    <a:srgbClr val="080808"/>
                  </a:solidFill>
                  <a:latin typeface="Archivo"/>
                  <a:ea typeface="Archivo"/>
                  <a:cs typeface="Archivo"/>
                  <a:sym typeface="Archivo"/>
                </a:rPr>
                <a:t>1</a:t>
              </a:r>
              <a:r>
                <a:rPr b="1" lang="en" sz="674">
                  <a:solidFill>
                    <a:srgbClr val="080808"/>
                  </a:solidFill>
                  <a:latin typeface="Archivo"/>
                  <a:ea typeface="Archivo"/>
                  <a:cs typeface="Archivo"/>
                  <a:sym typeface="Archivo"/>
                </a:rPr>
                <a:t> Credit</a:t>
              </a:r>
              <a:endParaRPr b="1" i="0" sz="674" u="none" cap="none" strike="noStrike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24" name="Google Shape;224;p27"/>
            <p:cNvSpPr/>
            <p:nvPr/>
          </p:nvSpPr>
          <p:spPr>
            <a:xfrm>
              <a:off x="6429150" y="4175175"/>
              <a:ext cx="1021500" cy="1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375" lIns="84800" spcFirstLastPara="1" rIns="84800" wrap="square" tIns="42375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868"/>
                <a:buFont typeface="Inter"/>
                <a:buNone/>
              </a:pPr>
              <a:r>
                <a:rPr lang="en" sz="674">
                  <a:solidFill>
                    <a:srgbClr val="080808"/>
                  </a:solidFill>
                  <a:latin typeface="Archivo"/>
                  <a:ea typeface="Archivo"/>
                  <a:cs typeface="Archivo"/>
                  <a:sym typeface="Archivo"/>
                </a:rPr>
                <a:t>Content Updates (x6)</a:t>
              </a:r>
              <a:endParaRPr b="1" i="0" sz="674" u="none" cap="none" strike="noStrike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25" name="Google Shape;225;p27"/>
            <p:cNvSpPr/>
            <p:nvPr/>
          </p:nvSpPr>
          <p:spPr>
            <a:xfrm>
              <a:off x="7472778" y="4175165"/>
              <a:ext cx="905100" cy="1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375" lIns="84800" spcFirstLastPara="1" rIns="84800" wrap="square" tIns="42375">
              <a:no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868"/>
                <a:buFont typeface="Inter"/>
                <a:buNone/>
              </a:pPr>
              <a:r>
                <a:rPr b="1" lang="en" sz="674">
                  <a:solidFill>
                    <a:srgbClr val="080808"/>
                  </a:solidFill>
                  <a:latin typeface="Archivo"/>
                  <a:ea typeface="Archivo"/>
                  <a:cs typeface="Archivo"/>
                  <a:sym typeface="Archivo"/>
                </a:rPr>
                <a:t>3 Credits</a:t>
              </a:r>
              <a:endParaRPr b="1" i="0" sz="674" u="none" cap="none" strike="noStrike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cxnSp>
          <p:nvCxnSpPr>
            <p:cNvPr id="226" name="Google Shape;226;p27"/>
            <p:cNvCxnSpPr/>
            <p:nvPr/>
          </p:nvCxnSpPr>
          <p:spPr>
            <a:xfrm>
              <a:off x="6251085" y="4497091"/>
              <a:ext cx="2076300" cy="0"/>
            </a:xfrm>
            <a:prstGeom prst="straightConnector1">
              <a:avLst/>
            </a:prstGeom>
            <a:noFill/>
            <a:ln cap="flat" cmpd="sng" w="10325">
              <a:solidFill>
                <a:srgbClr val="B8B7B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27" name="Google Shape;227;p27"/>
            <p:cNvSpPr/>
            <p:nvPr/>
          </p:nvSpPr>
          <p:spPr>
            <a:xfrm>
              <a:off x="6166999" y="4585485"/>
              <a:ext cx="905100" cy="1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375" lIns="84800" spcFirstLastPara="1" rIns="84800" wrap="square" tIns="42375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868"/>
                <a:buFont typeface="Inter"/>
                <a:buNone/>
              </a:pPr>
              <a:r>
                <a:rPr b="1" lang="en" sz="782">
                  <a:solidFill>
                    <a:srgbClr val="080808"/>
                  </a:solidFill>
                  <a:latin typeface="Archivo"/>
                  <a:ea typeface="Archivo"/>
                  <a:cs typeface="Archivo"/>
                  <a:sym typeface="Archivo"/>
                </a:rPr>
                <a:t>Total: 8 Credits</a:t>
              </a:r>
              <a:endParaRPr b="1" i="0" sz="782" u="none" cap="none" strike="noStrike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28" name="Google Shape;228;p27"/>
            <p:cNvSpPr/>
            <p:nvPr/>
          </p:nvSpPr>
          <p:spPr>
            <a:xfrm>
              <a:off x="7263275" y="4585475"/>
              <a:ext cx="1064100" cy="1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1225" lIns="82400" spcFirstLastPara="1" rIns="82400" wrap="square" tIns="41225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CC0C5"/>
                </a:buClr>
                <a:buSzPts val="946"/>
                <a:buFont typeface="Inter"/>
                <a:buNone/>
              </a:pPr>
              <a:r>
                <a:rPr lang="en" sz="666">
                  <a:solidFill>
                    <a:srgbClr val="2B2B2A"/>
                  </a:solidFill>
                  <a:latin typeface="Archivo Medium"/>
                  <a:ea typeface="Archivo Medium"/>
                  <a:cs typeface="Archivo Medium"/>
                  <a:sym typeface="Archivo Medium"/>
                </a:rPr>
                <a:t>(Additional </a:t>
              </a:r>
              <a:r>
                <a:rPr lang="en" sz="666">
                  <a:solidFill>
                    <a:srgbClr val="2B2B2A"/>
                  </a:solidFill>
                  <a:latin typeface="Archivo Medium"/>
                  <a:ea typeface="Archivo Medium"/>
                  <a:cs typeface="Archivo Medium"/>
                  <a:sym typeface="Archivo Medium"/>
                </a:rPr>
                <a:t>Investment</a:t>
              </a:r>
              <a:r>
                <a:rPr lang="en" sz="666">
                  <a:solidFill>
                    <a:srgbClr val="2B2B2A"/>
                  </a:solidFill>
                  <a:latin typeface="Archivo Medium"/>
                  <a:ea typeface="Archivo Medium"/>
                  <a:cs typeface="Archivo Medium"/>
                  <a:sym typeface="Archivo Medium"/>
                </a:rPr>
                <a:t>)</a:t>
              </a:r>
              <a:endParaRPr i="1" sz="666">
                <a:solidFill>
                  <a:srgbClr val="2B2B2A"/>
                </a:solidFill>
                <a:latin typeface="Archivo Medium"/>
                <a:ea typeface="Archivo Medium"/>
                <a:cs typeface="Archivo Medium"/>
                <a:sym typeface="Archivo Medium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8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8"/>
          <p:cNvSpPr/>
          <p:nvPr/>
        </p:nvSpPr>
        <p:spPr>
          <a:xfrm>
            <a:off x="2370101" y="1990263"/>
            <a:ext cx="182700" cy="182700"/>
          </a:xfrm>
          <a:prstGeom prst="ellipse">
            <a:avLst/>
          </a:prstGeom>
          <a:solidFill>
            <a:srgbClr val="FF2F0A"/>
          </a:solidFill>
          <a:ln>
            <a:noFill/>
          </a:ln>
        </p:spPr>
        <p:txBody>
          <a:bodyPr anchorCtr="0" anchor="ctr" bIns="164100" lIns="164100" spcFirstLastPara="1" rIns="164100" wrap="square" tIns="164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13"/>
          </a:p>
        </p:txBody>
      </p:sp>
      <p:sp>
        <p:nvSpPr>
          <p:cNvPr id="234" name="Google Shape;234;p28"/>
          <p:cNvSpPr/>
          <p:nvPr/>
        </p:nvSpPr>
        <p:spPr>
          <a:xfrm>
            <a:off x="2552663" y="1887916"/>
            <a:ext cx="6603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100" lIns="150175" spcFirstLastPara="1" rIns="150175" wrap="square" tIns="751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1725"/>
              <a:buFont typeface="Inter"/>
              <a:buNone/>
            </a:pPr>
            <a:r>
              <a:rPr i="1" lang="en" sz="2165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03</a:t>
            </a:r>
            <a:endParaRPr i="1" sz="2165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pic>
        <p:nvPicPr>
          <p:cNvPr id="235" name="Google Shape;235;p28" title="W Full blk txt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35738" y="201625"/>
            <a:ext cx="1025576" cy="2463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8"/>
          <p:cNvSpPr/>
          <p:nvPr/>
        </p:nvSpPr>
        <p:spPr>
          <a:xfrm>
            <a:off x="1126200" y="2119736"/>
            <a:ext cx="6891600" cy="938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50"/>
              <a:buFont typeface="Inter"/>
              <a:buNone/>
            </a:pPr>
            <a:r>
              <a:rPr b="1" lang="en" sz="52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Strategic Plan</a:t>
            </a:r>
            <a:endParaRPr b="1" sz="52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37" name="Google Shape;237;p28"/>
          <p:cNvSpPr/>
          <p:nvPr/>
        </p:nvSpPr>
        <p:spPr>
          <a:xfrm>
            <a:off x="2190750" y="2963150"/>
            <a:ext cx="4762500" cy="31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1050"/>
              <a:buFont typeface="Inter"/>
              <a:buNone/>
            </a:pPr>
            <a:r>
              <a:rPr lang="en" sz="1800">
                <a:solidFill>
                  <a:srgbClr val="EAEAEA"/>
                </a:solidFill>
                <a:latin typeface="Archivo"/>
                <a:ea typeface="Archivo"/>
                <a:cs typeface="Archivo"/>
                <a:sym typeface="Archivo"/>
              </a:rPr>
              <a:t>Initiatives that drive next quarter’s outcomes</a:t>
            </a:r>
            <a:endParaRPr sz="1800">
              <a:solidFill>
                <a:srgbClr val="EAEAE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AEA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9"/>
          <p:cNvSpPr txBox="1"/>
          <p:nvPr/>
        </p:nvSpPr>
        <p:spPr>
          <a:xfrm>
            <a:off x="220050" y="1430113"/>
            <a:ext cx="3416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080808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Projected Growth for Calls + VOBs</a:t>
            </a:r>
            <a:endParaRPr sz="2200">
              <a:solidFill>
                <a:srgbClr val="080808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</p:txBody>
      </p:sp>
      <p:sp>
        <p:nvSpPr>
          <p:cNvPr id="243" name="Google Shape;243;p29"/>
          <p:cNvSpPr/>
          <p:nvPr/>
        </p:nvSpPr>
        <p:spPr>
          <a:xfrm>
            <a:off x="495800" y="1262163"/>
            <a:ext cx="24333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100" lIns="68175" spcFirstLastPara="1" rIns="68175" wrap="square" tIns="341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783"/>
              <a:buFont typeface="Inter"/>
              <a:buNone/>
            </a:pPr>
            <a:r>
              <a:rPr i="1" lang="en" sz="983">
                <a:solidFill>
                  <a:srgbClr val="080808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Updated NSM for 2026</a:t>
            </a:r>
            <a:endParaRPr i="1" sz="983">
              <a:solidFill>
                <a:srgbClr val="080808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244" name="Google Shape;244;p29"/>
          <p:cNvSpPr/>
          <p:nvPr/>
        </p:nvSpPr>
        <p:spPr>
          <a:xfrm>
            <a:off x="315425" y="1308501"/>
            <a:ext cx="82800" cy="83100"/>
          </a:xfrm>
          <a:prstGeom prst="ellipse">
            <a:avLst/>
          </a:prstGeom>
          <a:solidFill>
            <a:srgbClr val="FF2F0A"/>
          </a:solidFill>
          <a:ln>
            <a:noFill/>
          </a:ln>
        </p:spPr>
        <p:txBody>
          <a:bodyPr anchorCtr="0" anchor="ctr" bIns="74500" lIns="74500" spcFirstLastPara="1" rIns="74500" wrap="square" tIns="74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41"/>
          </a:p>
        </p:txBody>
      </p:sp>
      <p:sp>
        <p:nvSpPr>
          <p:cNvPr id="245" name="Google Shape;245;p29"/>
          <p:cNvSpPr txBox="1"/>
          <p:nvPr/>
        </p:nvSpPr>
        <p:spPr>
          <a:xfrm>
            <a:off x="315425" y="2391438"/>
            <a:ext cx="3249600" cy="14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Based on Q4 performance and steady quarter-over-quarter momentum, we’re forecasting continued growth in both Calls and VOBs throughout 2026. This projection reflects the impact of stronger local visibility, improved service-page depth, and increased eligibility-focused content.</a:t>
            </a:r>
            <a:endParaRPr sz="1200">
              <a:solidFill>
                <a:srgbClr val="2B2B2A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246" name="Google Shape;246;p29" title="Group 100000137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3600" y="303101"/>
            <a:ext cx="4422375" cy="365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9" title="Group (5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3600" y="4104550"/>
            <a:ext cx="4422376" cy="7287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0"/>
          <p:cNvSpPr txBox="1"/>
          <p:nvPr/>
        </p:nvSpPr>
        <p:spPr>
          <a:xfrm>
            <a:off x="439200" y="2166625"/>
            <a:ext cx="2775600" cy="26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-195072" lvl="0" marL="29260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2B2A"/>
              </a:buClr>
              <a:buSzPts val="1200"/>
              <a:buFont typeface="Archivo"/>
              <a:buChar char="■"/>
            </a:pPr>
            <a:r>
              <a:rPr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Increase total call volume and VOB generation by strengthening visibility in AI Overviews and improving performance on high-intent local searches.</a:t>
            </a:r>
            <a:endParaRPr sz="1200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195072" lvl="0" marL="292608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B2B2A"/>
              </a:buClr>
              <a:buSzPts val="1200"/>
              <a:buFont typeface="Archivo"/>
              <a:buChar char="■"/>
            </a:pPr>
            <a:r>
              <a:rPr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Build on Q4’s foundational wins by reallocating content credits toward </a:t>
            </a:r>
            <a:r>
              <a:rPr b="1" i="1"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higher-impact updates</a:t>
            </a:r>
            <a:r>
              <a:rPr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 designed to rank for predictive “summary-style” AI result formats.</a:t>
            </a:r>
            <a:endParaRPr sz="1200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EAEAE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53" name="Google Shape;253;p30"/>
          <p:cNvSpPr txBox="1"/>
          <p:nvPr/>
        </p:nvSpPr>
        <p:spPr>
          <a:xfrm>
            <a:off x="3550600" y="2166625"/>
            <a:ext cx="2590200" cy="17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-195072" lvl="0" marL="29260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2B2A"/>
              </a:buClr>
              <a:buSzPts val="1200"/>
              <a:buFont typeface="Manrope"/>
              <a:buChar char="■"/>
            </a:pPr>
            <a:r>
              <a:rPr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Strengthen AI Overview eligibility by expanding thin content and adding structured schema.</a:t>
            </a:r>
            <a:endParaRPr sz="1200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195072" lvl="0" marL="292608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2B2B2A"/>
              </a:buClr>
              <a:buSzPts val="1200"/>
              <a:buFont typeface="Manrope"/>
              <a:buChar char="■"/>
            </a:pPr>
            <a:r>
              <a:rPr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Improve local call volume through GBP optimization and targeted city-level content.</a:t>
            </a:r>
            <a:endParaRPr sz="1200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54" name="Google Shape;254;p30"/>
          <p:cNvSpPr txBox="1"/>
          <p:nvPr/>
        </p:nvSpPr>
        <p:spPr>
          <a:xfrm>
            <a:off x="6138500" y="2166627"/>
            <a:ext cx="2607300" cy="17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-195072" lvl="0" marL="29260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2B2A"/>
              </a:buClr>
              <a:buSzPts val="1200"/>
              <a:buFont typeface="Manrope"/>
              <a:buChar char="■"/>
            </a:pPr>
            <a:r>
              <a:rPr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Reallocate credits toward 1 signature piece + recurring updates to modernize priority pages.</a:t>
            </a:r>
            <a:endParaRPr sz="1200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195072" lvl="0" marL="292608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2B2B2A"/>
              </a:buClr>
              <a:buSzPts val="1200"/>
              <a:buFont typeface="Manrope"/>
              <a:buChar char="■"/>
            </a:pPr>
            <a:r>
              <a:rPr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Optimize conversion pathways with clearer insurance CTAs to increase VOB-ready intent.</a:t>
            </a:r>
            <a:endParaRPr sz="1200">
              <a:solidFill>
                <a:srgbClr val="EAEAE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55" name="Google Shape;255;p30"/>
          <p:cNvSpPr txBox="1"/>
          <p:nvPr/>
        </p:nvSpPr>
        <p:spPr>
          <a:xfrm>
            <a:off x="433950" y="1775613"/>
            <a:ext cx="526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200">
                <a:solidFill>
                  <a:srgbClr val="080808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WHAT</a:t>
            </a:r>
            <a:endParaRPr sz="1200">
              <a:solidFill>
                <a:srgbClr val="080808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cxnSp>
        <p:nvCxnSpPr>
          <p:cNvPr id="256" name="Google Shape;256;p30"/>
          <p:cNvCxnSpPr>
            <a:endCxn id="255" idx="3"/>
          </p:cNvCxnSpPr>
          <p:nvPr/>
        </p:nvCxnSpPr>
        <p:spPr>
          <a:xfrm rot="10800000">
            <a:off x="960150" y="1868013"/>
            <a:ext cx="2094000" cy="0"/>
          </a:xfrm>
          <a:prstGeom prst="straightConnector1">
            <a:avLst/>
          </a:prstGeom>
          <a:noFill/>
          <a:ln cap="flat" cmpd="sng" w="19050">
            <a:solidFill>
              <a:srgbClr val="FF2F0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7" name="Google Shape;257;p30"/>
          <p:cNvSpPr txBox="1"/>
          <p:nvPr/>
        </p:nvSpPr>
        <p:spPr>
          <a:xfrm>
            <a:off x="3554300" y="1775613"/>
            <a:ext cx="526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200">
                <a:solidFill>
                  <a:srgbClr val="080808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HOW</a:t>
            </a:r>
            <a:endParaRPr sz="1200">
              <a:solidFill>
                <a:srgbClr val="080808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cxnSp>
        <p:nvCxnSpPr>
          <p:cNvPr id="258" name="Google Shape;258;p30"/>
          <p:cNvCxnSpPr>
            <a:endCxn id="257" idx="3"/>
          </p:cNvCxnSpPr>
          <p:nvPr/>
        </p:nvCxnSpPr>
        <p:spPr>
          <a:xfrm rot="10800000">
            <a:off x="4080500" y="1868013"/>
            <a:ext cx="4666500" cy="0"/>
          </a:xfrm>
          <a:prstGeom prst="straightConnector1">
            <a:avLst/>
          </a:prstGeom>
          <a:noFill/>
          <a:ln cap="flat" cmpd="sng" w="19050">
            <a:solidFill>
              <a:srgbClr val="FF2F0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9" name="Google Shape;259;p30"/>
          <p:cNvSpPr/>
          <p:nvPr/>
        </p:nvSpPr>
        <p:spPr>
          <a:xfrm>
            <a:off x="433950" y="681950"/>
            <a:ext cx="6544800" cy="68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100" lIns="78225" spcFirstLastPara="1" rIns="78225" wrap="square" tIns="391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91"/>
              <a:buFont typeface="Inter"/>
              <a:buNone/>
            </a:pPr>
            <a:r>
              <a:rPr b="1" lang="en" sz="3022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rPr>
              <a:t>Scaling Calls &amp; VOBs Through AI Visibility &amp; Local Expansion</a:t>
            </a:r>
            <a:endParaRPr b="1" i="0" sz="3022" u="none" cap="none" strike="noStrike">
              <a:solidFill>
                <a:srgbClr val="08080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60" name="Google Shape;260;p30"/>
          <p:cNvSpPr/>
          <p:nvPr/>
        </p:nvSpPr>
        <p:spPr>
          <a:xfrm>
            <a:off x="397002" y="379325"/>
            <a:ext cx="14115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100" lIns="68175" spcFirstLastPara="1" rIns="68175" wrap="square" tIns="341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783"/>
              <a:buFont typeface="Inter"/>
              <a:buNone/>
            </a:pPr>
            <a:r>
              <a:rPr i="1" lang="en" sz="983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SEO Q1 Tactics</a:t>
            </a:r>
            <a:endParaRPr i="1" sz="983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pic>
        <p:nvPicPr>
          <p:cNvPr id="261" name="Google Shape;261;p30" title="W Full blk tx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1550" y="4671325"/>
            <a:ext cx="1026251" cy="24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AEA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1"/>
          <p:cNvSpPr/>
          <p:nvPr/>
        </p:nvSpPr>
        <p:spPr>
          <a:xfrm>
            <a:off x="352850" y="339775"/>
            <a:ext cx="2094300" cy="246600"/>
          </a:xfrm>
          <a:prstGeom prst="roundRect">
            <a:avLst>
              <a:gd fmla="val 16667" name="adj"/>
            </a:avLst>
          </a:prstGeom>
          <a:solidFill>
            <a:srgbClr val="FF2F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31"/>
          <p:cNvSpPr txBox="1"/>
          <p:nvPr/>
        </p:nvSpPr>
        <p:spPr>
          <a:xfrm>
            <a:off x="391650" y="1765250"/>
            <a:ext cx="48042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Every missed VOB and dropped lead is lost revenue. Admission Ops fixes the gaps so more opportunities become admits.</a:t>
            </a:r>
            <a:endParaRPr sz="1200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68" name="Google Shape;268;p31"/>
          <p:cNvSpPr/>
          <p:nvPr/>
        </p:nvSpPr>
        <p:spPr>
          <a:xfrm>
            <a:off x="352850" y="858450"/>
            <a:ext cx="4842900" cy="8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100" lIns="78225" spcFirstLastPara="1" rIns="78225" wrap="square" tIns="391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91"/>
              <a:buFont typeface="Inter"/>
              <a:buNone/>
            </a:pPr>
            <a:r>
              <a:rPr b="1" lang="en" sz="2622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rPr>
              <a:t>Optimize Your Admissions Process to Increase Revenue</a:t>
            </a:r>
            <a:endParaRPr b="1" i="0" sz="2622" u="none" cap="none" strike="noStrike">
              <a:solidFill>
                <a:srgbClr val="08080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69" name="Google Shape;269;p31"/>
          <p:cNvSpPr/>
          <p:nvPr/>
        </p:nvSpPr>
        <p:spPr>
          <a:xfrm>
            <a:off x="446750" y="375175"/>
            <a:ext cx="20004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100" lIns="68175" spcFirstLastPara="1" rIns="68175" wrap="square" tIns="341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783"/>
              <a:buFont typeface="Inter"/>
              <a:buNone/>
            </a:pPr>
            <a:r>
              <a:rPr i="1" lang="en" sz="983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Get More Out of Your  Marketing</a:t>
            </a:r>
            <a:endParaRPr i="1" sz="983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pic>
        <p:nvPicPr>
          <p:cNvPr id="270" name="Google Shape;270;p31" title="Group 10000013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925" y="2808544"/>
            <a:ext cx="1630627" cy="1930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31" title="Group 1000001313-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20143" y="2808544"/>
            <a:ext cx="1630627" cy="1930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31" title="Group 1000001315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41360" y="2808544"/>
            <a:ext cx="1647613" cy="1936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31" title="Group 1000001315-1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15480" y="2804200"/>
            <a:ext cx="1647621" cy="1939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31" title="Group 1000001358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289608" y="2805713"/>
            <a:ext cx="1630617" cy="193636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1"/>
          <p:cNvSpPr txBox="1"/>
          <p:nvPr/>
        </p:nvSpPr>
        <p:spPr>
          <a:xfrm>
            <a:off x="5561375" y="767350"/>
            <a:ext cx="808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200">
                <a:solidFill>
                  <a:srgbClr val="080808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BENEFITS</a:t>
            </a:r>
            <a:endParaRPr sz="1200">
              <a:solidFill>
                <a:srgbClr val="080808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cxnSp>
        <p:nvCxnSpPr>
          <p:cNvPr id="276" name="Google Shape;276;p31"/>
          <p:cNvCxnSpPr/>
          <p:nvPr/>
        </p:nvCxnSpPr>
        <p:spPr>
          <a:xfrm flipH="1">
            <a:off x="6369875" y="858100"/>
            <a:ext cx="2184000" cy="3300"/>
          </a:xfrm>
          <a:prstGeom prst="straightConnector1">
            <a:avLst/>
          </a:prstGeom>
          <a:noFill/>
          <a:ln cap="flat" cmpd="sng" w="19050">
            <a:solidFill>
              <a:srgbClr val="FF2F0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7" name="Google Shape;277;p31"/>
          <p:cNvSpPr txBox="1"/>
          <p:nvPr/>
        </p:nvSpPr>
        <p:spPr>
          <a:xfrm>
            <a:off x="5446775" y="1059877"/>
            <a:ext cx="3454500" cy="14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-188722" lvl="0" marL="29260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2B2A"/>
              </a:buClr>
              <a:buSzPts val="1100"/>
              <a:buFont typeface="Archivo"/>
              <a:buChar char="■"/>
            </a:pPr>
            <a:r>
              <a:rPr b="1" lang="en" sz="11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Recover revenue</a:t>
            </a:r>
            <a:r>
              <a:rPr lang="en" sz="11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 lost to slow verification, missed follow-ups, and inconsistent workflows.</a:t>
            </a:r>
            <a:endParaRPr sz="1100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188722" lvl="0" marL="292608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B2B2A"/>
              </a:buClr>
              <a:buSzPts val="1100"/>
              <a:buFont typeface="Archivo"/>
              <a:buChar char="■"/>
            </a:pPr>
            <a:r>
              <a:rPr b="1" lang="en" sz="11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Increase admit conversion</a:t>
            </a:r>
            <a:r>
              <a:rPr lang="en" sz="11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 by accelerating VOB processing and tightening intake performance.</a:t>
            </a:r>
            <a:endParaRPr sz="1100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188722" lvl="0" marL="292608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B2B2A"/>
              </a:buClr>
              <a:buSzPts val="1100"/>
              <a:buFont typeface="Archivo"/>
              <a:buChar char="■"/>
            </a:pPr>
            <a:r>
              <a:rPr b="1" lang="en" sz="11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Eliminate lead leakage</a:t>
            </a:r>
            <a:r>
              <a:rPr lang="en" sz="11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 with standardized workflows.</a:t>
            </a:r>
            <a:endParaRPr sz="1100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100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8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2"/>
          <p:cNvSpPr/>
          <p:nvPr/>
        </p:nvSpPr>
        <p:spPr>
          <a:xfrm>
            <a:off x="1096343" y="1990263"/>
            <a:ext cx="182700" cy="182700"/>
          </a:xfrm>
          <a:prstGeom prst="ellipse">
            <a:avLst/>
          </a:prstGeom>
          <a:solidFill>
            <a:srgbClr val="FF2F0A"/>
          </a:solidFill>
          <a:ln>
            <a:noFill/>
          </a:ln>
        </p:spPr>
        <p:txBody>
          <a:bodyPr anchorCtr="0" anchor="ctr" bIns="164100" lIns="164100" spcFirstLastPara="1" rIns="164100" wrap="square" tIns="164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13"/>
          </a:p>
        </p:txBody>
      </p:sp>
      <p:sp>
        <p:nvSpPr>
          <p:cNvPr id="283" name="Google Shape;283;p32"/>
          <p:cNvSpPr/>
          <p:nvPr/>
        </p:nvSpPr>
        <p:spPr>
          <a:xfrm>
            <a:off x="1278905" y="1887916"/>
            <a:ext cx="6603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100" lIns="150175" spcFirstLastPara="1" rIns="150175" wrap="square" tIns="751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1725"/>
              <a:buFont typeface="Inter"/>
              <a:buNone/>
            </a:pPr>
            <a:r>
              <a:rPr i="1" lang="en" sz="2165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04</a:t>
            </a:r>
            <a:endParaRPr i="1" sz="2165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pic>
        <p:nvPicPr>
          <p:cNvPr id="284" name="Google Shape;284;p32" title="W Full blk txt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35738" y="201625"/>
            <a:ext cx="1025576" cy="2463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2"/>
          <p:cNvSpPr/>
          <p:nvPr/>
        </p:nvSpPr>
        <p:spPr>
          <a:xfrm>
            <a:off x="750900" y="2102400"/>
            <a:ext cx="7642200" cy="938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50"/>
              <a:buFont typeface="Inter"/>
              <a:buNone/>
            </a:pPr>
            <a:r>
              <a:rPr b="1" lang="en" sz="52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Roadmap &amp; Alignment</a:t>
            </a:r>
            <a:endParaRPr b="1" sz="52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86" name="Google Shape;286;p32"/>
          <p:cNvSpPr/>
          <p:nvPr/>
        </p:nvSpPr>
        <p:spPr>
          <a:xfrm>
            <a:off x="2190750" y="2963150"/>
            <a:ext cx="5061600" cy="31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1050"/>
              <a:buFont typeface="Inter"/>
              <a:buNone/>
            </a:pPr>
            <a:r>
              <a:rPr lang="en" sz="1800">
                <a:solidFill>
                  <a:srgbClr val="EAEAEA"/>
                </a:solidFill>
                <a:latin typeface="Archivo"/>
                <a:ea typeface="Archivo"/>
                <a:cs typeface="Archivo"/>
                <a:sym typeface="Archivo"/>
              </a:rPr>
              <a:t>Our 12-month approach to drive center growth</a:t>
            </a:r>
            <a:endParaRPr sz="1800">
              <a:solidFill>
                <a:srgbClr val="EAEAE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1" name="Google Shape;291;p33"/>
          <p:cNvGraphicFramePr/>
          <p:nvPr/>
        </p:nvGraphicFramePr>
        <p:xfrm>
          <a:off x="393563" y="6196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{5EB9D091-70FA-4423-9D58-DE7C9ABF08E8}</a:tableStyleId>
              </a:tblPr>
              <a:tblGrid>
                <a:gridCol w="524025"/>
                <a:gridCol w="652550"/>
                <a:gridCol w="652550"/>
                <a:gridCol w="652550"/>
                <a:gridCol w="652550"/>
                <a:gridCol w="652550"/>
                <a:gridCol w="652550"/>
                <a:gridCol w="652550"/>
                <a:gridCol w="652550"/>
                <a:gridCol w="652550"/>
                <a:gridCol w="652550"/>
                <a:gridCol w="652550"/>
                <a:gridCol w="652550"/>
              </a:tblGrid>
              <a:tr h="401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80808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Goal</a:t>
                      </a:r>
                      <a:endParaRPr b="1" sz="800">
                        <a:solidFill>
                          <a:srgbClr val="080808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Quarter 1</a:t>
                      </a:r>
                      <a:endParaRPr sz="7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Restructure</a:t>
                      </a:r>
                      <a:endParaRPr b="1" sz="9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1AA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808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Quarter 2</a:t>
                      </a:r>
                      <a:endParaRPr sz="7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Optimize</a:t>
                      </a:r>
                      <a:endParaRPr b="1" sz="9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808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Quarter 3</a:t>
                      </a:r>
                      <a:endParaRPr sz="7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Expand</a:t>
                      </a:r>
                      <a:endParaRPr b="1" sz="9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808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Quarter 4 </a:t>
                      </a:r>
                      <a:endParaRPr sz="7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Scale</a:t>
                      </a:r>
                      <a:endParaRPr b="1" sz="9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808"/>
                    </a:solidFill>
                  </a:tcPr>
                </a:tc>
                <a:tc hMerge="1"/>
                <a:tc hMerge="1"/>
              </a:tr>
              <a:tr h="247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080808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58585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1AA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80808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Q1 Initiatives</a:t>
                      </a:r>
                      <a:endParaRPr b="1" sz="700">
                        <a:solidFill>
                          <a:srgbClr val="080808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rgbClr val="31AA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1AA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1AA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1AA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1AA98">
                        <a:alpha val="59380"/>
                      </a:srgbClr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FFFFFF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Q2 Initiatives</a:t>
                      </a:r>
                      <a:endParaRPr b="1" sz="7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rgbClr val="31AA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808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FFFFFF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Q3 Initiatives</a:t>
                      </a:r>
                      <a:endParaRPr b="1" sz="7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808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FFFFFF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Q4 Initiatives</a:t>
                      </a:r>
                      <a:endParaRPr b="1" sz="7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808"/>
                    </a:solidFill>
                  </a:tcPr>
                </a:tc>
                <a:tc hMerge="1"/>
                <a:tc hMerge="1"/>
              </a:tr>
              <a:tr h="247925">
                <a:tc row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8080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Channel Initiatives</a:t>
                      </a:r>
                      <a:endParaRPr b="1" sz="800">
                        <a:solidFill>
                          <a:srgbClr val="080808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58585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1AA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 rowSpan="8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080808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Complete full technical SEO audit and implement priority fixes.</a:t>
                      </a:r>
                      <a:endParaRPr sz="900">
                        <a:solidFill>
                          <a:srgbClr val="080808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80808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080808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Refresh all thin or underdeveloped service pages</a:t>
                      </a:r>
                      <a:endParaRPr sz="900">
                        <a:solidFill>
                          <a:srgbClr val="080808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80808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080808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Conduct full keyword research + build a 12-month content roadmap.</a:t>
                      </a:r>
                      <a:endParaRPr sz="900">
                        <a:solidFill>
                          <a:srgbClr val="080808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80808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080808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Identify gaps preventing AI Overview eligibility (E-E-A-T + topical coverage).</a:t>
                      </a:r>
                      <a:endParaRPr sz="900">
                        <a:solidFill>
                          <a:srgbClr val="080808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80808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080808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Audit GBP + local listings to benchmark current local search performance.</a:t>
                      </a:r>
                      <a:endParaRPr sz="900">
                        <a:solidFill>
                          <a:srgbClr val="080808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1AA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1AA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1AA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1AA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1AA98">
                        <a:alpha val="59380"/>
                      </a:srgbClr>
                    </a:solidFill>
                  </a:tcPr>
                </a:tc>
                <a:tc rowSpan="8" hMerge="1"/>
                <a:tc rowSpan="8" hMerge="1"/>
                <a:tc gridSpan="3" rowSpan="8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E1C2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Expand high-value pages with deeper content to align with AI Overview structure.</a:t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E1C2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Publish targeted supporting articles and FAQs to build topical authority.</a:t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E1C2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Implement content updates and CRO improvements on key service pages.</a:t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E1C2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Launch location-focused content to improve local call volume.</a:t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rgbClr val="1E1C2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Optimize internal linking across core recovery topics.</a:t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1AA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B7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8" hMerge="1"/>
                <a:tc rowSpan="8" hMerge="1"/>
                <a:tc gridSpan="3" rowSpan="8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E1C2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Build new content clusters to capture broader recovery-related searches.</a:t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E1C2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Enhance E-E-A-T signals (expert quotes, credentials, sourcing, schema).</a:t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E1C2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Refresh top-performing pages to protect rankings and drive additional Calls/VOBs.</a:t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E1C2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Expand local SEO footprint with surrounding city + neighborhood pages.</a:t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E1C2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Optimize pages for emerging AI Overview patterns as they continue to evolve.</a:t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B7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8" hMerge="1"/>
                <a:tc rowSpan="8" hMerge="1"/>
                <a:tc gridSpan="3" rowSpan="8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rgbClr val="1E1C2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Scale content output using updated credit allocation (more content updates).</a:t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rgbClr val="1E1C2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Publish advanced authority content to differentiate CR from similar facilities.</a:t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rgbClr val="1E1C2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Launch a year-end optimization sweep across all revenue-driving pages.</a:t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rgbClr val="1E1C2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Expand local authority with community-focused content and enhanced GBP presence.</a:t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rgbClr val="1E1C2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Evaluate year-end NSM progress and build the next-year strategy.</a:t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B7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8" hMerge="1"/>
                <a:tc rowSpan="8" hMerge="1"/>
              </a:tr>
              <a:tr h="247925">
                <a:tc vMerge="1"/>
                <a:tc gridSpan="3" vMerge="1"/>
                <a:tc hMerge="1" vMerge="1"/>
                <a:tc hMerge="1" vMerge="1"/>
                <a:tc gridSpan="3" vMerge="1"/>
                <a:tc hMerge="1" vMerge="1"/>
                <a:tc hMerge="1" vMerge="1"/>
                <a:tc gridSpan="3" vMerge="1"/>
                <a:tc hMerge="1" vMerge="1"/>
                <a:tc hMerge="1" vMerge="1"/>
                <a:tc gridSpan="3" vMerge="1"/>
                <a:tc hMerge="1" vMerge="1"/>
                <a:tc hMerge="1" vMerge="1"/>
              </a:tr>
              <a:tr h="247925">
                <a:tc vMerge="1"/>
                <a:tc gridSpan="3" vMerge="1"/>
                <a:tc hMerge="1" vMerge="1"/>
                <a:tc hMerge="1" vMerge="1"/>
                <a:tc gridSpan="3" vMerge="1"/>
                <a:tc hMerge="1" vMerge="1"/>
                <a:tc hMerge="1" vMerge="1"/>
                <a:tc gridSpan="3" vMerge="1"/>
                <a:tc hMerge="1" vMerge="1"/>
                <a:tc hMerge="1" vMerge="1"/>
                <a:tc gridSpan="3" vMerge="1"/>
                <a:tc hMerge="1" vMerge="1"/>
                <a:tc hMerge="1" vMerge="1"/>
              </a:tr>
              <a:tr h="233100">
                <a:tc vMerge="1"/>
                <a:tc gridSpan="3" vMerge="1"/>
                <a:tc hMerge="1" vMerge="1"/>
                <a:tc hMerge="1" vMerge="1"/>
                <a:tc gridSpan="3" vMerge="1"/>
                <a:tc hMerge="1" vMerge="1"/>
                <a:tc hMerge="1" vMerge="1"/>
                <a:tc gridSpan="3" vMerge="1"/>
                <a:tc hMerge="1" vMerge="1"/>
                <a:tc hMerge="1" vMerge="1"/>
                <a:tc gridSpan="3" vMerge="1"/>
                <a:tc hMerge="1" vMerge="1"/>
                <a:tc hMerge="1" vMerge="1"/>
              </a:tr>
              <a:tr h="247925">
                <a:tc vMerge="1"/>
                <a:tc gridSpan="3" vMerge="1"/>
                <a:tc hMerge="1" vMerge="1"/>
                <a:tc hMerge="1" vMerge="1"/>
                <a:tc gridSpan="3" vMerge="1"/>
                <a:tc hMerge="1" vMerge="1"/>
                <a:tc hMerge="1" vMerge="1"/>
                <a:tc gridSpan="3" vMerge="1"/>
                <a:tc hMerge="1" vMerge="1"/>
                <a:tc hMerge="1" vMerge="1"/>
                <a:tc gridSpan="3" vMerge="1"/>
                <a:tc hMerge="1" vMerge="1"/>
                <a:tc hMerge="1" vMerge="1"/>
              </a:tr>
              <a:tr h="247925">
                <a:tc vMerge="1"/>
                <a:tc gridSpan="3" vMerge="1"/>
                <a:tc hMerge="1" vMerge="1"/>
                <a:tc hMerge="1" vMerge="1"/>
                <a:tc gridSpan="3" vMerge="1"/>
                <a:tc hMerge="1" vMerge="1"/>
                <a:tc hMerge="1" vMerge="1"/>
                <a:tc gridSpan="3" vMerge="1"/>
                <a:tc hMerge="1" vMerge="1"/>
                <a:tc hMerge="1" vMerge="1"/>
                <a:tc gridSpan="3" vMerge="1"/>
                <a:tc hMerge="1" vMerge="1"/>
                <a:tc hMerge="1" vMerge="1"/>
              </a:tr>
              <a:tr h="247925">
                <a:tc vMerge="1"/>
                <a:tc gridSpan="3" vMerge="1"/>
                <a:tc hMerge="1" vMerge="1"/>
                <a:tc hMerge="1" vMerge="1"/>
                <a:tc gridSpan="3" vMerge="1"/>
                <a:tc hMerge="1" vMerge="1"/>
                <a:tc hMerge="1" vMerge="1"/>
                <a:tc gridSpan="3" vMerge="1"/>
                <a:tc hMerge="1" vMerge="1"/>
                <a:tc hMerge="1" vMerge="1"/>
                <a:tc gridSpan="3" vMerge="1"/>
                <a:tc hMerge="1" vMerge="1"/>
                <a:tc hMerge="1" vMerge="1"/>
              </a:tr>
              <a:tr h="100000">
                <a:tc vMerge="1"/>
                <a:tc gridSpan="3" vMerge="1"/>
                <a:tc hMerge="1" vMerge="1"/>
                <a:tc hMerge="1" vMerge="1"/>
                <a:tc gridSpan="3" vMerge="1"/>
                <a:tc hMerge="1" vMerge="1"/>
                <a:tc hMerge="1" vMerge="1"/>
                <a:tc gridSpan="3" vMerge="1"/>
                <a:tc hMerge="1" vMerge="1"/>
                <a:tc hMerge="1" vMerge="1"/>
                <a:tc gridSpan="3" vMerge="1"/>
                <a:tc hMerge="1" vMerge="1"/>
                <a:tc hMerge="1" vMerge="1"/>
              </a:tr>
              <a:tr h="247925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80808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Ongoing</a:t>
                      </a:r>
                      <a:endParaRPr b="1" sz="800">
                        <a:solidFill>
                          <a:srgbClr val="080808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58585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B7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1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EAEAEA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Content Optimization · Technical SEO · Local SEO · E-E-A-T Enhancement · CRO Improvements · AI Overview Preparedness</a:t>
                      </a:r>
                      <a:endParaRPr sz="900">
                        <a:solidFill>
                          <a:srgbClr val="EAEAEA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rgbClr val="B8B7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B7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1AA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B7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808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47925">
                <a:tc vMerge="1"/>
                <a:tc gridSpan="1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EAEAEA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Reporting</a:t>
                      </a:r>
                      <a:endParaRPr sz="900">
                        <a:solidFill>
                          <a:srgbClr val="EAEAEA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rgbClr val="B8B7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B7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B7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B7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808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sp>
        <p:nvSpPr>
          <p:cNvPr id="292" name="Google Shape;292;p33"/>
          <p:cNvSpPr/>
          <p:nvPr/>
        </p:nvSpPr>
        <p:spPr>
          <a:xfrm>
            <a:off x="784700" y="161200"/>
            <a:ext cx="17055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100" lIns="68175" spcFirstLastPara="1" rIns="68175" wrap="square" tIns="341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783"/>
              <a:buFont typeface="Inter"/>
              <a:buNone/>
            </a:pPr>
            <a:r>
              <a:rPr i="1" lang="en" sz="983">
                <a:solidFill>
                  <a:srgbClr val="080808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 Content &amp; SEO Roadmap</a:t>
            </a:r>
            <a:endParaRPr i="1" sz="983">
              <a:solidFill>
                <a:srgbClr val="080808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293" name="Google Shape;293;p33"/>
          <p:cNvSpPr/>
          <p:nvPr/>
        </p:nvSpPr>
        <p:spPr>
          <a:xfrm>
            <a:off x="604325" y="207551"/>
            <a:ext cx="82800" cy="83100"/>
          </a:xfrm>
          <a:prstGeom prst="ellipse">
            <a:avLst/>
          </a:prstGeom>
          <a:solidFill>
            <a:srgbClr val="FF2F0A"/>
          </a:solidFill>
          <a:ln>
            <a:noFill/>
          </a:ln>
        </p:spPr>
        <p:txBody>
          <a:bodyPr anchorCtr="0" anchor="ctr" bIns="74500" lIns="74500" spcFirstLastPara="1" rIns="74500" wrap="square" tIns="74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4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AEA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4"/>
          <p:cNvSpPr/>
          <p:nvPr/>
        </p:nvSpPr>
        <p:spPr>
          <a:xfrm>
            <a:off x="297550" y="578975"/>
            <a:ext cx="35595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50"/>
              <a:buFont typeface="Inter"/>
              <a:buNone/>
            </a:pPr>
            <a:r>
              <a:rPr lang="en" sz="3000">
                <a:solidFill>
                  <a:srgbClr val="080808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Next Steps</a:t>
            </a:r>
            <a:endParaRPr i="0" sz="3000" u="none" cap="none" strike="noStrike">
              <a:solidFill>
                <a:srgbClr val="080808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</p:txBody>
      </p:sp>
      <p:sp>
        <p:nvSpPr>
          <p:cNvPr id="299" name="Google Shape;299;p34"/>
          <p:cNvSpPr/>
          <p:nvPr/>
        </p:nvSpPr>
        <p:spPr>
          <a:xfrm>
            <a:off x="520725" y="2219695"/>
            <a:ext cx="2614800" cy="15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975" lIns="85925" spcFirstLastPara="1" rIns="85925" wrap="square" tIns="429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987"/>
              <a:buFont typeface="Inter"/>
              <a:buNone/>
            </a:pPr>
            <a:r>
              <a:rPr b="1" lang="en" sz="1550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rPr>
              <a:t>Choose Your Content Credit Path</a:t>
            </a:r>
            <a:endParaRPr b="1" sz="1550">
              <a:solidFill>
                <a:srgbClr val="080808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987"/>
              <a:buFont typeface="Inter"/>
              <a:buNone/>
            </a:pPr>
            <a:r>
              <a:rPr lang="en" sz="1233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Select either the recommended reallocation (no added cost) or the Grow package for faster ranking gains.</a:t>
            </a:r>
            <a:endParaRPr sz="1233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00" name="Google Shape;300;p34"/>
          <p:cNvSpPr/>
          <p:nvPr/>
        </p:nvSpPr>
        <p:spPr>
          <a:xfrm>
            <a:off x="3257700" y="2227520"/>
            <a:ext cx="2614800" cy="15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975" lIns="85925" spcFirstLastPara="1" rIns="85925" wrap="square" tIns="429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987"/>
              <a:buFont typeface="Inter"/>
              <a:buNone/>
            </a:pPr>
            <a:r>
              <a:rPr b="1" lang="en" sz="1550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rPr>
              <a:t>Approve Updated SEO Roadmap</a:t>
            </a:r>
            <a:endParaRPr b="1" sz="1550">
              <a:solidFill>
                <a:srgbClr val="080808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987"/>
              <a:buFont typeface="Inter"/>
              <a:buNone/>
            </a:pPr>
            <a:r>
              <a:rPr lang="en" sz="1233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Confirm the prioritized service pages and content updates that will drive call and VOB growth in Q1–Q2.</a:t>
            </a:r>
            <a:endParaRPr sz="1233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01" name="Google Shape;301;p34"/>
          <p:cNvSpPr/>
          <p:nvPr/>
        </p:nvSpPr>
        <p:spPr>
          <a:xfrm>
            <a:off x="6008450" y="2234395"/>
            <a:ext cx="2614800" cy="15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975" lIns="85925" spcFirstLastPara="1" rIns="85925" wrap="square" tIns="429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987"/>
              <a:buFont typeface="Inter"/>
              <a:buNone/>
            </a:pPr>
            <a:r>
              <a:rPr b="1" lang="en" sz="1550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rPr>
              <a:t>Activate Local Visibility Enhancements</a:t>
            </a:r>
            <a:endParaRPr b="1" sz="1550">
              <a:solidFill>
                <a:srgbClr val="080808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987"/>
              <a:buFont typeface="Inter"/>
              <a:buNone/>
            </a:pPr>
            <a:r>
              <a:rPr lang="en" sz="1233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Enable GMB optimization, proximity signals, and supporting location content to strengthen map-driven call volume.</a:t>
            </a:r>
            <a:endParaRPr sz="1233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02" name="Google Shape;302;p34"/>
          <p:cNvSpPr/>
          <p:nvPr/>
        </p:nvSpPr>
        <p:spPr>
          <a:xfrm>
            <a:off x="546766" y="1850473"/>
            <a:ext cx="104400" cy="104400"/>
          </a:xfrm>
          <a:prstGeom prst="ellipse">
            <a:avLst/>
          </a:prstGeom>
          <a:solidFill>
            <a:srgbClr val="FF2F0A"/>
          </a:solidFill>
          <a:ln>
            <a:noFill/>
          </a:ln>
        </p:spPr>
        <p:txBody>
          <a:bodyPr anchorCtr="0" anchor="ctr" bIns="93900" lIns="93900" spcFirstLastPara="1" rIns="93900" wrap="square" tIns="93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38"/>
          </a:p>
        </p:txBody>
      </p:sp>
      <p:sp>
        <p:nvSpPr>
          <p:cNvPr id="303" name="Google Shape;303;p34"/>
          <p:cNvSpPr/>
          <p:nvPr/>
        </p:nvSpPr>
        <p:spPr>
          <a:xfrm>
            <a:off x="651232" y="1791910"/>
            <a:ext cx="378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975" lIns="85925" spcFirstLastPara="1" rIns="85925" wrap="square" tIns="429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987"/>
              <a:buFont typeface="Inter"/>
              <a:buNone/>
            </a:pPr>
            <a:r>
              <a:rPr i="1" lang="en" sz="1239">
                <a:solidFill>
                  <a:srgbClr val="080808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01</a:t>
            </a:r>
            <a:endParaRPr i="1" sz="1239">
              <a:solidFill>
                <a:srgbClr val="080808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</p:txBody>
      </p:sp>
      <p:cxnSp>
        <p:nvCxnSpPr>
          <p:cNvPr id="304" name="Google Shape;304;p34"/>
          <p:cNvCxnSpPr/>
          <p:nvPr/>
        </p:nvCxnSpPr>
        <p:spPr>
          <a:xfrm>
            <a:off x="546766" y="2051586"/>
            <a:ext cx="2562600" cy="0"/>
          </a:xfrm>
          <a:prstGeom prst="straightConnector1">
            <a:avLst/>
          </a:prstGeom>
          <a:noFill/>
          <a:ln cap="flat" cmpd="sng" w="9775">
            <a:solidFill>
              <a:srgbClr val="B8B7B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5" name="Google Shape;305;p34"/>
          <p:cNvSpPr/>
          <p:nvPr/>
        </p:nvSpPr>
        <p:spPr>
          <a:xfrm>
            <a:off x="3285383" y="1854258"/>
            <a:ext cx="104400" cy="104400"/>
          </a:xfrm>
          <a:prstGeom prst="ellipse">
            <a:avLst/>
          </a:prstGeom>
          <a:solidFill>
            <a:srgbClr val="FF2F0A"/>
          </a:solidFill>
          <a:ln>
            <a:noFill/>
          </a:ln>
        </p:spPr>
        <p:txBody>
          <a:bodyPr anchorCtr="0" anchor="ctr" bIns="93900" lIns="93900" spcFirstLastPara="1" rIns="93900" wrap="square" tIns="93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38"/>
          </a:p>
        </p:txBody>
      </p:sp>
      <p:sp>
        <p:nvSpPr>
          <p:cNvPr id="306" name="Google Shape;306;p34"/>
          <p:cNvSpPr/>
          <p:nvPr/>
        </p:nvSpPr>
        <p:spPr>
          <a:xfrm>
            <a:off x="3389849" y="1795695"/>
            <a:ext cx="378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975" lIns="85925" spcFirstLastPara="1" rIns="85925" wrap="square" tIns="429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987"/>
              <a:buFont typeface="Inter"/>
              <a:buNone/>
            </a:pPr>
            <a:r>
              <a:rPr i="1" lang="en" sz="1239">
                <a:solidFill>
                  <a:srgbClr val="080808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02 </a:t>
            </a:r>
            <a:endParaRPr i="1" sz="1239">
              <a:solidFill>
                <a:srgbClr val="080808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</p:txBody>
      </p:sp>
      <p:cxnSp>
        <p:nvCxnSpPr>
          <p:cNvPr id="307" name="Google Shape;307;p34"/>
          <p:cNvCxnSpPr/>
          <p:nvPr/>
        </p:nvCxnSpPr>
        <p:spPr>
          <a:xfrm>
            <a:off x="3285383" y="2055371"/>
            <a:ext cx="2562600" cy="0"/>
          </a:xfrm>
          <a:prstGeom prst="straightConnector1">
            <a:avLst/>
          </a:prstGeom>
          <a:noFill/>
          <a:ln cap="flat" cmpd="sng" w="9775">
            <a:solidFill>
              <a:srgbClr val="B8B7B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8" name="Google Shape;308;p34"/>
          <p:cNvSpPr/>
          <p:nvPr/>
        </p:nvSpPr>
        <p:spPr>
          <a:xfrm>
            <a:off x="6024000" y="1858711"/>
            <a:ext cx="104400" cy="104400"/>
          </a:xfrm>
          <a:prstGeom prst="ellipse">
            <a:avLst/>
          </a:prstGeom>
          <a:solidFill>
            <a:srgbClr val="FF2F0A"/>
          </a:solidFill>
          <a:ln>
            <a:noFill/>
          </a:ln>
        </p:spPr>
        <p:txBody>
          <a:bodyPr anchorCtr="0" anchor="ctr" bIns="93900" lIns="93900" spcFirstLastPara="1" rIns="93900" wrap="square" tIns="93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38"/>
          </a:p>
        </p:txBody>
      </p:sp>
      <p:sp>
        <p:nvSpPr>
          <p:cNvPr id="309" name="Google Shape;309;p34"/>
          <p:cNvSpPr/>
          <p:nvPr/>
        </p:nvSpPr>
        <p:spPr>
          <a:xfrm>
            <a:off x="6128466" y="1800148"/>
            <a:ext cx="378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975" lIns="85925" spcFirstLastPara="1" rIns="85925" wrap="square" tIns="429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987"/>
              <a:buFont typeface="Inter"/>
              <a:buNone/>
            </a:pPr>
            <a:r>
              <a:rPr i="1" lang="en" sz="1239">
                <a:solidFill>
                  <a:srgbClr val="080808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03 </a:t>
            </a:r>
            <a:endParaRPr i="1" sz="1239">
              <a:solidFill>
                <a:srgbClr val="080808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</p:txBody>
      </p:sp>
      <p:cxnSp>
        <p:nvCxnSpPr>
          <p:cNvPr id="310" name="Google Shape;310;p34"/>
          <p:cNvCxnSpPr/>
          <p:nvPr/>
        </p:nvCxnSpPr>
        <p:spPr>
          <a:xfrm>
            <a:off x="6024000" y="2059824"/>
            <a:ext cx="2562600" cy="0"/>
          </a:xfrm>
          <a:prstGeom prst="straightConnector1">
            <a:avLst/>
          </a:prstGeom>
          <a:noFill/>
          <a:ln cap="flat" cmpd="sng" w="9775">
            <a:solidFill>
              <a:srgbClr val="B8B7B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1" name="Google Shape;311;p34"/>
          <p:cNvSpPr/>
          <p:nvPr/>
        </p:nvSpPr>
        <p:spPr>
          <a:xfrm>
            <a:off x="373352" y="364725"/>
            <a:ext cx="14115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100" lIns="68175" spcFirstLastPara="1" rIns="68175" wrap="square" tIns="341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783"/>
              <a:buFont typeface="Inter"/>
              <a:buNone/>
            </a:pPr>
            <a:r>
              <a:rPr i="1" lang="en" sz="983">
                <a:solidFill>
                  <a:srgbClr val="2B2B2A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Content &amp; SEO</a:t>
            </a:r>
            <a:endParaRPr i="1" sz="983">
              <a:solidFill>
                <a:srgbClr val="2B2B2A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8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5"/>
          <p:cNvSpPr/>
          <p:nvPr/>
        </p:nvSpPr>
        <p:spPr>
          <a:xfrm>
            <a:off x="1817764" y="1990263"/>
            <a:ext cx="182700" cy="182700"/>
          </a:xfrm>
          <a:prstGeom prst="ellipse">
            <a:avLst/>
          </a:prstGeom>
          <a:solidFill>
            <a:srgbClr val="FF2F0A"/>
          </a:solidFill>
          <a:ln>
            <a:noFill/>
          </a:ln>
        </p:spPr>
        <p:txBody>
          <a:bodyPr anchorCtr="0" anchor="ctr" bIns="164100" lIns="164100" spcFirstLastPara="1" rIns="164100" wrap="square" tIns="164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13"/>
          </a:p>
        </p:txBody>
      </p:sp>
      <p:sp>
        <p:nvSpPr>
          <p:cNvPr id="317" name="Google Shape;317;p35"/>
          <p:cNvSpPr/>
          <p:nvPr/>
        </p:nvSpPr>
        <p:spPr>
          <a:xfrm>
            <a:off x="2000325" y="1887916"/>
            <a:ext cx="6603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100" lIns="150175" spcFirstLastPara="1" rIns="150175" wrap="square" tIns="751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1725"/>
              <a:buFont typeface="Inter"/>
              <a:buNone/>
            </a:pPr>
            <a:r>
              <a:rPr i="1" lang="en" sz="2165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05</a:t>
            </a:r>
            <a:endParaRPr i="1" sz="2165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pic>
        <p:nvPicPr>
          <p:cNvPr id="318" name="Google Shape;318;p35" title="W Full blk txt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35738" y="201625"/>
            <a:ext cx="1025576" cy="2463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35"/>
          <p:cNvSpPr/>
          <p:nvPr/>
        </p:nvSpPr>
        <p:spPr>
          <a:xfrm>
            <a:off x="750900" y="2102400"/>
            <a:ext cx="7642200" cy="938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50"/>
              <a:buFont typeface="Inter"/>
              <a:buNone/>
            </a:pPr>
            <a:r>
              <a:rPr b="1" lang="en" sz="52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Partnership Items</a:t>
            </a:r>
            <a:endParaRPr b="1" sz="52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20" name="Google Shape;320;p35"/>
          <p:cNvSpPr/>
          <p:nvPr/>
        </p:nvSpPr>
        <p:spPr>
          <a:xfrm>
            <a:off x="2190750" y="2889881"/>
            <a:ext cx="5061600" cy="31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1050"/>
              <a:buFont typeface="Inter"/>
              <a:buNone/>
            </a:pPr>
            <a:r>
              <a:rPr lang="en" sz="1800">
                <a:solidFill>
                  <a:srgbClr val="EAEAEA"/>
                </a:solidFill>
                <a:latin typeface="Archivo"/>
                <a:ea typeface="Archivo"/>
                <a:cs typeface="Archivo"/>
                <a:sym typeface="Archivo"/>
              </a:rPr>
              <a:t>Strengthening our partnership</a:t>
            </a:r>
            <a:endParaRPr sz="1800">
              <a:solidFill>
                <a:srgbClr val="EAEAE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8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36"/>
          <p:cNvSpPr/>
          <p:nvPr/>
        </p:nvSpPr>
        <p:spPr>
          <a:xfrm>
            <a:off x="3992425" y="972150"/>
            <a:ext cx="44547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50"/>
              <a:buFont typeface="Inter"/>
              <a:buNone/>
            </a:pPr>
            <a:r>
              <a:rPr lang="en" sz="3800">
                <a:solidFill>
                  <a:srgbClr val="FF2F0A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Win-Win </a:t>
            </a:r>
            <a:endParaRPr sz="3800">
              <a:solidFill>
                <a:srgbClr val="FF2F0A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50"/>
              <a:buFont typeface="Inter"/>
              <a:buNone/>
            </a:pPr>
            <a:r>
              <a:rPr lang="en" sz="38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Referral Program</a:t>
            </a:r>
            <a:endParaRPr i="0" sz="3800" u="none" cap="none" strike="noStrike">
              <a:solidFill>
                <a:schemeClr val="lt1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</p:txBody>
      </p:sp>
      <p:sp>
        <p:nvSpPr>
          <p:cNvPr id="327" name="Google Shape;327;p36"/>
          <p:cNvSpPr/>
          <p:nvPr/>
        </p:nvSpPr>
        <p:spPr>
          <a:xfrm>
            <a:off x="3992425" y="2035938"/>
            <a:ext cx="4404000" cy="213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EAEAEA"/>
                </a:solidFill>
                <a:latin typeface="Archivo"/>
                <a:ea typeface="Archivo"/>
                <a:cs typeface="Archivo"/>
                <a:sym typeface="Archivo"/>
              </a:rPr>
              <a:t>Know another rehab center or business that could use help growing their admissions? </a:t>
            </a:r>
            <a:endParaRPr sz="1200">
              <a:solidFill>
                <a:srgbClr val="EAEAEA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EAEAEA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EAEAEA"/>
                </a:solidFill>
                <a:latin typeface="Archivo"/>
                <a:ea typeface="Archivo"/>
                <a:cs typeface="Archivo"/>
                <a:sym typeface="Archivo"/>
              </a:rPr>
              <a:t>Refer them to us - and when they become a client, you both win. They get expert marketing support, and you get a service credit as a thank-you. Helping others grow helps you grow too!</a:t>
            </a:r>
            <a:endParaRPr sz="1200">
              <a:solidFill>
                <a:srgbClr val="EAEAEA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EAEAEA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EAEAEA"/>
                </a:solidFill>
                <a:latin typeface="Archivo"/>
                <a:ea typeface="Archivo"/>
                <a:cs typeface="Archivo"/>
                <a:sym typeface="Archivo"/>
              </a:rPr>
              <a:t>If there is anyone in your network you think could benefit from our Paid Media, Content, and SEO services, please let us know. </a:t>
            </a:r>
            <a:endParaRPr sz="1450">
              <a:solidFill>
                <a:srgbClr val="EAEAE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328" name="Google Shape;328;p36" title="W Full blk txt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74163" y="4629950"/>
            <a:ext cx="1025576" cy="24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080808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37" title="W Full blk txt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9200" y="4180000"/>
            <a:ext cx="1025576" cy="24630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7"/>
          <p:cNvSpPr/>
          <p:nvPr/>
        </p:nvSpPr>
        <p:spPr>
          <a:xfrm>
            <a:off x="750900" y="1285350"/>
            <a:ext cx="7642200" cy="1385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50"/>
              <a:buFont typeface="Inter"/>
              <a:buNone/>
            </a:pPr>
            <a:r>
              <a:rPr b="1" lang="en" sz="52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Thank you for your continued partnership.</a:t>
            </a:r>
            <a:endParaRPr b="1" sz="52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35" name="Google Shape;335;p37"/>
          <p:cNvSpPr/>
          <p:nvPr/>
        </p:nvSpPr>
        <p:spPr>
          <a:xfrm>
            <a:off x="1483200" y="2831375"/>
            <a:ext cx="6177600" cy="68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1050"/>
              <a:buFont typeface="Inter"/>
              <a:buNone/>
            </a:pPr>
            <a:r>
              <a:rPr lang="en" sz="12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Every partnership helps us move closer to our goal of connecting </a:t>
            </a:r>
            <a:r>
              <a:rPr b="1" i="1" lang="en" sz="1200">
                <a:solidFill>
                  <a:srgbClr val="FF2F0A"/>
                </a:solidFill>
                <a:latin typeface="Archivo"/>
                <a:ea typeface="Archivo"/>
                <a:cs typeface="Archivo"/>
                <a:sym typeface="Archivo"/>
              </a:rPr>
              <a:t>30,000 </a:t>
            </a:r>
            <a:r>
              <a:rPr lang="en" sz="12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people with treatment by 2030. Thank you for sharing the same purpose and commitment to meaningful results.</a:t>
            </a:r>
            <a:endParaRPr i="0" sz="1200" u="none" cap="none" strike="noStrike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