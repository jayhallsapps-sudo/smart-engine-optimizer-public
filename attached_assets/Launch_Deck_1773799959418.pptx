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4"/>
    <p:sldMasterId id="214748366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embeddedFontLst>
    <p:embeddedFont>
      <p:font typeface="Inter"/>
      <p:regular r:id="rId29"/>
      <p:bold r:id="rId30"/>
      <p:italic r:id="rId31"/>
      <p:boldItalic r:id="rId32"/>
    </p:embeddedFont>
    <p:embeddedFont>
      <p:font typeface="Archivo Medium"/>
      <p:regular r:id="rId33"/>
      <p:bold r:id="rId34"/>
      <p:italic r:id="rId35"/>
      <p:boldItalic r:id="rId36"/>
    </p:embeddedFont>
    <p:embeddedFont>
      <p:font typeface="Mulish Medium"/>
      <p:regular r:id="rId37"/>
      <p:bold r:id="rId38"/>
      <p:italic r:id="rId39"/>
      <p:boldItalic r:id="rId40"/>
    </p:embeddedFont>
    <p:embeddedFont>
      <p:font typeface="Inter Medium"/>
      <p:regular r:id="rId41"/>
      <p:bold r:id="rId42"/>
      <p:italic r:id="rId43"/>
      <p:boldItalic r:id="rId44"/>
    </p:embeddedFont>
    <p:embeddedFont>
      <p:font typeface="Archivo"/>
      <p:regular r:id="rId45"/>
      <p:bold r:id="rId46"/>
      <p:italic r:id="rId47"/>
      <p:boldItalic r:id="rId48"/>
    </p:embeddedFont>
    <p:embeddedFont>
      <p:font typeface="Archivo SemiBold"/>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8EEDE57-7064-4DF5-A204-3597CC6C9D8C}">
  <a:tblStyle styleId="{68EEDE57-7064-4DF5-A204-3597CC6C9D8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MulishMedium-boldItalic.fntdata"/><Relationship Id="rId42" Type="http://schemas.openxmlformats.org/officeDocument/2006/relationships/font" Target="fonts/InterMedium-bold.fntdata"/><Relationship Id="rId41" Type="http://schemas.openxmlformats.org/officeDocument/2006/relationships/font" Target="fonts/InterMedium-regular.fntdata"/><Relationship Id="rId44" Type="http://schemas.openxmlformats.org/officeDocument/2006/relationships/font" Target="fonts/InterMedium-boldItalic.fntdata"/><Relationship Id="rId43" Type="http://schemas.openxmlformats.org/officeDocument/2006/relationships/font" Target="fonts/InterMedium-italic.fntdata"/><Relationship Id="rId46" Type="http://schemas.openxmlformats.org/officeDocument/2006/relationships/font" Target="fonts/Archivo-bold.fntdata"/><Relationship Id="rId45" Type="http://schemas.openxmlformats.org/officeDocument/2006/relationships/font" Target="fonts/Archivo-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Archivo-boldItalic.fntdata"/><Relationship Id="rId47" Type="http://schemas.openxmlformats.org/officeDocument/2006/relationships/font" Target="fonts/Archivo-italic.fntdata"/><Relationship Id="rId49" Type="http://schemas.openxmlformats.org/officeDocument/2006/relationships/font" Target="fonts/ArchivoSemiBold-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nter-italic.fntdata"/><Relationship Id="rId30" Type="http://schemas.openxmlformats.org/officeDocument/2006/relationships/font" Target="fonts/Inter-bold.fntdata"/><Relationship Id="rId33" Type="http://schemas.openxmlformats.org/officeDocument/2006/relationships/font" Target="fonts/ArchivoMedium-regular.fntdata"/><Relationship Id="rId32" Type="http://schemas.openxmlformats.org/officeDocument/2006/relationships/font" Target="fonts/Inter-boldItalic.fntdata"/><Relationship Id="rId35" Type="http://schemas.openxmlformats.org/officeDocument/2006/relationships/font" Target="fonts/ArchivoMedium-italic.fntdata"/><Relationship Id="rId34" Type="http://schemas.openxmlformats.org/officeDocument/2006/relationships/font" Target="fonts/ArchivoMedium-bold.fntdata"/><Relationship Id="rId37" Type="http://schemas.openxmlformats.org/officeDocument/2006/relationships/font" Target="fonts/MulishMedium-regular.fntdata"/><Relationship Id="rId36" Type="http://schemas.openxmlformats.org/officeDocument/2006/relationships/font" Target="fonts/ArchivoMedium-boldItalic.fntdata"/><Relationship Id="rId39" Type="http://schemas.openxmlformats.org/officeDocument/2006/relationships/font" Target="fonts/MulishMedium-italic.fntdata"/><Relationship Id="rId38" Type="http://schemas.openxmlformats.org/officeDocument/2006/relationships/font" Target="fonts/MulishMedium-bold.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font" Target="fonts/Inter-regular.fntdata"/><Relationship Id="rId51" Type="http://schemas.openxmlformats.org/officeDocument/2006/relationships/font" Target="fonts/ArchivoSemiBold-italic.fntdata"/><Relationship Id="rId50" Type="http://schemas.openxmlformats.org/officeDocument/2006/relationships/font" Target="fonts/ArchivoSemiBold-bold.fntdata"/><Relationship Id="rId52" Type="http://schemas.openxmlformats.org/officeDocument/2006/relationships/font" Target="fonts/ArchivoSemiBold-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bc3c5ae380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g3bc3c5ae380_0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bc3c5ae380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g3bc3c5ae380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bc7e17428c_1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g3bc7e17428c_1_2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bc3c5ae380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g3bc3c5ae380_0_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bc7e17428c_1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g3bc7e17428c_1_2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bc7e17428c_1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g3bc7e17428c_1_2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b108a19007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b108a19007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bc7e17428c_1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g3bc7e17428c_1_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bcd941f0e1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g3bcd941f0e1_1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bc7e17428c_1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bc7e17428c_1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bc7e17428c_1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bc7e17428c_1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bc7e17428c_1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bc7e17428c_1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bc7e17428c_1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bc7e17428c_1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bc7e17428c_1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bc7e17428c_1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bc7e17428c_1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g3bc7e17428c_1_1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bc7e17428c_1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bc7e17428c_1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bc7e17428c_1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g3bc7e17428c_1_1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bc7e17428c_1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bc7e17428c_1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c5ad01eb1b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g3c5ad01eb1b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c5ad01eb1b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c5ad01eb1b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bc7e17428c_1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bc7e17428c_1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b108a19007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b108a19007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List">
  <p:cSld name="DEFAULT">
    <p:spTree>
      <p:nvGrpSpPr>
        <p:cNvPr id="51" name="Shape 51"/>
        <p:cNvGrpSpPr/>
        <p:nvPr/>
      </p:nvGrpSpPr>
      <p:grpSpPr>
        <a:xfrm>
          <a:off x="0" y="0"/>
          <a:ext cx="0" cy="0"/>
          <a:chOff x="0" y="0"/>
          <a:chExt cx="0" cy="0"/>
        </a:xfrm>
      </p:grpSpPr>
      <p:cxnSp>
        <p:nvCxnSpPr>
          <p:cNvPr id="52" name="Google Shape;52;p14"/>
          <p:cNvCxnSpPr/>
          <p:nvPr/>
        </p:nvCxnSpPr>
        <p:spPr>
          <a:xfrm>
            <a:off x="-7300" y="4673817"/>
            <a:ext cx="9180300" cy="0"/>
          </a:xfrm>
          <a:prstGeom prst="straightConnector1">
            <a:avLst/>
          </a:prstGeom>
          <a:noFill/>
          <a:ln cap="flat" cmpd="sng" w="9525">
            <a:solidFill>
              <a:schemeClr val="dk2"/>
            </a:solidFill>
            <a:prstDash val="solid"/>
            <a:round/>
            <a:headEnd len="med" w="med" type="none"/>
            <a:tailEnd len="med" w="med" type="none"/>
          </a:ln>
        </p:spPr>
      </p:cxnSp>
      <p:sp>
        <p:nvSpPr>
          <p:cNvPr id="53" name="Google Shape;53;p14"/>
          <p:cNvSpPr txBox="1"/>
          <p:nvPr>
            <p:ph type="title"/>
          </p:nvPr>
        </p:nvSpPr>
        <p:spPr>
          <a:xfrm>
            <a:off x="171950" y="272275"/>
            <a:ext cx="4901700" cy="640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Font typeface="Inter Medium"/>
              <a:buNone/>
              <a:defRPr sz="2400">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14"/>
          <p:cNvSpPr txBox="1"/>
          <p:nvPr>
            <p:ph idx="1" type="body"/>
          </p:nvPr>
        </p:nvSpPr>
        <p:spPr>
          <a:xfrm>
            <a:off x="535050" y="1074900"/>
            <a:ext cx="4672200" cy="26562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rgbClr val="FF2F0A"/>
              </a:buClr>
              <a:buSzPts val="1400"/>
              <a:buFont typeface="Archivo"/>
              <a:buChar char="●"/>
              <a:defRPr>
                <a:latin typeface="Archivo"/>
                <a:ea typeface="Archivo"/>
                <a:cs typeface="Archivo"/>
                <a:sym typeface="Archivo"/>
              </a:defRPr>
            </a:lvl1pPr>
            <a:lvl2pPr indent="-317500" lvl="1" marL="914400">
              <a:spcBef>
                <a:spcPts val="0"/>
              </a:spcBef>
              <a:spcAft>
                <a:spcPts val="0"/>
              </a:spcAft>
              <a:buClr>
                <a:srgbClr val="FF2F0A"/>
              </a:buClr>
              <a:buSzPts val="1400"/>
              <a:buFont typeface="Archivo"/>
              <a:buChar char="○"/>
              <a:defRPr>
                <a:latin typeface="Archivo"/>
                <a:ea typeface="Archivo"/>
                <a:cs typeface="Archivo"/>
                <a:sym typeface="Archivo"/>
              </a:defRPr>
            </a:lvl2pPr>
            <a:lvl3pPr indent="-317500" lvl="2" marL="1371600">
              <a:spcBef>
                <a:spcPts val="0"/>
              </a:spcBef>
              <a:spcAft>
                <a:spcPts val="0"/>
              </a:spcAft>
              <a:buClr>
                <a:srgbClr val="FF2F0A"/>
              </a:buClr>
              <a:buSzPts val="1400"/>
              <a:buFont typeface="Archivo"/>
              <a:buChar char="■"/>
              <a:defRPr>
                <a:latin typeface="Archivo"/>
                <a:ea typeface="Archivo"/>
                <a:cs typeface="Archivo"/>
                <a:sym typeface="Archivo"/>
              </a:defRPr>
            </a:lvl3pPr>
            <a:lvl4pPr indent="-317500" lvl="3" marL="1828800">
              <a:spcBef>
                <a:spcPts val="0"/>
              </a:spcBef>
              <a:spcAft>
                <a:spcPts val="0"/>
              </a:spcAft>
              <a:buClr>
                <a:srgbClr val="FF2F0A"/>
              </a:buClr>
              <a:buSzPts val="1400"/>
              <a:buFont typeface="Archivo"/>
              <a:buChar char="●"/>
              <a:defRPr>
                <a:latin typeface="Archivo"/>
                <a:ea typeface="Archivo"/>
                <a:cs typeface="Archivo"/>
                <a:sym typeface="Archivo"/>
              </a:defRPr>
            </a:lvl4pPr>
            <a:lvl5pPr indent="-317500" lvl="4" marL="2286000">
              <a:spcBef>
                <a:spcPts val="0"/>
              </a:spcBef>
              <a:spcAft>
                <a:spcPts val="0"/>
              </a:spcAft>
              <a:buClr>
                <a:srgbClr val="FF2F0A"/>
              </a:buClr>
              <a:buSzPts val="1400"/>
              <a:buFont typeface="Archivo"/>
              <a:buChar char="○"/>
              <a:defRPr>
                <a:latin typeface="Archivo"/>
                <a:ea typeface="Archivo"/>
                <a:cs typeface="Archivo"/>
                <a:sym typeface="Archivo"/>
              </a:defRPr>
            </a:lvl5pPr>
            <a:lvl6pPr indent="-317500" lvl="5" marL="2743200">
              <a:spcBef>
                <a:spcPts val="0"/>
              </a:spcBef>
              <a:spcAft>
                <a:spcPts val="0"/>
              </a:spcAft>
              <a:buClr>
                <a:srgbClr val="FF0000"/>
              </a:buClr>
              <a:buSzPts val="1400"/>
              <a:buFont typeface="Archivo"/>
              <a:buChar char="■"/>
              <a:defRPr>
                <a:latin typeface="Archivo"/>
                <a:ea typeface="Archivo"/>
                <a:cs typeface="Archivo"/>
                <a:sym typeface="Archivo"/>
              </a:defRPr>
            </a:lvl6pPr>
            <a:lvl7pPr indent="-317500" lvl="6" marL="3200400">
              <a:spcBef>
                <a:spcPts val="0"/>
              </a:spcBef>
              <a:spcAft>
                <a:spcPts val="0"/>
              </a:spcAft>
              <a:buClr>
                <a:srgbClr val="FF0000"/>
              </a:buClr>
              <a:buSzPts val="1400"/>
              <a:buFont typeface="Archivo"/>
              <a:buChar char="●"/>
              <a:defRPr>
                <a:latin typeface="Archivo"/>
                <a:ea typeface="Archivo"/>
                <a:cs typeface="Archivo"/>
                <a:sym typeface="Archivo"/>
              </a:defRPr>
            </a:lvl7pPr>
            <a:lvl8pPr indent="-317500" lvl="7" marL="3657600">
              <a:spcBef>
                <a:spcPts val="0"/>
              </a:spcBef>
              <a:spcAft>
                <a:spcPts val="0"/>
              </a:spcAft>
              <a:buClr>
                <a:srgbClr val="FF2F0A"/>
              </a:buClr>
              <a:buSzPts val="1400"/>
              <a:buFont typeface="Archivo"/>
              <a:buChar char="○"/>
              <a:defRPr>
                <a:latin typeface="Archivo"/>
                <a:ea typeface="Archivo"/>
                <a:cs typeface="Archivo"/>
                <a:sym typeface="Archivo"/>
              </a:defRPr>
            </a:lvl8pPr>
            <a:lvl9pPr indent="-317500" lvl="8" marL="4114800">
              <a:spcBef>
                <a:spcPts val="0"/>
              </a:spcBef>
              <a:spcAft>
                <a:spcPts val="0"/>
              </a:spcAft>
              <a:buClr>
                <a:srgbClr val="FF0000"/>
              </a:buClr>
              <a:buSzPts val="1400"/>
              <a:buFont typeface="Archivo"/>
              <a:buChar char="■"/>
              <a:defRPr>
                <a:latin typeface="Archivo"/>
                <a:ea typeface="Archivo"/>
                <a:cs typeface="Archivo"/>
                <a:sym typeface="Archivo"/>
              </a:defRPr>
            </a:lvl9pPr>
          </a:lstStyle>
          <a:p/>
        </p:txBody>
      </p:sp>
      <p:pic>
        <p:nvPicPr>
          <p:cNvPr id="55" name="Google Shape;55;p14" title="W Full blk txt.png"/>
          <p:cNvPicPr preferRelativeResize="0"/>
          <p:nvPr/>
        </p:nvPicPr>
        <p:blipFill>
          <a:blip r:embed="rId2">
            <a:alphaModFix/>
          </a:blip>
          <a:stretch>
            <a:fillRect/>
          </a:stretch>
        </p:blipFill>
        <p:spPr>
          <a:xfrm>
            <a:off x="194475" y="4804579"/>
            <a:ext cx="826800" cy="19842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showMasterSp="0">
  <p:cSld name="1_Title Slide">
    <p:bg>
      <p:bgPr>
        <a:solidFill>
          <a:schemeClr val="lt1"/>
        </a:solidFill>
      </p:bgPr>
    </p:bg>
    <p:spTree>
      <p:nvGrpSpPr>
        <p:cNvPr id="56" name="Shape 56"/>
        <p:cNvGrpSpPr/>
        <p:nvPr/>
      </p:nvGrpSpPr>
      <p:grpSpPr>
        <a:xfrm>
          <a:off x="0" y="0"/>
          <a:ext cx="0" cy="0"/>
          <a:chOff x="0" y="0"/>
          <a:chExt cx="0" cy="0"/>
        </a:xfrm>
      </p:grpSpPr>
      <p:sp>
        <p:nvSpPr>
          <p:cNvPr id="57" name="Google Shape;57;p15"/>
          <p:cNvSpPr txBox="1"/>
          <p:nvPr/>
        </p:nvSpPr>
        <p:spPr>
          <a:xfrm>
            <a:off x="477400" y="4808225"/>
            <a:ext cx="10620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900">
                <a:solidFill>
                  <a:schemeClr val="lt1"/>
                </a:solidFill>
                <a:latin typeface="Archivo Medium"/>
                <a:ea typeface="Archivo Medium"/>
                <a:cs typeface="Archivo Medium"/>
                <a:sym typeface="Archivo Medium"/>
              </a:rPr>
              <a:t>2025</a:t>
            </a:r>
            <a:endParaRPr sz="900">
              <a:solidFill>
                <a:schemeClr val="lt1"/>
              </a:solidFill>
              <a:latin typeface="Archivo Medium"/>
              <a:ea typeface="Archivo Medium"/>
              <a:cs typeface="Archivo Medium"/>
              <a:sym typeface="Archivo Medium"/>
            </a:endParaRPr>
          </a:p>
        </p:txBody>
      </p:sp>
      <p:sp>
        <p:nvSpPr>
          <p:cNvPr id="58" name="Google Shape;58;p15"/>
          <p:cNvSpPr txBox="1"/>
          <p:nvPr/>
        </p:nvSpPr>
        <p:spPr>
          <a:xfrm flipH="1">
            <a:off x="4295890" y="4808230"/>
            <a:ext cx="552300" cy="2079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fld id="{00000000-1234-1234-1234-123412341234}" type="slidenum">
              <a:rPr b="0" lang="en" sz="900">
                <a:solidFill>
                  <a:schemeClr val="lt1"/>
                </a:solidFill>
                <a:latin typeface="Mulish Medium"/>
                <a:ea typeface="Mulish Medium"/>
                <a:cs typeface="Mulish Medium"/>
                <a:sym typeface="Mulish Medium"/>
              </a:rPr>
              <a:t>‹#›</a:t>
            </a:fld>
            <a:endParaRPr b="0" sz="900">
              <a:solidFill>
                <a:schemeClr val="lt1"/>
              </a:solidFill>
              <a:latin typeface="Mulish Medium"/>
              <a:ea typeface="Mulish Medium"/>
              <a:cs typeface="Mulish Medium"/>
              <a:sym typeface="Mulish Medium"/>
            </a:endParaRPr>
          </a:p>
        </p:txBody>
      </p:sp>
      <p:cxnSp>
        <p:nvCxnSpPr>
          <p:cNvPr id="59" name="Google Shape;59;p15"/>
          <p:cNvCxnSpPr/>
          <p:nvPr/>
        </p:nvCxnSpPr>
        <p:spPr>
          <a:xfrm>
            <a:off x="-7300" y="4673817"/>
            <a:ext cx="9180300" cy="0"/>
          </a:xfrm>
          <a:prstGeom prst="straightConnector1">
            <a:avLst/>
          </a:prstGeom>
          <a:noFill/>
          <a:ln cap="flat" cmpd="sng" w="9525">
            <a:solidFill>
              <a:schemeClr val="dk2"/>
            </a:solidFill>
            <a:prstDash val="solid"/>
            <a:round/>
            <a:headEnd len="med" w="med" type="none"/>
            <a:tailEnd len="med" w="med" type="none"/>
          </a:ln>
        </p:spPr>
      </p:cxnSp>
      <p:pic>
        <p:nvPicPr>
          <p:cNvPr id="60" name="Google Shape;60;p15" title="W Full blk txt.png"/>
          <p:cNvPicPr preferRelativeResize="0"/>
          <p:nvPr/>
        </p:nvPicPr>
        <p:blipFill>
          <a:blip r:embed="rId2">
            <a:alphaModFix/>
          </a:blip>
          <a:stretch>
            <a:fillRect/>
          </a:stretch>
        </p:blipFill>
        <p:spPr>
          <a:xfrm>
            <a:off x="194475" y="4804579"/>
            <a:ext cx="826800" cy="198425"/>
          </a:xfrm>
          <a:prstGeom prst="rect">
            <a:avLst/>
          </a:prstGeom>
          <a:noFill/>
          <a:ln>
            <a:noFill/>
          </a:ln>
        </p:spPr>
      </p:pic>
      <p:sp>
        <p:nvSpPr>
          <p:cNvPr id="61" name="Google Shape;61;p15"/>
          <p:cNvSpPr txBox="1"/>
          <p:nvPr>
            <p:ph type="title"/>
          </p:nvPr>
        </p:nvSpPr>
        <p:spPr>
          <a:xfrm>
            <a:off x="171950" y="272275"/>
            <a:ext cx="4901700" cy="640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Font typeface="Inter Medium"/>
              <a:buNone/>
              <a:defRPr sz="2400">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5"/>
          <p:cNvSpPr txBox="1"/>
          <p:nvPr>
            <p:ph idx="1" type="body"/>
          </p:nvPr>
        </p:nvSpPr>
        <p:spPr>
          <a:xfrm>
            <a:off x="535050" y="1074900"/>
            <a:ext cx="4672200" cy="26562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rgbClr val="FF2F0A"/>
              </a:buClr>
              <a:buSzPts val="1400"/>
              <a:buFont typeface="Archivo"/>
              <a:buChar char="●"/>
              <a:defRPr>
                <a:latin typeface="Archivo"/>
                <a:ea typeface="Archivo"/>
                <a:cs typeface="Archivo"/>
                <a:sym typeface="Archivo"/>
              </a:defRPr>
            </a:lvl1pPr>
            <a:lvl2pPr indent="-317500" lvl="1" marL="914400">
              <a:spcBef>
                <a:spcPts val="0"/>
              </a:spcBef>
              <a:spcAft>
                <a:spcPts val="0"/>
              </a:spcAft>
              <a:buClr>
                <a:srgbClr val="FF2F0A"/>
              </a:buClr>
              <a:buSzPts val="1400"/>
              <a:buFont typeface="Archivo"/>
              <a:buChar char="○"/>
              <a:defRPr>
                <a:latin typeface="Archivo"/>
                <a:ea typeface="Archivo"/>
                <a:cs typeface="Archivo"/>
                <a:sym typeface="Archivo"/>
              </a:defRPr>
            </a:lvl2pPr>
            <a:lvl3pPr indent="-317500" lvl="2" marL="1371600">
              <a:spcBef>
                <a:spcPts val="0"/>
              </a:spcBef>
              <a:spcAft>
                <a:spcPts val="0"/>
              </a:spcAft>
              <a:buClr>
                <a:srgbClr val="FF2F0A"/>
              </a:buClr>
              <a:buSzPts val="1400"/>
              <a:buFont typeface="Archivo"/>
              <a:buChar char="■"/>
              <a:defRPr>
                <a:latin typeface="Archivo"/>
                <a:ea typeface="Archivo"/>
                <a:cs typeface="Archivo"/>
                <a:sym typeface="Archivo"/>
              </a:defRPr>
            </a:lvl3pPr>
            <a:lvl4pPr indent="-317500" lvl="3" marL="1828800">
              <a:spcBef>
                <a:spcPts val="0"/>
              </a:spcBef>
              <a:spcAft>
                <a:spcPts val="0"/>
              </a:spcAft>
              <a:buClr>
                <a:srgbClr val="FF2F0A"/>
              </a:buClr>
              <a:buSzPts val="1400"/>
              <a:buFont typeface="Archivo"/>
              <a:buChar char="●"/>
              <a:defRPr>
                <a:latin typeface="Archivo"/>
                <a:ea typeface="Archivo"/>
                <a:cs typeface="Archivo"/>
                <a:sym typeface="Archivo"/>
              </a:defRPr>
            </a:lvl4pPr>
            <a:lvl5pPr indent="-317500" lvl="4" marL="2286000">
              <a:spcBef>
                <a:spcPts val="0"/>
              </a:spcBef>
              <a:spcAft>
                <a:spcPts val="0"/>
              </a:spcAft>
              <a:buClr>
                <a:srgbClr val="FF2F0A"/>
              </a:buClr>
              <a:buSzPts val="1400"/>
              <a:buFont typeface="Archivo"/>
              <a:buChar char="○"/>
              <a:defRPr>
                <a:latin typeface="Archivo"/>
                <a:ea typeface="Archivo"/>
                <a:cs typeface="Archivo"/>
                <a:sym typeface="Archivo"/>
              </a:defRPr>
            </a:lvl5pPr>
            <a:lvl6pPr indent="-317500" lvl="5" marL="2743200">
              <a:spcBef>
                <a:spcPts val="0"/>
              </a:spcBef>
              <a:spcAft>
                <a:spcPts val="0"/>
              </a:spcAft>
              <a:buClr>
                <a:srgbClr val="FF0000"/>
              </a:buClr>
              <a:buSzPts val="1400"/>
              <a:buFont typeface="Archivo"/>
              <a:buChar char="■"/>
              <a:defRPr>
                <a:latin typeface="Archivo"/>
                <a:ea typeface="Archivo"/>
                <a:cs typeface="Archivo"/>
                <a:sym typeface="Archivo"/>
              </a:defRPr>
            </a:lvl6pPr>
            <a:lvl7pPr indent="-317500" lvl="6" marL="3200400">
              <a:spcBef>
                <a:spcPts val="0"/>
              </a:spcBef>
              <a:spcAft>
                <a:spcPts val="0"/>
              </a:spcAft>
              <a:buClr>
                <a:srgbClr val="FF0000"/>
              </a:buClr>
              <a:buSzPts val="1400"/>
              <a:buFont typeface="Archivo"/>
              <a:buChar char="●"/>
              <a:defRPr>
                <a:latin typeface="Archivo"/>
                <a:ea typeface="Archivo"/>
                <a:cs typeface="Archivo"/>
                <a:sym typeface="Archivo"/>
              </a:defRPr>
            </a:lvl7pPr>
            <a:lvl8pPr indent="-317500" lvl="7" marL="3657600">
              <a:spcBef>
                <a:spcPts val="0"/>
              </a:spcBef>
              <a:spcAft>
                <a:spcPts val="0"/>
              </a:spcAft>
              <a:buClr>
                <a:srgbClr val="FF2F0A"/>
              </a:buClr>
              <a:buSzPts val="1400"/>
              <a:buFont typeface="Archivo"/>
              <a:buChar char="○"/>
              <a:defRPr>
                <a:latin typeface="Archivo"/>
                <a:ea typeface="Archivo"/>
                <a:cs typeface="Archivo"/>
                <a:sym typeface="Archivo"/>
              </a:defRPr>
            </a:lvl8pPr>
            <a:lvl9pPr indent="-317500" lvl="8" marL="4114800">
              <a:spcBef>
                <a:spcPts val="0"/>
              </a:spcBef>
              <a:spcAft>
                <a:spcPts val="0"/>
              </a:spcAft>
              <a:buClr>
                <a:srgbClr val="FF0000"/>
              </a:buClr>
              <a:buSzPts val="1400"/>
              <a:buFont typeface="Archivo"/>
              <a:buChar char="■"/>
              <a:defRPr>
                <a:latin typeface="Archivo"/>
                <a:ea typeface="Archivo"/>
                <a:cs typeface="Archivo"/>
                <a:sym typeface="Archivo"/>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1" showMasterSp="0">
  <p:cSld name="1_Title Slide_1">
    <p:bg>
      <p:bgPr>
        <a:solidFill>
          <a:schemeClr val="lt1"/>
        </a:solidFill>
      </p:bgPr>
    </p:bg>
    <p:spTree>
      <p:nvGrpSpPr>
        <p:cNvPr id="63" name="Shape 63"/>
        <p:cNvGrpSpPr/>
        <p:nvPr/>
      </p:nvGrpSpPr>
      <p:grpSpPr>
        <a:xfrm>
          <a:off x="0" y="0"/>
          <a:ext cx="0" cy="0"/>
          <a:chOff x="0" y="0"/>
          <a:chExt cx="0" cy="0"/>
        </a:xfrm>
      </p:grpSpPr>
      <p:sp>
        <p:nvSpPr>
          <p:cNvPr id="64" name="Google Shape;64;p16"/>
          <p:cNvSpPr/>
          <p:nvPr/>
        </p:nvSpPr>
        <p:spPr>
          <a:xfrm>
            <a:off x="5876200" y="-119475"/>
            <a:ext cx="3296700" cy="53220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 name="Google Shape;65;p16"/>
          <p:cNvSpPr txBox="1"/>
          <p:nvPr/>
        </p:nvSpPr>
        <p:spPr>
          <a:xfrm>
            <a:off x="477400" y="4808225"/>
            <a:ext cx="10620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900">
                <a:solidFill>
                  <a:schemeClr val="lt1"/>
                </a:solidFill>
                <a:latin typeface="Archivo Medium"/>
                <a:ea typeface="Archivo Medium"/>
                <a:cs typeface="Archivo Medium"/>
                <a:sym typeface="Archivo Medium"/>
              </a:rPr>
              <a:t>2025</a:t>
            </a:r>
            <a:endParaRPr sz="900">
              <a:solidFill>
                <a:schemeClr val="lt1"/>
              </a:solidFill>
              <a:latin typeface="Archivo Medium"/>
              <a:ea typeface="Archivo Medium"/>
              <a:cs typeface="Archivo Medium"/>
              <a:sym typeface="Archivo Medium"/>
            </a:endParaRPr>
          </a:p>
        </p:txBody>
      </p:sp>
      <p:sp>
        <p:nvSpPr>
          <p:cNvPr id="66" name="Google Shape;66;p16"/>
          <p:cNvSpPr txBox="1"/>
          <p:nvPr/>
        </p:nvSpPr>
        <p:spPr>
          <a:xfrm flipH="1">
            <a:off x="4295890" y="4808230"/>
            <a:ext cx="552300" cy="2079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fld id="{00000000-1234-1234-1234-123412341234}" type="slidenum">
              <a:rPr b="0" lang="en" sz="900">
                <a:solidFill>
                  <a:schemeClr val="lt1"/>
                </a:solidFill>
                <a:latin typeface="Mulish Medium"/>
                <a:ea typeface="Mulish Medium"/>
                <a:cs typeface="Mulish Medium"/>
                <a:sym typeface="Mulish Medium"/>
              </a:rPr>
              <a:t>‹#›</a:t>
            </a:fld>
            <a:endParaRPr b="0" sz="900">
              <a:solidFill>
                <a:schemeClr val="lt1"/>
              </a:solidFill>
              <a:latin typeface="Mulish Medium"/>
              <a:ea typeface="Mulish Medium"/>
              <a:cs typeface="Mulish Medium"/>
              <a:sym typeface="Mulish Medium"/>
            </a:endParaRPr>
          </a:p>
        </p:txBody>
      </p:sp>
      <p:pic>
        <p:nvPicPr>
          <p:cNvPr id="67" name="Google Shape;67;p16" title="W Full blk txt.png"/>
          <p:cNvPicPr preferRelativeResize="0"/>
          <p:nvPr/>
        </p:nvPicPr>
        <p:blipFill>
          <a:blip r:embed="rId2">
            <a:alphaModFix/>
          </a:blip>
          <a:stretch>
            <a:fillRect/>
          </a:stretch>
        </p:blipFill>
        <p:spPr>
          <a:xfrm>
            <a:off x="194475" y="4804579"/>
            <a:ext cx="826800" cy="198425"/>
          </a:xfrm>
          <a:prstGeom prst="rect">
            <a:avLst/>
          </a:prstGeom>
          <a:noFill/>
          <a:ln>
            <a:noFill/>
          </a:ln>
        </p:spPr>
      </p:pic>
      <p:cxnSp>
        <p:nvCxnSpPr>
          <p:cNvPr id="68" name="Google Shape;68;p16"/>
          <p:cNvCxnSpPr/>
          <p:nvPr/>
        </p:nvCxnSpPr>
        <p:spPr>
          <a:xfrm>
            <a:off x="-7300" y="4673817"/>
            <a:ext cx="9180300" cy="0"/>
          </a:xfrm>
          <a:prstGeom prst="straightConnector1">
            <a:avLst/>
          </a:prstGeom>
          <a:noFill/>
          <a:ln cap="flat" cmpd="sng" w="9525">
            <a:solidFill>
              <a:schemeClr val="dk2"/>
            </a:solidFill>
            <a:prstDash val="solid"/>
            <a:round/>
            <a:headEnd len="med" w="med" type="none"/>
            <a:tailEnd len="med" w="med" type="none"/>
          </a:ln>
        </p:spPr>
      </p:cxnSp>
      <p:sp>
        <p:nvSpPr>
          <p:cNvPr id="69" name="Google Shape;69;p16"/>
          <p:cNvSpPr txBox="1"/>
          <p:nvPr>
            <p:ph type="title"/>
          </p:nvPr>
        </p:nvSpPr>
        <p:spPr>
          <a:xfrm>
            <a:off x="171950" y="272275"/>
            <a:ext cx="4901700" cy="640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Font typeface="Inter Medium"/>
              <a:buNone/>
              <a:defRPr sz="2400">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6"/>
          <p:cNvSpPr txBox="1"/>
          <p:nvPr>
            <p:ph idx="1" type="body"/>
          </p:nvPr>
        </p:nvSpPr>
        <p:spPr>
          <a:xfrm>
            <a:off x="535050" y="1074900"/>
            <a:ext cx="4672200" cy="26562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rgbClr val="FF2F0A"/>
              </a:buClr>
              <a:buSzPts val="1400"/>
              <a:buFont typeface="Archivo"/>
              <a:buChar char="●"/>
              <a:defRPr>
                <a:latin typeface="Archivo"/>
                <a:ea typeface="Archivo"/>
                <a:cs typeface="Archivo"/>
                <a:sym typeface="Archivo"/>
              </a:defRPr>
            </a:lvl1pPr>
            <a:lvl2pPr indent="-317500" lvl="1" marL="914400">
              <a:spcBef>
                <a:spcPts val="0"/>
              </a:spcBef>
              <a:spcAft>
                <a:spcPts val="0"/>
              </a:spcAft>
              <a:buClr>
                <a:srgbClr val="FF2F0A"/>
              </a:buClr>
              <a:buSzPts val="1400"/>
              <a:buFont typeface="Archivo"/>
              <a:buChar char="○"/>
              <a:defRPr>
                <a:latin typeface="Archivo"/>
                <a:ea typeface="Archivo"/>
                <a:cs typeface="Archivo"/>
                <a:sym typeface="Archivo"/>
              </a:defRPr>
            </a:lvl2pPr>
            <a:lvl3pPr indent="-317500" lvl="2" marL="1371600">
              <a:spcBef>
                <a:spcPts val="0"/>
              </a:spcBef>
              <a:spcAft>
                <a:spcPts val="0"/>
              </a:spcAft>
              <a:buClr>
                <a:srgbClr val="FF2F0A"/>
              </a:buClr>
              <a:buSzPts val="1400"/>
              <a:buFont typeface="Archivo"/>
              <a:buChar char="■"/>
              <a:defRPr>
                <a:latin typeface="Archivo"/>
                <a:ea typeface="Archivo"/>
                <a:cs typeface="Archivo"/>
                <a:sym typeface="Archivo"/>
              </a:defRPr>
            </a:lvl3pPr>
            <a:lvl4pPr indent="-317500" lvl="3" marL="1828800">
              <a:spcBef>
                <a:spcPts val="0"/>
              </a:spcBef>
              <a:spcAft>
                <a:spcPts val="0"/>
              </a:spcAft>
              <a:buClr>
                <a:srgbClr val="FF2F0A"/>
              </a:buClr>
              <a:buSzPts val="1400"/>
              <a:buFont typeface="Archivo"/>
              <a:buChar char="●"/>
              <a:defRPr>
                <a:latin typeface="Archivo"/>
                <a:ea typeface="Archivo"/>
                <a:cs typeface="Archivo"/>
                <a:sym typeface="Archivo"/>
              </a:defRPr>
            </a:lvl4pPr>
            <a:lvl5pPr indent="-317500" lvl="4" marL="2286000">
              <a:spcBef>
                <a:spcPts val="0"/>
              </a:spcBef>
              <a:spcAft>
                <a:spcPts val="0"/>
              </a:spcAft>
              <a:buClr>
                <a:srgbClr val="FF2F0A"/>
              </a:buClr>
              <a:buSzPts val="1400"/>
              <a:buFont typeface="Archivo"/>
              <a:buChar char="○"/>
              <a:defRPr>
                <a:latin typeface="Archivo"/>
                <a:ea typeface="Archivo"/>
                <a:cs typeface="Archivo"/>
                <a:sym typeface="Archivo"/>
              </a:defRPr>
            </a:lvl5pPr>
            <a:lvl6pPr indent="-317500" lvl="5" marL="2743200">
              <a:spcBef>
                <a:spcPts val="0"/>
              </a:spcBef>
              <a:spcAft>
                <a:spcPts val="0"/>
              </a:spcAft>
              <a:buClr>
                <a:srgbClr val="FF0000"/>
              </a:buClr>
              <a:buSzPts val="1400"/>
              <a:buFont typeface="Archivo"/>
              <a:buChar char="■"/>
              <a:defRPr>
                <a:latin typeface="Archivo"/>
                <a:ea typeface="Archivo"/>
                <a:cs typeface="Archivo"/>
                <a:sym typeface="Archivo"/>
              </a:defRPr>
            </a:lvl6pPr>
            <a:lvl7pPr indent="-317500" lvl="6" marL="3200400">
              <a:spcBef>
                <a:spcPts val="0"/>
              </a:spcBef>
              <a:spcAft>
                <a:spcPts val="0"/>
              </a:spcAft>
              <a:buClr>
                <a:srgbClr val="FF0000"/>
              </a:buClr>
              <a:buSzPts val="1400"/>
              <a:buFont typeface="Archivo"/>
              <a:buChar char="●"/>
              <a:defRPr>
                <a:latin typeface="Archivo"/>
                <a:ea typeface="Archivo"/>
                <a:cs typeface="Archivo"/>
                <a:sym typeface="Archivo"/>
              </a:defRPr>
            </a:lvl7pPr>
            <a:lvl8pPr indent="-317500" lvl="7" marL="3657600">
              <a:spcBef>
                <a:spcPts val="0"/>
              </a:spcBef>
              <a:spcAft>
                <a:spcPts val="0"/>
              </a:spcAft>
              <a:buClr>
                <a:srgbClr val="FF2F0A"/>
              </a:buClr>
              <a:buSzPts val="1400"/>
              <a:buFont typeface="Archivo"/>
              <a:buChar char="○"/>
              <a:defRPr>
                <a:latin typeface="Archivo"/>
                <a:ea typeface="Archivo"/>
                <a:cs typeface="Archivo"/>
                <a:sym typeface="Archivo"/>
              </a:defRPr>
            </a:lvl8pPr>
            <a:lvl9pPr indent="-317500" lvl="8" marL="4114800">
              <a:spcBef>
                <a:spcPts val="0"/>
              </a:spcBef>
              <a:spcAft>
                <a:spcPts val="0"/>
              </a:spcAft>
              <a:buClr>
                <a:srgbClr val="FF0000"/>
              </a:buClr>
              <a:buSzPts val="1400"/>
              <a:buFont typeface="Archivo"/>
              <a:buChar char="■"/>
              <a:defRPr>
                <a:latin typeface="Archivo"/>
                <a:ea typeface="Archivo"/>
                <a:cs typeface="Archivo"/>
                <a:sym typeface="Archiv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1">
  <p:cSld name="DEFAULT_1">
    <p:bg>
      <p:bgPr>
        <a:solidFill>
          <a:schemeClr val="lt1"/>
        </a:solidFill>
      </p:bgPr>
    </p:bg>
    <p:spTree>
      <p:nvGrpSpPr>
        <p:cNvPr id="71" name="Shape 7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0808"/>
        </a:solidFill>
      </p:bgPr>
    </p:bg>
    <p:spTree>
      <p:nvGrpSpPr>
        <p:cNvPr id="75" name="Shape 75"/>
        <p:cNvGrpSpPr/>
        <p:nvPr/>
      </p:nvGrpSpPr>
      <p:grpSpPr>
        <a:xfrm>
          <a:off x="0" y="0"/>
          <a:ext cx="0" cy="0"/>
          <a:chOff x="0" y="0"/>
          <a:chExt cx="0" cy="0"/>
        </a:xfrm>
      </p:grpSpPr>
      <p:sp>
        <p:nvSpPr>
          <p:cNvPr id="76" name="Google Shape;76;p18"/>
          <p:cNvSpPr/>
          <p:nvPr/>
        </p:nvSpPr>
        <p:spPr>
          <a:xfrm>
            <a:off x="259950" y="4076674"/>
            <a:ext cx="5105400" cy="79050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BCC0C5"/>
              </a:buClr>
              <a:buSzPts val="1050"/>
              <a:buFont typeface="Inter"/>
              <a:buNone/>
            </a:pPr>
            <a:r>
              <a:rPr lang="en" sz="1200">
                <a:solidFill>
                  <a:schemeClr val="lt1"/>
                </a:solidFill>
                <a:latin typeface="Archivo SemiBold"/>
                <a:ea typeface="Archivo SemiBold"/>
                <a:cs typeface="Archivo SemiBold"/>
                <a:sym typeface="Archivo SemiBold"/>
              </a:rPr>
              <a:t>Bliss Recovery </a:t>
            </a:r>
            <a:endParaRPr sz="1200">
              <a:solidFill>
                <a:schemeClr val="lt1"/>
              </a:solidFill>
              <a:latin typeface="Archivo SemiBold"/>
              <a:ea typeface="Archivo SemiBold"/>
              <a:cs typeface="Archivo SemiBold"/>
              <a:sym typeface="Archivo SemiBold"/>
            </a:endParaRPr>
          </a:p>
          <a:p>
            <a:pPr indent="0" lvl="0" marL="0" marR="0" rtl="0" algn="l">
              <a:lnSpc>
                <a:spcPct val="120000"/>
              </a:lnSpc>
              <a:spcBef>
                <a:spcPts val="0"/>
              </a:spcBef>
              <a:spcAft>
                <a:spcPts val="0"/>
              </a:spcAft>
              <a:buClr>
                <a:srgbClr val="BCC0C5"/>
              </a:buClr>
              <a:buSzPts val="1050"/>
              <a:buFont typeface="Inter"/>
              <a:buNone/>
            </a:pPr>
            <a:r>
              <a:rPr lang="en" sz="1200">
                <a:solidFill>
                  <a:schemeClr val="lt1"/>
                </a:solidFill>
                <a:latin typeface="Archivo SemiBold"/>
                <a:ea typeface="Archivo SemiBold"/>
                <a:cs typeface="Archivo SemiBold"/>
                <a:sym typeface="Archivo SemiBold"/>
              </a:rPr>
              <a:t>Content &amp; SEO</a:t>
            </a:r>
            <a:endParaRPr i="0" sz="1200" u="none" cap="none" strike="noStrike">
              <a:solidFill>
                <a:schemeClr val="lt1"/>
              </a:solidFill>
              <a:latin typeface="Archivo Medium"/>
              <a:ea typeface="Archivo Medium"/>
              <a:cs typeface="Archivo Medium"/>
              <a:sym typeface="Archivo Medium"/>
            </a:endParaRPr>
          </a:p>
          <a:p>
            <a:pPr indent="0" lvl="0" marL="0" marR="0" rtl="0" algn="l">
              <a:lnSpc>
                <a:spcPct val="120000"/>
              </a:lnSpc>
              <a:spcBef>
                <a:spcPts val="0"/>
              </a:spcBef>
              <a:spcAft>
                <a:spcPts val="0"/>
              </a:spcAft>
              <a:buClr>
                <a:srgbClr val="BCC0C5"/>
              </a:buClr>
              <a:buSzPts val="1050"/>
              <a:buFont typeface="Inter"/>
              <a:buNone/>
            </a:pPr>
            <a:r>
              <a:rPr i="0" lang="en" sz="1200" u="none" cap="none" strike="noStrike">
                <a:solidFill>
                  <a:schemeClr val="lt1"/>
                </a:solidFill>
                <a:latin typeface="Archivo Medium"/>
                <a:ea typeface="Archivo Medium"/>
                <a:cs typeface="Archivo Medium"/>
                <a:sym typeface="Archivo Medium"/>
              </a:rPr>
              <a:t>Date: </a:t>
            </a:r>
            <a:r>
              <a:rPr lang="en" sz="1200">
                <a:solidFill>
                  <a:schemeClr val="lt1"/>
                </a:solidFill>
                <a:latin typeface="Archivo Medium"/>
                <a:ea typeface="Archivo Medium"/>
                <a:cs typeface="Archivo Medium"/>
                <a:sym typeface="Archivo Medium"/>
              </a:rPr>
              <a:t>March 24, 2026 </a:t>
            </a:r>
            <a:endParaRPr i="0" sz="1200" u="none" cap="none" strike="noStrike">
              <a:solidFill>
                <a:schemeClr val="lt1"/>
              </a:solidFill>
              <a:latin typeface="Archivo Medium"/>
              <a:ea typeface="Archivo Medium"/>
              <a:cs typeface="Archivo Medium"/>
              <a:sym typeface="Archivo Medium"/>
            </a:endParaRPr>
          </a:p>
        </p:txBody>
      </p:sp>
      <p:sp>
        <p:nvSpPr>
          <p:cNvPr id="77" name="Google Shape;77;p18"/>
          <p:cNvSpPr/>
          <p:nvPr/>
        </p:nvSpPr>
        <p:spPr>
          <a:xfrm>
            <a:off x="259950" y="3012375"/>
            <a:ext cx="3946500" cy="29670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BCC0C5"/>
              </a:buClr>
              <a:buSzPts val="1050"/>
              <a:buFont typeface="Inter"/>
              <a:buNone/>
            </a:pPr>
            <a:r>
              <a:rPr i="1" lang="en" sz="1650">
                <a:solidFill>
                  <a:schemeClr val="lt1"/>
                </a:solidFill>
                <a:latin typeface="Inter"/>
                <a:ea typeface="Inter"/>
                <a:cs typeface="Inter"/>
                <a:sym typeface="Inter"/>
              </a:rPr>
              <a:t>Building performance with purpose</a:t>
            </a:r>
            <a:endParaRPr i="1" sz="1650" u="none" cap="none" strike="noStrike">
              <a:solidFill>
                <a:schemeClr val="lt1"/>
              </a:solidFill>
              <a:latin typeface="Inter"/>
              <a:ea typeface="Inter"/>
              <a:cs typeface="Inter"/>
              <a:sym typeface="Inter"/>
            </a:endParaRPr>
          </a:p>
        </p:txBody>
      </p:sp>
      <p:sp>
        <p:nvSpPr>
          <p:cNvPr id="78" name="Google Shape;78;p18"/>
          <p:cNvSpPr/>
          <p:nvPr/>
        </p:nvSpPr>
        <p:spPr>
          <a:xfrm>
            <a:off x="259950" y="1083791"/>
            <a:ext cx="7692000" cy="2255100"/>
          </a:xfrm>
          <a:prstGeom prst="rect">
            <a:avLst/>
          </a:prstGeom>
          <a:noFill/>
          <a:ln>
            <a:noFill/>
          </a:ln>
        </p:spPr>
        <p:txBody>
          <a:bodyPr anchorCtr="0" anchor="ctr" bIns="45700" lIns="91425" spcFirstLastPara="1" rIns="91425" wrap="square" tIns="45700">
            <a:noAutofit/>
          </a:bodyPr>
          <a:lstStyle/>
          <a:p>
            <a:pPr indent="0" lvl="0" marL="0" marR="0" rtl="0" algn="just">
              <a:lnSpc>
                <a:spcPct val="75000"/>
              </a:lnSpc>
              <a:spcBef>
                <a:spcPts val="0"/>
              </a:spcBef>
              <a:spcAft>
                <a:spcPts val="0"/>
              </a:spcAft>
              <a:buClr>
                <a:srgbClr val="FFFFFF"/>
              </a:buClr>
              <a:buSzPts val="5250"/>
              <a:buFont typeface="Inter"/>
              <a:buNone/>
            </a:pPr>
            <a:r>
              <a:rPr lang="en" sz="8000">
                <a:solidFill>
                  <a:srgbClr val="FF2F0A"/>
                </a:solidFill>
                <a:latin typeface="Archivo SemiBold"/>
                <a:ea typeface="Archivo SemiBold"/>
                <a:cs typeface="Archivo SemiBold"/>
                <a:sym typeface="Archivo SemiBold"/>
              </a:rPr>
              <a:t>SEO</a:t>
            </a:r>
            <a:endParaRPr sz="8000">
              <a:solidFill>
                <a:srgbClr val="FF2F0A"/>
              </a:solidFill>
              <a:latin typeface="Archivo SemiBold"/>
              <a:ea typeface="Archivo SemiBold"/>
              <a:cs typeface="Archivo SemiBold"/>
              <a:sym typeface="Archivo SemiBold"/>
            </a:endParaRPr>
          </a:p>
          <a:p>
            <a:pPr indent="0" lvl="0" marL="0" marR="0" rtl="0" algn="just">
              <a:lnSpc>
                <a:spcPct val="75000"/>
              </a:lnSpc>
              <a:spcBef>
                <a:spcPts val="0"/>
              </a:spcBef>
              <a:spcAft>
                <a:spcPts val="0"/>
              </a:spcAft>
              <a:buClr>
                <a:srgbClr val="FFFFFF"/>
              </a:buClr>
              <a:buSzPts val="5250"/>
              <a:buFont typeface="Inter"/>
              <a:buNone/>
            </a:pPr>
            <a:r>
              <a:rPr lang="en" sz="8000">
                <a:solidFill>
                  <a:srgbClr val="F9F9F9"/>
                </a:solidFill>
                <a:latin typeface="Archivo SemiBold"/>
                <a:ea typeface="Archivo SemiBold"/>
                <a:cs typeface="Archivo SemiBold"/>
                <a:sym typeface="Archivo SemiBold"/>
              </a:rPr>
              <a:t>LAUNCH</a:t>
            </a:r>
            <a:endParaRPr sz="8000">
              <a:solidFill>
                <a:srgbClr val="F9F9F9"/>
              </a:solidFill>
              <a:latin typeface="Archivo SemiBold"/>
              <a:ea typeface="Archivo SemiBold"/>
              <a:cs typeface="Archivo SemiBold"/>
              <a:sym typeface="Archivo SemiBold"/>
            </a:endParaRPr>
          </a:p>
        </p:txBody>
      </p:sp>
      <p:pic>
        <p:nvPicPr>
          <p:cNvPr id="79" name="Google Shape;79;p18" title="W Full blk txt (1).png"/>
          <p:cNvPicPr preferRelativeResize="0"/>
          <p:nvPr/>
        </p:nvPicPr>
        <p:blipFill>
          <a:blip r:embed="rId3">
            <a:alphaModFix/>
          </a:blip>
          <a:stretch>
            <a:fillRect/>
          </a:stretch>
        </p:blipFill>
        <p:spPr>
          <a:xfrm>
            <a:off x="7859425" y="4620789"/>
            <a:ext cx="1026250" cy="24645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0808"/>
        </a:solidFill>
      </p:bgPr>
    </p:bg>
    <p:spTree>
      <p:nvGrpSpPr>
        <p:cNvPr id="83" name="Shape 83"/>
        <p:cNvGrpSpPr/>
        <p:nvPr/>
      </p:nvGrpSpPr>
      <p:grpSpPr>
        <a:xfrm>
          <a:off x="0" y="0"/>
          <a:ext cx="0" cy="0"/>
          <a:chOff x="0" y="0"/>
          <a:chExt cx="0" cy="0"/>
        </a:xfrm>
      </p:grpSpPr>
      <p:sp>
        <p:nvSpPr>
          <p:cNvPr id="84" name="Google Shape;84;p19"/>
          <p:cNvSpPr/>
          <p:nvPr/>
        </p:nvSpPr>
        <p:spPr>
          <a:xfrm>
            <a:off x="283350" y="266675"/>
            <a:ext cx="3559500" cy="938700"/>
          </a:xfrm>
          <a:prstGeom prst="rect">
            <a:avLst/>
          </a:prstGeom>
          <a:noFill/>
          <a:ln>
            <a:noFill/>
          </a:ln>
        </p:spPr>
        <p:txBody>
          <a:bodyPr anchorCtr="0" anchor="ctr" bIns="45700" lIns="91425" spcFirstLastPara="1" rIns="91425" wrap="square" tIns="45700">
            <a:noAutofit/>
          </a:bodyPr>
          <a:lstStyle/>
          <a:p>
            <a:pPr indent="0" lvl="0" marL="0" marR="0" rtl="0" algn="just">
              <a:lnSpc>
                <a:spcPct val="75000"/>
              </a:lnSpc>
              <a:spcBef>
                <a:spcPts val="0"/>
              </a:spcBef>
              <a:spcAft>
                <a:spcPts val="0"/>
              </a:spcAft>
              <a:buClr>
                <a:srgbClr val="FFFFFF"/>
              </a:buClr>
              <a:buSzPts val="5250"/>
              <a:buFont typeface="Inter"/>
              <a:buNone/>
            </a:pPr>
            <a:r>
              <a:rPr lang="en" sz="4600">
                <a:solidFill>
                  <a:schemeClr val="lt1"/>
                </a:solidFill>
                <a:latin typeface="Archivo SemiBold"/>
                <a:ea typeface="Archivo SemiBold"/>
                <a:cs typeface="Archivo SemiBold"/>
                <a:sym typeface="Archivo SemiBold"/>
              </a:rPr>
              <a:t>Agenda </a:t>
            </a:r>
            <a:endParaRPr i="0" sz="4600" u="none" cap="none" strike="noStrike">
              <a:solidFill>
                <a:schemeClr val="lt1"/>
              </a:solidFill>
              <a:latin typeface="Archivo SemiBold"/>
              <a:ea typeface="Archivo SemiBold"/>
              <a:cs typeface="Archivo SemiBold"/>
              <a:sym typeface="Archivo SemiBold"/>
            </a:endParaRPr>
          </a:p>
        </p:txBody>
      </p:sp>
      <p:sp>
        <p:nvSpPr>
          <p:cNvPr id="85" name="Google Shape;85;p19"/>
          <p:cNvSpPr/>
          <p:nvPr/>
        </p:nvSpPr>
        <p:spPr>
          <a:xfrm>
            <a:off x="526050" y="2255350"/>
            <a:ext cx="2614800" cy="832800"/>
          </a:xfrm>
          <a:prstGeom prst="rect">
            <a:avLst/>
          </a:prstGeom>
          <a:noFill/>
          <a:ln>
            <a:noFill/>
          </a:ln>
        </p:spPr>
        <p:txBody>
          <a:bodyPr anchorCtr="0" anchor="ctr" bIns="42975" lIns="85925" spcFirstLastPara="1" rIns="85925" wrap="square" tIns="42975">
            <a:noAutofit/>
          </a:bodyPr>
          <a:lstStyle/>
          <a:p>
            <a:pPr indent="0" lvl="0" marL="0" marR="0" rtl="0" algn="l">
              <a:lnSpc>
                <a:spcPct val="120000"/>
              </a:lnSpc>
              <a:spcBef>
                <a:spcPts val="0"/>
              </a:spcBef>
              <a:spcAft>
                <a:spcPts val="0"/>
              </a:spcAft>
              <a:buClr>
                <a:srgbClr val="BCC0C5"/>
              </a:buClr>
              <a:buSzPts val="987"/>
              <a:buFont typeface="Inter"/>
              <a:buNone/>
            </a:pPr>
            <a:r>
              <a:rPr b="1" lang="en" sz="1550">
                <a:solidFill>
                  <a:schemeClr val="lt1"/>
                </a:solidFill>
                <a:latin typeface="Archivo"/>
                <a:ea typeface="Archivo"/>
                <a:cs typeface="Archivo"/>
                <a:sym typeface="Archivo"/>
              </a:rPr>
              <a:t>Insights</a:t>
            </a:r>
            <a:endParaRPr b="1" sz="1550">
              <a:solidFill>
                <a:schemeClr val="lt1"/>
              </a:solidFill>
              <a:latin typeface="Archivo"/>
              <a:ea typeface="Archivo"/>
              <a:cs typeface="Archivo"/>
              <a:sym typeface="Archivo"/>
            </a:endParaRPr>
          </a:p>
          <a:p>
            <a:pPr indent="0" lvl="0" marL="0" marR="0" rtl="0" algn="l">
              <a:lnSpc>
                <a:spcPct val="120000"/>
              </a:lnSpc>
              <a:spcBef>
                <a:spcPts val="0"/>
              </a:spcBef>
              <a:spcAft>
                <a:spcPts val="0"/>
              </a:spcAft>
              <a:buClr>
                <a:srgbClr val="BCC0C5"/>
              </a:buClr>
              <a:buSzPts val="987"/>
              <a:buFont typeface="Inter"/>
              <a:buNone/>
            </a:pPr>
            <a:r>
              <a:rPr lang="en" sz="1133">
                <a:solidFill>
                  <a:srgbClr val="EAEAEA"/>
                </a:solidFill>
                <a:latin typeface="Archivo"/>
                <a:ea typeface="Archivo"/>
                <a:cs typeface="Archivo"/>
                <a:sym typeface="Archivo"/>
              </a:rPr>
              <a:t>What we found, and where we are in the SEO strategy </a:t>
            </a:r>
            <a:endParaRPr sz="1133">
              <a:solidFill>
                <a:srgbClr val="EAEAEA"/>
              </a:solidFill>
              <a:latin typeface="Archivo"/>
              <a:ea typeface="Archivo"/>
              <a:cs typeface="Archivo"/>
              <a:sym typeface="Archivo"/>
            </a:endParaRPr>
          </a:p>
        </p:txBody>
      </p:sp>
      <p:sp>
        <p:nvSpPr>
          <p:cNvPr id="86" name="Google Shape;86;p19"/>
          <p:cNvSpPr/>
          <p:nvPr/>
        </p:nvSpPr>
        <p:spPr>
          <a:xfrm>
            <a:off x="3263025" y="2263175"/>
            <a:ext cx="2614800" cy="832800"/>
          </a:xfrm>
          <a:prstGeom prst="rect">
            <a:avLst/>
          </a:prstGeom>
          <a:noFill/>
          <a:ln>
            <a:noFill/>
          </a:ln>
        </p:spPr>
        <p:txBody>
          <a:bodyPr anchorCtr="0" anchor="ctr" bIns="42975" lIns="85925" spcFirstLastPara="1" rIns="85925" wrap="square" tIns="42975">
            <a:noAutofit/>
          </a:bodyPr>
          <a:lstStyle/>
          <a:p>
            <a:pPr indent="0" lvl="0" marL="0" marR="0" rtl="0" algn="l">
              <a:lnSpc>
                <a:spcPct val="120000"/>
              </a:lnSpc>
              <a:spcBef>
                <a:spcPts val="0"/>
              </a:spcBef>
              <a:spcAft>
                <a:spcPts val="0"/>
              </a:spcAft>
              <a:buClr>
                <a:srgbClr val="BCC0C5"/>
              </a:buClr>
              <a:buSzPts val="987"/>
              <a:buFont typeface="Inter"/>
              <a:buNone/>
            </a:pPr>
            <a:r>
              <a:rPr b="1" lang="en" sz="1550">
                <a:solidFill>
                  <a:schemeClr val="lt1"/>
                </a:solidFill>
                <a:latin typeface="Archivo"/>
                <a:ea typeface="Archivo"/>
                <a:cs typeface="Archivo"/>
                <a:sym typeface="Archivo"/>
              </a:rPr>
              <a:t>Site Navigation</a:t>
            </a:r>
            <a:endParaRPr b="1" sz="1550">
              <a:solidFill>
                <a:schemeClr val="lt1"/>
              </a:solidFill>
              <a:latin typeface="Archivo"/>
              <a:ea typeface="Archivo"/>
              <a:cs typeface="Archivo"/>
              <a:sym typeface="Archivo"/>
            </a:endParaRPr>
          </a:p>
          <a:p>
            <a:pPr indent="0" lvl="0" marL="0" marR="0" rtl="0" algn="l">
              <a:lnSpc>
                <a:spcPct val="120000"/>
              </a:lnSpc>
              <a:spcBef>
                <a:spcPts val="0"/>
              </a:spcBef>
              <a:spcAft>
                <a:spcPts val="0"/>
              </a:spcAft>
              <a:buClr>
                <a:srgbClr val="BCC0C5"/>
              </a:buClr>
              <a:buSzPts val="987"/>
              <a:buFont typeface="Inter"/>
              <a:buNone/>
            </a:pPr>
            <a:r>
              <a:rPr lang="en" sz="1133">
                <a:solidFill>
                  <a:srgbClr val="EAEAEA"/>
                </a:solidFill>
                <a:latin typeface="Archivo"/>
                <a:ea typeface="Archivo"/>
                <a:cs typeface="Archivo"/>
                <a:sym typeface="Archivo"/>
              </a:rPr>
              <a:t>Feedback &amp; Alignment</a:t>
            </a:r>
            <a:endParaRPr sz="1133">
              <a:solidFill>
                <a:srgbClr val="EAEAEA"/>
              </a:solidFill>
              <a:latin typeface="Archivo"/>
              <a:ea typeface="Archivo"/>
              <a:cs typeface="Archivo"/>
              <a:sym typeface="Archivo"/>
            </a:endParaRPr>
          </a:p>
        </p:txBody>
      </p:sp>
      <p:sp>
        <p:nvSpPr>
          <p:cNvPr id="87" name="Google Shape;87;p19"/>
          <p:cNvSpPr/>
          <p:nvPr/>
        </p:nvSpPr>
        <p:spPr>
          <a:xfrm>
            <a:off x="6013775" y="2270050"/>
            <a:ext cx="2614800" cy="681000"/>
          </a:xfrm>
          <a:prstGeom prst="rect">
            <a:avLst/>
          </a:prstGeom>
          <a:noFill/>
          <a:ln>
            <a:noFill/>
          </a:ln>
        </p:spPr>
        <p:txBody>
          <a:bodyPr anchorCtr="0" anchor="ctr" bIns="42975" lIns="85925" spcFirstLastPara="1" rIns="85925" wrap="square" tIns="42975">
            <a:noAutofit/>
          </a:bodyPr>
          <a:lstStyle/>
          <a:p>
            <a:pPr indent="0" lvl="0" marL="0" marR="0" rtl="0" algn="l">
              <a:lnSpc>
                <a:spcPct val="120000"/>
              </a:lnSpc>
              <a:spcBef>
                <a:spcPts val="0"/>
              </a:spcBef>
              <a:spcAft>
                <a:spcPts val="0"/>
              </a:spcAft>
              <a:buClr>
                <a:srgbClr val="BCC0C5"/>
              </a:buClr>
              <a:buSzPts val="987"/>
              <a:buFont typeface="Inter"/>
              <a:buNone/>
            </a:pPr>
            <a:r>
              <a:rPr b="1" lang="en" sz="1550">
                <a:solidFill>
                  <a:schemeClr val="lt1"/>
                </a:solidFill>
                <a:latin typeface="Archivo"/>
                <a:ea typeface="Archivo"/>
                <a:cs typeface="Archivo"/>
                <a:sym typeface="Archivo"/>
              </a:rPr>
              <a:t>Q1 Deliverables</a:t>
            </a:r>
            <a:endParaRPr b="1" sz="1550">
              <a:solidFill>
                <a:schemeClr val="lt1"/>
              </a:solidFill>
              <a:latin typeface="Archivo"/>
              <a:ea typeface="Archivo"/>
              <a:cs typeface="Archivo"/>
              <a:sym typeface="Archivo"/>
            </a:endParaRPr>
          </a:p>
          <a:p>
            <a:pPr indent="0" lvl="0" marL="0" marR="0" rtl="0" algn="l">
              <a:lnSpc>
                <a:spcPct val="120000"/>
              </a:lnSpc>
              <a:spcBef>
                <a:spcPts val="0"/>
              </a:spcBef>
              <a:spcAft>
                <a:spcPts val="0"/>
              </a:spcAft>
              <a:buClr>
                <a:srgbClr val="BCC0C5"/>
              </a:buClr>
              <a:buSzPts val="987"/>
              <a:buFont typeface="Inter"/>
              <a:buNone/>
            </a:pPr>
            <a:r>
              <a:rPr lang="en" sz="1133">
                <a:solidFill>
                  <a:srgbClr val="EAEAEA"/>
                </a:solidFill>
                <a:latin typeface="Archivo"/>
                <a:ea typeface="Archivo"/>
                <a:cs typeface="Archivo"/>
                <a:sym typeface="Archivo"/>
              </a:rPr>
              <a:t>Webserv’s SEO Commitments</a:t>
            </a:r>
            <a:endParaRPr sz="1133">
              <a:solidFill>
                <a:srgbClr val="EAEAEA"/>
              </a:solidFill>
              <a:latin typeface="Archivo"/>
              <a:ea typeface="Archivo"/>
              <a:cs typeface="Archivo"/>
              <a:sym typeface="Archivo"/>
            </a:endParaRPr>
          </a:p>
        </p:txBody>
      </p:sp>
      <p:sp>
        <p:nvSpPr>
          <p:cNvPr id="88" name="Google Shape;88;p19"/>
          <p:cNvSpPr/>
          <p:nvPr/>
        </p:nvSpPr>
        <p:spPr>
          <a:xfrm>
            <a:off x="552091" y="1886111"/>
            <a:ext cx="104400" cy="104400"/>
          </a:xfrm>
          <a:prstGeom prst="ellipse">
            <a:avLst/>
          </a:prstGeom>
          <a:solidFill>
            <a:srgbClr val="FF2F0A"/>
          </a:solidFill>
          <a:ln>
            <a:noFill/>
          </a:ln>
        </p:spPr>
        <p:txBody>
          <a:bodyPr anchorCtr="0" anchor="ctr" bIns="93900" lIns="93900" spcFirstLastPara="1" rIns="93900" wrap="square" tIns="93900">
            <a:noAutofit/>
          </a:bodyPr>
          <a:lstStyle/>
          <a:p>
            <a:pPr indent="0" lvl="0" marL="0" rtl="0" algn="ctr">
              <a:spcBef>
                <a:spcPts val="0"/>
              </a:spcBef>
              <a:spcAft>
                <a:spcPts val="0"/>
              </a:spcAft>
              <a:buNone/>
            </a:pPr>
            <a:r>
              <a:t/>
            </a:r>
            <a:endParaRPr sz="1438"/>
          </a:p>
        </p:txBody>
      </p:sp>
      <p:sp>
        <p:nvSpPr>
          <p:cNvPr id="89" name="Google Shape;89;p19"/>
          <p:cNvSpPr/>
          <p:nvPr/>
        </p:nvSpPr>
        <p:spPr>
          <a:xfrm>
            <a:off x="656557" y="1827548"/>
            <a:ext cx="378000" cy="221700"/>
          </a:xfrm>
          <a:prstGeom prst="rect">
            <a:avLst/>
          </a:prstGeom>
          <a:noFill/>
          <a:ln>
            <a:noFill/>
          </a:ln>
        </p:spPr>
        <p:txBody>
          <a:bodyPr anchorCtr="0" anchor="ctr" bIns="42975" lIns="85925" spcFirstLastPara="1" rIns="85925" wrap="square" tIns="42975">
            <a:noAutofit/>
          </a:bodyPr>
          <a:lstStyle/>
          <a:p>
            <a:pPr indent="0" lvl="0" marL="0" marR="0" rtl="0" algn="l">
              <a:lnSpc>
                <a:spcPct val="120000"/>
              </a:lnSpc>
              <a:spcBef>
                <a:spcPts val="0"/>
              </a:spcBef>
              <a:spcAft>
                <a:spcPts val="0"/>
              </a:spcAft>
              <a:buClr>
                <a:srgbClr val="BCC0C5"/>
              </a:buClr>
              <a:buSzPts val="987"/>
              <a:buFont typeface="Inter"/>
              <a:buNone/>
            </a:pPr>
            <a:r>
              <a:rPr i="1" lang="en" sz="1239">
                <a:solidFill>
                  <a:schemeClr val="lt1"/>
                </a:solidFill>
                <a:latin typeface="Archivo SemiBold"/>
                <a:ea typeface="Archivo SemiBold"/>
                <a:cs typeface="Archivo SemiBold"/>
                <a:sym typeface="Archivo SemiBold"/>
              </a:rPr>
              <a:t>01</a:t>
            </a:r>
            <a:endParaRPr i="1" sz="1239">
              <a:solidFill>
                <a:schemeClr val="lt1"/>
              </a:solidFill>
              <a:latin typeface="Archivo SemiBold"/>
              <a:ea typeface="Archivo SemiBold"/>
              <a:cs typeface="Archivo SemiBold"/>
              <a:sym typeface="Archivo SemiBold"/>
            </a:endParaRPr>
          </a:p>
        </p:txBody>
      </p:sp>
      <p:cxnSp>
        <p:nvCxnSpPr>
          <p:cNvPr id="90" name="Google Shape;90;p19"/>
          <p:cNvCxnSpPr/>
          <p:nvPr/>
        </p:nvCxnSpPr>
        <p:spPr>
          <a:xfrm>
            <a:off x="552091" y="2087223"/>
            <a:ext cx="2562600" cy="0"/>
          </a:xfrm>
          <a:prstGeom prst="straightConnector1">
            <a:avLst/>
          </a:prstGeom>
          <a:noFill/>
          <a:ln cap="flat" cmpd="sng" w="9775">
            <a:solidFill>
              <a:srgbClr val="B8B7B6"/>
            </a:solidFill>
            <a:prstDash val="solid"/>
            <a:round/>
            <a:headEnd len="med" w="med" type="none"/>
            <a:tailEnd len="med" w="med" type="none"/>
          </a:ln>
        </p:spPr>
      </p:cxnSp>
      <p:sp>
        <p:nvSpPr>
          <p:cNvPr id="91" name="Google Shape;91;p19"/>
          <p:cNvSpPr/>
          <p:nvPr/>
        </p:nvSpPr>
        <p:spPr>
          <a:xfrm>
            <a:off x="3290708" y="1889896"/>
            <a:ext cx="104400" cy="104400"/>
          </a:xfrm>
          <a:prstGeom prst="ellipse">
            <a:avLst/>
          </a:prstGeom>
          <a:solidFill>
            <a:srgbClr val="FF2F0A"/>
          </a:solidFill>
          <a:ln>
            <a:noFill/>
          </a:ln>
        </p:spPr>
        <p:txBody>
          <a:bodyPr anchorCtr="0" anchor="ctr" bIns="93900" lIns="93900" spcFirstLastPara="1" rIns="93900" wrap="square" tIns="93900">
            <a:noAutofit/>
          </a:bodyPr>
          <a:lstStyle/>
          <a:p>
            <a:pPr indent="0" lvl="0" marL="0" rtl="0" algn="ctr">
              <a:spcBef>
                <a:spcPts val="0"/>
              </a:spcBef>
              <a:spcAft>
                <a:spcPts val="0"/>
              </a:spcAft>
              <a:buNone/>
            </a:pPr>
            <a:r>
              <a:t/>
            </a:r>
            <a:endParaRPr sz="1438"/>
          </a:p>
        </p:txBody>
      </p:sp>
      <p:sp>
        <p:nvSpPr>
          <p:cNvPr id="92" name="Google Shape;92;p19"/>
          <p:cNvSpPr/>
          <p:nvPr/>
        </p:nvSpPr>
        <p:spPr>
          <a:xfrm>
            <a:off x="3395174" y="1831333"/>
            <a:ext cx="378000" cy="221700"/>
          </a:xfrm>
          <a:prstGeom prst="rect">
            <a:avLst/>
          </a:prstGeom>
          <a:noFill/>
          <a:ln>
            <a:noFill/>
          </a:ln>
        </p:spPr>
        <p:txBody>
          <a:bodyPr anchorCtr="0" anchor="ctr" bIns="42975" lIns="85925" spcFirstLastPara="1" rIns="85925" wrap="square" tIns="42975">
            <a:noAutofit/>
          </a:bodyPr>
          <a:lstStyle/>
          <a:p>
            <a:pPr indent="0" lvl="0" marL="0" marR="0" rtl="0" algn="l">
              <a:lnSpc>
                <a:spcPct val="120000"/>
              </a:lnSpc>
              <a:spcBef>
                <a:spcPts val="0"/>
              </a:spcBef>
              <a:spcAft>
                <a:spcPts val="0"/>
              </a:spcAft>
              <a:buClr>
                <a:srgbClr val="BCC0C5"/>
              </a:buClr>
              <a:buSzPts val="987"/>
              <a:buFont typeface="Inter"/>
              <a:buNone/>
            </a:pPr>
            <a:r>
              <a:rPr i="1" lang="en" sz="1239">
                <a:solidFill>
                  <a:schemeClr val="lt1"/>
                </a:solidFill>
                <a:latin typeface="Archivo SemiBold"/>
                <a:ea typeface="Archivo SemiBold"/>
                <a:cs typeface="Archivo SemiBold"/>
                <a:sym typeface="Archivo SemiBold"/>
              </a:rPr>
              <a:t>02 </a:t>
            </a:r>
            <a:endParaRPr i="1" sz="1239">
              <a:solidFill>
                <a:schemeClr val="lt1"/>
              </a:solidFill>
              <a:latin typeface="Archivo SemiBold"/>
              <a:ea typeface="Archivo SemiBold"/>
              <a:cs typeface="Archivo SemiBold"/>
              <a:sym typeface="Archivo SemiBold"/>
            </a:endParaRPr>
          </a:p>
        </p:txBody>
      </p:sp>
      <p:cxnSp>
        <p:nvCxnSpPr>
          <p:cNvPr id="93" name="Google Shape;93;p19"/>
          <p:cNvCxnSpPr/>
          <p:nvPr/>
        </p:nvCxnSpPr>
        <p:spPr>
          <a:xfrm>
            <a:off x="3290708" y="2091008"/>
            <a:ext cx="2562600" cy="0"/>
          </a:xfrm>
          <a:prstGeom prst="straightConnector1">
            <a:avLst/>
          </a:prstGeom>
          <a:noFill/>
          <a:ln cap="flat" cmpd="sng" w="9775">
            <a:solidFill>
              <a:srgbClr val="B8B7B6"/>
            </a:solidFill>
            <a:prstDash val="solid"/>
            <a:round/>
            <a:headEnd len="med" w="med" type="none"/>
            <a:tailEnd len="med" w="med" type="none"/>
          </a:ln>
        </p:spPr>
      </p:cxnSp>
      <p:sp>
        <p:nvSpPr>
          <p:cNvPr id="94" name="Google Shape;94;p19"/>
          <p:cNvSpPr/>
          <p:nvPr/>
        </p:nvSpPr>
        <p:spPr>
          <a:xfrm>
            <a:off x="6029325" y="1894349"/>
            <a:ext cx="104400" cy="104400"/>
          </a:xfrm>
          <a:prstGeom prst="ellipse">
            <a:avLst/>
          </a:prstGeom>
          <a:solidFill>
            <a:srgbClr val="FF2F0A"/>
          </a:solidFill>
          <a:ln>
            <a:noFill/>
          </a:ln>
        </p:spPr>
        <p:txBody>
          <a:bodyPr anchorCtr="0" anchor="ctr" bIns="93900" lIns="93900" spcFirstLastPara="1" rIns="93900" wrap="square" tIns="93900">
            <a:noAutofit/>
          </a:bodyPr>
          <a:lstStyle/>
          <a:p>
            <a:pPr indent="0" lvl="0" marL="0" rtl="0" algn="ctr">
              <a:spcBef>
                <a:spcPts val="0"/>
              </a:spcBef>
              <a:spcAft>
                <a:spcPts val="0"/>
              </a:spcAft>
              <a:buNone/>
            </a:pPr>
            <a:r>
              <a:t/>
            </a:r>
            <a:endParaRPr sz="1438"/>
          </a:p>
        </p:txBody>
      </p:sp>
      <p:sp>
        <p:nvSpPr>
          <p:cNvPr id="95" name="Google Shape;95;p19"/>
          <p:cNvSpPr/>
          <p:nvPr/>
        </p:nvSpPr>
        <p:spPr>
          <a:xfrm>
            <a:off x="6133791" y="1835786"/>
            <a:ext cx="378000" cy="221700"/>
          </a:xfrm>
          <a:prstGeom prst="rect">
            <a:avLst/>
          </a:prstGeom>
          <a:noFill/>
          <a:ln>
            <a:noFill/>
          </a:ln>
        </p:spPr>
        <p:txBody>
          <a:bodyPr anchorCtr="0" anchor="ctr" bIns="42975" lIns="85925" spcFirstLastPara="1" rIns="85925" wrap="square" tIns="42975">
            <a:noAutofit/>
          </a:bodyPr>
          <a:lstStyle/>
          <a:p>
            <a:pPr indent="0" lvl="0" marL="0" marR="0" rtl="0" algn="l">
              <a:lnSpc>
                <a:spcPct val="120000"/>
              </a:lnSpc>
              <a:spcBef>
                <a:spcPts val="0"/>
              </a:spcBef>
              <a:spcAft>
                <a:spcPts val="0"/>
              </a:spcAft>
              <a:buClr>
                <a:srgbClr val="BCC0C5"/>
              </a:buClr>
              <a:buSzPts val="987"/>
              <a:buFont typeface="Inter"/>
              <a:buNone/>
            </a:pPr>
            <a:r>
              <a:rPr i="1" lang="en" sz="1239">
                <a:solidFill>
                  <a:schemeClr val="lt1"/>
                </a:solidFill>
                <a:latin typeface="Archivo SemiBold"/>
                <a:ea typeface="Archivo SemiBold"/>
                <a:cs typeface="Archivo SemiBold"/>
                <a:sym typeface="Archivo SemiBold"/>
              </a:rPr>
              <a:t>03 </a:t>
            </a:r>
            <a:endParaRPr i="1" sz="1239">
              <a:solidFill>
                <a:schemeClr val="lt1"/>
              </a:solidFill>
              <a:latin typeface="Archivo SemiBold"/>
              <a:ea typeface="Archivo SemiBold"/>
              <a:cs typeface="Archivo SemiBold"/>
              <a:sym typeface="Archivo SemiBold"/>
            </a:endParaRPr>
          </a:p>
        </p:txBody>
      </p:sp>
      <p:cxnSp>
        <p:nvCxnSpPr>
          <p:cNvPr id="96" name="Google Shape;96;p19"/>
          <p:cNvCxnSpPr/>
          <p:nvPr/>
        </p:nvCxnSpPr>
        <p:spPr>
          <a:xfrm>
            <a:off x="6029325" y="2095461"/>
            <a:ext cx="2562600" cy="0"/>
          </a:xfrm>
          <a:prstGeom prst="straightConnector1">
            <a:avLst/>
          </a:prstGeom>
          <a:noFill/>
          <a:ln cap="flat" cmpd="sng" w="9775">
            <a:solidFill>
              <a:srgbClr val="B8B7B6"/>
            </a:solidFill>
            <a:prstDash val="solid"/>
            <a:round/>
            <a:headEnd len="med" w="med" type="none"/>
            <a:tailEnd len="med" w="med" type="none"/>
          </a:ln>
        </p:spPr>
      </p:cxnSp>
      <p:pic>
        <p:nvPicPr>
          <p:cNvPr id="97" name="Google Shape;97;p19" title="W Full blk txt (1).png"/>
          <p:cNvPicPr preferRelativeResize="0"/>
          <p:nvPr/>
        </p:nvPicPr>
        <p:blipFill>
          <a:blip r:embed="rId3">
            <a:alphaModFix/>
          </a:blip>
          <a:stretch>
            <a:fillRect/>
          </a:stretch>
        </p:blipFill>
        <p:spPr>
          <a:xfrm>
            <a:off x="7835738" y="201625"/>
            <a:ext cx="1025576" cy="246300"/>
          </a:xfrm>
          <a:prstGeom prst="rect">
            <a:avLst/>
          </a:prstGeom>
          <a:noFill/>
          <a:ln>
            <a:noFill/>
          </a:ln>
        </p:spPr>
      </p:pic>
      <p:sp>
        <p:nvSpPr>
          <p:cNvPr id="98" name="Google Shape;98;p19"/>
          <p:cNvSpPr/>
          <p:nvPr/>
        </p:nvSpPr>
        <p:spPr>
          <a:xfrm>
            <a:off x="4805300" y="447925"/>
            <a:ext cx="2345100" cy="7995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Update after the deck is built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0808"/>
        </a:solidFill>
      </p:bgPr>
    </p:bg>
    <p:spTree>
      <p:nvGrpSpPr>
        <p:cNvPr id="102" name="Shape 102"/>
        <p:cNvGrpSpPr/>
        <p:nvPr/>
      </p:nvGrpSpPr>
      <p:grpSpPr>
        <a:xfrm>
          <a:off x="0" y="0"/>
          <a:ext cx="0" cy="0"/>
          <a:chOff x="0" y="0"/>
          <a:chExt cx="0" cy="0"/>
        </a:xfrm>
      </p:grpSpPr>
      <p:sp>
        <p:nvSpPr>
          <p:cNvPr id="103" name="Google Shape;103;p20"/>
          <p:cNvSpPr/>
          <p:nvPr/>
        </p:nvSpPr>
        <p:spPr>
          <a:xfrm>
            <a:off x="1126200" y="2397697"/>
            <a:ext cx="6891600" cy="1154400"/>
          </a:xfrm>
          <a:prstGeom prst="rect">
            <a:avLst/>
          </a:prstGeom>
          <a:noFill/>
          <a:ln>
            <a:noFill/>
          </a:ln>
          <a:effectLst>
            <a:outerShdw blurRad="57150" rotWithShape="0" algn="bl" dir="5400000" dist="19050">
              <a:srgbClr val="000000">
                <a:alpha val="50000"/>
              </a:srgbClr>
            </a:outerShdw>
          </a:effectLst>
        </p:spPr>
        <p:txBody>
          <a:bodyPr anchorCtr="0" anchor="ctr" bIns="45700" lIns="91425" spcFirstLastPara="1" rIns="91425" wrap="square" tIns="45700">
            <a:noAutofit/>
          </a:bodyPr>
          <a:lstStyle/>
          <a:p>
            <a:pPr indent="0" lvl="0" marL="0" marR="0" rtl="0" algn="ctr">
              <a:lnSpc>
                <a:spcPct val="75000"/>
              </a:lnSpc>
              <a:spcBef>
                <a:spcPts val="0"/>
              </a:spcBef>
              <a:spcAft>
                <a:spcPts val="0"/>
              </a:spcAft>
              <a:buClr>
                <a:srgbClr val="FFFFFF"/>
              </a:buClr>
              <a:buSzPts val="5250"/>
              <a:buFont typeface="Inter"/>
              <a:buNone/>
            </a:pPr>
            <a:r>
              <a:rPr b="1" lang="en" sz="5200">
                <a:solidFill>
                  <a:schemeClr val="lt1"/>
                </a:solidFill>
                <a:latin typeface="Archivo"/>
                <a:ea typeface="Archivo"/>
                <a:cs typeface="Archivo"/>
                <a:sym typeface="Archivo"/>
              </a:rPr>
              <a:t>Insights</a:t>
            </a:r>
            <a:endParaRPr b="1" sz="5200">
              <a:solidFill>
                <a:schemeClr val="lt1"/>
              </a:solidFill>
              <a:latin typeface="Archivo"/>
              <a:ea typeface="Archivo"/>
              <a:cs typeface="Archivo"/>
              <a:sym typeface="Archivo"/>
            </a:endParaRPr>
          </a:p>
          <a:p>
            <a:pPr indent="0" lvl="0" marL="0" marR="0" rtl="0" algn="ctr">
              <a:lnSpc>
                <a:spcPct val="75000"/>
              </a:lnSpc>
              <a:spcBef>
                <a:spcPts val="0"/>
              </a:spcBef>
              <a:spcAft>
                <a:spcPts val="0"/>
              </a:spcAft>
              <a:buClr>
                <a:srgbClr val="FFFFFF"/>
              </a:buClr>
              <a:buSzPts val="5250"/>
              <a:buFont typeface="Inter"/>
              <a:buNone/>
            </a:pPr>
            <a:r>
              <a:t/>
            </a:r>
            <a:endParaRPr b="1" i="0" sz="5200" u="none" cap="none" strike="noStrike">
              <a:solidFill>
                <a:srgbClr val="FF2F0A"/>
              </a:solidFill>
              <a:latin typeface="Archivo"/>
              <a:ea typeface="Archivo"/>
              <a:cs typeface="Archivo"/>
              <a:sym typeface="Archivo"/>
            </a:endParaRPr>
          </a:p>
        </p:txBody>
      </p:sp>
      <p:sp>
        <p:nvSpPr>
          <p:cNvPr id="104" name="Google Shape;104;p20"/>
          <p:cNvSpPr/>
          <p:nvPr/>
        </p:nvSpPr>
        <p:spPr>
          <a:xfrm>
            <a:off x="4150574" y="1926813"/>
            <a:ext cx="182700" cy="182700"/>
          </a:xfrm>
          <a:prstGeom prst="ellipse">
            <a:avLst/>
          </a:prstGeom>
          <a:solidFill>
            <a:srgbClr val="FF2F0A"/>
          </a:solidFill>
          <a:ln>
            <a:noFill/>
          </a:ln>
        </p:spPr>
        <p:txBody>
          <a:bodyPr anchorCtr="0" anchor="ctr" bIns="164100" lIns="164100" spcFirstLastPara="1" rIns="164100" wrap="square" tIns="164100">
            <a:noAutofit/>
          </a:bodyPr>
          <a:lstStyle/>
          <a:p>
            <a:pPr indent="0" lvl="0" marL="0" rtl="0" algn="ctr">
              <a:spcBef>
                <a:spcPts val="0"/>
              </a:spcBef>
              <a:spcAft>
                <a:spcPts val="0"/>
              </a:spcAft>
              <a:buNone/>
            </a:pPr>
            <a:r>
              <a:t/>
            </a:r>
            <a:endParaRPr sz="2513"/>
          </a:p>
        </p:txBody>
      </p:sp>
      <p:sp>
        <p:nvSpPr>
          <p:cNvPr id="105" name="Google Shape;105;p20"/>
          <p:cNvSpPr/>
          <p:nvPr/>
        </p:nvSpPr>
        <p:spPr>
          <a:xfrm>
            <a:off x="4333136" y="1824466"/>
            <a:ext cx="660300" cy="387300"/>
          </a:xfrm>
          <a:prstGeom prst="rect">
            <a:avLst/>
          </a:prstGeom>
          <a:noFill/>
          <a:ln>
            <a:noFill/>
          </a:ln>
        </p:spPr>
        <p:txBody>
          <a:bodyPr anchorCtr="0" anchor="ctr" bIns="75100" lIns="150175" spcFirstLastPara="1" rIns="150175" wrap="square" tIns="75100">
            <a:noAutofit/>
          </a:bodyPr>
          <a:lstStyle/>
          <a:p>
            <a:pPr indent="0" lvl="0" marL="0" marR="0" rtl="0" algn="l">
              <a:lnSpc>
                <a:spcPct val="120000"/>
              </a:lnSpc>
              <a:spcBef>
                <a:spcPts val="0"/>
              </a:spcBef>
              <a:spcAft>
                <a:spcPts val="0"/>
              </a:spcAft>
              <a:buClr>
                <a:srgbClr val="BCC0C5"/>
              </a:buClr>
              <a:buSzPts val="1725"/>
              <a:buFont typeface="Inter"/>
              <a:buNone/>
            </a:pPr>
            <a:r>
              <a:rPr i="1" lang="en" sz="2165">
                <a:solidFill>
                  <a:schemeClr val="lt1"/>
                </a:solidFill>
                <a:latin typeface="Archivo Medium"/>
                <a:ea typeface="Archivo Medium"/>
                <a:cs typeface="Archivo Medium"/>
                <a:sym typeface="Archivo Medium"/>
              </a:rPr>
              <a:t>01</a:t>
            </a:r>
            <a:endParaRPr i="1" sz="2165">
              <a:solidFill>
                <a:schemeClr val="lt1"/>
              </a:solidFill>
              <a:latin typeface="Archivo Medium"/>
              <a:ea typeface="Archivo Medium"/>
              <a:cs typeface="Archivo Medium"/>
              <a:sym typeface="Archivo Medium"/>
            </a:endParaRPr>
          </a:p>
        </p:txBody>
      </p:sp>
      <p:pic>
        <p:nvPicPr>
          <p:cNvPr id="106" name="Google Shape;106;p20" title="W Full blk txt (1).png"/>
          <p:cNvPicPr preferRelativeResize="0"/>
          <p:nvPr/>
        </p:nvPicPr>
        <p:blipFill>
          <a:blip r:embed="rId3">
            <a:alphaModFix/>
          </a:blip>
          <a:stretch>
            <a:fillRect/>
          </a:stretch>
        </p:blipFill>
        <p:spPr>
          <a:xfrm>
            <a:off x="7835738" y="201625"/>
            <a:ext cx="1025576" cy="2463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0" name="Shape 110"/>
        <p:cNvGrpSpPr/>
        <p:nvPr/>
      </p:nvGrpSpPr>
      <p:grpSpPr>
        <a:xfrm>
          <a:off x="0" y="0"/>
          <a:ext cx="0" cy="0"/>
          <a:chOff x="0" y="0"/>
          <a:chExt cx="0" cy="0"/>
        </a:xfrm>
      </p:grpSpPr>
      <p:sp>
        <p:nvSpPr>
          <p:cNvPr id="111" name="Google Shape;111;p21"/>
          <p:cNvSpPr/>
          <p:nvPr/>
        </p:nvSpPr>
        <p:spPr>
          <a:xfrm>
            <a:off x="435875" y="1945385"/>
            <a:ext cx="4195200" cy="1218600"/>
          </a:xfrm>
          <a:prstGeom prst="rect">
            <a:avLst/>
          </a:prstGeom>
          <a:noFill/>
          <a:ln>
            <a:noFill/>
          </a:ln>
        </p:spPr>
        <p:txBody>
          <a:bodyPr anchorCtr="0" anchor="ctr" bIns="39100" lIns="78225" spcFirstLastPara="1" rIns="78225" wrap="square" tIns="39100">
            <a:noAutofit/>
          </a:bodyPr>
          <a:lstStyle/>
          <a:p>
            <a:pPr indent="0" lvl="0" marL="0" marR="0" rtl="0" algn="l">
              <a:lnSpc>
                <a:spcPct val="85000"/>
              </a:lnSpc>
              <a:spcBef>
                <a:spcPts val="0"/>
              </a:spcBef>
              <a:spcAft>
                <a:spcPts val="0"/>
              </a:spcAft>
              <a:buClr>
                <a:srgbClr val="FFFFFF"/>
              </a:buClr>
              <a:buSzPts val="4491"/>
              <a:buFont typeface="Inter"/>
              <a:buNone/>
            </a:pPr>
            <a:r>
              <a:rPr b="1" lang="en" sz="2822">
                <a:solidFill>
                  <a:srgbClr val="080808"/>
                </a:solidFill>
                <a:latin typeface="Archivo"/>
                <a:ea typeface="Archivo"/>
                <a:cs typeface="Archivo"/>
                <a:sym typeface="Archivo"/>
              </a:rPr>
              <a:t>What the Research Made Clear</a:t>
            </a:r>
            <a:endParaRPr b="1" i="0" sz="2822" u="none" cap="none" strike="noStrike">
              <a:solidFill>
                <a:srgbClr val="080808"/>
              </a:solidFill>
              <a:latin typeface="Archivo"/>
              <a:ea typeface="Archivo"/>
              <a:cs typeface="Archivo"/>
              <a:sym typeface="Archivo"/>
            </a:endParaRPr>
          </a:p>
        </p:txBody>
      </p:sp>
      <p:sp>
        <p:nvSpPr>
          <p:cNvPr id="112" name="Google Shape;112;p21"/>
          <p:cNvSpPr txBox="1"/>
          <p:nvPr/>
        </p:nvSpPr>
        <p:spPr>
          <a:xfrm>
            <a:off x="5179925" y="1069038"/>
            <a:ext cx="8085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 sz="1200">
                <a:solidFill>
                  <a:srgbClr val="080808"/>
                </a:solidFill>
                <a:latin typeface="Archivo Medium"/>
                <a:ea typeface="Archivo Medium"/>
                <a:cs typeface="Archivo Medium"/>
                <a:sym typeface="Archivo Medium"/>
              </a:rPr>
              <a:t>INSIGHTS</a:t>
            </a:r>
            <a:endParaRPr sz="1200">
              <a:solidFill>
                <a:srgbClr val="080808"/>
              </a:solidFill>
              <a:latin typeface="Archivo Medium"/>
              <a:ea typeface="Archivo Medium"/>
              <a:cs typeface="Archivo Medium"/>
              <a:sym typeface="Archivo Medium"/>
            </a:endParaRPr>
          </a:p>
        </p:txBody>
      </p:sp>
      <p:cxnSp>
        <p:nvCxnSpPr>
          <p:cNvPr id="113" name="Google Shape;113;p21"/>
          <p:cNvCxnSpPr/>
          <p:nvPr/>
        </p:nvCxnSpPr>
        <p:spPr>
          <a:xfrm flipH="1">
            <a:off x="5988425" y="1159788"/>
            <a:ext cx="2184000" cy="3300"/>
          </a:xfrm>
          <a:prstGeom prst="straightConnector1">
            <a:avLst/>
          </a:prstGeom>
          <a:noFill/>
          <a:ln cap="flat" cmpd="sng" w="19050">
            <a:solidFill>
              <a:srgbClr val="FF2F0A"/>
            </a:solidFill>
            <a:prstDash val="solid"/>
            <a:round/>
            <a:headEnd len="med" w="med" type="none"/>
            <a:tailEnd len="med" w="med" type="none"/>
          </a:ln>
        </p:spPr>
      </p:cxnSp>
      <p:sp>
        <p:nvSpPr>
          <p:cNvPr id="114" name="Google Shape;114;p21"/>
          <p:cNvSpPr txBox="1"/>
          <p:nvPr/>
        </p:nvSpPr>
        <p:spPr>
          <a:xfrm>
            <a:off x="5073500" y="1383350"/>
            <a:ext cx="3938100" cy="3463200"/>
          </a:xfrm>
          <a:prstGeom prst="rect">
            <a:avLst/>
          </a:prstGeom>
          <a:noFill/>
          <a:ln>
            <a:noFill/>
          </a:ln>
        </p:spPr>
        <p:txBody>
          <a:bodyPr anchorCtr="0" anchor="t" bIns="91425" lIns="0" spcFirstLastPara="1" rIns="91425" wrap="square" tIns="0">
            <a:noAutofit/>
          </a:bodyPr>
          <a:lstStyle/>
          <a:p>
            <a:pPr indent="-349250" lvl="0" marL="457200" rtl="0" algn="l">
              <a:spcBef>
                <a:spcPts val="1200"/>
              </a:spcBef>
              <a:spcAft>
                <a:spcPts val="0"/>
              </a:spcAft>
              <a:buClr>
                <a:srgbClr val="FF2F0A"/>
              </a:buClr>
              <a:buSzPts val="1900"/>
              <a:buChar char="●"/>
            </a:pPr>
            <a:r>
              <a:rPr lang="en" sz="1600">
                <a:solidFill>
                  <a:schemeClr val="dk1"/>
                </a:solidFill>
                <a:latin typeface="Archivo"/>
                <a:ea typeface="Archivo"/>
                <a:cs typeface="Archivo"/>
                <a:sym typeface="Archivo"/>
              </a:rPr>
              <a:t>Growth isn’t blocked by lack of content — it’s blocked by structure</a:t>
            </a:r>
            <a:endParaRPr sz="1600">
              <a:solidFill>
                <a:schemeClr val="dk1"/>
              </a:solidFill>
              <a:latin typeface="Archivo"/>
              <a:ea typeface="Archivo"/>
              <a:cs typeface="Archivo"/>
              <a:sym typeface="Archivo"/>
            </a:endParaRPr>
          </a:p>
          <a:p>
            <a:pPr indent="-349250" lvl="0" marL="457200" rtl="0" algn="l">
              <a:spcBef>
                <a:spcPts val="1200"/>
              </a:spcBef>
              <a:spcAft>
                <a:spcPts val="0"/>
              </a:spcAft>
              <a:buClr>
                <a:srgbClr val="FF2F0A"/>
              </a:buClr>
              <a:buSzPts val="1900"/>
              <a:buChar char="●"/>
            </a:pPr>
            <a:r>
              <a:rPr lang="en" sz="1600">
                <a:solidFill>
                  <a:schemeClr val="dk1"/>
                </a:solidFill>
                <a:latin typeface="Archivo"/>
                <a:ea typeface="Archivo"/>
                <a:cs typeface="Archivo"/>
                <a:sym typeface="Archivo"/>
              </a:rPr>
              <a:t>Core services aren’t clearly defined for search or users</a:t>
            </a:r>
            <a:endParaRPr sz="1600">
              <a:solidFill>
                <a:schemeClr val="dk1"/>
              </a:solidFill>
              <a:latin typeface="Archivo"/>
              <a:ea typeface="Archivo"/>
              <a:cs typeface="Archivo"/>
              <a:sym typeface="Archivo"/>
            </a:endParaRPr>
          </a:p>
          <a:p>
            <a:pPr indent="-349250" lvl="0" marL="457200" rtl="0" algn="l">
              <a:spcBef>
                <a:spcPts val="1200"/>
              </a:spcBef>
              <a:spcAft>
                <a:spcPts val="0"/>
              </a:spcAft>
              <a:buClr>
                <a:srgbClr val="FF2F0A"/>
              </a:buClr>
              <a:buSzPts val="1900"/>
              <a:buChar char="●"/>
            </a:pPr>
            <a:r>
              <a:rPr lang="en" sz="1600">
                <a:solidFill>
                  <a:schemeClr val="dk1"/>
                </a:solidFill>
                <a:latin typeface="Archivo"/>
                <a:ea typeface="Archivo"/>
                <a:cs typeface="Archivo"/>
                <a:sym typeface="Archivo"/>
              </a:rPr>
              <a:t>Too many overlapping pages are competing instead of supporting each other</a:t>
            </a:r>
            <a:endParaRPr sz="1600">
              <a:solidFill>
                <a:schemeClr val="dk1"/>
              </a:solidFill>
              <a:latin typeface="Archivo"/>
              <a:ea typeface="Archivo"/>
              <a:cs typeface="Archivo"/>
              <a:sym typeface="Archivo"/>
            </a:endParaRPr>
          </a:p>
          <a:p>
            <a:pPr indent="-349250" lvl="0" marL="457200" rtl="0" algn="l">
              <a:spcBef>
                <a:spcPts val="1200"/>
              </a:spcBef>
              <a:spcAft>
                <a:spcPts val="0"/>
              </a:spcAft>
              <a:buClr>
                <a:srgbClr val="FF2F0A"/>
              </a:buClr>
              <a:buSzPts val="1900"/>
              <a:buChar char="●"/>
            </a:pPr>
            <a:r>
              <a:rPr lang="en" sz="1600">
                <a:solidFill>
                  <a:schemeClr val="dk1"/>
                </a:solidFill>
                <a:latin typeface="Archivo"/>
                <a:ea typeface="Archivo"/>
                <a:cs typeface="Archivo"/>
                <a:sym typeface="Archivo"/>
              </a:rPr>
              <a:t>The biggest wins are efficiency, clarity, and conversion — not volume</a:t>
            </a:r>
            <a:endParaRPr sz="1600">
              <a:solidFill>
                <a:schemeClr val="dk1"/>
              </a:solidFill>
              <a:latin typeface="Archivo"/>
              <a:ea typeface="Archivo"/>
              <a:cs typeface="Archivo"/>
              <a:sym typeface="Archivo"/>
            </a:endParaRPr>
          </a:p>
          <a:p>
            <a:pPr indent="0" lvl="0" marL="0" rtl="0" algn="l">
              <a:lnSpc>
                <a:spcPct val="115000"/>
              </a:lnSpc>
              <a:spcBef>
                <a:spcPts val="1200"/>
              </a:spcBef>
              <a:spcAft>
                <a:spcPts val="0"/>
              </a:spcAft>
              <a:buNone/>
            </a:pPr>
            <a:br>
              <a:rPr lang="en" sz="1100">
                <a:solidFill>
                  <a:schemeClr val="dk1"/>
                </a:solidFill>
                <a:latin typeface="Archivo"/>
                <a:ea typeface="Archivo"/>
                <a:cs typeface="Archivo"/>
                <a:sym typeface="Archivo"/>
              </a:rPr>
            </a:br>
            <a:br>
              <a:rPr lang="en" sz="1100">
                <a:solidFill>
                  <a:schemeClr val="dk1"/>
                </a:solidFill>
                <a:latin typeface="Archivo"/>
                <a:ea typeface="Archivo"/>
                <a:cs typeface="Archivo"/>
                <a:sym typeface="Archivo"/>
              </a:rPr>
            </a:br>
            <a:endParaRPr sz="1200">
              <a:solidFill>
                <a:srgbClr val="2B2B2A"/>
              </a:solidFill>
              <a:latin typeface="Archivo"/>
              <a:ea typeface="Archivo"/>
              <a:cs typeface="Archivo"/>
              <a:sym typeface="Archivo"/>
            </a:endParaRPr>
          </a:p>
          <a:p>
            <a:pPr indent="0" lvl="0" marL="0" rtl="0" algn="l">
              <a:lnSpc>
                <a:spcPct val="115000"/>
              </a:lnSpc>
              <a:spcBef>
                <a:spcPts val="1200"/>
              </a:spcBef>
              <a:spcAft>
                <a:spcPts val="1000"/>
              </a:spcAft>
              <a:buNone/>
            </a:pPr>
            <a:r>
              <a:t/>
            </a:r>
            <a:endParaRPr sz="1200">
              <a:solidFill>
                <a:srgbClr val="EAEAEA"/>
              </a:solidFill>
              <a:latin typeface="Archivo"/>
              <a:ea typeface="Archivo"/>
              <a:cs typeface="Archivo"/>
              <a:sym typeface="Archivo"/>
            </a:endParaRPr>
          </a:p>
        </p:txBody>
      </p:sp>
      <p:sp>
        <p:nvSpPr>
          <p:cNvPr id="115" name="Google Shape;115;p21"/>
          <p:cNvSpPr txBox="1"/>
          <p:nvPr/>
        </p:nvSpPr>
        <p:spPr>
          <a:xfrm>
            <a:off x="521675" y="2974544"/>
            <a:ext cx="4023600" cy="435000"/>
          </a:xfrm>
          <a:prstGeom prst="rect">
            <a:avLst/>
          </a:prstGeom>
          <a:noFill/>
          <a:ln>
            <a:noFill/>
          </a:ln>
        </p:spPr>
        <p:txBody>
          <a:bodyPr anchorCtr="0" anchor="t" bIns="91425" lIns="0" spcFirstLastPara="1" rIns="91425" wrap="square" tIns="0">
            <a:noAutofit/>
          </a:bodyPr>
          <a:lstStyle/>
          <a:p>
            <a:pPr indent="0" lvl="0" marL="0" rtl="0" algn="l">
              <a:lnSpc>
                <a:spcPct val="115000"/>
              </a:lnSpc>
              <a:spcBef>
                <a:spcPts val="0"/>
              </a:spcBef>
              <a:spcAft>
                <a:spcPts val="1000"/>
              </a:spcAft>
              <a:buNone/>
            </a:pPr>
            <a:r>
              <a:rPr i="1" lang="en" sz="1200">
                <a:solidFill>
                  <a:srgbClr val="2B2B2A"/>
                </a:solidFill>
                <a:latin typeface="Archivo"/>
                <a:ea typeface="Archivo"/>
                <a:cs typeface="Archivo"/>
                <a:sym typeface="Archivo"/>
              </a:rPr>
              <a:t>Google rewards content that demonstrates real expertise, strong sourcing, and user-first intent.</a:t>
            </a:r>
            <a:endParaRPr i="1" sz="1200">
              <a:solidFill>
                <a:srgbClr val="2B2B2A"/>
              </a:solidFill>
              <a:latin typeface="Archivo"/>
              <a:ea typeface="Archivo"/>
              <a:cs typeface="Archivo"/>
              <a:sym typeface="Archivo"/>
            </a:endParaRPr>
          </a:p>
        </p:txBody>
      </p:sp>
      <p:pic>
        <p:nvPicPr>
          <p:cNvPr id="116" name="Google Shape;116;p21" title="W Full blk txt.png"/>
          <p:cNvPicPr preferRelativeResize="0"/>
          <p:nvPr/>
        </p:nvPicPr>
        <p:blipFill>
          <a:blip r:embed="rId3">
            <a:alphaModFix/>
          </a:blip>
          <a:stretch>
            <a:fillRect/>
          </a:stretch>
        </p:blipFill>
        <p:spPr>
          <a:xfrm>
            <a:off x="363550" y="4571275"/>
            <a:ext cx="1026251" cy="246300"/>
          </a:xfrm>
          <a:prstGeom prst="rect">
            <a:avLst/>
          </a:prstGeom>
          <a:noFill/>
          <a:ln>
            <a:noFill/>
          </a:ln>
        </p:spPr>
      </p:pic>
      <p:sp>
        <p:nvSpPr>
          <p:cNvPr id="117" name="Google Shape;117;p21"/>
          <p:cNvSpPr/>
          <p:nvPr/>
        </p:nvSpPr>
        <p:spPr>
          <a:xfrm>
            <a:off x="496900" y="327225"/>
            <a:ext cx="2363100" cy="12603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High level summary of what we found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1" name="Shape 121"/>
        <p:cNvGrpSpPr/>
        <p:nvPr/>
      </p:nvGrpSpPr>
      <p:grpSpPr>
        <a:xfrm>
          <a:off x="0" y="0"/>
          <a:ext cx="0" cy="0"/>
          <a:chOff x="0" y="0"/>
          <a:chExt cx="0" cy="0"/>
        </a:xfrm>
      </p:grpSpPr>
      <p:pic>
        <p:nvPicPr>
          <p:cNvPr id="122" name="Google Shape;122;p22" title="W Full blk txt.png"/>
          <p:cNvPicPr preferRelativeResize="0"/>
          <p:nvPr/>
        </p:nvPicPr>
        <p:blipFill>
          <a:blip r:embed="rId3">
            <a:alphaModFix/>
          </a:blip>
          <a:stretch>
            <a:fillRect/>
          </a:stretch>
        </p:blipFill>
        <p:spPr>
          <a:xfrm>
            <a:off x="363550" y="4571275"/>
            <a:ext cx="1026251" cy="246300"/>
          </a:xfrm>
          <a:prstGeom prst="rect">
            <a:avLst/>
          </a:prstGeom>
          <a:noFill/>
          <a:ln>
            <a:noFill/>
          </a:ln>
        </p:spPr>
      </p:pic>
      <p:pic>
        <p:nvPicPr>
          <p:cNvPr id="123" name="Google Shape;123;p22" title="Screenshot 2026-01-31 at 11.44.46 AM.png"/>
          <p:cNvPicPr preferRelativeResize="0"/>
          <p:nvPr/>
        </p:nvPicPr>
        <p:blipFill>
          <a:blip r:embed="rId4">
            <a:alphaModFix/>
          </a:blip>
          <a:stretch>
            <a:fillRect/>
          </a:stretch>
        </p:blipFill>
        <p:spPr>
          <a:xfrm>
            <a:off x="158950" y="215200"/>
            <a:ext cx="7370051" cy="2249425"/>
          </a:xfrm>
          <a:prstGeom prst="rect">
            <a:avLst/>
          </a:prstGeom>
          <a:noFill/>
          <a:ln>
            <a:noFill/>
          </a:ln>
        </p:spPr>
      </p:pic>
      <p:sp>
        <p:nvSpPr>
          <p:cNvPr id="124" name="Google Shape;124;p22"/>
          <p:cNvSpPr txBox="1"/>
          <p:nvPr/>
        </p:nvSpPr>
        <p:spPr>
          <a:xfrm>
            <a:off x="304725" y="2659675"/>
            <a:ext cx="6509400" cy="19116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rgbClr val="FF2F0A"/>
              </a:buClr>
              <a:buSzPts val="1100"/>
              <a:buChar char="●"/>
            </a:pPr>
            <a:r>
              <a:rPr b="1" lang="en" sz="1100">
                <a:solidFill>
                  <a:schemeClr val="dk1"/>
                </a:solidFill>
                <a:latin typeface="Archivo"/>
                <a:ea typeface="Archivo"/>
                <a:cs typeface="Archivo"/>
                <a:sym typeface="Archivo"/>
              </a:rPr>
              <a:t>Performance plateau driven by structure, not content volume:</a:t>
            </a:r>
            <a:br>
              <a:rPr b="1" lang="en" sz="1100">
                <a:solidFill>
                  <a:schemeClr val="dk1"/>
                </a:solidFill>
                <a:latin typeface="Archivo"/>
                <a:ea typeface="Archivo"/>
                <a:cs typeface="Archivo"/>
                <a:sym typeface="Archivo"/>
              </a:rPr>
            </a:br>
            <a:r>
              <a:rPr lang="en" sz="1100">
                <a:solidFill>
                  <a:schemeClr val="dk1"/>
                </a:solidFill>
                <a:latin typeface="Archivo"/>
                <a:ea typeface="Archivo"/>
                <a:cs typeface="Archivo"/>
                <a:sym typeface="Archivo"/>
              </a:rPr>
              <a:t>Despite significant content creation, growth has stalled due to cannibalization and unclear site hierarchy, which limits Google’s ability to understand priority pages and core offerings.</a:t>
            </a:r>
            <a:br>
              <a:rPr lang="en" sz="1100">
                <a:solidFill>
                  <a:schemeClr val="dk1"/>
                </a:solidFill>
                <a:latin typeface="Archivo"/>
                <a:ea typeface="Archivo"/>
                <a:cs typeface="Archivo"/>
                <a:sym typeface="Archivo"/>
              </a:rPr>
            </a:br>
            <a:endParaRPr sz="1100">
              <a:solidFill>
                <a:schemeClr val="dk1"/>
              </a:solidFill>
              <a:latin typeface="Archivo"/>
              <a:ea typeface="Archivo"/>
              <a:cs typeface="Archivo"/>
              <a:sym typeface="Archivo"/>
            </a:endParaRPr>
          </a:p>
          <a:p>
            <a:pPr indent="-298450" lvl="0" marL="457200" rtl="0" algn="l">
              <a:lnSpc>
                <a:spcPct val="115000"/>
              </a:lnSpc>
              <a:spcBef>
                <a:spcPts val="0"/>
              </a:spcBef>
              <a:spcAft>
                <a:spcPts val="0"/>
              </a:spcAft>
              <a:buClr>
                <a:srgbClr val="FF2F0A"/>
              </a:buClr>
              <a:buSzPts val="1100"/>
              <a:buChar char="●"/>
            </a:pPr>
            <a:r>
              <a:rPr b="1" lang="en" sz="1100">
                <a:solidFill>
                  <a:schemeClr val="dk1"/>
                </a:solidFill>
                <a:latin typeface="Archivo"/>
                <a:ea typeface="Archivo"/>
                <a:cs typeface="Archivo"/>
                <a:sym typeface="Archivo"/>
              </a:rPr>
              <a:t>Algorithm sensitivity amplified by YMYL classification:</a:t>
            </a:r>
            <a:br>
              <a:rPr lang="en" sz="1100">
                <a:solidFill>
                  <a:schemeClr val="dk1"/>
                </a:solidFill>
                <a:latin typeface="Archivo"/>
                <a:ea typeface="Archivo"/>
                <a:cs typeface="Archivo"/>
                <a:sym typeface="Archivo"/>
              </a:rPr>
            </a:br>
            <a:r>
              <a:rPr lang="en" sz="1100">
                <a:solidFill>
                  <a:schemeClr val="dk1"/>
                </a:solidFill>
                <a:latin typeface="Archivo"/>
                <a:ea typeface="Archivo"/>
                <a:cs typeface="Archivo"/>
                <a:sym typeface="Archivo"/>
              </a:rPr>
              <a:t>Since August, the site has generated ~1.9K total clicks with noticeable volatility and no sustained growth trend. In a behavioral health (YMYL) category, this kind of inconsistency is often amplified when site structure and page clarity aren’t strong enough to withstand algorithm updates.</a:t>
            </a:r>
            <a:endParaRPr sz="1100">
              <a:solidFill>
                <a:schemeClr val="dk1"/>
              </a:solidFill>
              <a:latin typeface="Archivo"/>
              <a:ea typeface="Archivo"/>
              <a:cs typeface="Archivo"/>
              <a:sym typeface="Archivo"/>
            </a:endParaRPr>
          </a:p>
        </p:txBody>
      </p:sp>
      <p:sp>
        <p:nvSpPr>
          <p:cNvPr id="125" name="Google Shape;125;p22"/>
          <p:cNvSpPr txBox="1"/>
          <p:nvPr/>
        </p:nvSpPr>
        <p:spPr>
          <a:xfrm>
            <a:off x="3731825" y="84975"/>
            <a:ext cx="376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26" name="Google Shape;126;p22"/>
          <p:cNvSpPr txBox="1"/>
          <p:nvPr/>
        </p:nvSpPr>
        <p:spPr>
          <a:xfrm>
            <a:off x="158950" y="2519938"/>
            <a:ext cx="8085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 sz="1200">
                <a:solidFill>
                  <a:srgbClr val="080808"/>
                </a:solidFill>
                <a:latin typeface="Archivo Medium"/>
                <a:ea typeface="Archivo Medium"/>
                <a:cs typeface="Archivo Medium"/>
                <a:sym typeface="Archivo Medium"/>
              </a:rPr>
              <a:t>INSIGHTS</a:t>
            </a:r>
            <a:endParaRPr sz="1200">
              <a:solidFill>
                <a:srgbClr val="080808"/>
              </a:solidFill>
              <a:latin typeface="Archivo Medium"/>
              <a:ea typeface="Archivo Medium"/>
              <a:cs typeface="Archivo Medium"/>
              <a:sym typeface="Archivo Medium"/>
            </a:endParaRPr>
          </a:p>
        </p:txBody>
      </p:sp>
      <p:cxnSp>
        <p:nvCxnSpPr>
          <p:cNvPr id="127" name="Google Shape;127;p22"/>
          <p:cNvCxnSpPr/>
          <p:nvPr/>
        </p:nvCxnSpPr>
        <p:spPr>
          <a:xfrm flipH="1">
            <a:off x="967325" y="2594625"/>
            <a:ext cx="7176000" cy="19500"/>
          </a:xfrm>
          <a:prstGeom prst="straightConnector1">
            <a:avLst/>
          </a:prstGeom>
          <a:noFill/>
          <a:ln cap="flat" cmpd="sng" w="19050">
            <a:solidFill>
              <a:srgbClr val="FF2F0A"/>
            </a:solidFill>
            <a:prstDash val="solid"/>
            <a:round/>
            <a:headEnd len="med" w="med" type="none"/>
            <a:tailEnd len="med" w="med" type="none"/>
          </a:ln>
        </p:spPr>
      </p:cxnSp>
      <p:sp>
        <p:nvSpPr>
          <p:cNvPr id="128" name="Google Shape;128;p22"/>
          <p:cNvSpPr/>
          <p:nvPr/>
        </p:nvSpPr>
        <p:spPr>
          <a:xfrm>
            <a:off x="6623200" y="139375"/>
            <a:ext cx="2363100" cy="12603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High level summary of what we found - should include a chart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2" name="Shape 132"/>
        <p:cNvGrpSpPr/>
        <p:nvPr/>
      </p:nvGrpSpPr>
      <p:grpSpPr>
        <a:xfrm>
          <a:off x="0" y="0"/>
          <a:ext cx="0" cy="0"/>
          <a:chOff x="0" y="0"/>
          <a:chExt cx="0" cy="0"/>
        </a:xfrm>
      </p:grpSpPr>
      <p:pic>
        <p:nvPicPr>
          <p:cNvPr id="133" name="Google Shape;133;p23" title="W Full blk txt.png"/>
          <p:cNvPicPr preferRelativeResize="0"/>
          <p:nvPr/>
        </p:nvPicPr>
        <p:blipFill>
          <a:blip r:embed="rId3">
            <a:alphaModFix/>
          </a:blip>
          <a:stretch>
            <a:fillRect/>
          </a:stretch>
        </p:blipFill>
        <p:spPr>
          <a:xfrm>
            <a:off x="363550" y="4571275"/>
            <a:ext cx="1026251" cy="246300"/>
          </a:xfrm>
          <a:prstGeom prst="rect">
            <a:avLst/>
          </a:prstGeom>
          <a:noFill/>
          <a:ln>
            <a:noFill/>
          </a:ln>
        </p:spPr>
      </p:pic>
      <p:sp>
        <p:nvSpPr>
          <p:cNvPr id="134" name="Google Shape;134;p23"/>
          <p:cNvSpPr txBox="1"/>
          <p:nvPr/>
        </p:nvSpPr>
        <p:spPr>
          <a:xfrm>
            <a:off x="3731825" y="84975"/>
            <a:ext cx="376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135" name="Google Shape;135;p23" title="Screenshot 2026-01-31 at 11.49.34 AM.png"/>
          <p:cNvPicPr preferRelativeResize="0"/>
          <p:nvPr/>
        </p:nvPicPr>
        <p:blipFill>
          <a:blip r:embed="rId4">
            <a:alphaModFix/>
          </a:blip>
          <a:stretch>
            <a:fillRect/>
          </a:stretch>
        </p:blipFill>
        <p:spPr>
          <a:xfrm>
            <a:off x="3476950" y="284650"/>
            <a:ext cx="5356853" cy="4353524"/>
          </a:xfrm>
          <a:prstGeom prst="rect">
            <a:avLst/>
          </a:prstGeom>
          <a:noFill/>
          <a:ln>
            <a:noFill/>
          </a:ln>
        </p:spPr>
      </p:pic>
      <p:sp>
        <p:nvSpPr>
          <p:cNvPr id="136" name="Google Shape;136;p23"/>
          <p:cNvSpPr txBox="1"/>
          <p:nvPr/>
        </p:nvSpPr>
        <p:spPr>
          <a:xfrm>
            <a:off x="121875" y="1606675"/>
            <a:ext cx="3191700" cy="3031500"/>
          </a:xfrm>
          <a:prstGeom prst="rect">
            <a:avLst/>
          </a:prstGeom>
          <a:noFill/>
          <a:ln>
            <a:noFill/>
          </a:ln>
        </p:spPr>
        <p:txBody>
          <a:bodyPr anchorCtr="0" anchor="t" bIns="91425" lIns="91425" spcFirstLastPara="1" rIns="91425" wrap="square" tIns="91425">
            <a:spAutoFit/>
          </a:bodyPr>
          <a:lstStyle/>
          <a:p>
            <a:pPr indent="-285750" lvl="0" marL="457200" rtl="0" algn="l">
              <a:lnSpc>
                <a:spcPct val="115000"/>
              </a:lnSpc>
              <a:spcBef>
                <a:spcPts val="1200"/>
              </a:spcBef>
              <a:spcAft>
                <a:spcPts val="0"/>
              </a:spcAft>
              <a:buClr>
                <a:srgbClr val="FF2F0A"/>
              </a:buClr>
              <a:buSzPts val="900"/>
              <a:buChar char="●"/>
            </a:pPr>
            <a:r>
              <a:rPr b="1" lang="en" sz="900">
                <a:solidFill>
                  <a:schemeClr val="dk1"/>
                </a:solidFill>
                <a:latin typeface="Archivo"/>
                <a:ea typeface="Archivo"/>
                <a:cs typeface="Archivo"/>
                <a:sym typeface="Archivo"/>
              </a:rPr>
              <a:t>Search visibility is currently brand-led</a:t>
            </a:r>
            <a:br>
              <a:rPr lang="en" sz="900">
                <a:solidFill>
                  <a:schemeClr val="dk1"/>
                </a:solidFill>
                <a:latin typeface="Archivo"/>
                <a:ea typeface="Archivo"/>
                <a:cs typeface="Archivo"/>
                <a:sym typeface="Archivo"/>
              </a:rPr>
            </a:br>
            <a:r>
              <a:rPr lang="en" sz="900">
                <a:solidFill>
                  <a:schemeClr val="dk1"/>
                </a:solidFill>
                <a:latin typeface="Archivo"/>
                <a:ea typeface="Archivo"/>
                <a:cs typeface="Archivo"/>
                <a:sym typeface="Archivo"/>
              </a:rPr>
              <a:t>Most impressions and clicks are coming from branded searches, while non-brand treatment and location queries remain underrepresented — indicating room to grow beyond brand awareness.</a:t>
            </a:r>
            <a:br>
              <a:rPr lang="en" sz="900">
                <a:solidFill>
                  <a:schemeClr val="dk1"/>
                </a:solidFill>
                <a:latin typeface="Archivo"/>
                <a:ea typeface="Archivo"/>
                <a:cs typeface="Archivo"/>
                <a:sym typeface="Archivo"/>
              </a:rPr>
            </a:br>
            <a:endParaRPr sz="900">
              <a:solidFill>
                <a:schemeClr val="dk1"/>
              </a:solidFill>
              <a:latin typeface="Archivo"/>
              <a:ea typeface="Archivo"/>
              <a:cs typeface="Archivo"/>
              <a:sym typeface="Archivo"/>
            </a:endParaRPr>
          </a:p>
          <a:p>
            <a:pPr indent="-285750" lvl="0" marL="457200" rtl="0" algn="l">
              <a:lnSpc>
                <a:spcPct val="115000"/>
              </a:lnSpc>
              <a:spcBef>
                <a:spcPts val="0"/>
              </a:spcBef>
              <a:spcAft>
                <a:spcPts val="0"/>
              </a:spcAft>
              <a:buClr>
                <a:srgbClr val="FF2F0A"/>
              </a:buClr>
              <a:buSzPts val="900"/>
              <a:buChar char="●"/>
            </a:pPr>
            <a:r>
              <a:rPr b="1" lang="en" sz="900">
                <a:solidFill>
                  <a:schemeClr val="dk1"/>
                </a:solidFill>
                <a:latin typeface="Archivo"/>
                <a:ea typeface="Archivo"/>
                <a:cs typeface="Archivo"/>
                <a:sym typeface="Archivo"/>
              </a:rPr>
              <a:t>Google lacks clear signals on priority services</a:t>
            </a:r>
            <a:br>
              <a:rPr b="1" lang="en" sz="900">
                <a:solidFill>
                  <a:schemeClr val="dk1"/>
                </a:solidFill>
                <a:latin typeface="Archivo"/>
                <a:ea typeface="Archivo"/>
                <a:cs typeface="Archivo"/>
                <a:sym typeface="Archivo"/>
              </a:rPr>
            </a:br>
            <a:r>
              <a:rPr lang="en" sz="900">
                <a:solidFill>
                  <a:schemeClr val="dk1"/>
                </a:solidFill>
                <a:latin typeface="Archivo"/>
                <a:ea typeface="Archivo"/>
                <a:cs typeface="Archivo"/>
                <a:sym typeface="Archivo"/>
              </a:rPr>
              <a:t>Low impressions across non-brand queries suggest Google is still working to understand which services and pages should be treated as authoritative and primary.</a:t>
            </a:r>
            <a:br>
              <a:rPr lang="en" sz="900">
                <a:solidFill>
                  <a:schemeClr val="dk1"/>
                </a:solidFill>
                <a:latin typeface="Archivo"/>
                <a:ea typeface="Archivo"/>
                <a:cs typeface="Archivo"/>
                <a:sym typeface="Archivo"/>
              </a:rPr>
            </a:br>
            <a:endParaRPr sz="900">
              <a:solidFill>
                <a:schemeClr val="dk1"/>
              </a:solidFill>
              <a:latin typeface="Archivo"/>
              <a:ea typeface="Archivo"/>
              <a:cs typeface="Archivo"/>
              <a:sym typeface="Archivo"/>
            </a:endParaRPr>
          </a:p>
          <a:p>
            <a:pPr indent="-285750" lvl="0" marL="457200" rtl="0" algn="l">
              <a:lnSpc>
                <a:spcPct val="115000"/>
              </a:lnSpc>
              <a:spcBef>
                <a:spcPts val="0"/>
              </a:spcBef>
              <a:spcAft>
                <a:spcPts val="0"/>
              </a:spcAft>
              <a:buClr>
                <a:srgbClr val="FF2F0A"/>
              </a:buClr>
              <a:buSzPts val="900"/>
              <a:buChar char="●"/>
            </a:pPr>
            <a:r>
              <a:rPr b="1" lang="en" sz="900">
                <a:solidFill>
                  <a:schemeClr val="dk1"/>
                </a:solidFill>
                <a:latin typeface="Archivo"/>
                <a:ea typeface="Archivo"/>
                <a:cs typeface="Archivo"/>
                <a:sym typeface="Archivo"/>
              </a:rPr>
              <a:t>Strong opportunity to unlock non-brand growth</a:t>
            </a:r>
            <a:br>
              <a:rPr b="1" lang="en" sz="900">
                <a:solidFill>
                  <a:schemeClr val="dk1"/>
                </a:solidFill>
                <a:latin typeface="Archivo"/>
                <a:ea typeface="Archivo"/>
                <a:cs typeface="Archivo"/>
                <a:sym typeface="Archivo"/>
              </a:rPr>
            </a:br>
            <a:r>
              <a:rPr lang="en" sz="900">
                <a:solidFill>
                  <a:schemeClr val="dk1"/>
                </a:solidFill>
                <a:latin typeface="Archivo"/>
                <a:ea typeface="Archivo"/>
                <a:cs typeface="Archivo"/>
                <a:sym typeface="Archivo"/>
              </a:rPr>
              <a:t>By improving structure, reducing overlap, and clarifying core offerings, the site is well positioned to capture significantly more high-intent, non-brand search demand.</a:t>
            </a:r>
            <a:br>
              <a:rPr lang="en" sz="900">
                <a:solidFill>
                  <a:schemeClr val="dk1"/>
                </a:solidFill>
                <a:latin typeface="Archivo"/>
                <a:ea typeface="Archivo"/>
                <a:cs typeface="Archivo"/>
                <a:sym typeface="Archivo"/>
              </a:rPr>
            </a:br>
            <a:endParaRPr sz="900">
              <a:solidFill>
                <a:schemeClr val="dk1"/>
              </a:solidFill>
              <a:latin typeface="Archivo"/>
              <a:ea typeface="Archivo"/>
              <a:cs typeface="Archivo"/>
              <a:sym typeface="Archivo"/>
            </a:endParaRPr>
          </a:p>
        </p:txBody>
      </p:sp>
      <p:sp>
        <p:nvSpPr>
          <p:cNvPr id="137" name="Google Shape;137;p23"/>
          <p:cNvSpPr/>
          <p:nvPr/>
        </p:nvSpPr>
        <p:spPr>
          <a:xfrm>
            <a:off x="167613" y="933450"/>
            <a:ext cx="3639300" cy="705000"/>
          </a:xfrm>
          <a:prstGeom prst="rect">
            <a:avLst/>
          </a:prstGeom>
          <a:noFill/>
          <a:ln>
            <a:noFill/>
          </a:ln>
        </p:spPr>
        <p:txBody>
          <a:bodyPr anchorCtr="0" anchor="ctr" bIns="39100" lIns="78225" spcFirstLastPara="1" rIns="78225" wrap="square" tIns="39100">
            <a:noAutofit/>
          </a:bodyPr>
          <a:lstStyle/>
          <a:p>
            <a:pPr indent="0" lvl="0" marL="0" marR="0" rtl="0" algn="l">
              <a:lnSpc>
                <a:spcPct val="75000"/>
              </a:lnSpc>
              <a:spcBef>
                <a:spcPts val="0"/>
              </a:spcBef>
              <a:spcAft>
                <a:spcPts val="0"/>
              </a:spcAft>
              <a:buClr>
                <a:srgbClr val="FFFFFF"/>
              </a:buClr>
              <a:buSzPts val="4491"/>
              <a:buFont typeface="Inter"/>
              <a:buNone/>
            </a:pPr>
            <a:r>
              <a:rPr b="1" lang="en" sz="3022">
                <a:solidFill>
                  <a:srgbClr val="080808"/>
                </a:solidFill>
                <a:latin typeface="Archivo"/>
                <a:ea typeface="Archivo"/>
                <a:cs typeface="Archivo"/>
                <a:sym typeface="Archivo"/>
              </a:rPr>
              <a:t>Insights from search</a:t>
            </a:r>
            <a:endParaRPr b="1" i="0" sz="3022" u="none" cap="none" strike="noStrike">
              <a:solidFill>
                <a:srgbClr val="080808"/>
              </a:solidFill>
              <a:latin typeface="Archivo"/>
              <a:ea typeface="Archivo"/>
              <a:cs typeface="Archivo"/>
              <a:sym typeface="Archivo"/>
            </a:endParaRPr>
          </a:p>
        </p:txBody>
      </p:sp>
      <p:sp>
        <p:nvSpPr>
          <p:cNvPr id="138" name="Google Shape;138;p23"/>
          <p:cNvSpPr/>
          <p:nvPr/>
        </p:nvSpPr>
        <p:spPr>
          <a:xfrm>
            <a:off x="6743950" y="3845050"/>
            <a:ext cx="2363100" cy="12603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High level summary of what we found - should include some kw analysis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4"/>
          <p:cNvSpPr txBox="1"/>
          <p:nvPr>
            <p:ph type="title"/>
          </p:nvPr>
        </p:nvSpPr>
        <p:spPr>
          <a:xfrm>
            <a:off x="171950" y="272275"/>
            <a:ext cx="4901700" cy="6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SEO Strategy for Ojai Recovery</a:t>
            </a:r>
            <a:endParaRPr/>
          </a:p>
        </p:txBody>
      </p:sp>
      <p:sp>
        <p:nvSpPr>
          <p:cNvPr id="144" name="Google Shape;144;p24"/>
          <p:cNvSpPr txBox="1"/>
          <p:nvPr/>
        </p:nvSpPr>
        <p:spPr>
          <a:xfrm>
            <a:off x="500470" y="1988175"/>
            <a:ext cx="1294200" cy="661800"/>
          </a:xfrm>
          <a:prstGeom prst="rect">
            <a:avLst/>
          </a:prstGeom>
          <a:noFill/>
          <a:ln>
            <a:noFill/>
          </a:ln>
        </p:spPr>
        <p:txBody>
          <a:bodyPr anchorCtr="0" anchor="t" bIns="91425" lIns="0" spcFirstLastPara="1" rIns="91425" wrap="square" tIns="0">
            <a:spAutoFit/>
          </a:bodyPr>
          <a:lstStyle/>
          <a:p>
            <a:pPr indent="0" lvl="0" marL="0" marR="0" rtl="0" algn="l">
              <a:lnSpc>
                <a:spcPct val="115000"/>
              </a:lnSpc>
              <a:spcBef>
                <a:spcPts val="0"/>
              </a:spcBef>
              <a:spcAft>
                <a:spcPts val="0"/>
              </a:spcAft>
              <a:buNone/>
            </a:pPr>
            <a:r>
              <a:rPr b="1" lang="en" sz="1000">
                <a:latin typeface="Inter"/>
                <a:ea typeface="Inter"/>
                <a:cs typeface="Inter"/>
                <a:sym typeface="Inter"/>
              </a:rPr>
              <a:t>PRIO</a:t>
            </a:r>
            <a:r>
              <a:rPr b="1" lang="en" sz="1000">
                <a:solidFill>
                  <a:srgbClr val="000000"/>
                </a:solidFill>
                <a:latin typeface="Inter"/>
                <a:ea typeface="Inter"/>
                <a:cs typeface="Inter"/>
                <a:sym typeface="Inter"/>
              </a:rPr>
              <a:t> 1</a:t>
            </a:r>
            <a:br>
              <a:rPr b="1" lang="en" sz="1000">
                <a:solidFill>
                  <a:srgbClr val="000000"/>
                </a:solidFill>
                <a:latin typeface="Inter"/>
                <a:ea typeface="Inter"/>
                <a:cs typeface="Inter"/>
                <a:sym typeface="Inter"/>
              </a:rPr>
            </a:br>
            <a:endParaRPr b="1" sz="1000">
              <a:solidFill>
                <a:srgbClr val="000000"/>
              </a:solidFill>
              <a:latin typeface="Inter"/>
              <a:ea typeface="Inter"/>
              <a:cs typeface="Inter"/>
              <a:sym typeface="Inter"/>
            </a:endParaRPr>
          </a:p>
          <a:p>
            <a:pPr indent="0" lvl="0" marL="0" marR="0" rtl="0" algn="l">
              <a:lnSpc>
                <a:spcPct val="115000"/>
              </a:lnSpc>
              <a:spcBef>
                <a:spcPts val="0"/>
              </a:spcBef>
              <a:spcAft>
                <a:spcPts val="0"/>
              </a:spcAft>
              <a:buNone/>
            </a:pPr>
            <a:r>
              <a:rPr b="1" lang="en">
                <a:latin typeface="Inter"/>
                <a:ea typeface="Inter"/>
                <a:cs typeface="Inter"/>
                <a:sym typeface="Inter"/>
              </a:rPr>
              <a:t>CLARIFY</a:t>
            </a:r>
            <a:endParaRPr b="1">
              <a:solidFill>
                <a:srgbClr val="000000"/>
              </a:solidFill>
              <a:latin typeface="Inter"/>
              <a:ea typeface="Inter"/>
              <a:cs typeface="Inter"/>
              <a:sym typeface="Inter"/>
            </a:endParaRPr>
          </a:p>
        </p:txBody>
      </p:sp>
      <p:sp>
        <p:nvSpPr>
          <p:cNvPr id="145" name="Google Shape;145;p24"/>
          <p:cNvSpPr txBox="1"/>
          <p:nvPr/>
        </p:nvSpPr>
        <p:spPr>
          <a:xfrm>
            <a:off x="322752" y="2842425"/>
            <a:ext cx="2239200" cy="1169700"/>
          </a:xfrm>
          <a:prstGeom prst="rect">
            <a:avLst/>
          </a:prstGeom>
          <a:noFill/>
          <a:ln>
            <a:noFill/>
          </a:ln>
        </p:spPr>
        <p:txBody>
          <a:bodyPr anchorCtr="0" anchor="t" bIns="91425" lIns="0" spcFirstLastPara="1" rIns="91425" wrap="square" tIns="0">
            <a:spAutoFit/>
          </a:bodyPr>
          <a:lstStyle/>
          <a:p>
            <a:pPr indent="0" lvl="0" marL="0" rtl="0" algn="l">
              <a:lnSpc>
                <a:spcPct val="100000"/>
              </a:lnSpc>
              <a:spcBef>
                <a:spcPts val="0"/>
              </a:spcBef>
              <a:spcAft>
                <a:spcPts val="0"/>
              </a:spcAft>
              <a:buNone/>
            </a:pPr>
            <a:r>
              <a:rPr lang="en" sz="1000">
                <a:latin typeface="Inter"/>
                <a:ea typeface="Inter"/>
                <a:cs typeface="Inter"/>
                <a:sym typeface="Inter"/>
              </a:rPr>
              <a:t>Define &amp; s</a:t>
            </a:r>
            <a:r>
              <a:rPr lang="en" sz="1000">
                <a:latin typeface="Inter"/>
                <a:ea typeface="Inter"/>
                <a:cs typeface="Inter"/>
                <a:sym typeface="Inter"/>
              </a:rPr>
              <a:t>trengthen</a:t>
            </a:r>
            <a:r>
              <a:rPr lang="en" sz="1000">
                <a:latin typeface="Inter"/>
                <a:ea typeface="Inter"/>
                <a:cs typeface="Inter"/>
                <a:sym typeface="Inter"/>
              </a:rPr>
              <a:t> core services </a:t>
            </a:r>
            <a:endParaRPr sz="1000">
              <a:latin typeface="Inter"/>
              <a:ea typeface="Inter"/>
              <a:cs typeface="Inter"/>
              <a:sym typeface="Inter"/>
            </a:endParaRPr>
          </a:p>
          <a:p>
            <a:pPr indent="0" lvl="0" marL="0" rtl="0" algn="l">
              <a:lnSpc>
                <a:spcPct val="100000"/>
              </a:lnSpc>
              <a:spcBef>
                <a:spcPts val="600"/>
              </a:spcBef>
              <a:spcAft>
                <a:spcPts val="0"/>
              </a:spcAft>
              <a:buNone/>
            </a:pPr>
            <a:r>
              <a:t/>
            </a:r>
            <a:endParaRPr sz="1000">
              <a:latin typeface="Inter"/>
              <a:ea typeface="Inter"/>
              <a:cs typeface="Inter"/>
              <a:sym typeface="Inter"/>
            </a:endParaRPr>
          </a:p>
          <a:p>
            <a:pPr indent="0" lvl="0" marL="0" rtl="0" algn="l">
              <a:lnSpc>
                <a:spcPct val="100000"/>
              </a:lnSpc>
              <a:spcBef>
                <a:spcPts val="600"/>
              </a:spcBef>
              <a:spcAft>
                <a:spcPts val="0"/>
              </a:spcAft>
              <a:buNone/>
            </a:pPr>
            <a:r>
              <a:t/>
            </a:r>
            <a:endParaRPr sz="1000">
              <a:latin typeface="Inter"/>
              <a:ea typeface="Inter"/>
              <a:cs typeface="Inter"/>
              <a:sym typeface="Inter"/>
            </a:endParaRPr>
          </a:p>
          <a:p>
            <a:pPr indent="0" lvl="0" marL="0" rtl="0" algn="l">
              <a:lnSpc>
                <a:spcPct val="100000"/>
              </a:lnSpc>
              <a:spcBef>
                <a:spcPts val="600"/>
              </a:spcBef>
              <a:spcAft>
                <a:spcPts val="0"/>
              </a:spcAft>
              <a:buNone/>
            </a:pPr>
            <a:r>
              <a:t/>
            </a:r>
            <a:endParaRPr sz="1000">
              <a:latin typeface="Inter"/>
              <a:ea typeface="Inter"/>
              <a:cs typeface="Inter"/>
              <a:sym typeface="Inter"/>
            </a:endParaRPr>
          </a:p>
          <a:p>
            <a:pPr indent="0" lvl="0" marL="0" rtl="0" algn="l">
              <a:lnSpc>
                <a:spcPct val="100000"/>
              </a:lnSpc>
              <a:spcBef>
                <a:spcPts val="600"/>
              </a:spcBef>
              <a:spcAft>
                <a:spcPts val="600"/>
              </a:spcAft>
              <a:buNone/>
            </a:pPr>
            <a:r>
              <a:t/>
            </a:r>
            <a:endParaRPr sz="1000">
              <a:solidFill>
                <a:srgbClr val="000000"/>
              </a:solidFill>
              <a:latin typeface="Inter"/>
              <a:ea typeface="Inter"/>
              <a:cs typeface="Inter"/>
              <a:sym typeface="Inter"/>
            </a:endParaRPr>
          </a:p>
        </p:txBody>
      </p:sp>
      <p:cxnSp>
        <p:nvCxnSpPr>
          <p:cNvPr id="146" name="Google Shape;146;p24"/>
          <p:cNvCxnSpPr/>
          <p:nvPr/>
        </p:nvCxnSpPr>
        <p:spPr>
          <a:xfrm rot="10800000">
            <a:off x="171950" y="2720775"/>
            <a:ext cx="8608500" cy="0"/>
          </a:xfrm>
          <a:prstGeom prst="straightConnector1">
            <a:avLst/>
          </a:prstGeom>
          <a:noFill/>
          <a:ln cap="flat" cmpd="sng" w="9525">
            <a:solidFill>
              <a:srgbClr val="666666"/>
            </a:solidFill>
            <a:prstDash val="solid"/>
            <a:round/>
            <a:headEnd len="med" w="med" type="triangle"/>
            <a:tailEnd len="med" w="med" type="none"/>
          </a:ln>
        </p:spPr>
      </p:cxnSp>
      <p:sp>
        <p:nvSpPr>
          <p:cNvPr id="147" name="Google Shape;147;p24"/>
          <p:cNvSpPr txBox="1"/>
          <p:nvPr/>
        </p:nvSpPr>
        <p:spPr>
          <a:xfrm>
            <a:off x="2493827" y="1988175"/>
            <a:ext cx="1806600" cy="697200"/>
          </a:xfrm>
          <a:prstGeom prst="rect">
            <a:avLst/>
          </a:prstGeom>
          <a:noFill/>
          <a:ln>
            <a:noFill/>
          </a:ln>
        </p:spPr>
        <p:txBody>
          <a:bodyPr anchorCtr="0" anchor="t" bIns="91425" lIns="0" spcFirstLastPara="1" rIns="91425" wrap="square" tIns="0">
            <a:spAutoFit/>
          </a:bodyPr>
          <a:lstStyle/>
          <a:p>
            <a:pPr indent="0" lvl="0" marL="0" marR="0" rtl="0" algn="l">
              <a:lnSpc>
                <a:spcPct val="115000"/>
              </a:lnSpc>
              <a:spcBef>
                <a:spcPts val="0"/>
              </a:spcBef>
              <a:spcAft>
                <a:spcPts val="0"/>
              </a:spcAft>
              <a:buNone/>
            </a:pPr>
            <a:r>
              <a:rPr b="1" lang="en" sz="1000">
                <a:latin typeface="Inter"/>
                <a:ea typeface="Inter"/>
                <a:cs typeface="Inter"/>
                <a:sym typeface="Inter"/>
              </a:rPr>
              <a:t>PRIO 2</a:t>
            </a:r>
            <a:br>
              <a:rPr b="1" lang="en" sz="1000">
                <a:solidFill>
                  <a:srgbClr val="000000"/>
                </a:solidFill>
                <a:latin typeface="Inter"/>
                <a:ea typeface="Inter"/>
                <a:cs typeface="Inter"/>
                <a:sym typeface="Inter"/>
              </a:rPr>
            </a:br>
            <a:endParaRPr b="1" sz="1200">
              <a:solidFill>
                <a:srgbClr val="000000"/>
              </a:solidFill>
              <a:latin typeface="Inter"/>
              <a:ea typeface="Inter"/>
              <a:cs typeface="Inter"/>
              <a:sym typeface="Inter"/>
            </a:endParaRPr>
          </a:p>
          <a:p>
            <a:pPr indent="0" lvl="0" marL="0" marR="0" rtl="0" algn="l">
              <a:lnSpc>
                <a:spcPct val="115000"/>
              </a:lnSpc>
              <a:spcBef>
                <a:spcPts val="0"/>
              </a:spcBef>
              <a:spcAft>
                <a:spcPts val="0"/>
              </a:spcAft>
              <a:buNone/>
            </a:pPr>
            <a:r>
              <a:rPr b="1" lang="en">
                <a:latin typeface="Inter"/>
                <a:ea typeface="Inter"/>
                <a:cs typeface="Inter"/>
                <a:sym typeface="Inter"/>
              </a:rPr>
              <a:t>REMOVE FRICTION</a:t>
            </a:r>
            <a:endParaRPr b="1">
              <a:solidFill>
                <a:srgbClr val="000000"/>
              </a:solidFill>
              <a:latin typeface="Inter"/>
              <a:ea typeface="Inter"/>
              <a:cs typeface="Inter"/>
              <a:sym typeface="Inter"/>
            </a:endParaRPr>
          </a:p>
        </p:txBody>
      </p:sp>
      <p:sp>
        <p:nvSpPr>
          <p:cNvPr id="148" name="Google Shape;148;p24"/>
          <p:cNvSpPr txBox="1"/>
          <p:nvPr/>
        </p:nvSpPr>
        <p:spPr>
          <a:xfrm>
            <a:off x="2493825" y="2842425"/>
            <a:ext cx="1650000" cy="400200"/>
          </a:xfrm>
          <a:prstGeom prst="rect">
            <a:avLst/>
          </a:prstGeom>
          <a:noFill/>
          <a:ln>
            <a:noFill/>
          </a:ln>
        </p:spPr>
        <p:txBody>
          <a:bodyPr anchorCtr="0" anchor="t" bIns="91425" lIns="0" spcFirstLastPara="1" rIns="91425" wrap="square" tIns="0">
            <a:spAutoFit/>
          </a:bodyPr>
          <a:lstStyle/>
          <a:p>
            <a:pPr indent="0" lvl="0" marL="0" rtl="0" algn="l">
              <a:spcBef>
                <a:spcPts val="0"/>
              </a:spcBef>
              <a:spcAft>
                <a:spcPts val="600"/>
              </a:spcAft>
              <a:buNone/>
            </a:pPr>
            <a:r>
              <a:rPr lang="en" sz="1000">
                <a:latin typeface="Inter"/>
                <a:ea typeface="Inter"/>
                <a:cs typeface="Inter"/>
                <a:sym typeface="Inter"/>
              </a:rPr>
              <a:t>Make conversion obvious and easy </a:t>
            </a:r>
            <a:endParaRPr sz="1000">
              <a:solidFill>
                <a:srgbClr val="000000"/>
              </a:solidFill>
              <a:latin typeface="Inter"/>
              <a:ea typeface="Inter"/>
              <a:cs typeface="Inter"/>
              <a:sym typeface="Inter"/>
            </a:endParaRPr>
          </a:p>
        </p:txBody>
      </p:sp>
      <p:sp>
        <p:nvSpPr>
          <p:cNvPr id="149" name="Google Shape;149;p24"/>
          <p:cNvSpPr txBox="1"/>
          <p:nvPr/>
        </p:nvSpPr>
        <p:spPr>
          <a:xfrm>
            <a:off x="4507536" y="2842425"/>
            <a:ext cx="1886400" cy="400200"/>
          </a:xfrm>
          <a:prstGeom prst="rect">
            <a:avLst/>
          </a:prstGeom>
          <a:noFill/>
          <a:ln>
            <a:noFill/>
          </a:ln>
        </p:spPr>
        <p:txBody>
          <a:bodyPr anchorCtr="0" anchor="t" bIns="91425" lIns="0" spcFirstLastPara="1" rIns="91425" wrap="square" tIns="0">
            <a:spAutoFit/>
          </a:bodyPr>
          <a:lstStyle/>
          <a:p>
            <a:pPr indent="0" lvl="0" marL="0" rtl="0" algn="l">
              <a:spcBef>
                <a:spcPts val="0"/>
              </a:spcBef>
              <a:spcAft>
                <a:spcPts val="600"/>
              </a:spcAft>
              <a:buNone/>
            </a:pPr>
            <a:r>
              <a:rPr lang="en" sz="1000">
                <a:latin typeface="Inter"/>
                <a:ea typeface="Inter"/>
                <a:cs typeface="Inter"/>
                <a:sym typeface="Inter"/>
              </a:rPr>
              <a:t>Reduce internal competition and dilution</a:t>
            </a:r>
            <a:endParaRPr sz="1000">
              <a:solidFill>
                <a:srgbClr val="000000"/>
              </a:solidFill>
              <a:latin typeface="Inter"/>
              <a:ea typeface="Inter"/>
              <a:cs typeface="Inter"/>
              <a:sym typeface="Inter"/>
            </a:endParaRPr>
          </a:p>
        </p:txBody>
      </p:sp>
      <p:sp>
        <p:nvSpPr>
          <p:cNvPr id="150" name="Google Shape;150;p24"/>
          <p:cNvSpPr txBox="1"/>
          <p:nvPr/>
        </p:nvSpPr>
        <p:spPr>
          <a:xfrm>
            <a:off x="6757650" y="2842425"/>
            <a:ext cx="1886400" cy="400200"/>
          </a:xfrm>
          <a:prstGeom prst="rect">
            <a:avLst/>
          </a:prstGeom>
          <a:noFill/>
          <a:ln>
            <a:noFill/>
          </a:ln>
        </p:spPr>
        <p:txBody>
          <a:bodyPr anchorCtr="0" anchor="t" bIns="91425" lIns="0" spcFirstLastPara="1" rIns="91425" wrap="square" tIns="0">
            <a:spAutoFit/>
          </a:bodyPr>
          <a:lstStyle/>
          <a:p>
            <a:pPr indent="0" lvl="0" marL="0" rtl="0" algn="l">
              <a:spcBef>
                <a:spcPts val="0"/>
              </a:spcBef>
              <a:spcAft>
                <a:spcPts val="600"/>
              </a:spcAft>
              <a:buNone/>
            </a:pPr>
            <a:r>
              <a:rPr lang="en" sz="1000">
                <a:latin typeface="Inter"/>
                <a:ea typeface="Inter"/>
                <a:cs typeface="Inter"/>
                <a:sym typeface="Inter"/>
              </a:rPr>
              <a:t>Expansion, differentiation and visibility in SEO &amp; AI Channels</a:t>
            </a:r>
            <a:endParaRPr sz="1000">
              <a:latin typeface="Inter"/>
              <a:ea typeface="Inter"/>
              <a:cs typeface="Inter"/>
              <a:sym typeface="Inter"/>
            </a:endParaRPr>
          </a:p>
        </p:txBody>
      </p:sp>
      <p:sp>
        <p:nvSpPr>
          <p:cNvPr id="151" name="Google Shape;151;p24"/>
          <p:cNvSpPr txBox="1"/>
          <p:nvPr/>
        </p:nvSpPr>
        <p:spPr>
          <a:xfrm>
            <a:off x="4559627" y="1988175"/>
            <a:ext cx="1806600" cy="697200"/>
          </a:xfrm>
          <a:prstGeom prst="rect">
            <a:avLst/>
          </a:prstGeom>
          <a:noFill/>
          <a:ln>
            <a:noFill/>
          </a:ln>
        </p:spPr>
        <p:txBody>
          <a:bodyPr anchorCtr="0" anchor="t" bIns="91425" lIns="0" spcFirstLastPara="1" rIns="91425" wrap="square" tIns="0">
            <a:spAutoFit/>
          </a:bodyPr>
          <a:lstStyle/>
          <a:p>
            <a:pPr indent="0" lvl="0" marL="0" marR="0" rtl="0" algn="l">
              <a:lnSpc>
                <a:spcPct val="115000"/>
              </a:lnSpc>
              <a:spcBef>
                <a:spcPts val="0"/>
              </a:spcBef>
              <a:spcAft>
                <a:spcPts val="0"/>
              </a:spcAft>
              <a:buNone/>
            </a:pPr>
            <a:r>
              <a:rPr b="1" lang="en" sz="1000">
                <a:latin typeface="Inter"/>
                <a:ea typeface="Inter"/>
                <a:cs typeface="Inter"/>
                <a:sym typeface="Inter"/>
              </a:rPr>
              <a:t>PRIO 3</a:t>
            </a:r>
            <a:br>
              <a:rPr b="1" lang="en" sz="1000">
                <a:solidFill>
                  <a:srgbClr val="000000"/>
                </a:solidFill>
                <a:latin typeface="Inter"/>
                <a:ea typeface="Inter"/>
                <a:cs typeface="Inter"/>
                <a:sym typeface="Inter"/>
              </a:rPr>
            </a:br>
            <a:endParaRPr b="1" sz="1200">
              <a:solidFill>
                <a:srgbClr val="000000"/>
              </a:solidFill>
              <a:latin typeface="Inter"/>
              <a:ea typeface="Inter"/>
              <a:cs typeface="Inter"/>
              <a:sym typeface="Inter"/>
            </a:endParaRPr>
          </a:p>
          <a:p>
            <a:pPr indent="0" lvl="0" marL="0" marR="0" rtl="0" algn="l">
              <a:lnSpc>
                <a:spcPct val="115000"/>
              </a:lnSpc>
              <a:spcBef>
                <a:spcPts val="0"/>
              </a:spcBef>
              <a:spcAft>
                <a:spcPts val="0"/>
              </a:spcAft>
              <a:buNone/>
            </a:pPr>
            <a:r>
              <a:rPr b="1" lang="en">
                <a:latin typeface="Inter"/>
                <a:ea typeface="Inter"/>
                <a:cs typeface="Inter"/>
                <a:sym typeface="Inter"/>
              </a:rPr>
              <a:t>CONSOLIDATE</a:t>
            </a:r>
            <a:endParaRPr b="1">
              <a:solidFill>
                <a:srgbClr val="000000"/>
              </a:solidFill>
              <a:latin typeface="Inter"/>
              <a:ea typeface="Inter"/>
              <a:cs typeface="Inter"/>
              <a:sym typeface="Inter"/>
            </a:endParaRPr>
          </a:p>
        </p:txBody>
      </p:sp>
      <p:sp>
        <p:nvSpPr>
          <p:cNvPr id="152" name="Google Shape;152;p24"/>
          <p:cNvSpPr txBox="1"/>
          <p:nvPr/>
        </p:nvSpPr>
        <p:spPr>
          <a:xfrm>
            <a:off x="6757652" y="1988175"/>
            <a:ext cx="1806600" cy="697200"/>
          </a:xfrm>
          <a:prstGeom prst="rect">
            <a:avLst/>
          </a:prstGeom>
          <a:noFill/>
          <a:ln>
            <a:noFill/>
          </a:ln>
        </p:spPr>
        <p:txBody>
          <a:bodyPr anchorCtr="0" anchor="t" bIns="91425" lIns="0" spcFirstLastPara="1" rIns="91425" wrap="square" tIns="0">
            <a:spAutoFit/>
          </a:bodyPr>
          <a:lstStyle/>
          <a:p>
            <a:pPr indent="0" lvl="0" marL="0" marR="0" rtl="0" algn="l">
              <a:lnSpc>
                <a:spcPct val="115000"/>
              </a:lnSpc>
              <a:spcBef>
                <a:spcPts val="0"/>
              </a:spcBef>
              <a:spcAft>
                <a:spcPts val="0"/>
              </a:spcAft>
              <a:buNone/>
            </a:pPr>
            <a:r>
              <a:rPr b="1" lang="en" sz="1000">
                <a:latin typeface="Inter"/>
                <a:ea typeface="Inter"/>
                <a:cs typeface="Inter"/>
                <a:sym typeface="Inter"/>
              </a:rPr>
              <a:t>PRIO 4</a:t>
            </a:r>
            <a:br>
              <a:rPr b="1" lang="en" sz="1000">
                <a:solidFill>
                  <a:srgbClr val="000000"/>
                </a:solidFill>
                <a:latin typeface="Inter"/>
                <a:ea typeface="Inter"/>
                <a:cs typeface="Inter"/>
                <a:sym typeface="Inter"/>
              </a:rPr>
            </a:br>
            <a:endParaRPr b="1" sz="1200">
              <a:solidFill>
                <a:srgbClr val="000000"/>
              </a:solidFill>
              <a:latin typeface="Inter"/>
              <a:ea typeface="Inter"/>
              <a:cs typeface="Inter"/>
              <a:sym typeface="Inter"/>
            </a:endParaRPr>
          </a:p>
          <a:p>
            <a:pPr indent="0" lvl="0" marL="0" marR="0" rtl="0" algn="l">
              <a:lnSpc>
                <a:spcPct val="115000"/>
              </a:lnSpc>
              <a:spcBef>
                <a:spcPts val="0"/>
              </a:spcBef>
              <a:spcAft>
                <a:spcPts val="0"/>
              </a:spcAft>
              <a:buNone/>
            </a:pPr>
            <a:r>
              <a:rPr b="1" lang="en">
                <a:latin typeface="Inter"/>
                <a:ea typeface="Inter"/>
                <a:cs typeface="Inter"/>
                <a:sym typeface="Inter"/>
              </a:rPr>
              <a:t>BUILD</a:t>
            </a:r>
            <a:endParaRPr b="1">
              <a:solidFill>
                <a:srgbClr val="000000"/>
              </a:solidFill>
              <a:latin typeface="Inter"/>
              <a:ea typeface="Inter"/>
              <a:cs typeface="Inter"/>
              <a:sym typeface="Inter"/>
            </a:endParaRPr>
          </a:p>
        </p:txBody>
      </p:sp>
      <p:sp>
        <p:nvSpPr>
          <p:cNvPr id="153" name="Google Shape;153;p24"/>
          <p:cNvSpPr txBox="1"/>
          <p:nvPr/>
        </p:nvSpPr>
        <p:spPr>
          <a:xfrm>
            <a:off x="500475" y="1124125"/>
            <a:ext cx="376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a:solidFill>
                  <a:srgbClr val="FF2F0A"/>
                </a:solidFill>
                <a:latin typeface="Inter"/>
                <a:ea typeface="Inter"/>
                <a:cs typeface="Inter"/>
                <a:sym typeface="Inter"/>
              </a:rPr>
              <a:t>We’re here </a:t>
            </a:r>
            <a:endParaRPr i="1">
              <a:solidFill>
                <a:srgbClr val="FF2F0A"/>
              </a:solidFill>
              <a:latin typeface="Inter"/>
              <a:ea typeface="Inter"/>
              <a:cs typeface="Inter"/>
              <a:sym typeface="Inter"/>
            </a:endParaRPr>
          </a:p>
        </p:txBody>
      </p:sp>
      <p:sp>
        <p:nvSpPr>
          <p:cNvPr id="154" name="Google Shape;154;p24"/>
          <p:cNvSpPr/>
          <p:nvPr/>
        </p:nvSpPr>
        <p:spPr>
          <a:xfrm>
            <a:off x="614350" y="1437825"/>
            <a:ext cx="313700" cy="483625"/>
          </a:xfrm>
          <a:custGeom>
            <a:rect b="b" l="l" r="r" t="t"/>
            <a:pathLst>
              <a:path extrusionOk="0" h="19345" w="12548">
                <a:moveTo>
                  <a:pt x="12548" y="0"/>
                </a:moveTo>
                <a:cubicBezTo>
                  <a:pt x="5673" y="3437"/>
                  <a:pt x="2428" y="12052"/>
                  <a:pt x="0" y="19345"/>
                </a:cubicBezTo>
              </a:path>
            </a:pathLst>
          </a:custGeom>
          <a:noFill/>
          <a:ln cap="flat" cmpd="sng" w="9525">
            <a:solidFill>
              <a:srgbClr val="FF2F0A"/>
            </a:solidFill>
            <a:prstDash val="solid"/>
            <a:round/>
            <a:headEnd len="med" w="med" type="none"/>
            <a:tailEnd len="med" w="med" type="stealth"/>
          </a:ln>
        </p:spPr>
      </p:sp>
      <p:sp>
        <p:nvSpPr>
          <p:cNvPr id="155" name="Google Shape;155;p24"/>
          <p:cNvSpPr/>
          <p:nvPr/>
        </p:nvSpPr>
        <p:spPr>
          <a:xfrm>
            <a:off x="1509725" y="1339800"/>
            <a:ext cx="1052225" cy="562050"/>
          </a:xfrm>
          <a:custGeom>
            <a:rect b="b" l="l" r="r" t="t"/>
            <a:pathLst>
              <a:path extrusionOk="0" h="22482" w="42089">
                <a:moveTo>
                  <a:pt x="0" y="0"/>
                </a:moveTo>
                <a:cubicBezTo>
                  <a:pt x="15906" y="0"/>
                  <a:pt x="37048" y="7396"/>
                  <a:pt x="42089" y="22482"/>
                </a:cubicBezTo>
              </a:path>
            </a:pathLst>
          </a:custGeom>
          <a:noFill/>
          <a:ln cap="flat" cmpd="sng" w="9525">
            <a:solidFill>
              <a:srgbClr val="FF2F0A"/>
            </a:solidFill>
            <a:prstDash val="solid"/>
            <a:round/>
            <a:headEnd len="med" w="med" type="none"/>
            <a:tailEnd len="med" w="med" type="stealth"/>
          </a:ln>
        </p:spPr>
      </p:sp>
      <p:cxnSp>
        <p:nvCxnSpPr>
          <p:cNvPr id="156" name="Google Shape;156;p24"/>
          <p:cNvCxnSpPr>
            <a:endCxn id="151" idx="0"/>
          </p:cNvCxnSpPr>
          <p:nvPr/>
        </p:nvCxnSpPr>
        <p:spPr>
          <a:xfrm>
            <a:off x="1496627" y="1313775"/>
            <a:ext cx="3966300" cy="674400"/>
          </a:xfrm>
          <a:prstGeom prst="curvedConnector2">
            <a:avLst/>
          </a:prstGeom>
          <a:noFill/>
          <a:ln cap="flat" cmpd="sng" w="9525">
            <a:solidFill>
              <a:srgbClr val="FF2F0A"/>
            </a:solidFill>
            <a:prstDash val="dot"/>
            <a:round/>
            <a:headEnd len="med" w="med" type="none"/>
            <a:tailEnd len="med" w="med" type="stealth"/>
          </a:ln>
        </p:spPr>
      </p:cxnSp>
      <p:sp>
        <p:nvSpPr>
          <p:cNvPr id="157" name="Google Shape;157;p24"/>
          <p:cNvSpPr/>
          <p:nvPr/>
        </p:nvSpPr>
        <p:spPr>
          <a:xfrm>
            <a:off x="5126450" y="79500"/>
            <a:ext cx="2363100" cy="12603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High level summary of their site maturity - adjust as we need to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0808"/>
        </a:solidFill>
      </p:bgPr>
    </p:bg>
    <p:spTree>
      <p:nvGrpSpPr>
        <p:cNvPr id="161" name="Shape 161"/>
        <p:cNvGrpSpPr/>
        <p:nvPr/>
      </p:nvGrpSpPr>
      <p:grpSpPr>
        <a:xfrm>
          <a:off x="0" y="0"/>
          <a:ext cx="0" cy="0"/>
          <a:chOff x="0" y="0"/>
          <a:chExt cx="0" cy="0"/>
        </a:xfrm>
      </p:grpSpPr>
      <p:sp>
        <p:nvSpPr>
          <p:cNvPr id="162" name="Google Shape;162;p25"/>
          <p:cNvSpPr/>
          <p:nvPr/>
        </p:nvSpPr>
        <p:spPr>
          <a:xfrm>
            <a:off x="1126200" y="2397697"/>
            <a:ext cx="6891600" cy="1154400"/>
          </a:xfrm>
          <a:prstGeom prst="rect">
            <a:avLst/>
          </a:prstGeom>
          <a:noFill/>
          <a:ln>
            <a:noFill/>
          </a:ln>
          <a:effectLst>
            <a:outerShdw blurRad="57150" rotWithShape="0" algn="bl" dir="5400000" dist="19050">
              <a:srgbClr val="000000">
                <a:alpha val="50000"/>
              </a:srgbClr>
            </a:outerShdw>
          </a:effectLst>
        </p:spPr>
        <p:txBody>
          <a:bodyPr anchorCtr="0" anchor="ctr" bIns="45700" lIns="91425" spcFirstLastPara="1" rIns="91425" wrap="square" tIns="45700">
            <a:noAutofit/>
          </a:bodyPr>
          <a:lstStyle/>
          <a:p>
            <a:pPr indent="0" lvl="0" marL="0" marR="0" rtl="0" algn="ctr">
              <a:lnSpc>
                <a:spcPct val="75000"/>
              </a:lnSpc>
              <a:spcBef>
                <a:spcPts val="0"/>
              </a:spcBef>
              <a:spcAft>
                <a:spcPts val="0"/>
              </a:spcAft>
              <a:buClr>
                <a:srgbClr val="FFFFFF"/>
              </a:buClr>
              <a:buSzPts val="5250"/>
              <a:buFont typeface="Inter"/>
              <a:buNone/>
            </a:pPr>
            <a:r>
              <a:rPr b="1" lang="en" sz="5200">
                <a:solidFill>
                  <a:schemeClr val="lt1"/>
                </a:solidFill>
                <a:latin typeface="Archivo"/>
                <a:ea typeface="Archivo"/>
                <a:cs typeface="Archivo"/>
                <a:sym typeface="Archivo"/>
              </a:rPr>
              <a:t>Q1 Deliverables</a:t>
            </a:r>
            <a:endParaRPr b="1" sz="5200">
              <a:solidFill>
                <a:schemeClr val="lt1"/>
              </a:solidFill>
              <a:latin typeface="Archivo"/>
              <a:ea typeface="Archivo"/>
              <a:cs typeface="Archivo"/>
              <a:sym typeface="Archivo"/>
            </a:endParaRPr>
          </a:p>
          <a:p>
            <a:pPr indent="0" lvl="0" marL="0" marR="0" rtl="0" algn="ctr">
              <a:lnSpc>
                <a:spcPct val="75000"/>
              </a:lnSpc>
              <a:spcBef>
                <a:spcPts val="0"/>
              </a:spcBef>
              <a:spcAft>
                <a:spcPts val="0"/>
              </a:spcAft>
              <a:buClr>
                <a:srgbClr val="FFFFFF"/>
              </a:buClr>
              <a:buSzPts val="5250"/>
              <a:buFont typeface="Inter"/>
              <a:buNone/>
            </a:pPr>
            <a:r>
              <a:t/>
            </a:r>
            <a:endParaRPr b="1" i="0" sz="5200" u="none" cap="none" strike="noStrike">
              <a:solidFill>
                <a:srgbClr val="FF2F0A"/>
              </a:solidFill>
              <a:latin typeface="Archivo"/>
              <a:ea typeface="Archivo"/>
              <a:cs typeface="Archivo"/>
              <a:sym typeface="Archivo"/>
            </a:endParaRPr>
          </a:p>
        </p:txBody>
      </p:sp>
      <p:sp>
        <p:nvSpPr>
          <p:cNvPr id="163" name="Google Shape;163;p25"/>
          <p:cNvSpPr/>
          <p:nvPr/>
        </p:nvSpPr>
        <p:spPr>
          <a:xfrm>
            <a:off x="4150574" y="1926813"/>
            <a:ext cx="182700" cy="182700"/>
          </a:xfrm>
          <a:prstGeom prst="ellipse">
            <a:avLst/>
          </a:prstGeom>
          <a:solidFill>
            <a:srgbClr val="FF2F0A"/>
          </a:solidFill>
          <a:ln>
            <a:noFill/>
          </a:ln>
        </p:spPr>
        <p:txBody>
          <a:bodyPr anchorCtr="0" anchor="ctr" bIns="164100" lIns="164100" spcFirstLastPara="1" rIns="164100" wrap="square" tIns="164100">
            <a:noAutofit/>
          </a:bodyPr>
          <a:lstStyle/>
          <a:p>
            <a:pPr indent="0" lvl="0" marL="0" rtl="0" algn="ctr">
              <a:spcBef>
                <a:spcPts val="0"/>
              </a:spcBef>
              <a:spcAft>
                <a:spcPts val="0"/>
              </a:spcAft>
              <a:buNone/>
            </a:pPr>
            <a:r>
              <a:t/>
            </a:r>
            <a:endParaRPr sz="2513"/>
          </a:p>
        </p:txBody>
      </p:sp>
      <p:sp>
        <p:nvSpPr>
          <p:cNvPr id="164" name="Google Shape;164;p25"/>
          <p:cNvSpPr/>
          <p:nvPr/>
        </p:nvSpPr>
        <p:spPr>
          <a:xfrm>
            <a:off x="4333136" y="1824466"/>
            <a:ext cx="660300" cy="387300"/>
          </a:xfrm>
          <a:prstGeom prst="rect">
            <a:avLst/>
          </a:prstGeom>
          <a:noFill/>
          <a:ln>
            <a:noFill/>
          </a:ln>
        </p:spPr>
        <p:txBody>
          <a:bodyPr anchorCtr="0" anchor="ctr" bIns="75100" lIns="150175" spcFirstLastPara="1" rIns="150175" wrap="square" tIns="75100">
            <a:noAutofit/>
          </a:bodyPr>
          <a:lstStyle/>
          <a:p>
            <a:pPr indent="0" lvl="0" marL="0" marR="0" rtl="0" algn="l">
              <a:lnSpc>
                <a:spcPct val="120000"/>
              </a:lnSpc>
              <a:spcBef>
                <a:spcPts val="0"/>
              </a:spcBef>
              <a:spcAft>
                <a:spcPts val="0"/>
              </a:spcAft>
              <a:buClr>
                <a:srgbClr val="BCC0C5"/>
              </a:buClr>
              <a:buSzPts val="1725"/>
              <a:buFont typeface="Inter"/>
              <a:buNone/>
            </a:pPr>
            <a:r>
              <a:rPr i="1" lang="en" sz="2165">
                <a:solidFill>
                  <a:schemeClr val="lt1"/>
                </a:solidFill>
                <a:latin typeface="Archivo Medium"/>
                <a:ea typeface="Archivo Medium"/>
                <a:cs typeface="Archivo Medium"/>
                <a:sym typeface="Archivo Medium"/>
              </a:rPr>
              <a:t>03</a:t>
            </a:r>
            <a:endParaRPr i="1" sz="2165">
              <a:solidFill>
                <a:schemeClr val="lt1"/>
              </a:solidFill>
              <a:latin typeface="Archivo Medium"/>
              <a:ea typeface="Archivo Medium"/>
              <a:cs typeface="Archivo Medium"/>
              <a:sym typeface="Archivo Medium"/>
            </a:endParaRPr>
          </a:p>
        </p:txBody>
      </p:sp>
      <p:pic>
        <p:nvPicPr>
          <p:cNvPr id="165" name="Google Shape;165;p25" title="W Full blk txt (1).png"/>
          <p:cNvPicPr preferRelativeResize="0"/>
          <p:nvPr/>
        </p:nvPicPr>
        <p:blipFill>
          <a:blip r:embed="rId3">
            <a:alphaModFix/>
          </a:blip>
          <a:stretch>
            <a:fillRect/>
          </a:stretch>
        </p:blipFill>
        <p:spPr>
          <a:xfrm>
            <a:off x="7835738" y="201625"/>
            <a:ext cx="1025576" cy="2463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EAEA"/>
        </a:solidFill>
      </p:bgPr>
    </p:bg>
    <p:spTree>
      <p:nvGrpSpPr>
        <p:cNvPr id="169" name="Shape 169"/>
        <p:cNvGrpSpPr/>
        <p:nvPr/>
      </p:nvGrpSpPr>
      <p:grpSpPr>
        <a:xfrm>
          <a:off x="0" y="0"/>
          <a:ext cx="0" cy="0"/>
          <a:chOff x="0" y="0"/>
          <a:chExt cx="0" cy="0"/>
        </a:xfrm>
      </p:grpSpPr>
      <p:pic>
        <p:nvPicPr>
          <p:cNvPr id="170" name="Google Shape;170;p26" title="W Full blk txt.png"/>
          <p:cNvPicPr preferRelativeResize="0"/>
          <p:nvPr/>
        </p:nvPicPr>
        <p:blipFill>
          <a:blip r:embed="rId3">
            <a:alphaModFix/>
          </a:blip>
          <a:stretch>
            <a:fillRect/>
          </a:stretch>
        </p:blipFill>
        <p:spPr>
          <a:xfrm>
            <a:off x="363550" y="4571275"/>
            <a:ext cx="1026251" cy="246300"/>
          </a:xfrm>
          <a:prstGeom prst="rect">
            <a:avLst/>
          </a:prstGeom>
          <a:noFill/>
          <a:ln>
            <a:noFill/>
          </a:ln>
        </p:spPr>
      </p:pic>
      <p:sp>
        <p:nvSpPr>
          <p:cNvPr id="171" name="Google Shape;171;p26"/>
          <p:cNvSpPr/>
          <p:nvPr/>
        </p:nvSpPr>
        <p:spPr>
          <a:xfrm>
            <a:off x="529875" y="2383625"/>
            <a:ext cx="3639300" cy="705000"/>
          </a:xfrm>
          <a:prstGeom prst="rect">
            <a:avLst/>
          </a:prstGeom>
          <a:noFill/>
          <a:ln>
            <a:noFill/>
          </a:ln>
        </p:spPr>
        <p:txBody>
          <a:bodyPr anchorCtr="0" anchor="ctr" bIns="39100" lIns="78225" spcFirstLastPara="1" rIns="78225" wrap="square" tIns="39100">
            <a:noAutofit/>
          </a:bodyPr>
          <a:lstStyle/>
          <a:p>
            <a:pPr indent="0" lvl="0" marL="0" marR="0" rtl="0" algn="l">
              <a:lnSpc>
                <a:spcPct val="75000"/>
              </a:lnSpc>
              <a:spcBef>
                <a:spcPts val="0"/>
              </a:spcBef>
              <a:spcAft>
                <a:spcPts val="0"/>
              </a:spcAft>
              <a:buClr>
                <a:srgbClr val="FFFFFF"/>
              </a:buClr>
              <a:buSzPts val="4491"/>
              <a:buFont typeface="Inter"/>
              <a:buNone/>
            </a:pPr>
            <a:r>
              <a:rPr b="1" lang="en" sz="3022">
                <a:solidFill>
                  <a:srgbClr val="080808"/>
                </a:solidFill>
                <a:latin typeface="Archivo"/>
                <a:ea typeface="Archivo"/>
                <a:cs typeface="Archivo"/>
                <a:sym typeface="Archivo"/>
              </a:rPr>
              <a:t>What we do Monthly</a:t>
            </a:r>
            <a:endParaRPr b="1" i="0" sz="3022" u="none" cap="none" strike="noStrike">
              <a:solidFill>
                <a:srgbClr val="080808"/>
              </a:solidFill>
              <a:latin typeface="Archivo"/>
              <a:ea typeface="Archivo"/>
              <a:cs typeface="Archivo"/>
              <a:sym typeface="Archivo"/>
            </a:endParaRPr>
          </a:p>
        </p:txBody>
      </p:sp>
      <p:sp>
        <p:nvSpPr>
          <p:cNvPr id="172" name="Google Shape;172;p26"/>
          <p:cNvSpPr/>
          <p:nvPr/>
        </p:nvSpPr>
        <p:spPr>
          <a:xfrm>
            <a:off x="447087" y="2300523"/>
            <a:ext cx="82800" cy="83100"/>
          </a:xfrm>
          <a:prstGeom prst="ellipse">
            <a:avLst/>
          </a:prstGeom>
          <a:solidFill>
            <a:srgbClr val="FF2F0A"/>
          </a:solidFill>
          <a:ln>
            <a:noFill/>
          </a:ln>
        </p:spPr>
        <p:txBody>
          <a:bodyPr anchorCtr="0" anchor="ctr" bIns="74500" lIns="74500" spcFirstLastPara="1" rIns="74500" wrap="square" tIns="74500">
            <a:noAutofit/>
          </a:bodyPr>
          <a:lstStyle/>
          <a:p>
            <a:pPr indent="0" lvl="0" marL="0" rtl="0" algn="ctr">
              <a:spcBef>
                <a:spcPts val="0"/>
              </a:spcBef>
              <a:spcAft>
                <a:spcPts val="0"/>
              </a:spcAft>
              <a:buNone/>
            </a:pPr>
            <a:r>
              <a:rPr lang="en" sz="1141"/>
              <a:t> </a:t>
            </a:r>
            <a:endParaRPr sz="1141"/>
          </a:p>
        </p:txBody>
      </p:sp>
      <p:sp>
        <p:nvSpPr>
          <p:cNvPr id="173" name="Google Shape;173;p26"/>
          <p:cNvSpPr/>
          <p:nvPr/>
        </p:nvSpPr>
        <p:spPr>
          <a:xfrm>
            <a:off x="5883900" y="467325"/>
            <a:ext cx="2363100" cy="12603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These next slides are all pretty boilerplate, they talk about our SEO service at large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7"/>
          <p:cNvSpPr/>
          <p:nvPr/>
        </p:nvSpPr>
        <p:spPr>
          <a:xfrm>
            <a:off x="435875" y="1945385"/>
            <a:ext cx="4195200" cy="1218600"/>
          </a:xfrm>
          <a:prstGeom prst="rect">
            <a:avLst/>
          </a:prstGeom>
          <a:noFill/>
          <a:ln>
            <a:noFill/>
          </a:ln>
        </p:spPr>
        <p:txBody>
          <a:bodyPr anchorCtr="0" anchor="ctr" bIns="39100" lIns="78225" spcFirstLastPara="1" rIns="78225" wrap="square" tIns="39100">
            <a:noAutofit/>
          </a:bodyPr>
          <a:lstStyle/>
          <a:p>
            <a:pPr indent="0" lvl="0" marL="0" marR="0" rtl="0" algn="l">
              <a:lnSpc>
                <a:spcPct val="85000"/>
              </a:lnSpc>
              <a:spcBef>
                <a:spcPts val="0"/>
              </a:spcBef>
              <a:spcAft>
                <a:spcPts val="0"/>
              </a:spcAft>
              <a:buClr>
                <a:srgbClr val="FFFFFF"/>
              </a:buClr>
              <a:buSzPts val="4491"/>
              <a:buFont typeface="Inter"/>
              <a:buNone/>
            </a:pPr>
            <a:r>
              <a:rPr b="1" lang="en" sz="2822">
                <a:solidFill>
                  <a:srgbClr val="080808"/>
                </a:solidFill>
                <a:latin typeface="Archivo"/>
                <a:ea typeface="Archivo"/>
                <a:cs typeface="Archivo"/>
                <a:sym typeface="Archivo"/>
              </a:rPr>
              <a:t>Local SEO on your Google Business Profile</a:t>
            </a:r>
            <a:endParaRPr b="1" i="0" sz="2822" u="none" cap="none" strike="noStrike">
              <a:solidFill>
                <a:srgbClr val="080808"/>
              </a:solidFill>
              <a:latin typeface="Archivo"/>
              <a:ea typeface="Archivo"/>
              <a:cs typeface="Archivo"/>
              <a:sym typeface="Archivo"/>
            </a:endParaRPr>
          </a:p>
        </p:txBody>
      </p:sp>
      <p:sp>
        <p:nvSpPr>
          <p:cNvPr id="179" name="Google Shape;179;p27"/>
          <p:cNvSpPr txBox="1"/>
          <p:nvPr/>
        </p:nvSpPr>
        <p:spPr>
          <a:xfrm>
            <a:off x="4875550" y="1069050"/>
            <a:ext cx="11130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 sz="1200">
                <a:solidFill>
                  <a:srgbClr val="080808"/>
                </a:solidFill>
                <a:latin typeface="Archivo Medium"/>
                <a:ea typeface="Archivo Medium"/>
                <a:cs typeface="Archivo Medium"/>
                <a:sym typeface="Archivo Medium"/>
              </a:rPr>
              <a:t>What we do</a:t>
            </a:r>
            <a:endParaRPr sz="1200">
              <a:solidFill>
                <a:srgbClr val="080808"/>
              </a:solidFill>
              <a:latin typeface="Archivo Medium"/>
              <a:ea typeface="Archivo Medium"/>
              <a:cs typeface="Archivo Medium"/>
              <a:sym typeface="Archivo Medium"/>
            </a:endParaRPr>
          </a:p>
        </p:txBody>
      </p:sp>
      <p:cxnSp>
        <p:nvCxnSpPr>
          <p:cNvPr id="180" name="Google Shape;180;p27"/>
          <p:cNvCxnSpPr/>
          <p:nvPr/>
        </p:nvCxnSpPr>
        <p:spPr>
          <a:xfrm flipH="1">
            <a:off x="5988425" y="1159788"/>
            <a:ext cx="2184000" cy="3300"/>
          </a:xfrm>
          <a:prstGeom prst="straightConnector1">
            <a:avLst/>
          </a:prstGeom>
          <a:noFill/>
          <a:ln cap="flat" cmpd="sng" w="19050">
            <a:solidFill>
              <a:srgbClr val="FF2F0A"/>
            </a:solidFill>
            <a:prstDash val="solid"/>
            <a:round/>
            <a:headEnd len="med" w="med" type="none"/>
            <a:tailEnd len="med" w="med" type="none"/>
          </a:ln>
        </p:spPr>
      </p:cxnSp>
      <p:sp>
        <p:nvSpPr>
          <p:cNvPr id="181" name="Google Shape;181;p27"/>
          <p:cNvSpPr txBox="1"/>
          <p:nvPr/>
        </p:nvSpPr>
        <p:spPr>
          <a:xfrm>
            <a:off x="5073500" y="1383350"/>
            <a:ext cx="3938100" cy="3463200"/>
          </a:xfrm>
          <a:prstGeom prst="rect">
            <a:avLst/>
          </a:prstGeom>
          <a:noFill/>
          <a:ln>
            <a:noFill/>
          </a:ln>
        </p:spPr>
        <p:txBody>
          <a:bodyPr anchorCtr="0" anchor="t" bIns="91425" lIns="0" spcFirstLastPara="1" rIns="91425" wrap="square" tIns="0">
            <a:noAutofit/>
          </a:bodyPr>
          <a:lstStyle/>
          <a:p>
            <a:pPr indent="-349250" lvl="0" marL="457200" rtl="0" algn="l">
              <a:spcBef>
                <a:spcPts val="1200"/>
              </a:spcBef>
              <a:spcAft>
                <a:spcPts val="0"/>
              </a:spcAft>
              <a:buClr>
                <a:srgbClr val="FF300B"/>
              </a:buClr>
              <a:buSzPts val="1900"/>
              <a:buChar char="●"/>
            </a:pPr>
            <a:r>
              <a:rPr b="1" lang="en" sz="1600">
                <a:solidFill>
                  <a:schemeClr val="dk1"/>
                </a:solidFill>
                <a:latin typeface="Archivo"/>
                <a:ea typeface="Archivo"/>
                <a:cs typeface="Archivo"/>
                <a:sym typeface="Archivo"/>
              </a:rPr>
              <a:t>Weekly Google Posts:</a:t>
            </a:r>
            <a:r>
              <a:rPr lang="en" sz="1600">
                <a:solidFill>
                  <a:schemeClr val="dk1"/>
                </a:solidFill>
                <a:latin typeface="Archivo"/>
                <a:ea typeface="Archivo"/>
                <a:cs typeface="Archivo"/>
                <a:sym typeface="Archivo"/>
              </a:rPr>
              <a:t> Content rotates between core service pages, programs, and admissions-focused messaging. Designed to support visibility, engagement, and conversion directly within local search</a:t>
            </a:r>
            <a:endParaRPr sz="1600">
              <a:solidFill>
                <a:schemeClr val="dk1"/>
              </a:solidFill>
              <a:latin typeface="Archivo"/>
              <a:ea typeface="Archivo"/>
              <a:cs typeface="Archivo"/>
              <a:sym typeface="Archivo"/>
            </a:endParaRPr>
          </a:p>
          <a:p>
            <a:pPr indent="-330200" lvl="0" marL="457200" rtl="0" algn="l">
              <a:spcBef>
                <a:spcPts val="1200"/>
              </a:spcBef>
              <a:spcAft>
                <a:spcPts val="0"/>
              </a:spcAft>
              <a:buClr>
                <a:srgbClr val="FF300B"/>
              </a:buClr>
              <a:buSzPts val="1600"/>
              <a:buFont typeface="Archivo"/>
              <a:buChar char="●"/>
            </a:pPr>
            <a:r>
              <a:rPr b="1" lang="en" sz="1600">
                <a:solidFill>
                  <a:schemeClr val="dk1"/>
                </a:solidFill>
                <a:latin typeface="Archivo"/>
                <a:ea typeface="Archivo"/>
                <a:cs typeface="Archivo"/>
                <a:sym typeface="Archivo"/>
              </a:rPr>
              <a:t>Monthly Profile Health &amp; Optimization Review:</a:t>
            </a:r>
            <a:r>
              <a:rPr lang="en" sz="1600">
                <a:solidFill>
                  <a:schemeClr val="dk1"/>
                </a:solidFill>
                <a:latin typeface="Archivo"/>
                <a:ea typeface="Archivo"/>
                <a:cs typeface="Archivo"/>
                <a:sym typeface="Archivo"/>
              </a:rPr>
              <a:t> Review and refine business description, services, and attributes as needed. Ensure category alignment with current offerings</a:t>
            </a:r>
            <a:endParaRPr sz="1600">
              <a:solidFill>
                <a:schemeClr val="dk1"/>
              </a:solidFill>
              <a:latin typeface="Archivo"/>
              <a:ea typeface="Archivo"/>
              <a:cs typeface="Archivo"/>
              <a:sym typeface="Archivo"/>
            </a:endParaRPr>
          </a:p>
          <a:p>
            <a:pPr indent="0" lvl="0" marL="0" rtl="0" algn="l">
              <a:lnSpc>
                <a:spcPct val="115000"/>
              </a:lnSpc>
              <a:spcBef>
                <a:spcPts val="1200"/>
              </a:spcBef>
              <a:spcAft>
                <a:spcPts val="0"/>
              </a:spcAft>
              <a:buNone/>
            </a:pPr>
            <a:br>
              <a:rPr lang="en" sz="1100">
                <a:solidFill>
                  <a:schemeClr val="dk1"/>
                </a:solidFill>
                <a:latin typeface="Archivo"/>
                <a:ea typeface="Archivo"/>
                <a:cs typeface="Archivo"/>
                <a:sym typeface="Archivo"/>
              </a:rPr>
            </a:br>
            <a:br>
              <a:rPr lang="en" sz="1100">
                <a:solidFill>
                  <a:schemeClr val="dk1"/>
                </a:solidFill>
                <a:latin typeface="Archivo"/>
                <a:ea typeface="Archivo"/>
                <a:cs typeface="Archivo"/>
                <a:sym typeface="Archivo"/>
              </a:rPr>
            </a:br>
            <a:endParaRPr sz="1200">
              <a:solidFill>
                <a:srgbClr val="2B2B2A"/>
              </a:solidFill>
              <a:latin typeface="Archivo"/>
              <a:ea typeface="Archivo"/>
              <a:cs typeface="Archivo"/>
              <a:sym typeface="Archivo"/>
            </a:endParaRPr>
          </a:p>
          <a:p>
            <a:pPr indent="0" lvl="0" marL="0" rtl="0" algn="l">
              <a:lnSpc>
                <a:spcPct val="115000"/>
              </a:lnSpc>
              <a:spcBef>
                <a:spcPts val="1200"/>
              </a:spcBef>
              <a:spcAft>
                <a:spcPts val="1000"/>
              </a:spcAft>
              <a:buNone/>
            </a:pPr>
            <a:r>
              <a:t/>
            </a:r>
            <a:endParaRPr sz="1200">
              <a:solidFill>
                <a:srgbClr val="EAEAEA"/>
              </a:solidFill>
              <a:latin typeface="Archivo"/>
              <a:ea typeface="Archivo"/>
              <a:cs typeface="Archivo"/>
              <a:sym typeface="Archivo"/>
            </a:endParaRPr>
          </a:p>
        </p:txBody>
      </p:sp>
      <p:sp>
        <p:nvSpPr>
          <p:cNvPr id="182" name="Google Shape;182;p27"/>
          <p:cNvSpPr/>
          <p:nvPr/>
        </p:nvSpPr>
        <p:spPr>
          <a:xfrm>
            <a:off x="1209525" y="442200"/>
            <a:ext cx="2363100" cy="12603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These next slides are all pretty boilerplate, they talk about our SEO service at large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8"/>
          <p:cNvSpPr/>
          <p:nvPr/>
        </p:nvSpPr>
        <p:spPr>
          <a:xfrm>
            <a:off x="435875" y="1945385"/>
            <a:ext cx="4195200" cy="1218600"/>
          </a:xfrm>
          <a:prstGeom prst="rect">
            <a:avLst/>
          </a:prstGeom>
          <a:noFill/>
          <a:ln>
            <a:noFill/>
          </a:ln>
        </p:spPr>
        <p:txBody>
          <a:bodyPr anchorCtr="0" anchor="ctr" bIns="39100" lIns="78225" spcFirstLastPara="1" rIns="78225" wrap="square" tIns="39100">
            <a:noAutofit/>
          </a:bodyPr>
          <a:lstStyle/>
          <a:p>
            <a:pPr indent="0" lvl="0" marL="0" marR="0" rtl="0" algn="l">
              <a:lnSpc>
                <a:spcPct val="85000"/>
              </a:lnSpc>
              <a:spcBef>
                <a:spcPts val="0"/>
              </a:spcBef>
              <a:spcAft>
                <a:spcPts val="0"/>
              </a:spcAft>
              <a:buClr>
                <a:srgbClr val="FFFFFF"/>
              </a:buClr>
              <a:buSzPts val="4491"/>
              <a:buFont typeface="Inter"/>
              <a:buNone/>
            </a:pPr>
            <a:r>
              <a:rPr b="1" lang="en" sz="2822">
                <a:solidFill>
                  <a:srgbClr val="080808"/>
                </a:solidFill>
                <a:latin typeface="Archivo"/>
                <a:ea typeface="Archivo"/>
                <a:cs typeface="Archivo"/>
                <a:sym typeface="Archivo"/>
              </a:rPr>
              <a:t>Conversion Rate Optimization</a:t>
            </a:r>
            <a:endParaRPr b="1" i="0" sz="2822" u="none" cap="none" strike="noStrike">
              <a:solidFill>
                <a:srgbClr val="080808"/>
              </a:solidFill>
              <a:latin typeface="Archivo"/>
              <a:ea typeface="Archivo"/>
              <a:cs typeface="Archivo"/>
              <a:sym typeface="Archivo"/>
            </a:endParaRPr>
          </a:p>
        </p:txBody>
      </p:sp>
      <p:sp>
        <p:nvSpPr>
          <p:cNvPr id="188" name="Google Shape;188;p28"/>
          <p:cNvSpPr txBox="1"/>
          <p:nvPr/>
        </p:nvSpPr>
        <p:spPr>
          <a:xfrm>
            <a:off x="4875550" y="1069050"/>
            <a:ext cx="11130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 sz="1200">
                <a:solidFill>
                  <a:srgbClr val="080808"/>
                </a:solidFill>
                <a:latin typeface="Archivo Medium"/>
                <a:ea typeface="Archivo Medium"/>
                <a:cs typeface="Archivo Medium"/>
                <a:sym typeface="Archivo Medium"/>
              </a:rPr>
              <a:t>What we do</a:t>
            </a:r>
            <a:endParaRPr sz="1200">
              <a:solidFill>
                <a:srgbClr val="080808"/>
              </a:solidFill>
              <a:latin typeface="Archivo Medium"/>
              <a:ea typeface="Archivo Medium"/>
              <a:cs typeface="Archivo Medium"/>
              <a:sym typeface="Archivo Medium"/>
            </a:endParaRPr>
          </a:p>
        </p:txBody>
      </p:sp>
      <p:cxnSp>
        <p:nvCxnSpPr>
          <p:cNvPr id="189" name="Google Shape;189;p28"/>
          <p:cNvCxnSpPr/>
          <p:nvPr/>
        </p:nvCxnSpPr>
        <p:spPr>
          <a:xfrm flipH="1">
            <a:off x="5988425" y="1159788"/>
            <a:ext cx="2184000" cy="3300"/>
          </a:xfrm>
          <a:prstGeom prst="straightConnector1">
            <a:avLst/>
          </a:prstGeom>
          <a:noFill/>
          <a:ln cap="flat" cmpd="sng" w="19050">
            <a:solidFill>
              <a:srgbClr val="FF2F0A"/>
            </a:solidFill>
            <a:prstDash val="solid"/>
            <a:round/>
            <a:headEnd len="med" w="med" type="none"/>
            <a:tailEnd len="med" w="med" type="none"/>
          </a:ln>
        </p:spPr>
      </p:cxnSp>
      <p:sp>
        <p:nvSpPr>
          <p:cNvPr id="190" name="Google Shape;190;p28"/>
          <p:cNvSpPr txBox="1"/>
          <p:nvPr/>
        </p:nvSpPr>
        <p:spPr>
          <a:xfrm>
            <a:off x="4960500" y="1383350"/>
            <a:ext cx="4051200" cy="3463200"/>
          </a:xfrm>
          <a:prstGeom prst="rect">
            <a:avLst/>
          </a:prstGeom>
          <a:noFill/>
          <a:ln>
            <a:noFill/>
          </a:ln>
        </p:spPr>
        <p:txBody>
          <a:bodyPr anchorCtr="0" anchor="t" bIns="91425" lIns="0" spcFirstLastPara="1" rIns="91425" wrap="square" tIns="0">
            <a:noAutofit/>
          </a:bodyPr>
          <a:lstStyle/>
          <a:p>
            <a:pPr indent="-298450" lvl="0" marL="457200" rtl="0" algn="l">
              <a:lnSpc>
                <a:spcPct val="115000"/>
              </a:lnSpc>
              <a:spcBef>
                <a:spcPts val="1200"/>
              </a:spcBef>
              <a:spcAft>
                <a:spcPts val="0"/>
              </a:spcAft>
              <a:buClr>
                <a:srgbClr val="FF2F0A"/>
              </a:buClr>
              <a:buSzPts val="1100"/>
              <a:buChar char="●"/>
            </a:pPr>
            <a:r>
              <a:rPr lang="en" sz="1600">
                <a:solidFill>
                  <a:schemeClr val="dk1"/>
                </a:solidFill>
                <a:latin typeface="Archivo"/>
                <a:ea typeface="Archivo"/>
                <a:cs typeface="Archivo"/>
                <a:sym typeface="Archivo"/>
              </a:rPr>
              <a:t>Optimize priority admissions and access pages to reduce friction and improve clarity for high-intent users</a:t>
            </a:r>
            <a:br>
              <a:rPr lang="en" sz="1600">
                <a:solidFill>
                  <a:schemeClr val="dk1"/>
                </a:solidFill>
                <a:latin typeface="Archivo"/>
                <a:ea typeface="Archivo"/>
                <a:cs typeface="Archivo"/>
                <a:sym typeface="Archivo"/>
              </a:rPr>
            </a:br>
            <a:endParaRPr sz="1600">
              <a:solidFill>
                <a:schemeClr val="dk1"/>
              </a:solidFill>
              <a:latin typeface="Archivo"/>
              <a:ea typeface="Archivo"/>
              <a:cs typeface="Archivo"/>
              <a:sym typeface="Archivo"/>
            </a:endParaRPr>
          </a:p>
          <a:p>
            <a:pPr indent="-298450" lvl="0" marL="457200" rtl="0" algn="l">
              <a:lnSpc>
                <a:spcPct val="115000"/>
              </a:lnSpc>
              <a:spcBef>
                <a:spcPts val="0"/>
              </a:spcBef>
              <a:spcAft>
                <a:spcPts val="0"/>
              </a:spcAft>
              <a:buClr>
                <a:srgbClr val="FF2F0A"/>
              </a:buClr>
              <a:buSzPts val="1100"/>
              <a:buChar char="●"/>
            </a:pPr>
            <a:r>
              <a:rPr lang="en" sz="1600">
                <a:solidFill>
                  <a:schemeClr val="dk1"/>
                </a:solidFill>
                <a:latin typeface="Archivo"/>
                <a:ea typeface="Archivo"/>
                <a:cs typeface="Archivo"/>
                <a:sym typeface="Archivo"/>
              </a:rPr>
              <a:t>Review high-level call tracking signals to identify messaging or pathway gaps</a:t>
            </a:r>
            <a:br>
              <a:rPr lang="en" sz="1600">
                <a:solidFill>
                  <a:schemeClr val="dk1"/>
                </a:solidFill>
                <a:latin typeface="Archivo"/>
                <a:ea typeface="Archivo"/>
                <a:cs typeface="Archivo"/>
                <a:sym typeface="Archivo"/>
              </a:rPr>
            </a:br>
            <a:endParaRPr sz="1600">
              <a:solidFill>
                <a:schemeClr val="dk1"/>
              </a:solidFill>
              <a:latin typeface="Archivo"/>
              <a:ea typeface="Archivo"/>
              <a:cs typeface="Archivo"/>
              <a:sym typeface="Archivo"/>
            </a:endParaRPr>
          </a:p>
          <a:p>
            <a:pPr indent="-298450" lvl="0" marL="457200" rtl="0" algn="l">
              <a:lnSpc>
                <a:spcPct val="115000"/>
              </a:lnSpc>
              <a:spcBef>
                <a:spcPts val="0"/>
              </a:spcBef>
              <a:spcAft>
                <a:spcPts val="0"/>
              </a:spcAft>
              <a:buClr>
                <a:srgbClr val="FF2F0A"/>
              </a:buClr>
              <a:buSzPts val="1100"/>
              <a:buChar char="●"/>
            </a:pPr>
            <a:r>
              <a:rPr lang="en" sz="1600">
                <a:solidFill>
                  <a:schemeClr val="dk1"/>
                </a:solidFill>
                <a:latin typeface="Archivo"/>
                <a:ea typeface="Archivo"/>
                <a:cs typeface="Archivo"/>
                <a:sym typeface="Archivo"/>
              </a:rPr>
              <a:t>Apply insights to CTA placement, page structure, and admissions-focused content updates</a:t>
            </a:r>
            <a:br>
              <a:rPr lang="en" sz="1600">
                <a:solidFill>
                  <a:schemeClr val="dk1"/>
                </a:solidFill>
                <a:latin typeface="Archivo"/>
                <a:ea typeface="Archivo"/>
                <a:cs typeface="Archivo"/>
                <a:sym typeface="Archivo"/>
              </a:rPr>
            </a:br>
            <a:endParaRPr sz="1600">
              <a:solidFill>
                <a:schemeClr val="dk1"/>
              </a:solidFill>
              <a:latin typeface="Archivo"/>
              <a:ea typeface="Archivo"/>
              <a:cs typeface="Archivo"/>
              <a:sym typeface="Archivo"/>
            </a:endParaRPr>
          </a:p>
          <a:p>
            <a:pPr indent="0" lvl="0" marL="0" rtl="0" algn="l">
              <a:spcBef>
                <a:spcPts val="1200"/>
              </a:spcBef>
              <a:spcAft>
                <a:spcPts val="0"/>
              </a:spcAft>
              <a:buNone/>
            </a:pPr>
            <a:r>
              <a:t/>
            </a:r>
            <a:endParaRPr b="1" sz="1600">
              <a:solidFill>
                <a:schemeClr val="dk1"/>
              </a:solidFill>
              <a:latin typeface="Archivo"/>
              <a:ea typeface="Archivo"/>
              <a:cs typeface="Archivo"/>
              <a:sym typeface="Archivo"/>
            </a:endParaRPr>
          </a:p>
          <a:p>
            <a:pPr indent="0" lvl="0" marL="0" rtl="0" algn="l">
              <a:lnSpc>
                <a:spcPct val="115000"/>
              </a:lnSpc>
              <a:spcBef>
                <a:spcPts val="1200"/>
              </a:spcBef>
              <a:spcAft>
                <a:spcPts val="0"/>
              </a:spcAft>
              <a:buNone/>
            </a:pPr>
            <a:br>
              <a:rPr lang="en" sz="1100">
                <a:solidFill>
                  <a:schemeClr val="dk1"/>
                </a:solidFill>
                <a:latin typeface="Archivo"/>
                <a:ea typeface="Archivo"/>
                <a:cs typeface="Archivo"/>
                <a:sym typeface="Archivo"/>
              </a:rPr>
            </a:br>
            <a:br>
              <a:rPr lang="en" sz="1100">
                <a:solidFill>
                  <a:schemeClr val="dk1"/>
                </a:solidFill>
                <a:latin typeface="Archivo"/>
                <a:ea typeface="Archivo"/>
                <a:cs typeface="Archivo"/>
                <a:sym typeface="Archivo"/>
              </a:rPr>
            </a:br>
            <a:endParaRPr sz="1200">
              <a:solidFill>
                <a:srgbClr val="2B2B2A"/>
              </a:solidFill>
              <a:latin typeface="Archivo"/>
              <a:ea typeface="Archivo"/>
              <a:cs typeface="Archivo"/>
              <a:sym typeface="Archivo"/>
            </a:endParaRPr>
          </a:p>
          <a:p>
            <a:pPr indent="0" lvl="0" marL="0" rtl="0" algn="l">
              <a:lnSpc>
                <a:spcPct val="115000"/>
              </a:lnSpc>
              <a:spcBef>
                <a:spcPts val="1200"/>
              </a:spcBef>
              <a:spcAft>
                <a:spcPts val="1000"/>
              </a:spcAft>
              <a:buNone/>
            </a:pPr>
            <a:r>
              <a:t/>
            </a:r>
            <a:endParaRPr sz="1200">
              <a:solidFill>
                <a:srgbClr val="EAEAEA"/>
              </a:solidFill>
              <a:latin typeface="Archivo"/>
              <a:ea typeface="Archivo"/>
              <a:cs typeface="Archivo"/>
              <a:sym typeface="Archivo"/>
            </a:endParaRPr>
          </a:p>
        </p:txBody>
      </p:sp>
      <p:sp>
        <p:nvSpPr>
          <p:cNvPr id="191" name="Google Shape;191;p28"/>
          <p:cNvSpPr/>
          <p:nvPr/>
        </p:nvSpPr>
        <p:spPr>
          <a:xfrm>
            <a:off x="1351925" y="391950"/>
            <a:ext cx="2363100" cy="12603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These next slides are all pretty boilerplate, they talk about our SEO service at large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9"/>
          <p:cNvSpPr/>
          <p:nvPr/>
        </p:nvSpPr>
        <p:spPr>
          <a:xfrm>
            <a:off x="435875" y="1945385"/>
            <a:ext cx="4195200" cy="1218600"/>
          </a:xfrm>
          <a:prstGeom prst="rect">
            <a:avLst/>
          </a:prstGeom>
          <a:noFill/>
          <a:ln>
            <a:noFill/>
          </a:ln>
        </p:spPr>
        <p:txBody>
          <a:bodyPr anchorCtr="0" anchor="ctr" bIns="39100" lIns="78225" spcFirstLastPara="1" rIns="78225" wrap="square" tIns="39100">
            <a:noAutofit/>
          </a:bodyPr>
          <a:lstStyle/>
          <a:p>
            <a:pPr indent="0" lvl="0" marL="0" marR="0" rtl="0" algn="l">
              <a:lnSpc>
                <a:spcPct val="85000"/>
              </a:lnSpc>
              <a:spcBef>
                <a:spcPts val="0"/>
              </a:spcBef>
              <a:spcAft>
                <a:spcPts val="0"/>
              </a:spcAft>
              <a:buClr>
                <a:srgbClr val="FFFFFF"/>
              </a:buClr>
              <a:buSzPts val="4491"/>
              <a:buFont typeface="Inter"/>
              <a:buNone/>
            </a:pPr>
            <a:r>
              <a:rPr b="1" lang="en" sz="2822">
                <a:solidFill>
                  <a:srgbClr val="080808"/>
                </a:solidFill>
                <a:latin typeface="Archivo"/>
                <a:ea typeface="Archivo"/>
                <a:cs typeface="Archivo"/>
                <a:sym typeface="Archivo"/>
              </a:rPr>
              <a:t>Technical SEO</a:t>
            </a:r>
            <a:endParaRPr b="1" i="0" sz="2822" u="none" cap="none" strike="noStrike">
              <a:solidFill>
                <a:srgbClr val="080808"/>
              </a:solidFill>
              <a:latin typeface="Archivo"/>
              <a:ea typeface="Archivo"/>
              <a:cs typeface="Archivo"/>
              <a:sym typeface="Archivo"/>
            </a:endParaRPr>
          </a:p>
        </p:txBody>
      </p:sp>
      <p:sp>
        <p:nvSpPr>
          <p:cNvPr id="197" name="Google Shape;197;p29"/>
          <p:cNvSpPr txBox="1"/>
          <p:nvPr/>
        </p:nvSpPr>
        <p:spPr>
          <a:xfrm>
            <a:off x="4875550" y="1069050"/>
            <a:ext cx="11130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 sz="1200">
                <a:solidFill>
                  <a:srgbClr val="080808"/>
                </a:solidFill>
                <a:latin typeface="Archivo Medium"/>
                <a:ea typeface="Archivo Medium"/>
                <a:cs typeface="Archivo Medium"/>
                <a:sym typeface="Archivo Medium"/>
              </a:rPr>
              <a:t>What we do</a:t>
            </a:r>
            <a:endParaRPr sz="1200">
              <a:solidFill>
                <a:srgbClr val="080808"/>
              </a:solidFill>
              <a:latin typeface="Archivo Medium"/>
              <a:ea typeface="Archivo Medium"/>
              <a:cs typeface="Archivo Medium"/>
              <a:sym typeface="Archivo Medium"/>
            </a:endParaRPr>
          </a:p>
        </p:txBody>
      </p:sp>
      <p:cxnSp>
        <p:nvCxnSpPr>
          <p:cNvPr id="198" name="Google Shape;198;p29"/>
          <p:cNvCxnSpPr/>
          <p:nvPr/>
        </p:nvCxnSpPr>
        <p:spPr>
          <a:xfrm flipH="1">
            <a:off x="5988425" y="1159788"/>
            <a:ext cx="2184000" cy="3300"/>
          </a:xfrm>
          <a:prstGeom prst="straightConnector1">
            <a:avLst/>
          </a:prstGeom>
          <a:noFill/>
          <a:ln cap="flat" cmpd="sng" w="19050">
            <a:solidFill>
              <a:srgbClr val="FF2F0A"/>
            </a:solidFill>
            <a:prstDash val="solid"/>
            <a:round/>
            <a:headEnd len="med" w="med" type="none"/>
            <a:tailEnd len="med" w="med" type="none"/>
          </a:ln>
        </p:spPr>
      </p:cxnSp>
      <p:sp>
        <p:nvSpPr>
          <p:cNvPr id="199" name="Google Shape;199;p29"/>
          <p:cNvSpPr txBox="1"/>
          <p:nvPr/>
        </p:nvSpPr>
        <p:spPr>
          <a:xfrm>
            <a:off x="5073500" y="1383350"/>
            <a:ext cx="3938100" cy="3463200"/>
          </a:xfrm>
          <a:prstGeom prst="rect">
            <a:avLst/>
          </a:prstGeom>
          <a:noFill/>
          <a:ln>
            <a:noFill/>
          </a:ln>
        </p:spPr>
        <p:txBody>
          <a:bodyPr anchorCtr="0" anchor="t" bIns="91425" lIns="0" spcFirstLastPara="1" rIns="91425" wrap="square" tIns="0">
            <a:noAutofit/>
          </a:bodyPr>
          <a:lstStyle/>
          <a:p>
            <a:pPr indent="-298450" lvl="0" marL="457200" rtl="0" algn="l">
              <a:lnSpc>
                <a:spcPct val="115000"/>
              </a:lnSpc>
              <a:spcBef>
                <a:spcPts val="1200"/>
              </a:spcBef>
              <a:spcAft>
                <a:spcPts val="0"/>
              </a:spcAft>
              <a:buClr>
                <a:srgbClr val="FF300B"/>
              </a:buClr>
              <a:buSzPts val="1100"/>
              <a:buChar char="●"/>
            </a:pPr>
            <a:r>
              <a:rPr lang="en" sz="1600">
                <a:solidFill>
                  <a:schemeClr val="dk1"/>
                </a:solidFill>
                <a:latin typeface="Archivo"/>
                <a:ea typeface="Archivo"/>
                <a:cs typeface="Archivo"/>
                <a:sym typeface="Archivo"/>
              </a:rPr>
              <a:t>Monitor crawlability, indexation, and visibility for issues impacting priority pages</a:t>
            </a:r>
            <a:br>
              <a:rPr lang="en" sz="1600">
                <a:solidFill>
                  <a:schemeClr val="dk1"/>
                </a:solidFill>
                <a:latin typeface="Archivo"/>
                <a:ea typeface="Archivo"/>
                <a:cs typeface="Archivo"/>
                <a:sym typeface="Archivo"/>
              </a:rPr>
            </a:br>
            <a:endParaRPr sz="1600">
              <a:solidFill>
                <a:schemeClr val="dk1"/>
              </a:solidFill>
              <a:latin typeface="Archivo"/>
              <a:ea typeface="Archivo"/>
              <a:cs typeface="Archivo"/>
              <a:sym typeface="Archivo"/>
            </a:endParaRPr>
          </a:p>
          <a:p>
            <a:pPr indent="-298450" lvl="0" marL="457200" rtl="0" algn="l">
              <a:lnSpc>
                <a:spcPct val="115000"/>
              </a:lnSpc>
              <a:spcBef>
                <a:spcPts val="0"/>
              </a:spcBef>
              <a:spcAft>
                <a:spcPts val="0"/>
              </a:spcAft>
              <a:buClr>
                <a:srgbClr val="FF300B"/>
              </a:buClr>
              <a:buSzPts val="1100"/>
              <a:buChar char="●"/>
            </a:pPr>
            <a:r>
              <a:rPr lang="en" sz="1600">
                <a:solidFill>
                  <a:schemeClr val="dk1"/>
                </a:solidFill>
                <a:latin typeface="Archivo"/>
                <a:ea typeface="Archivo"/>
                <a:cs typeface="Archivo"/>
                <a:sym typeface="Archivo"/>
              </a:rPr>
              <a:t>Address high-impact technical issues that could undermine search performance</a:t>
            </a:r>
            <a:br>
              <a:rPr lang="en" sz="1600">
                <a:solidFill>
                  <a:schemeClr val="dk1"/>
                </a:solidFill>
                <a:latin typeface="Archivo"/>
                <a:ea typeface="Archivo"/>
                <a:cs typeface="Archivo"/>
                <a:sym typeface="Archivo"/>
              </a:rPr>
            </a:br>
            <a:endParaRPr sz="1600">
              <a:solidFill>
                <a:schemeClr val="dk1"/>
              </a:solidFill>
              <a:latin typeface="Archivo"/>
              <a:ea typeface="Archivo"/>
              <a:cs typeface="Archivo"/>
              <a:sym typeface="Archivo"/>
            </a:endParaRPr>
          </a:p>
          <a:p>
            <a:pPr indent="-298450" lvl="0" marL="457200" rtl="0" algn="l">
              <a:lnSpc>
                <a:spcPct val="115000"/>
              </a:lnSpc>
              <a:spcBef>
                <a:spcPts val="0"/>
              </a:spcBef>
              <a:spcAft>
                <a:spcPts val="0"/>
              </a:spcAft>
              <a:buClr>
                <a:srgbClr val="FF300B"/>
              </a:buClr>
              <a:buSzPts val="1100"/>
              <a:buChar char="●"/>
            </a:pPr>
            <a:r>
              <a:rPr lang="en" sz="1600">
                <a:solidFill>
                  <a:schemeClr val="dk1"/>
                </a:solidFill>
                <a:latin typeface="Archivo"/>
                <a:ea typeface="Archivo"/>
                <a:cs typeface="Archivo"/>
                <a:sym typeface="Archivo"/>
              </a:rPr>
              <a:t>Provide strategic technical guidance when deeper development support is required</a:t>
            </a:r>
            <a:br>
              <a:rPr b="1" lang="en" sz="1600">
                <a:solidFill>
                  <a:schemeClr val="dk1"/>
                </a:solidFill>
                <a:latin typeface="Archivo"/>
                <a:ea typeface="Archivo"/>
                <a:cs typeface="Archivo"/>
                <a:sym typeface="Archivo"/>
              </a:rPr>
            </a:br>
            <a:endParaRPr b="1" sz="1600">
              <a:solidFill>
                <a:schemeClr val="dk1"/>
              </a:solidFill>
              <a:latin typeface="Archivo"/>
              <a:ea typeface="Archivo"/>
              <a:cs typeface="Archivo"/>
              <a:sym typeface="Archivo"/>
            </a:endParaRPr>
          </a:p>
          <a:p>
            <a:pPr indent="0" lvl="0" marL="457200" rtl="0" algn="l">
              <a:spcBef>
                <a:spcPts val="1200"/>
              </a:spcBef>
              <a:spcAft>
                <a:spcPts val="0"/>
              </a:spcAft>
              <a:buNone/>
            </a:pPr>
            <a:r>
              <a:t/>
            </a:r>
            <a:endParaRPr b="1" sz="1600">
              <a:solidFill>
                <a:schemeClr val="dk1"/>
              </a:solidFill>
              <a:latin typeface="Archivo"/>
              <a:ea typeface="Archivo"/>
              <a:cs typeface="Archivo"/>
              <a:sym typeface="Archivo"/>
            </a:endParaRPr>
          </a:p>
          <a:p>
            <a:pPr indent="0" lvl="0" marL="0" rtl="0" algn="l">
              <a:lnSpc>
                <a:spcPct val="115000"/>
              </a:lnSpc>
              <a:spcBef>
                <a:spcPts val="1200"/>
              </a:spcBef>
              <a:spcAft>
                <a:spcPts val="0"/>
              </a:spcAft>
              <a:buNone/>
            </a:pPr>
            <a:br>
              <a:rPr lang="en" sz="1100">
                <a:solidFill>
                  <a:schemeClr val="dk1"/>
                </a:solidFill>
                <a:latin typeface="Archivo"/>
                <a:ea typeface="Archivo"/>
                <a:cs typeface="Archivo"/>
                <a:sym typeface="Archivo"/>
              </a:rPr>
            </a:br>
            <a:br>
              <a:rPr lang="en" sz="1100">
                <a:solidFill>
                  <a:schemeClr val="dk1"/>
                </a:solidFill>
                <a:latin typeface="Archivo"/>
                <a:ea typeface="Archivo"/>
                <a:cs typeface="Archivo"/>
                <a:sym typeface="Archivo"/>
              </a:rPr>
            </a:br>
            <a:endParaRPr sz="1200">
              <a:solidFill>
                <a:srgbClr val="2B2B2A"/>
              </a:solidFill>
              <a:latin typeface="Archivo"/>
              <a:ea typeface="Archivo"/>
              <a:cs typeface="Archivo"/>
              <a:sym typeface="Archivo"/>
            </a:endParaRPr>
          </a:p>
          <a:p>
            <a:pPr indent="0" lvl="0" marL="0" rtl="0" algn="l">
              <a:lnSpc>
                <a:spcPct val="115000"/>
              </a:lnSpc>
              <a:spcBef>
                <a:spcPts val="1200"/>
              </a:spcBef>
              <a:spcAft>
                <a:spcPts val="1000"/>
              </a:spcAft>
              <a:buNone/>
            </a:pPr>
            <a:r>
              <a:t/>
            </a:r>
            <a:endParaRPr sz="1200">
              <a:solidFill>
                <a:srgbClr val="EAEAEA"/>
              </a:solidFill>
              <a:latin typeface="Archivo"/>
              <a:ea typeface="Archivo"/>
              <a:cs typeface="Archivo"/>
              <a:sym typeface="Archivo"/>
            </a:endParaRPr>
          </a:p>
        </p:txBody>
      </p:sp>
      <p:sp>
        <p:nvSpPr>
          <p:cNvPr id="200" name="Google Shape;200;p29"/>
          <p:cNvSpPr/>
          <p:nvPr/>
        </p:nvSpPr>
        <p:spPr>
          <a:xfrm>
            <a:off x="840925" y="609725"/>
            <a:ext cx="2363100" cy="12603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These next slides are all pretty boilerplate, they talk about our SEO service at large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0"/>
          <p:cNvSpPr/>
          <p:nvPr/>
        </p:nvSpPr>
        <p:spPr>
          <a:xfrm>
            <a:off x="435875" y="1945385"/>
            <a:ext cx="4195200" cy="1218600"/>
          </a:xfrm>
          <a:prstGeom prst="rect">
            <a:avLst/>
          </a:prstGeom>
          <a:noFill/>
          <a:ln>
            <a:noFill/>
          </a:ln>
        </p:spPr>
        <p:txBody>
          <a:bodyPr anchorCtr="0" anchor="ctr" bIns="39100" lIns="78225" spcFirstLastPara="1" rIns="78225" wrap="square" tIns="39100">
            <a:noAutofit/>
          </a:bodyPr>
          <a:lstStyle/>
          <a:p>
            <a:pPr indent="0" lvl="0" marL="0" marR="0" rtl="0" algn="l">
              <a:lnSpc>
                <a:spcPct val="85000"/>
              </a:lnSpc>
              <a:spcBef>
                <a:spcPts val="0"/>
              </a:spcBef>
              <a:spcAft>
                <a:spcPts val="0"/>
              </a:spcAft>
              <a:buClr>
                <a:srgbClr val="FFFFFF"/>
              </a:buClr>
              <a:buSzPts val="4491"/>
              <a:buFont typeface="Inter"/>
              <a:buNone/>
            </a:pPr>
            <a:r>
              <a:rPr b="1" lang="en" sz="2822">
                <a:solidFill>
                  <a:srgbClr val="080808"/>
                </a:solidFill>
                <a:latin typeface="Archivo"/>
                <a:ea typeface="Archivo"/>
                <a:cs typeface="Archivo"/>
                <a:sym typeface="Archivo"/>
              </a:rPr>
              <a:t>Content Strategy</a:t>
            </a:r>
            <a:endParaRPr b="1" i="0" sz="2822" u="none" cap="none" strike="noStrike">
              <a:solidFill>
                <a:srgbClr val="080808"/>
              </a:solidFill>
              <a:latin typeface="Archivo"/>
              <a:ea typeface="Archivo"/>
              <a:cs typeface="Archivo"/>
              <a:sym typeface="Archivo"/>
            </a:endParaRPr>
          </a:p>
        </p:txBody>
      </p:sp>
      <p:sp>
        <p:nvSpPr>
          <p:cNvPr id="206" name="Google Shape;206;p30"/>
          <p:cNvSpPr txBox="1"/>
          <p:nvPr/>
        </p:nvSpPr>
        <p:spPr>
          <a:xfrm>
            <a:off x="4875550" y="1069050"/>
            <a:ext cx="11130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 sz="1200">
                <a:solidFill>
                  <a:srgbClr val="080808"/>
                </a:solidFill>
                <a:latin typeface="Archivo Medium"/>
                <a:ea typeface="Archivo Medium"/>
                <a:cs typeface="Archivo Medium"/>
                <a:sym typeface="Archivo Medium"/>
              </a:rPr>
              <a:t>What we do</a:t>
            </a:r>
            <a:endParaRPr sz="1200">
              <a:solidFill>
                <a:srgbClr val="080808"/>
              </a:solidFill>
              <a:latin typeface="Archivo Medium"/>
              <a:ea typeface="Archivo Medium"/>
              <a:cs typeface="Archivo Medium"/>
              <a:sym typeface="Archivo Medium"/>
            </a:endParaRPr>
          </a:p>
        </p:txBody>
      </p:sp>
      <p:cxnSp>
        <p:nvCxnSpPr>
          <p:cNvPr id="207" name="Google Shape;207;p30"/>
          <p:cNvCxnSpPr/>
          <p:nvPr/>
        </p:nvCxnSpPr>
        <p:spPr>
          <a:xfrm flipH="1">
            <a:off x="5988425" y="1159788"/>
            <a:ext cx="2184000" cy="3300"/>
          </a:xfrm>
          <a:prstGeom prst="straightConnector1">
            <a:avLst/>
          </a:prstGeom>
          <a:noFill/>
          <a:ln cap="flat" cmpd="sng" w="19050">
            <a:solidFill>
              <a:srgbClr val="FF2F0A"/>
            </a:solidFill>
            <a:prstDash val="solid"/>
            <a:round/>
            <a:headEnd len="med" w="med" type="none"/>
            <a:tailEnd len="med" w="med" type="none"/>
          </a:ln>
        </p:spPr>
      </p:cxnSp>
      <p:sp>
        <p:nvSpPr>
          <p:cNvPr id="208" name="Google Shape;208;p30"/>
          <p:cNvSpPr txBox="1"/>
          <p:nvPr/>
        </p:nvSpPr>
        <p:spPr>
          <a:xfrm>
            <a:off x="5073500" y="1383350"/>
            <a:ext cx="3938100" cy="3463200"/>
          </a:xfrm>
          <a:prstGeom prst="rect">
            <a:avLst/>
          </a:prstGeom>
          <a:noFill/>
          <a:ln>
            <a:noFill/>
          </a:ln>
        </p:spPr>
        <p:txBody>
          <a:bodyPr anchorCtr="0" anchor="t" bIns="91425" lIns="0" spcFirstLastPara="1" rIns="91425" wrap="square" tIns="0">
            <a:noAutofit/>
          </a:bodyPr>
          <a:lstStyle/>
          <a:p>
            <a:pPr indent="-298450" lvl="0" marL="457200" rtl="0" algn="l">
              <a:lnSpc>
                <a:spcPct val="115000"/>
              </a:lnSpc>
              <a:spcBef>
                <a:spcPts val="1200"/>
              </a:spcBef>
              <a:spcAft>
                <a:spcPts val="0"/>
              </a:spcAft>
              <a:buClr>
                <a:srgbClr val="FF2F0A"/>
              </a:buClr>
              <a:buSzPts val="1100"/>
              <a:buChar char="●"/>
            </a:pPr>
            <a:r>
              <a:rPr lang="en" sz="1600">
                <a:solidFill>
                  <a:schemeClr val="dk1"/>
                </a:solidFill>
                <a:latin typeface="Archivo"/>
                <a:ea typeface="Archivo"/>
                <a:cs typeface="Archivo"/>
                <a:sym typeface="Archivo"/>
              </a:rPr>
              <a:t>Execute against the approved quarterly content strategy and page prioritization</a:t>
            </a:r>
            <a:br>
              <a:rPr lang="en" sz="1600">
                <a:solidFill>
                  <a:schemeClr val="dk1"/>
                </a:solidFill>
                <a:latin typeface="Archivo"/>
                <a:ea typeface="Archivo"/>
                <a:cs typeface="Archivo"/>
                <a:sym typeface="Archivo"/>
              </a:rPr>
            </a:br>
            <a:endParaRPr sz="1600">
              <a:solidFill>
                <a:schemeClr val="dk1"/>
              </a:solidFill>
              <a:latin typeface="Archivo"/>
              <a:ea typeface="Archivo"/>
              <a:cs typeface="Archivo"/>
              <a:sym typeface="Archivo"/>
            </a:endParaRPr>
          </a:p>
          <a:p>
            <a:pPr indent="-298450" lvl="0" marL="457200" rtl="0" algn="l">
              <a:lnSpc>
                <a:spcPct val="115000"/>
              </a:lnSpc>
              <a:spcBef>
                <a:spcPts val="0"/>
              </a:spcBef>
              <a:spcAft>
                <a:spcPts val="0"/>
              </a:spcAft>
              <a:buClr>
                <a:srgbClr val="FF2F0A"/>
              </a:buClr>
              <a:buSzPts val="1100"/>
              <a:buChar char="●"/>
            </a:pPr>
            <a:r>
              <a:rPr lang="en" sz="1600">
                <a:solidFill>
                  <a:schemeClr val="dk1"/>
                </a:solidFill>
                <a:latin typeface="Archivo"/>
                <a:ea typeface="Archivo"/>
                <a:cs typeface="Archivo"/>
                <a:sym typeface="Archivo"/>
              </a:rPr>
              <a:t>Create or optimize high-impact service, care access, and supporting pages</a:t>
            </a:r>
            <a:br>
              <a:rPr lang="en" sz="1600">
                <a:solidFill>
                  <a:schemeClr val="dk1"/>
                </a:solidFill>
                <a:latin typeface="Archivo"/>
                <a:ea typeface="Archivo"/>
                <a:cs typeface="Archivo"/>
                <a:sym typeface="Archivo"/>
              </a:rPr>
            </a:br>
            <a:endParaRPr sz="1600">
              <a:solidFill>
                <a:schemeClr val="dk1"/>
              </a:solidFill>
              <a:latin typeface="Archivo"/>
              <a:ea typeface="Archivo"/>
              <a:cs typeface="Archivo"/>
              <a:sym typeface="Archivo"/>
            </a:endParaRPr>
          </a:p>
          <a:p>
            <a:pPr indent="-298450" lvl="0" marL="457200" rtl="0" algn="l">
              <a:lnSpc>
                <a:spcPct val="115000"/>
              </a:lnSpc>
              <a:spcBef>
                <a:spcPts val="0"/>
              </a:spcBef>
              <a:spcAft>
                <a:spcPts val="0"/>
              </a:spcAft>
              <a:buClr>
                <a:srgbClr val="FF2F0A"/>
              </a:buClr>
              <a:buSzPts val="1100"/>
              <a:buChar char="●"/>
            </a:pPr>
            <a:r>
              <a:rPr lang="en" sz="1600">
                <a:solidFill>
                  <a:schemeClr val="dk1"/>
                </a:solidFill>
                <a:latin typeface="Archivo"/>
                <a:ea typeface="Archivo"/>
                <a:cs typeface="Archivo"/>
                <a:sym typeface="Archivo"/>
              </a:rPr>
              <a:t>Refine existing content to reduce overlap, improve structure, and strengthen topical authority</a:t>
            </a:r>
            <a:br>
              <a:rPr lang="en" sz="1600">
                <a:solidFill>
                  <a:schemeClr val="dk1"/>
                </a:solidFill>
                <a:latin typeface="Archivo"/>
                <a:ea typeface="Archivo"/>
                <a:cs typeface="Archivo"/>
                <a:sym typeface="Archivo"/>
              </a:rPr>
            </a:br>
            <a:endParaRPr sz="1600">
              <a:solidFill>
                <a:schemeClr val="dk1"/>
              </a:solidFill>
              <a:latin typeface="Archivo"/>
              <a:ea typeface="Archivo"/>
              <a:cs typeface="Archivo"/>
              <a:sym typeface="Archivo"/>
            </a:endParaRPr>
          </a:p>
          <a:p>
            <a:pPr indent="0" lvl="0" marL="0" rtl="0" algn="l">
              <a:spcBef>
                <a:spcPts val="1200"/>
              </a:spcBef>
              <a:spcAft>
                <a:spcPts val="0"/>
              </a:spcAft>
              <a:buNone/>
            </a:pPr>
            <a:r>
              <a:t/>
            </a:r>
            <a:endParaRPr b="1" sz="1600">
              <a:solidFill>
                <a:schemeClr val="dk1"/>
              </a:solidFill>
              <a:latin typeface="Archivo"/>
              <a:ea typeface="Archivo"/>
              <a:cs typeface="Archivo"/>
              <a:sym typeface="Archivo"/>
            </a:endParaRPr>
          </a:p>
          <a:p>
            <a:pPr indent="0" lvl="0" marL="0" rtl="0" algn="l">
              <a:lnSpc>
                <a:spcPct val="115000"/>
              </a:lnSpc>
              <a:spcBef>
                <a:spcPts val="1200"/>
              </a:spcBef>
              <a:spcAft>
                <a:spcPts val="0"/>
              </a:spcAft>
              <a:buNone/>
            </a:pPr>
            <a:br>
              <a:rPr lang="en" sz="1100">
                <a:solidFill>
                  <a:schemeClr val="dk1"/>
                </a:solidFill>
                <a:latin typeface="Archivo"/>
                <a:ea typeface="Archivo"/>
                <a:cs typeface="Archivo"/>
                <a:sym typeface="Archivo"/>
              </a:rPr>
            </a:br>
            <a:br>
              <a:rPr lang="en" sz="1100">
                <a:solidFill>
                  <a:schemeClr val="dk1"/>
                </a:solidFill>
                <a:latin typeface="Archivo"/>
                <a:ea typeface="Archivo"/>
                <a:cs typeface="Archivo"/>
                <a:sym typeface="Archivo"/>
              </a:rPr>
            </a:br>
            <a:endParaRPr sz="1200">
              <a:solidFill>
                <a:srgbClr val="2B2B2A"/>
              </a:solidFill>
              <a:latin typeface="Archivo"/>
              <a:ea typeface="Archivo"/>
              <a:cs typeface="Archivo"/>
              <a:sym typeface="Archivo"/>
            </a:endParaRPr>
          </a:p>
          <a:p>
            <a:pPr indent="0" lvl="0" marL="0" rtl="0" algn="l">
              <a:lnSpc>
                <a:spcPct val="115000"/>
              </a:lnSpc>
              <a:spcBef>
                <a:spcPts val="1200"/>
              </a:spcBef>
              <a:spcAft>
                <a:spcPts val="1000"/>
              </a:spcAft>
              <a:buNone/>
            </a:pPr>
            <a:r>
              <a:t/>
            </a:r>
            <a:endParaRPr sz="1200">
              <a:solidFill>
                <a:srgbClr val="EAEAEA"/>
              </a:solidFill>
              <a:latin typeface="Archivo"/>
              <a:ea typeface="Archivo"/>
              <a:cs typeface="Archivo"/>
              <a:sym typeface="Archivo"/>
            </a:endParaRPr>
          </a:p>
        </p:txBody>
      </p:sp>
      <p:sp>
        <p:nvSpPr>
          <p:cNvPr id="209" name="Google Shape;209;p30"/>
          <p:cNvSpPr/>
          <p:nvPr/>
        </p:nvSpPr>
        <p:spPr>
          <a:xfrm>
            <a:off x="966575" y="358425"/>
            <a:ext cx="2363100" cy="12603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These next slides are all pretty boilerplate, they talk about our SEO service at large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1"/>
          <p:cNvSpPr/>
          <p:nvPr/>
        </p:nvSpPr>
        <p:spPr>
          <a:xfrm>
            <a:off x="435875" y="1945385"/>
            <a:ext cx="4195200" cy="1218600"/>
          </a:xfrm>
          <a:prstGeom prst="rect">
            <a:avLst/>
          </a:prstGeom>
          <a:noFill/>
          <a:ln>
            <a:noFill/>
          </a:ln>
        </p:spPr>
        <p:txBody>
          <a:bodyPr anchorCtr="0" anchor="ctr" bIns="39100" lIns="78225" spcFirstLastPara="1" rIns="78225" wrap="square" tIns="39100">
            <a:noAutofit/>
          </a:bodyPr>
          <a:lstStyle/>
          <a:p>
            <a:pPr indent="0" lvl="0" marL="0" marR="0" rtl="0" algn="l">
              <a:lnSpc>
                <a:spcPct val="85000"/>
              </a:lnSpc>
              <a:spcBef>
                <a:spcPts val="0"/>
              </a:spcBef>
              <a:spcAft>
                <a:spcPts val="0"/>
              </a:spcAft>
              <a:buClr>
                <a:srgbClr val="FFFFFF"/>
              </a:buClr>
              <a:buSzPts val="4491"/>
              <a:buFont typeface="Inter"/>
              <a:buNone/>
            </a:pPr>
            <a:r>
              <a:rPr b="1" lang="en" sz="2822">
                <a:solidFill>
                  <a:srgbClr val="080808"/>
                </a:solidFill>
                <a:latin typeface="Archivo"/>
                <a:ea typeface="Archivo"/>
                <a:cs typeface="Archivo"/>
                <a:sym typeface="Archivo"/>
              </a:rPr>
              <a:t>Monthly</a:t>
            </a:r>
            <a:r>
              <a:rPr b="1" lang="en" sz="2822">
                <a:solidFill>
                  <a:srgbClr val="080808"/>
                </a:solidFill>
                <a:latin typeface="Archivo"/>
                <a:ea typeface="Archivo"/>
                <a:cs typeface="Archivo"/>
                <a:sym typeface="Archivo"/>
              </a:rPr>
              <a:t> Reporting</a:t>
            </a:r>
            <a:endParaRPr b="1" i="0" sz="2822" u="none" cap="none" strike="noStrike">
              <a:solidFill>
                <a:srgbClr val="080808"/>
              </a:solidFill>
              <a:latin typeface="Archivo"/>
              <a:ea typeface="Archivo"/>
              <a:cs typeface="Archivo"/>
              <a:sym typeface="Archivo"/>
            </a:endParaRPr>
          </a:p>
        </p:txBody>
      </p:sp>
      <p:sp>
        <p:nvSpPr>
          <p:cNvPr id="215" name="Google Shape;215;p31"/>
          <p:cNvSpPr txBox="1"/>
          <p:nvPr/>
        </p:nvSpPr>
        <p:spPr>
          <a:xfrm>
            <a:off x="4875550" y="1069050"/>
            <a:ext cx="11130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 sz="1200">
                <a:solidFill>
                  <a:srgbClr val="080808"/>
                </a:solidFill>
                <a:latin typeface="Archivo Medium"/>
                <a:ea typeface="Archivo Medium"/>
                <a:cs typeface="Archivo Medium"/>
                <a:sym typeface="Archivo Medium"/>
              </a:rPr>
              <a:t>What we do</a:t>
            </a:r>
            <a:endParaRPr sz="1200">
              <a:solidFill>
                <a:srgbClr val="080808"/>
              </a:solidFill>
              <a:latin typeface="Archivo Medium"/>
              <a:ea typeface="Archivo Medium"/>
              <a:cs typeface="Archivo Medium"/>
              <a:sym typeface="Archivo Medium"/>
            </a:endParaRPr>
          </a:p>
        </p:txBody>
      </p:sp>
      <p:cxnSp>
        <p:nvCxnSpPr>
          <p:cNvPr id="216" name="Google Shape;216;p31"/>
          <p:cNvCxnSpPr/>
          <p:nvPr/>
        </p:nvCxnSpPr>
        <p:spPr>
          <a:xfrm flipH="1">
            <a:off x="5988425" y="1159788"/>
            <a:ext cx="2184000" cy="3300"/>
          </a:xfrm>
          <a:prstGeom prst="straightConnector1">
            <a:avLst/>
          </a:prstGeom>
          <a:noFill/>
          <a:ln cap="flat" cmpd="sng" w="19050">
            <a:solidFill>
              <a:srgbClr val="FF2F0A"/>
            </a:solidFill>
            <a:prstDash val="solid"/>
            <a:round/>
            <a:headEnd len="med" w="med" type="none"/>
            <a:tailEnd len="med" w="med" type="none"/>
          </a:ln>
        </p:spPr>
      </p:cxnSp>
      <p:sp>
        <p:nvSpPr>
          <p:cNvPr id="217" name="Google Shape;217;p31"/>
          <p:cNvSpPr txBox="1"/>
          <p:nvPr/>
        </p:nvSpPr>
        <p:spPr>
          <a:xfrm>
            <a:off x="5073500" y="1383350"/>
            <a:ext cx="3938100" cy="3463200"/>
          </a:xfrm>
          <a:prstGeom prst="rect">
            <a:avLst/>
          </a:prstGeom>
          <a:noFill/>
          <a:ln>
            <a:noFill/>
          </a:ln>
        </p:spPr>
        <p:txBody>
          <a:bodyPr anchorCtr="0" anchor="t" bIns="91425" lIns="0" spcFirstLastPara="1" rIns="91425" wrap="square" tIns="0">
            <a:noAutofit/>
          </a:bodyPr>
          <a:lstStyle/>
          <a:p>
            <a:pPr indent="-298450" lvl="0" marL="457200" rtl="0" algn="l">
              <a:lnSpc>
                <a:spcPct val="115000"/>
              </a:lnSpc>
              <a:spcBef>
                <a:spcPts val="1200"/>
              </a:spcBef>
              <a:spcAft>
                <a:spcPts val="0"/>
              </a:spcAft>
              <a:buClr>
                <a:srgbClr val="FF2F0A"/>
              </a:buClr>
              <a:buSzPts val="1100"/>
              <a:buChar char="●"/>
            </a:pPr>
            <a:r>
              <a:rPr b="1" lang="en" sz="1100">
                <a:solidFill>
                  <a:schemeClr val="dk1"/>
                </a:solidFill>
                <a:latin typeface="Archivo"/>
                <a:ea typeface="Archivo"/>
                <a:cs typeface="Archivo"/>
                <a:sym typeface="Archivo"/>
              </a:rPr>
              <a:t>Mid-Month Check-In</a:t>
            </a:r>
            <a:br>
              <a:rPr b="1" lang="en" sz="1100">
                <a:solidFill>
                  <a:schemeClr val="dk1"/>
                </a:solidFill>
                <a:latin typeface="Archivo"/>
                <a:ea typeface="Archivo"/>
                <a:cs typeface="Archivo"/>
                <a:sym typeface="Archivo"/>
              </a:rPr>
            </a:br>
            <a:r>
              <a:rPr lang="en" sz="1100">
                <a:solidFill>
                  <a:schemeClr val="dk1"/>
                </a:solidFill>
                <a:latin typeface="Archivo"/>
                <a:ea typeface="Archivo"/>
                <a:cs typeface="Archivo"/>
                <a:sym typeface="Archivo"/>
              </a:rPr>
              <a:t>Review early search performance trends, visibility changes, and high-level call/lead signals from organic search to identify issues or opportunities while there’s still time to adjust execution.</a:t>
            </a:r>
            <a:br>
              <a:rPr lang="en" sz="1100">
                <a:solidFill>
                  <a:schemeClr val="dk1"/>
                </a:solidFill>
                <a:latin typeface="Archivo"/>
                <a:ea typeface="Archivo"/>
                <a:cs typeface="Archivo"/>
                <a:sym typeface="Archivo"/>
              </a:rPr>
            </a:br>
            <a:endParaRPr sz="1100">
              <a:solidFill>
                <a:schemeClr val="dk1"/>
              </a:solidFill>
              <a:latin typeface="Archivo"/>
              <a:ea typeface="Archivo"/>
              <a:cs typeface="Archivo"/>
              <a:sym typeface="Archivo"/>
            </a:endParaRPr>
          </a:p>
          <a:p>
            <a:pPr indent="-298450" lvl="0" marL="457200" rtl="0" algn="l">
              <a:lnSpc>
                <a:spcPct val="115000"/>
              </a:lnSpc>
              <a:spcBef>
                <a:spcPts val="0"/>
              </a:spcBef>
              <a:spcAft>
                <a:spcPts val="0"/>
              </a:spcAft>
              <a:buClr>
                <a:srgbClr val="FF2F0A"/>
              </a:buClr>
              <a:buSzPts val="1100"/>
              <a:buChar char="●"/>
            </a:pPr>
            <a:r>
              <a:rPr b="1" lang="en" sz="1100">
                <a:solidFill>
                  <a:schemeClr val="dk1"/>
                </a:solidFill>
                <a:latin typeface="Archivo"/>
                <a:ea typeface="Archivo"/>
                <a:cs typeface="Archivo"/>
                <a:sym typeface="Archivo"/>
              </a:rPr>
              <a:t>End-of-Month Performance Review</a:t>
            </a:r>
            <a:br>
              <a:rPr lang="en" sz="1100">
                <a:solidFill>
                  <a:schemeClr val="dk1"/>
                </a:solidFill>
                <a:latin typeface="Archivo"/>
                <a:ea typeface="Archivo"/>
                <a:cs typeface="Archivo"/>
                <a:sym typeface="Archivo"/>
              </a:rPr>
            </a:br>
            <a:r>
              <a:rPr lang="en" sz="1100">
                <a:solidFill>
                  <a:schemeClr val="dk1"/>
                </a:solidFill>
                <a:latin typeface="Archivo"/>
                <a:ea typeface="Archivo"/>
                <a:cs typeface="Archivo"/>
                <a:sym typeface="Archivo"/>
              </a:rPr>
              <a:t>Evaluate organic traffic and visibility trends, summarize call and lead attribution signals, and connect results back to the work completed during the previous month.</a:t>
            </a:r>
            <a:br>
              <a:rPr lang="en" sz="1100">
                <a:solidFill>
                  <a:schemeClr val="dk1"/>
                </a:solidFill>
                <a:latin typeface="Archivo"/>
                <a:ea typeface="Archivo"/>
                <a:cs typeface="Archivo"/>
                <a:sym typeface="Archivo"/>
              </a:rPr>
            </a:br>
            <a:endParaRPr sz="1100">
              <a:solidFill>
                <a:schemeClr val="dk1"/>
              </a:solidFill>
              <a:latin typeface="Archivo"/>
              <a:ea typeface="Archivo"/>
              <a:cs typeface="Archivo"/>
              <a:sym typeface="Archivo"/>
            </a:endParaRPr>
          </a:p>
          <a:p>
            <a:pPr indent="-298450" lvl="0" marL="457200" rtl="0" algn="l">
              <a:lnSpc>
                <a:spcPct val="115000"/>
              </a:lnSpc>
              <a:spcBef>
                <a:spcPts val="0"/>
              </a:spcBef>
              <a:spcAft>
                <a:spcPts val="0"/>
              </a:spcAft>
              <a:buClr>
                <a:srgbClr val="FF2F0A"/>
              </a:buClr>
              <a:buSzPts val="1100"/>
              <a:buChar char="●"/>
            </a:pPr>
            <a:r>
              <a:rPr b="1" lang="en" sz="1100">
                <a:solidFill>
                  <a:schemeClr val="dk1"/>
                </a:solidFill>
                <a:latin typeface="Archivo"/>
                <a:ea typeface="Archivo"/>
                <a:cs typeface="Archivo"/>
                <a:sym typeface="Archivo"/>
              </a:rPr>
              <a:t>Forward-Looking Priority Alignment</a:t>
            </a:r>
            <a:br>
              <a:rPr lang="en" sz="1100">
                <a:solidFill>
                  <a:schemeClr val="dk1"/>
                </a:solidFill>
                <a:latin typeface="Archivo"/>
                <a:ea typeface="Archivo"/>
                <a:cs typeface="Archivo"/>
                <a:sym typeface="Archivo"/>
              </a:rPr>
            </a:br>
            <a:r>
              <a:rPr lang="en" sz="1100">
                <a:solidFill>
                  <a:schemeClr val="dk1"/>
                </a:solidFill>
                <a:latin typeface="Archivo"/>
                <a:ea typeface="Archivo"/>
                <a:cs typeface="Archivo"/>
                <a:sym typeface="Archivo"/>
              </a:rPr>
              <a:t>Use reporting insights to confirm what’s working, deprioritize what isn’t, and align on execution focus for the upcoming month.</a:t>
            </a:r>
            <a:br>
              <a:rPr lang="en" sz="1100">
                <a:solidFill>
                  <a:schemeClr val="dk1"/>
                </a:solidFill>
                <a:latin typeface="Archivo"/>
                <a:ea typeface="Archivo"/>
                <a:cs typeface="Archivo"/>
                <a:sym typeface="Archivo"/>
              </a:rPr>
            </a:br>
            <a:endParaRPr sz="1600">
              <a:solidFill>
                <a:schemeClr val="dk1"/>
              </a:solidFill>
              <a:latin typeface="Archivo"/>
              <a:ea typeface="Archivo"/>
              <a:cs typeface="Archivo"/>
              <a:sym typeface="Archivo"/>
            </a:endParaRPr>
          </a:p>
          <a:p>
            <a:pPr indent="0" lvl="0" marL="0" rtl="0" algn="l">
              <a:lnSpc>
                <a:spcPct val="115000"/>
              </a:lnSpc>
              <a:spcBef>
                <a:spcPts val="1200"/>
              </a:spcBef>
              <a:spcAft>
                <a:spcPts val="0"/>
              </a:spcAft>
              <a:buNone/>
            </a:pPr>
            <a:br>
              <a:rPr lang="en" sz="1100">
                <a:solidFill>
                  <a:schemeClr val="dk1"/>
                </a:solidFill>
                <a:latin typeface="Archivo"/>
                <a:ea typeface="Archivo"/>
                <a:cs typeface="Archivo"/>
                <a:sym typeface="Archivo"/>
              </a:rPr>
            </a:br>
            <a:br>
              <a:rPr lang="en" sz="1100">
                <a:solidFill>
                  <a:schemeClr val="dk1"/>
                </a:solidFill>
                <a:latin typeface="Archivo"/>
                <a:ea typeface="Archivo"/>
                <a:cs typeface="Archivo"/>
                <a:sym typeface="Archivo"/>
              </a:rPr>
            </a:br>
            <a:endParaRPr sz="1200">
              <a:solidFill>
                <a:srgbClr val="2B2B2A"/>
              </a:solidFill>
              <a:latin typeface="Archivo"/>
              <a:ea typeface="Archivo"/>
              <a:cs typeface="Archivo"/>
              <a:sym typeface="Archivo"/>
            </a:endParaRPr>
          </a:p>
          <a:p>
            <a:pPr indent="0" lvl="0" marL="0" rtl="0" algn="l">
              <a:lnSpc>
                <a:spcPct val="115000"/>
              </a:lnSpc>
              <a:spcBef>
                <a:spcPts val="1200"/>
              </a:spcBef>
              <a:spcAft>
                <a:spcPts val="1000"/>
              </a:spcAft>
              <a:buNone/>
            </a:pPr>
            <a:r>
              <a:t/>
            </a:r>
            <a:endParaRPr sz="1200">
              <a:solidFill>
                <a:srgbClr val="EAEAEA"/>
              </a:solidFill>
              <a:latin typeface="Archivo"/>
              <a:ea typeface="Archivo"/>
              <a:cs typeface="Archivo"/>
              <a:sym typeface="Archivo"/>
            </a:endParaRPr>
          </a:p>
        </p:txBody>
      </p:sp>
      <p:sp>
        <p:nvSpPr>
          <p:cNvPr id="218" name="Google Shape;218;p31"/>
          <p:cNvSpPr/>
          <p:nvPr/>
        </p:nvSpPr>
        <p:spPr>
          <a:xfrm>
            <a:off x="1041975" y="475700"/>
            <a:ext cx="2363100" cy="12603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These next slides are all pretty boilerplate, they talk about our SEO service at large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EAEA"/>
        </a:solidFill>
      </p:bgPr>
    </p:bg>
    <p:spTree>
      <p:nvGrpSpPr>
        <p:cNvPr id="222" name="Shape 222"/>
        <p:cNvGrpSpPr/>
        <p:nvPr/>
      </p:nvGrpSpPr>
      <p:grpSpPr>
        <a:xfrm>
          <a:off x="0" y="0"/>
          <a:ext cx="0" cy="0"/>
          <a:chOff x="0" y="0"/>
          <a:chExt cx="0" cy="0"/>
        </a:xfrm>
      </p:grpSpPr>
      <p:pic>
        <p:nvPicPr>
          <p:cNvPr id="223" name="Google Shape;223;p32" title="W Full blk txt.png"/>
          <p:cNvPicPr preferRelativeResize="0"/>
          <p:nvPr/>
        </p:nvPicPr>
        <p:blipFill>
          <a:blip r:embed="rId3">
            <a:alphaModFix/>
          </a:blip>
          <a:stretch>
            <a:fillRect/>
          </a:stretch>
        </p:blipFill>
        <p:spPr>
          <a:xfrm>
            <a:off x="363550" y="4571275"/>
            <a:ext cx="1026251" cy="246300"/>
          </a:xfrm>
          <a:prstGeom prst="rect">
            <a:avLst/>
          </a:prstGeom>
          <a:noFill/>
          <a:ln>
            <a:noFill/>
          </a:ln>
        </p:spPr>
      </p:pic>
      <p:sp>
        <p:nvSpPr>
          <p:cNvPr id="224" name="Google Shape;224;p32"/>
          <p:cNvSpPr/>
          <p:nvPr/>
        </p:nvSpPr>
        <p:spPr>
          <a:xfrm>
            <a:off x="581725" y="1957667"/>
            <a:ext cx="3639300" cy="1774200"/>
          </a:xfrm>
          <a:prstGeom prst="rect">
            <a:avLst/>
          </a:prstGeom>
          <a:noFill/>
          <a:ln>
            <a:noFill/>
          </a:ln>
        </p:spPr>
        <p:txBody>
          <a:bodyPr anchorCtr="0" anchor="t" bIns="38025" lIns="76025" spcFirstLastPara="1" rIns="76025" wrap="square" tIns="38025">
            <a:noAutofit/>
          </a:bodyPr>
          <a:lstStyle/>
          <a:p>
            <a:pPr indent="0" lvl="0" marL="0" marR="0" rtl="0" algn="l">
              <a:lnSpc>
                <a:spcPct val="120000"/>
              </a:lnSpc>
              <a:spcBef>
                <a:spcPts val="0"/>
              </a:spcBef>
              <a:spcAft>
                <a:spcPts val="0"/>
              </a:spcAft>
              <a:buClr>
                <a:srgbClr val="BCC0C5"/>
              </a:buClr>
              <a:buSzPts val="873"/>
              <a:buFont typeface="Inter"/>
              <a:buNone/>
            </a:pPr>
            <a:r>
              <a:rPr lang="en" sz="914">
                <a:solidFill>
                  <a:srgbClr val="2B2B2A"/>
                </a:solidFill>
                <a:latin typeface="Archivo"/>
                <a:ea typeface="Archivo"/>
                <a:cs typeface="Archivo"/>
                <a:sym typeface="Archivo"/>
              </a:rPr>
              <a:t>February is concentrated on stabilizing the site’s core service architecture and strengthening conversion pathways. Work this month includes restructuring and redirecting legacy URLs, launching and optimizing priority Levels of Care and “What We Treat” pages, refining conversion-critical pages, and updating the Google Business Profile to support local visibility.</a:t>
            </a:r>
            <a:endParaRPr sz="914">
              <a:solidFill>
                <a:srgbClr val="2B2B2A"/>
              </a:solidFill>
              <a:latin typeface="Archivo"/>
              <a:ea typeface="Archivo"/>
              <a:cs typeface="Archivo"/>
              <a:sym typeface="Archivo"/>
            </a:endParaRPr>
          </a:p>
          <a:p>
            <a:pPr indent="0" lvl="0" marL="0" marR="0" rtl="0" algn="l">
              <a:lnSpc>
                <a:spcPct val="120000"/>
              </a:lnSpc>
              <a:spcBef>
                <a:spcPts val="0"/>
              </a:spcBef>
              <a:spcAft>
                <a:spcPts val="0"/>
              </a:spcAft>
              <a:buClr>
                <a:srgbClr val="BCC0C5"/>
              </a:buClr>
              <a:buSzPts val="873"/>
              <a:buFont typeface="Inter"/>
              <a:buNone/>
            </a:pPr>
            <a:r>
              <a:t/>
            </a:r>
            <a:endParaRPr sz="914">
              <a:solidFill>
                <a:srgbClr val="2B2B2A"/>
              </a:solidFill>
              <a:latin typeface="Archivo"/>
              <a:ea typeface="Archivo"/>
              <a:cs typeface="Archivo"/>
              <a:sym typeface="Archivo"/>
            </a:endParaRPr>
          </a:p>
          <a:p>
            <a:pPr indent="0" lvl="0" marL="0" marR="0" rtl="0" algn="l">
              <a:lnSpc>
                <a:spcPct val="120000"/>
              </a:lnSpc>
              <a:spcBef>
                <a:spcPts val="0"/>
              </a:spcBef>
              <a:spcAft>
                <a:spcPts val="0"/>
              </a:spcAft>
              <a:buClr>
                <a:srgbClr val="BCC0C5"/>
              </a:buClr>
              <a:buSzPts val="873"/>
              <a:buFont typeface="Inter"/>
              <a:buNone/>
            </a:pPr>
            <a:r>
              <a:rPr lang="en" sz="914">
                <a:solidFill>
                  <a:srgbClr val="2B2B2A"/>
                </a:solidFill>
                <a:latin typeface="Archivo"/>
                <a:ea typeface="Archivo"/>
                <a:cs typeface="Archivo"/>
                <a:sym typeface="Archivo"/>
              </a:rPr>
              <a:t>This foundational work ensures search engines clearly understand core offerings, users encounter less friction, and future SEO efforts can scale without being undermined by structural or legacy issues.</a:t>
            </a:r>
            <a:endParaRPr sz="914">
              <a:solidFill>
                <a:srgbClr val="2B2B2A"/>
              </a:solidFill>
              <a:latin typeface="Archivo"/>
              <a:ea typeface="Archivo"/>
              <a:cs typeface="Archivo"/>
              <a:sym typeface="Archivo"/>
            </a:endParaRPr>
          </a:p>
        </p:txBody>
      </p:sp>
      <p:sp>
        <p:nvSpPr>
          <p:cNvPr id="225" name="Google Shape;225;p32"/>
          <p:cNvSpPr/>
          <p:nvPr/>
        </p:nvSpPr>
        <p:spPr>
          <a:xfrm>
            <a:off x="529875" y="1307363"/>
            <a:ext cx="3639300" cy="705000"/>
          </a:xfrm>
          <a:prstGeom prst="rect">
            <a:avLst/>
          </a:prstGeom>
          <a:noFill/>
          <a:ln>
            <a:noFill/>
          </a:ln>
        </p:spPr>
        <p:txBody>
          <a:bodyPr anchorCtr="0" anchor="ctr" bIns="39100" lIns="78225" spcFirstLastPara="1" rIns="78225" wrap="square" tIns="39100">
            <a:noAutofit/>
          </a:bodyPr>
          <a:lstStyle/>
          <a:p>
            <a:pPr indent="0" lvl="0" marL="0" marR="0" rtl="0" algn="l">
              <a:lnSpc>
                <a:spcPct val="75000"/>
              </a:lnSpc>
              <a:spcBef>
                <a:spcPts val="0"/>
              </a:spcBef>
              <a:spcAft>
                <a:spcPts val="0"/>
              </a:spcAft>
              <a:buClr>
                <a:srgbClr val="FFFFFF"/>
              </a:buClr>
              <a:buSzPts val="4491"/>
              <a:buFont typeface="Inter"/>
              <a:buNone/>
            </a:pPr>
            <a:r>
              <a:rPr b="1" lang="en" sz="3022">
                <a:solidFill>
                  <a:srgbClr val="080808"/>
                </a:solidFill>
                <a:latin typeface="Archivo"/>
                <a:ea typeface="Archivo"/>
                <a:cs typeface="Archivo"/>
                <a:sym typeface="Archivo"/>
              </a:rPr>
              <a:t>February</a:t>
            </a:r>
            <a:endParaRPr b="1" i="0" sz="3022" u="none" cap="none" strike="noStrike">
              <a:solidFill>
                <a:srgbClr val="080808"/>
              </a:solidFill>
              <a:latin typeface="Archivo"/>
              <a:ea typeface="Archivo"/>
              <a:cs typeface="Archivo"/>
              <a:sym typeface="Archivo"/>
            </a:endParaRPr>
          </a:p>
        </p:txBody>
      </p:sp>
      <p:sp>
        <p:nvSpPr>
          <p:cNvPr id="226" name="Google Shape;226;p32"/>
          <p:cNvSpPr/>
          <p:nvPr/>
        </p:nvSpPr>
        <p:spPr>
          <a:xfrm>
            <a:off x="447087" y="1489054"/>
            <a:ext cx="82800" cy="83100"/>
          </a:xfrm>
          <a:prstGeom prst="ellipse">
            <a:avLst/>
          </a:prstGeom>
          <a:solidFill>
            <a:srgbClr val="FF2F0A"/>
          </a:solidFill>
          <a:ln>
            <a:noFill/>
          </a:ln>
        </p:spPr>
        <p:txBody>
          <a:bodyPr anchorCtr="0" anchor="ctr" bIns="74500" lIns="74500" spcFirstLastPara="1" rIns="74500" wrap="square" tIns="74500">
            <a:noAutofit/>
          </a:bodyPr>
          <a:lstStyle/>
          <a:p>
            <a:pPr indent="0" lvl="0" marL="0" rtl="0" algn="ctr">
              <a:spcBef>
                <a:spcPts val="0"/>
              </a:spcBef>
              <a:spcAft>
                <a:spcPts val="0"/>
              </a:spcAft>
              <a:buNone/>
            </a:pPr>
            <a:r>
              <a:t/>
            </a:r>
            <a:endParaRPr sz="1141"/>
          </a:p>
        </p:txBody>
      </p:sp>
      <p:sp>
        <p:nvSpPr>
          <p:cNvPr id="227" name="Google Shape;227;p32"/>
          <p:cNvSpPr/>
          <p:nvPr/>
        </p:nvSpPr>
        <p:spPr>
          <a:xfrm>
            <a:off x="664582" y="1259650"/>
            <a:ext cx="1371900" cy="175800"/>
          </a:xfrm>
          <a:prstGeom prst="rect">
            <a:avLst/>
          </a:prstGeom>
          <a:noFill/>
          <a:ln>
            <a:noFill/>
          </a:ln>
        </p:spPr>
        <p:txBody>
          <a:bodyPr anchorCtr="0" anchor="ctr" bIns="34100" lIns="68175" spcFirstLastPara="1" rIns="68175" wrap="square" tIns="34100">
            <a:noAutofit/>
          </a:bodyPr>
          <a:lstStyle/>
          <a:p>
            <a:pPr indent="0" lvl="0" marL="0" marR="0" rtl="0" algn="l">
              <a:lnSpc>
                <a:spcPct val="120000"/>
              </a:lnSpc>
              <a:spcBef>
                <a:spcPts val="0"/>
              </a:spcBef>
              <a:spcAft>
                <a:spcPts val="0"/>
              </a:spcAft>
              <a:buClr>
                <a:srgbClr val="BCC0C5"/>
              </a:buClr>
              <a:buSzPts val="783"/>
              <a:buFont typeface="Inter"/>
              <a:buNone/>
            </a:pPr>
            <a:r>
              <a:rPr i="1" lang="en" sz="983">
                <a:solidFill>
                  <a:srgbClr val="080808"/>
                </a:solidFill>
                <a:latin typeface="Archivo Medium"/>
                <a:ea typeface="Archivo Medium"/>
                <a:cs typeface="Archivo Medium"/>
                <a:sym typeface="Archivo Medium"/>
              </a:rPr>
              <a:t>SEO Strategy</a:t>
            </a:r>
            <a:endParaRPr i="1" sz="983">
              <a:solidFill>
                <a:srgbClr val="080808"/>
              </a:solidFill>
              <a:latin typeface="Archivo Medium"/>
              <a:ea typeface="Archivo Medium"/>
              <a:cs typeface="Archivo Medium"/>
              <a:sym typeface="Archivo Medium"/>
            </a:endParaRPr>
          </a:p>
        </p:txBody>
      </p:sp>
      <p:sp>
        <p:nvSpPr>
          <p:cNvPr id="228" name="Google Shape;228;p32"/>
          <p:cNvSpPr/>
          <p:nvPr/>
        </p:nvSpPr>
        <p:spPr>
          <a:xfrm>
            <a:off x="5883900" y="467325"/>
            <a:ext cx="2363100" cy="25140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This is a title slide for the first month of service - for bliss since we’re basically starting Q2 this should say April, and then some copy on what we’re doing and why  </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We build </a:t>
            </a:r>
            <a:r>
              <a:rPr lang="en"/>
              <a:t>content</a:t>
            </a:r>
            <a:r>
              <a:rPr lang="en"/>
              <a:t> plans out to the end of the current quarter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graphicFrame>
        <p:nvGraphicFramePr>
          <p:cNvPr id="233" name="Google Shape;233;p33"/>
          <p:cNvGraphicFramePr/>
          <p:nvPr/>
        </p:nvGraphicFramePr>
        <p:xfrm>
          <a:off x="207475" y="510525"/>
          <a:ext cx="3000000" cy="3000000"/>
        </p:xfrm>
        <a:graphic>
          <a:graphicData uri="http://schemas.openxmlformats.org/drawingml/2006/table">
            <a:tbl>
              <a:tblPr>
                <a:noFill/>
                <a:tableStyleId>{68EEDE57-7064-4DF5-A204-3597CC6C9D8C}</a:tableStyleId>
              </a:tblPr>
              <a:tblGrid>
                <a:gridCol w="948350"/>
                <a:gridCol w="1118275"/>
                <a:gridCol w="1588850"/>
                <a:gridCol w="1994025"/>
                <a:gridCol w="1092550"/>
                <a:gridCol w="1732200"/>
              </a:tblGrid>
              <a:tr h="412025">
                <a:tc>
                  <a:txBody>
                    <a:bodyPr/>
                    <a:lstStyle/>
                    <a:p>
                      <a:pPr indent="0" lvl="0" marL="0" rtl="0" algn="l">
                        <a:spcBef>
                          <a:spcPts val="0"/>
                        </a:spcBef>
                        <a:spcAft>
                          <a:spcPts val="0"/>
                        </a:spcAft>
                        <a:buNone/>
                      </a:pPr>
                      <a:r>
                        <a:rPr b="1" lang="en" sz="900">
                          <a:solidFill>
                            <a:schemeClr val="lt1"/>
                          </a:solidFill>
                          <a:latin typeface="Inter"/>
                          <a:ea typeface="Inter"/>
                          <a:cs typeface="Inter"/>
                          <a:sym typeface="Inter"/>
                        </a:rPr>
                        <a:t>Credit Cost </a:t>
                      </a:r>
                      <a:endParaRPr b="1" sz="900">
                        <a:solidFill>
                          <a:schemeClr val="lt1"/>
                        </a:solidFill>
                        <a:latin typeface="Inter"/>
                        <a:ea typeface="Inter"/>
                        <a:cs typeface="Inter"/>
                        <a:sym typeface="Inter"/>
                      </a:endParaRPr>
                    </a:p>
                  </a:txBody>
                  <a:tcPr marT="91425" marB="91425" marR="91425" marL="91425" anchor="ctr">
                    <a:solidFill>
                      <a:srgbClr val="0E0E0E"/>
                    </a:solidFill>
                  </a:tcPr>
                </a:tc>
                <a:tc>
                  <a:txBody>
                    <a:bodyPr/>
                    <a:lstStyle/>
                    <a:p>
                      <a:pPr indent="0" lvl="0" marL="0" rtl="0" algn="l">
                        <a:spcBef>
                          <a:spcPts val="0"/>
                        </a:spcBef>
                        <a:spcAft>
                          <a:spcPts val="0"/>
                        </a:spcAft>
                        <a:buNone/>
                      </a:pPr>
                      <a:r>
                        <a:rPr b="1" lang="en" sz="900">
                          <a:solidFill>
                            <a:schemeClr val="lt1"/>
                          </a:solidFill>
                          <a:latin typeface="Inter"/>
                          <a:ea typeface="Inter"/>
                          <a:cs typeface="Inter"/>
                          <a:sym typeface="Inter"/>
                        </a:rPr>
                        <a:t>Credit Type</a:t>
                      </a:r>
                      <a:endParaRPr b="1" sz="900">
                        <a:solidFill>
                          <a:schemeClr val="lt1"/>
                        </a:solidFill>
                        <a:latin typeface="Inter"/>
                        <a:ea typeface="Inter"/>
                        <a:cs typeface="Inter"/>
                        <a:sym typeface="Inter"/>
                      </a:endParaRPr>
                    </a:p>
                  </a:txBody>
                  <a:tcPr marT="91425" marB="91425" marR="91425" marL="91425" anchor="ctr">
                    <a:solidFill>
                      <a:srgbClr val="0E0E0E"/>
                    </a:solidFill>
                  </a:tcPr>
                </a:tc>
                <a:tc>
                  <a:txBody>
                    <a:bodyPr/>
                    <a:lstStyle/>
                    <a:p>
                      <a:pPr indent="0" lvl="0" marL="0" rtl="0" algn="l">
                        <a:spcBef>
                          <a:spcPts val="0"/>
                        </a:spcBef>
                        <a:spcAft>
                          <a:spcPts val="0"/>
                        </a:spcAft>
                        <a:buNone/>
                      </a:pPr>
                      <a:r>
                        <a:rPr b="1" lang="en" sz="900">
                          <a:solidFill>
                            <a:schemeClr val="lt1"/>
                          </a:solidFill>
                          <a:latin typeface="Inter"/>
                          <a:ea typeface="Inter"/>
                          <a:cs typeface="Inter"/>
                          <a:sym typeface="Inter"/>
                        </a:rPr>
                        <a:t>URL</a:t>
                      </a:r>
                      <a:endParaRPr b="1" sz="900">
                        <a:solidFill>
                          <a:schemeClr val="lt1"/>
                        </a:solidFill>
                        <a:latin typeface="Inter"/>
                        <a:ea typeface="Inter"/>
                        <a:cs typeface="Inter"/>
                        <a:sym typeface="Inter"/>
                      </a:endParaRPr>
                    </a:p>
                  </a:txBody>
                  <a:tcPr marT="91425" marB="91425" marR="91425" marL="91425" anchor="ctr">
                    <a:solidFill>
                      <a:srgbClr val="0E0E0E"/>
                    </a:solidFill>
                  </a:tcPr>
                </a:tc>
                <a:tc>
                  <a:txBody>
                    <a:bodyPr/>
                    <a:lstStyle/>
                    <a:p>
                      <a:pPr indent="0" lvl="0" marL="0" rtl="0" algn="l">
                        <a:spcBef>
                          <a:spcPts val="0"/>
                        </a:spcBef>
                        <a:spcAft>
                          <a:spcPts val="0"/>
                        </a:spcAft>
                        <a:buNone/>
                      </a:pPr>
                      <a:r>
                        <a:rPr b="1" lang="en" sz="900">
                          <a:solidFill>
                            <a:schemeClr val="lt1"/>
                          </a:solidFill>
                          <a:latin typeface="Inter"/>
                          <a:ea typeface="Inter"/>
                          <a:cs typeface="Inter"/>
                          <a:sym typeface="Inter"/>
                        </a:rPr>
                        <a:t>New URL</a:t>
                      </a:r>
                      <a:endParaRPr b="1" sz="900">
                        <a:solidFill>
                          <a:schemeClr val="lt1"/>
                        </a:solidFill>
                        <a:latin typeface="Inter"/>
                        <a:ea typeface="Inter"/>
                        <a:cs typeface="Inter"/>
                        <a:sym typeface="Inter"/>
                      </a:endParaRPr>
                    </a:p>
                  </a:txBody>
                  <a:tcPr marT="91425" marB="91425" marR="91425" marL="91425" anchor="ctr">
                    <a:solidFill>
                      <a:srgbClr val="0E0E0E"/>
                    </a:solidFill>
                  </a:tcPr>
                </a:tc>
                <a:tc>
                  <a:txBody>
                    <a:bodyPr/>
                    <a:lstStyle/>
                    <a:p>
                      <a:pPr indent="0" lvl="0" marL="0" rtl="0" algn="l">
                        <a:spcBef>
                          <a:spcPts val="0"/>
                        </a:spcBef>
                        <a:spcAft>
                          <a:spcPts val="0"/>
                        </a:spcAft>
                        <a:buNone/>
                      </a:pPr>
                      <a:r>
                        <a:rPr b="1" lang="en" sz="900">
                          <a:solidFill>
                            <a:schemeClr val="lt1"/>
                          </a:solidFill>
                          <a:latin typeface="Inter"/>
                          <a:ea typeface="Inter"/>
                          <a:cs typeface="Inter"/>
                          <a:sym typeface="Inter"/>
                        </a:rPr>
                        <a:t>Date published </a:t>
                      </a:r>
                      <a:endParaRPr b="1" sz="900">
                        <a:solidFill>
                          <a:schemeClr val="lt1"/>
                        </a:solidFill>
                        <a:latin typeface="Inter"/>
                        <a:ea typeface="Inter"/>
                        <a:cs typeface="Inter"/>
                        <a:sym typeface="Inter"/>
                      </a:endParaRPr>
                    </a:p>
                  </a:txBody>
                  <a:tcPr marT="91425" marB="91425" marR="91425" marL="91425" anchor="ctr">
                    <a:solidFill>
                      <a:srgbClr val="0E0E0E"/>
                    </a:solidFill>
                  </a:tcPr>
                </a:tc>
                <a:tc>
                  <a:txBody>
                    <a:bodyPr/>
                    <a:lstStyle/>
                    <a:p>
                      <a:pPr indent="0" lvl="0" marL="0" rtl="0" algn="l">
                        <a:spcBef>
                          <a:spcPts val="0"/>
                        </a:spcBef>
                        <a:spcAft>
                          <a:spcPts val="0"/>
                        </a:spcAft>
                        <a:buNone/>
                      </a:pPr>
                      <a:r>
                        <a:rPr b="1" lang="en" sz="900">
                          <a:solidFill>
                            <a:schemeClr val="lt1"/>
                          </a:solidFill>
                          <a:latin typeface="Inter"/>
                          <a:ea typeface="Inter"/>
                          <a:cs typeface="Inter"/>
                          <a:sym typeface="Inter"/>
                        </a:rPr>
                        <a:t>Reasoning </a:t>
                      </a:r>
                      <a:endParaRPr b="1" sz="900">
                        <a:solidFill>
                          <a:schemeClr val="lt1"/>
                        </a:solidFill>
                        <a:latin typeface="Inter"/>
                        <a:ea typeface="Inter"/>
                        <a:cs typeface="Inter"/>
                        <a:sym typeface="Inter"/>
                      </a:endParaRPr>
                    </a:p>
                  </a:txBody>
                  <a:tcPr marT="91425" marB="91425" marR="91425" marL="91425" anchor="ctr">
                    <a:solidFill>
                      <a:srgbClr val="0E0E0E"/>
                    </a:solidFill>
                  </a:tcPr>
                </a:tc>
              </a:tr>
              <a:tr h="297225">
                <a:tc>
                  <a:txBody>
                    <a:bodyPr/>
                    <a:lstStyle/>
                    <a:p>
                      <a:pPr indent="0" lvl="0" marL="0" rtl="0" algn="l">
                        <a:spcBef>
                          <a:spcPts val="0"/>
                        </a:spcBef>
                        <a:spcAft>
                          <a:spcPts val="0"/>
                        </a:spcAft>
                        <a:buNone/>
                      </a:pPr>
                      <a:r>
                        <a:rPr lang="en" sz="700">
                          <a:latin typeface="Inter"/>
                          <a:ea typeface="Inter"/>
                          <a:cs typeface="Inter"/>
                          <a:sym typeface="Inter"/>
                        </a:rPr>
                        <a:t>0.5</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Optimization</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https://ojairecovery.com/programs/</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https://ojairecovery.com/levels-of-care/</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Feb 5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Stabilizing core service pages </a:t>
                      </a:r>
                      <a:endParaRPr sz="700">
                        <a:latin typeface="Inter"/>
                        <a:ea typeface="Inter"/>
                        <a:cs typeface="Inter"/>
                        <a:sym typeface="Inter"/>
                      </a:endParaRPr>
                    </a:p>
                  </a:txBody>
                  <a:tcPr marT="91425" marB="91425" marR="91425" marL="91425"/>
                </a:tc>
              </a:tr>
              <a:tr h="298300">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0.5</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Optimization</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https://ojairecovery.com/addictions-treated/</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https://ojairecovery.com/what-we-treat/</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Feb 10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Stabilizing core service pages </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tc>
              </a:tr>
              <a:tr h="429125">
                <a:tc>
                  <a:txBody>
                    <a:bodyPr/>
                    <a:lstStyle/>
                    <a:p>
                      <a:pPr indent="0" lvl="0" marL="0" rtl="0" algn="l">
                        <a:spcBef>
                          <a:spcPts val="0"/>
                        </a:spcBef>
                        <a:spcAft>
                          <a:spcPts val="0"/>
                        </a:spcAft>
                        <a:buNone/>
                      </a:pPr>
                      <a:r>
                        <a:rPr lang="en" sz="700">
                          <a:latin typeface="Inter"/>
                          <a:ea typeface="Inter"/>
                          <a:cs typeface="Inter"/>
                          <a:sym typeface="Inter"/>
                        </a:rPr>
                        <a:t>0 (we do one CRO update per month)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CRO Update</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https://ojairecovery.com/verify-insurance</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n/a</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Feb 12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Requires update to be optimized for conversion</a:t>
                      </a:r>
                      <a:endParaRPr sz="700">
                        <a:latin typeface="Inter"/>
                        <a:ea typeface="Inter"/>
                        <a:cs typeface="Inter"/>
                        <a:sym typeface="Inter"/>
                      </a:endParaRPr>
                    </a:p>
                  </a:txBody>
                  <a:tcPr marT="91425" marB="91425" marR="91425" marL="91425"/>
                </a:tc>
              </a:tr>
              <a:tr h="305575">
                <a:tc>
                  <a:txBody>
                    <a:bodyPr/>
                    <a:lstStyle/>
                    <a:p>
                      <a:pPr indent="0" lvl="0" marL="0" rtl="0" algn="l">
                        <a:spcBef>
                          <a:spcPts val="0"/>
                        </a:spcBef>
                        <a:spcAft>
                          <a:spcPts val="0"/>
                        </a:spcAft>
                        <a:buNone/>
                      </a:pPr>
                      <a:r>
                        <a:rPr lang="en" sz="700">
                          <a:latin typeface="Inter"/>
                          <a:ea typeface="Inter"/>
                          <a:cs typeface="Inter"/>
                          <a:sym typeface="Inter"/>
                        </a:rPr>
                        <a:t>2</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Service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New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https://ojairecovery.com/levels-of-care/intensive-outpatient-program</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Feb 17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Stabilizing core service pages </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tc>
              </a:tr>
              <a:tr h="586350">
                <a:tc>
                  <a:txBody>
                    <a:bodyPr/>
                    <a:lstStyle/>
                    <a:p>
                      <a:pPr indent="0" lvl="0" marL="0" rtl="0" algn="l">
                        <a:spcBef>
                          <a:spcPts val="0"/>
                        </a:spcBef>
                        <a:spcAft>
                          <a:spcPts val="0"/>
                        </a:spcAft>
                        <a:buNone/>
                      </a:pPr>
                      <a:r>
                        <a:rPr lang="en" sz="700">
                          <a:latin typeface="Inter"/>
                          <a:ea typeface="Inter"/>
                          <a:cs typeface="Inter"/>
                          <a:sym typeface="Inter"/>
                        </a:rPr>
                        <a:t>1</a:t>
                      </a:r>
                      <a:endParaRPr sz="7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Inter"/>
                          <a:ea typeface="Inter"/>
                          <a:cs typeface="Inter"/>
                          <a:sym typeface="Inter"/>
                        </a:rPr>
                        <a:t>Scale</a:t>
                      </a:r>
                      <a:endParaRPr sz="7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Inter"/>
                          <a:ea typeface="Inter"/>
                          <a:cs typeface="Inter"/>
                          <a:sym typeface="Inter"/>
                        </a:rPr>
                        <a:t>https://ojairecovery.com/ventura-county-residential-treatment/</a:t>
                      </a:r>
                      <a:endParaRPr sz="7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Inter"/>
                          <a:ea typeface="Inter"/>
                          <a:cs typeface="Inter"/>
                          <a:sym typeface="Inter"/>
                        </a:rPr>
                        <a:t>https://ojairecovery.com/levels-of-care/ventura-county-residential-treatment</a:t>
                      </a:r>
                      <a:endParaRPr sz="7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Inter"/>
                          <a:ea typeface="Inter"/>
                          <a:cs typeface="Inter"/>
                          <a:sym typeface="Inter"/>
                        </a:rPr>
                        <a:t>Feb 19</a:t>
                      </a:r>
                      <a:endParaRPr sz="7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Stabilizing core service pages </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r>
              <a:tr h="100000">
                <a:tc>
                  <a:txBody>
                    <a:bodyPr/>
                    <a:lstStyle/>
                    <a:p>
                      <a:pPr indent="0" lvl="0" marL="0" rtl="0" algn="l">
                        <a:spcBef>
                          <a:spcPts val="0"/>
                        </a:spcBef>
                        <a:spcAft>
                          <a:spcPts val="0"/>
                        </a:spcAft>
                        <a:buNone/>
                      </a:pPr>
                      <a:r>
                        <a:rPr lang="en" sz="700">
                          <a:latin typeface="Inter"/>
                          <a:ea typeface="Inter"/>
                          <a:cs typeface="Inter"/>
                          <a:sym typeface="Inter"/>
                        </a:rPr>
                        <a:t>2</a:t>
                      </a:r>
                      <a:endParaRPr sz="7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Inter"/>
                          <a:ea typeface="Inter"/>
                          <a:cs typeface="Inter"/>
                          <a:sym typeface="Inter"/>
                        </a:rPr>
                        <a:t>Service </a:t>
                      </a:r>
                      <a:endParaRPr sz="7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New</a:t>
                      </a:r>
                      <a:endParaRPr sz="700">
                        <a:solidFill>
                          <a:schemeClr val="dk1"/>
                        </a:solidFill>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Inter"/>
                          <a:ea typeface="Inter"/>
                          <a:cs typeface="Inter"/>
                          <a:sym typeface="Inter"/>
                        </a:rPr>
                        <a:t>https://ojairecovery.com/levels-of-care/outpatient-program</a:t>
                      </a:r>
                      <a:endParaRPr sz="7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Inter"/>
                          <a:ea typeface="Inter"/>
                          <a:cs typeface="Inter"/>
                          <a:sym typeface="Inter"/>
                        </a:rPr>
                        <a:t>Feb 20</a:t>
                      </a:r>
                      <a:endParaRPr sz="7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Stabilizing core service pages </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solidFill>
                          <a:schemeClr val="dk1"/>
                        </a:solidFill>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84575">
                <a:tc>
                  <a:txBody>
                    <a:bodyPr/>
                    <a:lstStyle/>
                    <a:p>
                      <a:pPr indent="0" lvl="0" marL="0" rtl="0" algn="l">
                        <a:spcBef>
                          <a:spcPts val="0"/>
                        </a:spcBef>
                        <a:spcAft>
                          <a:spcPts val="0"/>
                        </a:spcAft>
                        <a:buNone/>
                      </a:pPr>
                      <a:r>
                        <a:rPr lang="en" sz="700">
                          <a:latin typeface="Inter"/>
                          <a:ea typeface="Inter"/>
                          <a:cs typeface="Inter"/>
                          <a:sym typeface="Inter"/>
                        </a:rPr>
                        <a:t>2</a:t>
                      </a:r>
                      <a:endParaRPr sz="7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Inter"/>
                          <a:ea typeface="Inter"/>
                          <a:cs typeface="Inter"/>
                          <a:sym typeface="Inter"/>
                        </a:rPr>
                        <a:t>Service </a:t>
                      </a:r>
                      <a:endParaRPr sz="7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New</a:t>
                      </a:r>
                      <a:endParaRPr sz="7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Inter"/>
                          <a:ea typeface="Inter"/>
                          <a:cs typeface="Inter"/>
                          <a:sym typeface="Inter"/>
                        </a:rPr>
                        <a:t>https://ojairecovery.com/levels-of-care/partial-hospitalization-prorgram</a:t>
                      </a:r>
                      <a:endParaRPr sz="700">
                        <a:latin typeface="Inter"/>
                        <a:ea typeface="Inter"/>
                        <a:cs typeface="Inter"/>
                        <a:sym typeface="Inte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Inter"/>
                          <a:ea typeface="Inter"/>
                          <a:cs typeface="Inter"/>
                          <a:sym typeface="Inter"/>
                        </a:rPr>
                        <a:t>Feb 24 </a:t>
                      </a:r>
                      <a:endParaRPr sz="700">
                        <a:latin typeface="Inter"/>
                        <a:ea typeface="Inter"/>
                        <a:cs typeface="Inter"/>
                        <a:sym typeface="Inte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Stabilizing core service pages </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48025">
                <a:tc>
                  <a:txBody>
                    <a:bodyPr/>
                    <a:lstStyle/>
                    <a:p>
                      <a:pPr indent="0" lvl="0" marL="0" rtl="0" algn="l">
                        <a:spcBef>
                          <a:spcPts val="0"/>
                        </a:spcBef>
                        <a:spcAft>
                          <a:spcPts val="0"/>
                        </a:spcAft>
                        <a:buNone/>
                      </a:pPr>
                      <a:r>
                        <a:rPr lang="en" sz="700">
                          <a:latin typeface="Inter"/>
                          <a:ea typeface="Inter"/>
                          <a:cs typeface="Inter"/>
                          <a:sym typeface="Inter"/>
                        </a:rPr>
                        <a:t>1</a:t>
                      </a:r>
                      <a:endParaRPr sz="7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BCC0C5"/>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Scale</a:t>
                      </a:r>
                      <a:endParaRPr sz="7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BCC0C5"/>
                      </a:solidFill>
                      <a:prstDash val="solid"/>
                      <a:round/>
                      <a:headEnd len="sm" w="sm" type="none"/>
                      <a:tailEnd len="sm" w="sm" type="none"/>
                    </a:lnB>
                  </a:tcPr>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https://ojairecovery.com/co-occurring-disorders/</a:t>
                      </a:r>
                      <a:endParaRPr sz="700">
                        <a:solidFill>
                          <a:schemeClr val="dk1"/>
                        </a:solidFill>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BCC0C5"/>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Inter"/>
                          <a:ea typeface="Inter"/>
                          <a:cs typeface="Inter"/>
                          <a:sym typeface="Inter"/>
                        </a:rPr>
                        <a:t>https://ojairecovery.com/levels-of-care/dual-diagnosis</a:t>
                      </a:r>
                      <a:endParaRPr sz="700">
                        <a:latin typeface="Inter"/>
                        <a:ea typeface="Inter"/>
                        <a:cs typeface="Inter"/>
                        <a:sym typeface="Inter"/>
                      </a:endParaRPr>
                    </a:p>
                  </a:txBody>
                  <a:tcPr marT="91425" marB="91425" marR="91425" marL="91425">
                    <a:lnT cap="flat" cmpd="sng" w="9525">
                      <a:solidFill>
                        <a:srgbClr val="9E9E9E"/>
                      </a:solidFill>
                      <a:prstDash val="solid"/>
                      <a:round/>
                      <a:headEnd len="sm" w="sm" type="none"/>
                      <a:tailEnd len="sm" w="sm" type="none"/>
                    </a:lnT>
                    <a:lnB cap="flat" cmpd="sng" w="9525">
                      <a:solidFill>
                        <a:srgbClr val="BCC0C5"/>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Inter"/>
                          <a:ea typeface="Inter"/>
                          <a:cs typeface="Inter"/>
                          <a:sym typeface="Inter"/>
                        </a:rPr>
                        <a:t>Feb 26 </a:t>
                      </a:r>
                      <a:endParaRPr sz="700">
                        <a:latin typeface="Inter"/>
                        <a:ea typeface="Inter"/>
                        <a:cs typeface="Inter"/>
                        <a:sym typeface="Inter"/>
                      </a:endParaRPr>
                    </a:p>
                  </a:txBody>
                  <a:tcPr marT="91425" marB="91425" marR="91425" marL="91425">
                    <a:lnT cap="flat" cmpd="sng" w="9525">
                      <a:solidFill>
                        <a:srgbClr val="9E9E9E"/>
                      </a:solidFill>
                      <a:prstDash val="solid"/>
                      <a:round/>
                      <a:headEnd len="sm" w="sm" type="none"/>
                      <a:tailEnd len="sm" w="sm" type="none"/>
                    </a:lnT>
                    <a:lnB cap="flat" cmpd="sng" w="9525">
                      <a:solidFill>
                        <a:srgbClr val="BCC0C5"/>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Stabilizing core service pages </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lnT cap="flat" cmpd="sng" w="9525">
                      <a:solidFill>
                        <a:srgbClr val="9E9E9E"/>
                      </a:solidFill>
                      <a:prstDash val="solid"/>
                      <a:round/>
                      <a:headEnd len="sm" w="sm" type="none"/>
                      <a:tailEnd len="sm" w="sm" type="none"/>
                    </a:lnT>
                    <a:lnB cap="flat" cmpd="sng" w="9525">
                      <a:solidFill>
                        <a:srgbClr val="BCC0C5"/>
                      </a:solidFill>
                      <a:prstDash val="solid"/>
                      <a:round/>
                      <a:headEnd len="sm" w="sm" type="none"/>
                      <a:tailEnd len="sm" w="sm" type="none"/>
                    </a:lnB>
                  </a:tcPr>
                </a:tc>
              </a:tr>
              <a:tr h="421875">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9 total Credits</a:t>
                      </a:r>
                      <a:endParaRPr sz="700">
                        <a:solidFill>
                          <a:schemeClr val="dk1"/>
                        </a:solidFill>
                        <a:latin typeface="Inter"/>
                        <a:ea typeface="Inter"/>
                        <a:cs typeface="Inter"/>
                        <a:sym typeface="Inter"/>
                      </a:endParaRPr>
                    </a:p>
                  </a:txBody>
                  <a:tcPr marT="91425" marB="91425" marR="91425" marL="91425">
                    <a:lnL cap="flat" cmpd="sng" w="9525">
                      <a:solidFill>
                        <a:srgbClr val="BCC0C5"/>
                      </a:solidFill>
                      <a:prstDash val="solid"/>
                      <a:round/>
                      <a:headEnd len="sm" w="sm" type="none"/>
                      <a:tailEnd len="sm" w="sm" type="none"/>
                    </a:lnL>
                    <a:lnR cap="flat" cmpd="sng" w="9525">
                      <a:solidFill>
                        <a:srgbClr val="BCC0C5"/>
                      </a:solidFill>
                      <a:prstDash val="solid"/>
                      <a:round/>
                      <a:headEnd len="sm" w="sm" type="none"/>
                      <a:tailEnd len="sm" w="sm" type="none"/>
                    </a:lnR>
                    <a:lnT cap="flat" cmpd="sng" w="9525">
                      <a:solidFill>
                        <a:srgbClr val="BCC0C5"/>
                      </a:solidFill>
                      <a:prstDash val="solid"/>
                      <a:round/>
                      <a:headEnd len="sm" w="sm" type="none"/>
                      <a:tailEnd len="sm" w="sm" type="none"/>
                    </a:lnT>
                    <a:lnB cap="flat" cmpd="sng" w="9525">
                      <a:solidFill>
                        <a:srgbClr val="BCC0C5"/>
                      </a:solidFill>
                      <a:prstDash val="solid"/>
                      <a:round/>
                      <a:headEnd len="sm" w="sm" type="none"/>
                      <a:tailEnd len="sm" w="sm" type="none"/>
                    </a:lnB>
                    <a:solidFill>
                      <a:srgbClr val="B8B7B6"/>
                    </a:solidFill>
                  </a:tcPr>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*credit types are allocated by the Webserv team on level of work required </a:t>
                      </a:r>
                      <a:endParaRPr sz="700">
                        <a:solidFill>
                          <a:schemeClr val="dk1"/>
                        </a:solidFill>
                        <a:latin typeface="Inter"/>
                        <a:ea typeface="Inter"/>
                        <a:cs typeface="Inter"/>
                        <a:sym typeface="Inter"/>
                      </a:endParaRPr>
                    </a:p>
                  </a:txBody>
                  <a:tcPr marT="91425" marB="91425" marR="91425" marL="91425">
                    <a:lnL cap="flat" cmpd="sng" w="9525">
                      <a:solidFill>
                        <a:srgbClr val="BCC0C5"/>
                      </a:solidFill>
                      <a:prstDash val="solid"/>
                      <a:round/>
                      <a:headEnd len="sm" w="sm" type="none"/>
                      <a:tailEnd len="sm" w="sm" type="none"/>
                    </a:lnL>
                    <a:lnR cap="flat" cmpd="sng" w="9525">
                      <a:solidFill>
                        <a:srgbClr val="BCC0C5"/>
                      </a:solidFill>
                      <a:prstDash val="solid"/>
                      <a:round/>
                      <a:headEnd len="sm" w="sm" type="none"/>
                      <a:tailEnd len="sm" w="sm" type="none"/>
                    </a:lnR>
                    <a:lnT cap="flat" cmpd="sng" w="9525">
                      <a:solidFill>
                        <a:srgbClr val="BCC0C5"/>
                      </a:solidFill>
                      <a:prstDash val="solid"/>
                      <a:round/>
                      <a:headEnd len="sm" w="sm" type="none"/>
                      <a:tailEnd len="sm" w="sm" type="none"/>
                    </a:lnT>
                    <a:lnB cap="flat" cmpd="sng" w="9525">
                      <a:solidFill>
                        <a:srgbClr val="BCC0C5"/>
                      </a:solidFill>
                      <a:prstDash val="solid"/>
                      <a:round/>
                      <a:headEnd len="sm" w="sm" type="none"/>
                      <a:tailEnd len="sm" w="sm" type="none"/>
                    </a:lnB>
                    <a:solidFill>
                      <a:srgbClr val="B8B7B6"/>
                    </a:solidFill>
                  </a:tcPr>
                </a:tc>
                <a:tc>
                  <a:txBody>
                    <a:bodyPr/>
                    <a:lstStyle/>
                    <a:p>
                      <a:pPr indent="0" lvl="0" marL="0" rtl="0" algn="l">
                        <a:spcBef>
                          <a:spcPts val="0"/>
                        </a:spcBef>
                        <a:spcAft>
                          <a:spcPts val="0"/>
                        </a:spcAft>
                        <a:buNone/>
                      </a:pPr>
                      <a:r>
                        <a:t/>
                      </a:r>
                      <a:endParaRPr sz="700">
                        <a:solidFill>
                          <a:schemeClr val="dk1"/>
                        </a:solidFill>
                        <a:latin typeface="Inter"/>
                        <a:ea typeface="Inter"/>
                        <a:cs typeface="Inter"/>
                        <a:sym typeface="Inter"/>
                      </a:endParaRPr>
                    </a:p>
                  </a:txBody>
                  <a:tcPr marT="91425" marB="91425" marR="91425" marL="91425">
                    <a:lnL cap="flat" cmpd="sng" w="9525">
                      <a:solidFill>
                        <a:srgbClr val="BCC0C5"/>
                      </a:solidFill>
                      <a:prstDash val="solid"/>
                      <a:round/>
                      <a:headEnd len="sm" w="sm" type="none"/>
                      <a:tailEnd len="sm" w="sm" type="none"/>
                    </a:lnL>
                    <a:lnR cap="flat" cmpd="sng" w="9525">
                      <a:solidFill>
                        <a:srgbClr val="BCC0C5"/>
                      </a:solidFill>
                      <a:prstDash val="solid"/>
                      <a:round/>
                      <a:headEnd len="sm" w="sm" type="none"/>
                      <a:tailEnd len="sm" w="sm" type="none"/>
                    </a:lnR>
                    <a:lnT cap="flat" cmpd="sng" w="9525">
                      <a:solidFill>
                        <a:srgbClr val="BCC0C5"/>
                      </a:solidFill>
                      <a:prstDash val="solid"/>
                      <a:round/>
                      <a:headEnd len="sm" w="sm" type="none"/>
                      <a:tailEnd len="sm" w="sm" type="none"/>
                    </a:lnT>
                    <a:lnB cap="flat" cmpd="sng" w="9525">
                      <a:solidFill>
                        <a:srgbClr val="BCC0C5"/>
                      </a:solidFill>
                      <a:prstDash val="solid"/>
                      <a:round/>
                      <a:headEnd len="sm" w="sm" type="none"/>
                      <a:tailEnd len="sm" w="sm" type="none"/>
                    </a:lnB>
                    <a:solidFill>
                      <a:srgbClr val="B8B7B6"/>
                    </a:solidFill>
                  </a:tcPr>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URL changes are required for better information architecture </a:t>
                      </a:r>
                      <a:endParaRPr sz="700">
                        <a:solidFill>
                          <a:schemeClr val="dk1"/>
                        </a:solidFill>
                        <a:latin typeface="Inter"/>
                        <a:ea typeface="Inter"/>
                        <a:cs typeface="Inter"/>
                        <a:sym typeface="Inter"/>
                      </a:endParaRPr>
                    </a:p>
                  </a:txBody>
                  <a:tcPr marT="91425" marB="91425" marR="91425" marL="91425">
                    <a:lnL cap="flat" cmpd="sng" w="9525">
                      <a:solidFill>
                        <a:srgbClr val="BCC0C5"/>
                      </a:solidFill>
                      <a:prstDash val="solid"/>
                      <a:round/>
                      <a:headEnd len="sm" w="sm" type="none"/>
                      <a:tailEnd len="sm" w="sm" type="none"/>
                    </a:lnL>
                    <a:lnR cap="flat" cmpd="sng" w="9525">
                      <a:solidFill>
                        <a:srgbClr val="BCC0C5"/>
                      </a:solidFill>
                      <a:prstDash val="solid"/>
                      <a:round/>
                      <a:headEnd len="sm" w="sm" type="none"/>
                      <a:tailEnd len="sm" w="sm" type="none"/>
                    </a:lnR>
                    <a:lnT cap="flat" cmpd="sng" w="9525">
                      <a:solidFill>
                        <a:srgbClr val="BCC0C5"/>
                      </a:solidFill>
                      <a:prstDash val="solid"/>
                      <a:round/>
                      <a:headEnd len="sm" w="sm" type="none"/>
                      <a:tailEnd len="sm" w="sm" type="none"/>
                    </a:lnT>
                    <a:lnB cap="flat" cmpd="sng" w="9525">
                      <a:solidFill>
                        <a:srgbClr val="BCC0C5"/>
                      </a:solidFill>
                      <a:prstDash val="solid"/>
                      <a:round/>
                      <a:headEnd len="sm" w="sm" type="none"/>
                      <a:tailEnd len="sm" w="sm" type="none"/>
                    </a:lnB>
                    <a:solidFill>
                      <a:srgbClr val="B8B7B6"/>
                    </a:solidFill>
                  </a:tcPr>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Due dates subject to change due to internal Webserv production workflows</a:t>
                      </a:r>
                      <a:endParaRPr sz="700">
                        <a:solidFill>
                          <a:schemeClr val="dk1"/>
                        </a:solidFill>
                        <a:latin typeface="Inter"/>
                        <a:ea typeface="Inter"/>
                        <a:cs typeface="Inter"/>
                        <a:sym typeface="Inter"/>
                      </a:endParaRPr>
                    </a:p>
                  </a:txBody>
                  <a:tcPr marT="91425" marB="91425" marR="91425" marL="91425">
                    <a:lnL cap="flat" cmpd="sng" w="9525">
                      <a:solidFill>
                        <a:srgbClr val="BCC0C5"/>
                      </a:solidFill>
                      <a:prstDash val="solid"/>
                      <a:round/>
                      <a:headEnd len="sm" w="sm" type="none"/>
                      <a:tailEnd len="sm" w="sm" type="none"/>
                    </a:lnL>
                    <a:lnR cap="flat" cmpd="sng" w="9525">
                      <a:solidFill>
                        <a:srgbClr val="BCC0C5"/>
                      </a:solidFill>
                      <a:prstDash val="solid"/>
                      <a:round/>
                      <a:headEnd len="sm" w="sm" type="none"/>
                      <a:tailEnd len="sm" w="sm" type="none"/>
                    </a:lnR>
                    <a:lnT cap="flat" cmpd="sng" w="9525">
                      <a:solidFill>
                        <a:srgbClr val="BCC0C5"/>
                      </a:solidFill>
                      <a:prstDash val="solid"/>
                      <a:round/>
                      <a:headEnd len="sm" w="sm" type="none"/>
                      <a:tailEnd len="sm" w="sm" type="none"/>
                    </a:lnT>
                    <a:lnB cap="flat" cmpd="sng" w="9525">
                      <a:solidFill>
                        <a:srgbClr val="BCC0C5"/>
                      </a:solidFill>
                      <a:prstDash val="solid"/>
                      <a:round/>
                      <a:headEnd len="sm" w="sm" type="none"/>
                      <a:tailEnd len="sm" w="sm" type="none"/>
                    </a:lnB>
                    <a:solidFill>
                      <a:srgbClr val="B8B7B6"/>
                    </a:solidFill>
                  </a:tcPr>
                </a:tc>
                <a:tc>
                  <a:txBody>
                    <a:bodyPr/>
                    <a:lstStyle/>
                    <a:p>
                      <a:pPr indent="0" lvl="0" marL="0" rtl="0" algn="l">
                        <a:spcBef>
                          <a:spcPts val="0"/>
                        </a:spcBef>
                        <a:spcAft>
                          <a:spcPts val="0"/>
                        </a:spcAft>
                        <a:buNone/>
                      </a:pPr>
                      <a:r>
                        <a:t/>
                      </a:r>
                      <a:endParaRPr sz="700">
                        <a:solidFill>
                          <a:schemeClr val="dk1"/>
                        </a:solidFill>
                        <a:latin typeface="Inter"/>
                        <a:ea typeface="Inter"/>
                        <a:cs typeface="Inter"/>
                        <a:sym typeface="Inter"/>
                      </a:endParaRPr>
                    </a:p>
                  </a:txBody>
                  <a:tcPr marT="91425" marB="91425" marR="91425" marL="91425">
                    <a:lnL cap="flat" cmpd="sng" w="9525">
                      <a:solidFill>
                        <a:srgbClr val="BCC0C5"/>
                      </a:solidFill>
                      <a:prstDash val="solid"/>
                      <a:round/>
                      <a:headEnd len="sm" w="sm" type="none"/>
                      <a:tailEnd len="sm" w="sm" type="none"/>
                    </a:lnL>
                    <a:lnR cap="flat" cmpd="sng" w="9525">
                      <a:solidFill>
                        <a:srgbClr val="BCC0C5"/>
                      </a:solidFill>
                      <a:prstDash val="solid"/>
                      <a:round/>
                      <a:headEnd len="sm" w="sm" type="none"/>
                      <a:tailEnd len="sm" w="sm" type="none"/>
                    </a:lnR>
                    <a:lnT cap="flat" cmpd="sng" w="9525">
                      <a:solidFill>
                        <a:srgbClr val="BCC0C5"/>
                      </a:solidFill>
                      <a:prstDash val="solid"/>
                      <a:round/>
                      <a:headEnd len="sm" w="sm" type="none"/>
                      <a:tailEnd len="sm" w="sm" type="none"/>
                    </a:lnT>
                    <a:lnB cap="flat" cmpd="sng" w="9525">
                      <a:solidFill>
                        <a:srgbClr val="BCC0C5"/>
                      </a:solidFill>
                      <a:prstDash val="solid"/>
                      <a:round/>
                      <a:headEnd len="sm" w="sm" type="none"/>
                      <a:tailEnd len="sm" w="sm" type="none"/>
                    </a:lnB>
                    <a:solidFill>
                      <a:srgbClr val="B8B7B6"/>
                    </a:solidFill>
                  </a:tcPr>
                </a:tc>
              </a:tr>
            </a:tbl>
          </a:graphicData>
        </a:graphic>
      </p:graphicFrame>
      <p:sp>
        <p:nvSpPr>
          <p:cNvPr id="234" name="Google Shape;234;p33"/>
          <p:cNvSpPr/>
          <p:nvPr/>
        </p:nvSpPr>
        <p:spPr>
          <a:xfrm>
            <a:off x="71363" y="-118987"/>
            <a:ext cx="3639300" cy="705000"/>
          </a:xfrm>
          <a:prstGeom prst="rect">
            <a:avLst/>
          </a:prstGeom>
          <a:noFill/>
          <a:ln>
            <a:noFill/>
          </a:ln>
        </p:spPr>
        <p:txBody>
          <a:bodyPr anchorCtr="0" anchor="ctr" bIns="39100" lIns="78225" spcFirstLastPara="1" rIns="78225" wrap="square" tIns="39100">
            <a:noAutofit/>
          </a:bodyPr>
          <a:lstStyle/>
          <a:p>
            <a:pPr indent="0" lvl="0" marL="0" marR="0" rtl="0" algn="l">
              <a:lnSpc>
                <a:spcPct val="75000"/>
              </a:lnSpc>
              <a:spcBef>
                <a:spcPts val="0"/>
              </a:spcBef>
              <a:spcAft>
                <a:spcPts val="0"/>
              </a:spcAft>
              <a:buClr>
                <a:srgbClr val="FFFFFF"/>
              </a:buClr>
              <a:buSzPts val="4491"/>
              <a:buFont typeface="Inter"/>
              <a:buNone/>
            </a:pPr>
            <a:r>
              <a:rPr b="1" lang="en" sz="3022">
                <a:solidFill>
                  <a:srgbClr val="080808"/>
                </a:solidFill>
                <a:latin typeface="Archivo"/>
                <a:ea typeface="Archivo"/>
                <a:cs typeface="Archivo"/>
                <a:sym typeface="Archivo"/>
              </a:rPr>
              <a:t>February</a:t>
            </a:r>
            <a:endParaRPr b="1" i="0" sz="3022" u="none" cap="none" strike="noStrike">
              <a:solidFill>
                <a:srgbClr val="080808"/>
              </a:solidFill>
              <a:latin typeface="Archivo"/>
              <a:ea typeface="Archivo"/>
              <a:cs typeface="Archivo"/>
              <a:sym typeface="Archivo"/>
            </a:endParaRPr>
          </a:p>
        </p:txBody>
      </p:sp>
      <p:sp>
        <p:nvSpPr>
          <p:cNvPr id="235" name="Google Shape;235;p33"/>
          <p:cNvSpPr txBox="1"/>
          <p:nvPr/>
        </p:nvSpPr>
        <p:spPr>
          <a:xfrm>
            <a:off x="1868313" y="171825"/>
            <a:ext cx="6982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FF2F0A"/>
                </a:solidFill>
                <a:latin typeface="Inter"/>
                <a:ea typeface="Inter"/>
                <a:cs typeface="Inter"/>
                <a:sym typeface="Inter"/>
              </a:rPr>
              <a:t>February total: 9 credits (1 over standard monthly allocation due to foundational site stabilization work).</a:t>
            </a:r>
            <a:endParaRPr sz="1000">
              <a:solidFill>
                <a:srgbClr val="FF2F0A"/>
              </a:solidFill>
              <a:latin typeface="Inter"/>
              <a:ea typeface="Inter"/>
              <a:cs typeface="Inter"/>
              <a:sym typeface="Inte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EAEA"/>
        </a:solidFill>
      </p:bgPr>
    </p:bg>
    <p:spTree>
      <p:nvGrpSpPr>
        <p:cNvPr id="239" name="Shape 239"/>
        <p:cNvGrpSpPr/>
        <p:nvPr/>
      </p:nvGrpSpPr>
      <p:grpSpPr>
        <a:xfrm>
          <a:off x="0" y="0"/>
          <a:ext cx="0" cy="0"/>
          <a:chOff x="0" y="0"/>
          <a:chExt cx="0" cy="0"/>
        </a:xfrm>
      </p:grpSpPr>
      <p:pic>
        <p:nvPicPr>
          <p:cNvPr id="240" name="Google Shape;240;p34" title="W Full blk txt.png"/>
          <p:cNvPicPr preferRelativeResize="0"/>
          <p:nvPr/>
        </p:nvPicPr>
        <p:blipFill>
          <a:blip r:embed="rId3">
            <a:alphaModFix/>
          </a:blip>
          <a:stretch>
            <a:fillRect/>
          </a:stretch>
        </p:blipFill>
        <p:spPr>
          <a:xfrm>
            <a:off x="363550" y="4571275"/>
            <a:ext cx="1026251" cy="246300"/>
          </a:xfrm>
          <a:prstGeom prst="rect">
            <a:avLst/>
          </a:prstGeom>
          <a:noFill/>
          <a:ln>
            <a:noFill/>
          </a:ln>
        </p:spPr>
      </p:pic>
      <p:sp>
        <p:nvSpPr>
          <p:cNvPr id="241" name="Google Shape;241;p34"/>
          <p:cNvSpPr/>
          <p:nvPr/>
        </p:nvSpPr>
        <p:spPr>
          <a:xfrm>
            <a:off x="581725" y="1957638"/>
            <a:ext cx="3639300" cy="750300"/>
          </a:xfrm>
          <a:prstGeom prst="rect">
            <a:avLst/>
          </a:prstGeom>
          <a:noFill/>
          <a:ln>
            <a:noFill/>
          </a:ln>
        </p:spPr>
        <p:txBody>
          <a:bodyPr anchorCtr="0" anchor="t" bIns="38025" lIns="76025" spcFirstLastPara="1" rIns="76025" wrap="square" tIns="38025">
            <a:noAutofit/>
          </a:bodyPr>
          <a:lstStyle/>
          <a:p>
            <a:pPr indent="0" lvl="0" marL="0" marR="0" rtl="0" algn="l">
              <a:lnSpc>
                <a:spcPct val="120000"/>
              </a:lnSpc>
              <a:spcBef>
                <a:spcPts val="0"/>
              </a:spcBef>
              <a:spcAft>
                <a:spcPts val="0"/>
              </a:spcAft>
              <a:buClr>
                <a:srgbClr val="BCC0C5"/>
              </a:buClr>
              <a:buSzPts val="873"/>
              <a:buFont typeface="Inter"/>
              <a:buNone/>
            </a:pPr>
            <a:r>
              <a:rPr lang="en" sz="914">
                <a:solidFill>
                  <a:srgbClr val="2B2B2A"/>
                </a:solidFill>
                <a:latin typeface="Archivo"/>
                <a:ea typeface="Archivo"/>
                <a:cs typeface="Archivo"/>
                <a:sym typeface="Archivo"/>
              </a:rPr>
              <a:t>March builds on February’s foundational stabilization by expanding coverage of high-intent treatment topics and capturing demand across both service and informational search. Work this month includes launching and scaling core “What We Treat” and Levels of Care pages, publishing high-traffic educational content designed to support lead capture, and aligning site-wide conversion elements with the structural changes already in place.</a:t>
            </a:r>
            <a:endParaRPr sz="914">
              <a:solidFill>
                <a:srgbClr val="2B2B2A"/>
              </a:solidFill>
              <a:latin typeface="Archivo"/>
              <a:ea typeface="Archivo"/>
              <a:cs typeface="Archivo"/>
              <a:sym typeface="Archivo"/>
            </a:endParaRPr>
          </a:p>
          <a:p>
            <a:pPr indent="0" lvl="0" marL="0" marR="0" rtl="0" algn="l">
              <a:lnSpc>
                <a:spcPct val="120000"/>
              </a:lnSpc>
              <a:spcBef>
                <a:spcPts val="0"/>
              </a:spcBef>
              <a:spcAft>
                <a:spcPts val="0"/>
              </a:spcAft>
              <a:buClr>
                <a:srgbClr val="BCC0C5"/>
              </a:buClr>
              <a:buSzPts val="873"/>
              <a:buFont typeface="Inter"/>
              <a:buNone/>
            </a:pPr>
            <a:r>
              <a:t/>
            </a:r>
            <a:endParaRPr sz="914">
              <a:solidFill>
                <a:srgbClr val="2B2B2A"/>
              </a:solidFill>
              <a:latin typeface="Archivo"/>
              <a:ea typeface="Archivo"/>
              <a:cs typeface="Archivo"/>
              <a:sym typeface="Archivo"/>
            </a:endParaRPr>
          </a:p>
          <a:p>
            <a:pPr indent="0" lvl="0" marL="0" marR="0" rtl="0" algn="l">
              <a:lnSpc>
                <a:spcPct val="120000"/>
              </a:lnSpc>
              <a:spcBef>
                <a:spcPts val="0"/>
              </a:spcBef>
              <a:spcAft>
                <a:spcPts val="0"/>
              </a:spcAft>
              <a:buClr>
                <a:srgbClr val="BCC0C5"/>
              </a:buClr>
              <a:buSzPts val="873"/>
              <a:buFont typeface="Inter"/>
              <a:buNone/>
            </a:pPr>
            <a:r>
              <a:rPr lang="en" sz="914">
                <a:solidFill>
                  <a:srgbClr val="2B2B2A"/>
                </a:solidFill>
                <a:latin typeface="Archivo"/>
                <a:ea typeface="Archivo"/>
                <a:cs typeface="Archivo"/>
                <a:sym typeface="Archivo"/>
              </a:rPr>
              <a:t>This phase shifts the strategy from cleanup and stabilization to intent-driven growth, ensuring the site can capture users earlier in their decision process while reinforcing core service authority.</a:t>
            </a:r>
            <a:endParaRPr sz="914">
              <a:solidFill>
                <a:srgbClr val="2B2B2A"/>
              </a:solidFill>
              <a:latin typeface="Archivo"/>
              <a:ea typeface="Archivo"/>
              <a:cs typeface="Archivo"/>
              <a:sym typeface="Archivo"/>
            </a:endParaRPr>
          </a:p>
          <a:p>
            <a:pPr indent="0" lvl="0" marL="0" marR="0" rtl="0" algn="l">
              <a:lnSpc>
                <a:spcPct val="120000"/>
              </a:lnSpc>
              <a:spcBef>
                <a:spcPts val="0"/>
              </a:spcBef>
              <a:spcAft>
                <a:spcPts val="0"/>
              </a:spcAft>
              <a:buClr>
                <a:srgbClr val="BCC0C5"/>
              </a:buClr>
              <a:buSzPts val="873"/>
              <a:buFont typeface="Inter"/>
              <a:buNone/>
            </a:pPr>
            <a:r>
              <a:t/>
            </a:r>
            <a:endParaRPr sz="914">
              <a:solidFill>
                <a:srgbClr val="2B2B2A"/>
              </a:solidFill>
              <a:latin typeface="Archivo"/>
              <a:ea typeface="Archivo"/>
              <a:cs typeface="Archivo"/>
              <a:sym typeface="Archivo"/>
            </a:endParaRPr>
          </a:p>
        </p:txBody>
      </p:sp>
      <p:sp>
        <p:nvSpPr>
          <p:cNvPr id="242" name="Google Shape;242;p34"/>
          <p:cNvSpPr/>
          <p:nvPr/>
        </p:nvSpPr>
        <p:spPr>
          <a:xfrm>
            <a:off x="529875" y="1307363"/>
            <a:ext cx="3639300" cy="705000"/>
          </a:xfrm>
          <a:prstGeom prst="rect">
            <a:avLst/>
          </a:prstGeom>
          <a:noFill/>
          <a:ln>
            <a:noFill/>
          </a:ln>
        </p:spPr>
        <p:txBody>
          <a:bodyPr anchorCtr="0" anchor="ctr" bIns="39100" lIns="78225" spcFirstLastPara="1" rIns="78225" wrap="square" tIns="39100">
            <a:noAutofit/>
          </a:bodyPr>
          <a:lstStyle/>
          <a:p>
            <a:pPr indent="0" lvl="0" marL="0" marR="0" rtl="0" algn="l">
              <a:lnSpc>
                <a:spcPct val="75000"/>
              </a:lnSpc>
              <a:spcBef>
                <a:spcPts val="0"/>
              </a:spcBef>
              <a:spcAft>
                <a:spcPts val="0"/>
              </a:spcAft>
              <a:buClr>
                <a:srgbClr val="FFFFFF"/>
              </a:buClr>
              <a:buSzPts val="4491"/>
              <a:buFont typeface="Inter"/>
              <a:buNone/>
            </a:pPr>
            <a:r>
              <a:rPr b="1" lang="en" sz="3022">
                <a:solidFill>
                  <a:srgbClr val="080808"/>
                </a:solidFill>
                <a:latin typeface="Archivo"/>
                <a:ea typeface="Archivo"/>
                <a:cs typeface="Archivo"/>
                <a:sym typeface="Archivo"/>
              </a:rPr>
              <a:t>March</a:t>
            </a:r>
            <a:endParaRPr b="1" i="0" sz="3022" u="none" cap="none" strike="noStrike">
              <a:solidFill>
                <a:srgbClr val="080808"/>
              </a:solidFill>
              <a:latin typeface="Archivo"/>
              <a:ea typeface="Archivo"/>
              <a:cs typeface="Archivo"/>
              <a:sym typeface="Archivo"/>
            </a:endParaRPr>
          </a:p>
        </p:txBody>
      </p:sp>
      <p:sp>
        <p:nvSpPr>
          <p:cNvPr id="243" name="Google Shape;243;p34"/>
          <p:cNvSpPr/>
          <p:nvPr/>
        </p:nvSpPr>
        <p:spPr>
          <a:xfrm>
            <a:off x="447087" y="1489054"/>
            <a:ext cx="82800" cy="83100"/>
          </a:xfrm>
          <a:prstGeom prst="ellipse">
            <a:avLst/>
          </a:prstGeom>
          <a:solidFill>
            <a:srgbClr val="FF2F0A"/>
          </a:solidFill>
          <a:ln>
            <a:noFill/>
          </a:ln>
        </p:spPr>
        <p:txBody>
          <a:bodyPr anchorCtr="0" anchor="ctr" bIns="74500" lIns="74500" spcFirstLastPara="1" rIns="74500" wrap="square" tIns="74500">
            <a:noAutofit/>
          </a:bodyPr>
          <a:lstStyle/>
          <a:p>
            <a:pPr indent="0" lvl="0" marL="0" rtl="0" algn="ctr">
              <a:spcBef>
                <a:spcPts val="0"/>
              </a:spcBef>
              <a:spcAft>
                <a:spcPts val="0"/>
              </a:spcAft>
              <a:buNone/>
            </a:pPr>
            <a:r>
              <a:t/>
            </a:r>
            <a:endParaRPr sz="1141"/>
          </a:p>
        </p:txBody>
      </p:sp>
      <p:sp>
        <p:nvSpPr>
          <p:cNvPr id="244" name="Google Shape;244;p34"/>
          <p:cNvSpPr/>
          <p:nvPr/>
        </p:nvSpPr>
        <p:spPr>
          <a:xfrm>
            <a:off x="664582" y="1259650"/>
            <a:ext cx="1371900" cy="175800"/>
          </a:xfrm>
          <a:prstGeom prst="rect">
            <a:avLst/>
          </a:prstGeom>
          <a:noFill/>
          <a:ln>
            <a:noFill/>
          </a:ln>
        </p:spPr>
        <p:txBody>
          <a:bodyPr anchorCtr="0" anchor="ctr" bIns="34100" lIns="68175" spcFirstLastPara="1" rIns="68175" wrap="square" tIns="34100">
            <a:noAutofit/>
          </a:bodyPr>
          <a:lstStyle/>
          <a:p>
            <a:pPr indent="0" lvl="0" marL="0" marR="0" rtl="0" algn="l">
              <a:lnSpc>
                <a:spcPct val="120000"/>
              </a:lnSpc>
              <a:spcBef>
                <a:spcPts val="0"/>
              </a:spcBef>
              <a:spcAft>
                <a:spcPts val="0"/>
              </a:spcAft>
              <a:buClr>
                <a:srgbClr val="BCC0C5"/>
              </a:buClr>
              <a:buSzPts val="783"/>
              <a:buFont typeface="Inter"/>
              <a:buNone/>
            </a:pPr>
            <a:r>
              <a:rPr i="1" lang="en" sz="983">
                <a:solidFill>
                  <a:srgbClr val="080808"/>
                </a:solidFill>
                <a:latin typeface="Archivo Medium"/>
                <a:ea typeface="Archivo Medium"/>
                <a:cs typeface="Archivo Medium"/>
                <a:sym typeface="Archivo Medium"/>
              </a:rPr>
              <a:t>SEO Strategy</a:t>
            </a:r>
            <a:endParaRPr i="1" sz="983">
              <a:solidFill>
                <a:srgbClr val="080808"/>
              </a:solidFill>
              <a:latin typeface="Archivo Medium"/>
              <a:ea typeface="Archivo Medium"/>
              <a:cs typeface="Archivo Medium"/>
              <a:sym typeface="Archivo Medium"/>
            </a:endParaRPr>
          </a:p>
        </p:txBody>
      </p:sp>
      <p:sp>
        <p:nvSpPr>
          <p:cNvPr id="245" name="Google Shape;245;p34"/>
          <p:cNvSpPr/>
          <p:nvPr/>
        </p:nvSpPr>
        <p:spPr>
          <a:xfrm>
            <a:off x="5883900" y="467325"/>
            <a:ext cx="2363100" cy="12603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This is a title slide for the second month of service - this should say May, and then some copy on what we’re doing and why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graphicFrame>
        <p:nvGraphicFramePr>
          <p:cNvPr id="250" name="Google Shape;250;p35"/>
          <p:cNvGraphicFramePr/>
          <p:nvPr/>
        </p:nvGraphicFramePr>
        <p:xfrm>
          <a:off x="207475" y="510525"/>
          <a:ext cx="3000000" cy="3000000"/>
        </p:xfrm>
        <a:graphic>
          <a:graphicData uri="http://schemas.openxmlformats.org/drawingml/2006/table">
            <a:tbl>
              <a:tblPr>
                <a:noFill/>
                <a:tableStyleId>{68EEDE57-7064-4DF5-A204-3597CC6C9D8C}</a:tableStyleId>
              </a:tblPr>
              <a:tblGrid>
                <a:gridCol w="948350"/>
                <a:gridCol w="1118275"/>
                <a:gridCol w="1588850"/>
                <a:gridCol w="1994025"/>
                <a:gridCol w="1092550"/>
                <a:gridCol w="1732200"/>
              </a:tblGrid>
              <a:tr h="412025">
                <a:tc>
                  <a:txBody>
                    <a:bodyPr/>
                    <a:lstStyle/>
                    <a:p>
                      <a:pPr indent="0" lvl="0" marL="0" rtl="0" algn="l">
                        <a:spcBef>
                          <a:spcPts val="0"/>
                        </a:spcBef>
                        <a:spcAft>
                          <a:spcPts val="0"/>
                        </a:spcAft>
                        <a:buNone/>
                      </a:pPr>
                      <a:r>
                        <a:rPr b="1" lang="en" sz="900">
                          <a:solidFill>
                            <a:schemeClr val="lt1"/>
                          </a:solidFill>
                          <a:latin typeface="Inter"/>
                          <a:ea typeface="Inter"/>
                          <a:cs typeface="Inter"/>
                          <a:sym typeface="Inter"/>
                        </a:rPr>
                        <a:t>Credit Cost </a:t>
                      </a:r>
                      <a:endParaRPr b="1" sz="900">
                        <a:solidFill>
                          <a:schemeClr val="lt1"/>
                        </a:solidFill>
                        <a:latin typeface="Inter"/>
                        <a:ea typeface="Inter"/>
                        <a:cs typeface="Inter"/>
                        <a:sym typeface="Inter"/>
                      </a:endParaRPr>
                    </a:p>
                  </a:txBody>
                  <a:tcPr marT="91425" marB="91425" marR="91425" marL="91425" anchor="ctr">
                    <a:solidFill>
                      <a:srgbClr val="0E0E0E"/>
                    </a:solidFill>
                  </a:tcPr>
                </a:tc>
                <a:tc>
                  <a:txBody>
                    <a:bodyPr/>
                    <a:lstStyle/>
                    <a:p>
                      <a:pPr indent="0" lvl="0" marL="0" rtl="0" algn="l">
                        <a:spcBef>
                          <a:spcPts val="0"/>
                        </a:spcBef>
                        <a:spcAft>
                          <a:spcPts val="0"/>
                        </a:spcAft>
                        <a:buNone/>
                      </a:pPr>
                      <a:r>
                        <a:rPr b="1" lang="en" sz="900">
                          <a:solidFill>
                            <a:schemeClr val="lt1"/>
                          </a:solidFill>
                          <a:latin typeface="Inter"/>
                          <a:ea typeface="Inter"/>
                          <a:cs typeface="Inter"/>
                          <a:sym typeface="Inter"/>
                        </a:rPr>
                        <a:t>Credit Type</a:t>
                      </a:r>
                      <a:endParaRPr b="1" sz="900">
                        <a:solidFill>
                          <a:schemeClr val="lt1"/>
                        </a:solidFill>
                        <a:latin typeface="Inter"/>
                        <a:ea typeface="Inter"/>
                        <a:cs typeface="Inter"/>
                        <a:sym typeface="Inter"/>
                      </a:endParaRPr>
                    </a:p>
                  </a:txBody>
                  <a:tcPr marT="91425" marB="91425" marR="91425" marL="91425" anchor="ctr">
                    <a:solidFill>
                      <a:srgbClr val="0E0E0E"/>
                    </a:solidFill>
                  </a:tcPr>
                </a:tc>
                <a:tc>
                  <a:txBody>
                    <a:bodyPr/>
                    <a:lstStyle/>
                    <a:p>
                      <a:pPr indent="0" lvl="0" marL="0" rtl="0" algn="l">
                        <a:spcBef>
                          <a:spcPts val="0"/>
                        </a:spcBef>
                        <a:spcAft>
                          <a:spcPts val="0"/>
                        </a:spcAft>
                        <a:buNone/>
                      </a:pPr>
                      <a:r>
                        <a:rPr b="1" lang="en" sz="900">
                          <a:solidFill>
                            <a:schemeClr val="lt1"/>
                          </a:solidFill>
                          <a:latin typeface="Inter"/>
                          <a:ea typeface="Inter"/>
                          <a:cs typeface="Inter"/>
                          <a:sym typeface="Inter"/>
                        </a:rPr>
                        <a:t>URL</a:t>
                      </a:r>
                      <a:endParaRPr b="1" sz="900">
                        <a:solidFill>
                          <a:schemeClr val="lt1"/>
                        </a:solidFill>
                        <a:latin typeface="Inter"/>
                        <a:ea typeface="Inter"/>
                        <a:cs typeface="Inter"/>
                        <a:sym typeface="Inter"/>
                      </a:endParaRPr>
                    </a:p>
                  </a:txBody>
                  <a:tcPr marT="91425" marB="91425" marR="91425" marL="91425" anchor="ctr">
                    <a:solidFill>
                      <a:srgbClr val="0E0E0E"/>
                    </a:solidFill>
                  </a:tcPr>
                </a:tc>
                <a:tc>
                  <a:txBody>
                    <a:bodyPr/>
                    <a:lstStyle/>
                    <a:p>
                      <a:pPr indent="0" lvl="0" marL="0" rtl="0" algn="l">
                        <a:spcBef>
                          <a:spcPts val="0"/>
                        </a:spcBef>
                        <a:spcAft>
                          <a:spcPts val="0"/>
                        </a:spcAft>
                        <a:buNone/>
                      </a:pPr>
                      <a:r>
                        <a:rPr b="1" lang="en" sz="900">
                          <a:solidFill>
                            <a:schemeClr val="lt1"/>
                          </a:solidFill>
                          <a:latin typeface="Inter"/>
                          <a:ea typeface="Inter"/>
                          <a:cs typeface="Inter"/>
                          <a:sym typeface="Inter"/>
                        </a:rPr>
                        <a:t>New URL</a:t>
                      </a:r>
                      <a:endParaRPr b="1" sz="900">
                        <a:solidFill>
                          <a:schemeClr val="lt1"/>
                        </a:solidFill>
                        <a:latin typeface="Inter"/>
                        <a:ea typeface="Inter"/>
                        <a:cs typeface="Inter"/>
                        <a:sym typeface="Inter"/>
                      </a:endParaRPr>
                    </a:p>
                  </a:txBody>
                  <a:tcPr marT="91425" marB="91425" marR="91425" marL="91425" anchor="ctr">
                    <a:solidFill>
                      <a:srgbClr val="0E0E0E"/>
                    </a:solidFill>
                  </a:tcPr>
                </a:tc>
                <a:tc>
                  <a:txBody>
                    <a:bodyPr/>
                    <a:lstStyle/>
                    <a:p>
                      <a:pPr indent="0" lvl="0" marL="0" rtl="0" algn="l">
                        <a:spcBef>
                          <a:spcPts val="0"/>
                        </a:spcBef>
                        <a:spcAft>
                          <a:spcPts val="0"/>
                        </a:spcAft>
                        <a:buNone/>
                      </a:pPr>
                      <a:r>
                        <a:rPr b="1" lang="en" sz="900">
                          <a:solidFill>
                            <a:schemeClr val="lt1"/>
                          </a:solidFill>
                          <a:latin typeface="Inter"/>
                          <a:ea typeface="Inter"/>
                          <a:cs typeface="Inter"/>
                          <a:sym typeface="Inter"/>
                        </a:rPr>
                        <a:t>Date published </a:t>
                      </a:r>
                      <a:endParaRPr b="1" sz="900">
                        <a:solidFill>
                          <a:schemeClr val="lt1"/>
                        </a:solidFill>
                        <a:latin typeface="Inter"/>
                        <a:ea typeface="Inter"/>
                        <a:cs typeface="Inter"/>
                        <a:sym typeface="Inter"/>
                      </a:endParaRPr>
                    </a:p>
                  </a:txBody>
                  <a:tcPr marT="91425" marB="91425" marR="91425" marL="91425" anchor="ctr">
                    <a:solidFill>
                      <a:srgbClr val="0E0E0E"/>
                    </a:solidFill>
                  </a:tcPr>
                </a:tc>
                <a:tc>
                  <a:txBody>
                    <a:bodyPr/>
                    <a:lstStyle/>
                    <a:p>
                      <a:pPr indent="0" lvl="0" marL="0" rtl="0" algn="l">
                        <a:spcBef>
                          <a:spcPts val="0"/>
                        </a:spcBef>
                        <a:spcAft>
                          <a:spcPts val="0"/>
                        </a:spcAft>
                        <a:buNone/>
                      </a:pPr>
                      <a:r>
                        <a:rPr b="1" lang="en" sz="900">
                          <a:solidFill>
                            <a:schemeClr val="lt1"/>
                          </a:solidFill>
                          <a:latin typeface="Inter"/>
                          <a:ea typeface="Inter"/>
                          <a:cs typeface="Inter"/>
                          <a:sym typeface="Inter"/>
                        </a:rPr>
                        <a:t>Reasoning </a:t>
                      </a:r>
                      <a:endParaRPr b="1" sz="900">
                        <a:solidFill>
                          <a:schemeClr val="lt1"/>
                        </a:solidFill>
                        <a:latin typeface="Inter"/>
                        <a:ea typeface="Inter"/>
                        <a:cs typeface="Inter"/>
                        <a:sym typeface="Inter"/>
                      </a:endParaRPr>
                    </a:p>
                  </a:txBody>
                  <a:tcPr marT="91425" marB="91425" marR="91425" marL="91425" anchor="ctr">
                    <a:solidFill>
                      <a:srgbClr val="0E0E0E"/>
                    </a:solidFill>
                  </a:tcPr>
                </a:tc>
              </a:tr>
              <a:tr h="297225">
                <a:tc>
                  <a:txBody>
                    <a:bodyPr/>
                    <a:lstStyle/>
                    <a:p>
                      <a:pPr indent="0" lvl="0" marL="0" rtl="0" algn="l">
                        <a:spcBef>
                          <a:spcPts val="0"/>
                        </a:spcBef>
                        <a:spcAft>
                          <a:spcPts val="0"/>
                        </a:spcAft>
                        <a:buNone/>
                      </a:pPr>
                      <a:r>
                        <a:rPr lang="en" sz="700">
                          <a:latin typeface="Inter"/>
                          <a:ea typeface="Inter"/>
                          <a:cs typeface="Inter"/>
                          <a:sym typeface="Inter"/>
                        </a:rPr>
                        <a:t>1</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Scale</a:t>
                      </a:r>
                      <a:endParaRPr sz="700">
                        <a:solidFill>
                          <a:schemeClr val="dk1"/>
                        </a:solidFill>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N/a</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https://ojairecovery.com/blog/end-stage-alcoholism</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March 3</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High-traffic blog - key symptom recognition = lead capture</a:t>
                      </a:r>
                      <a:endParaRPr sz="700">
                        <a:latin typeface="Inter"/>
                        <a:ea typeface="Inter"/>
                        <a:cs typeface="Inter"/>
                        <a:sym typeface="Inter"/>
                      </a:endParaRPr>
                    </a:p>
                  </a:txBody>
                  <a:tcPr marT="91425" marB="91425" marR="91425" marL="91425"/>
                </a:tc>
              </a:tr>
              <a:tr h="297225">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1</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Scale</a:t>
                      </a:r>
                      <a:endParaRPr sz="700">
                        <a:solidFill>
                          <a:schemeClr val="dk1"/>
                        </a:solidFill>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https://ojairecovery.com/alcohol-addiction-treatment/</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https://ojairecovery.com/what-we-treat/alcohol-addiction-treatment</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March 6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Stabilizing core service pages </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tc>
              </a:tr>
              <a:tr h="297225">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1</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Scale</a:t>
                      </a:r>
                      <a:endParaRPr sz="700">
                        <a:solidFill>
                          <a:schemeClr val="dk1"/>
                        </a:solidFill>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https://ojairecovery.com/opioid-addiction-treatment/</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https://ojairecovery.com/what-we-treat/opioid-addiction-treatment</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March 11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Stabilizing core service pages </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tc>
              </a:tr>
              <a:tr h="297225">
                <a:tc>
                  <a:txBody>
                    <a:bodyPr/>
                    <a:lstStyle/>
                    <a:p>
                      <a:pPr indent="0" lvl="0" marL="0" rtl="0" algn="l">
                        <a:spcBef>
                          <a:spcPts val="0"/>
                        </a:spcBef>
                        <a:spcAft>
                          <a:spcPts val="0"/>
                        </a:spcAft>
                        <a:buNone/>
                      </a:pPr>
                      <a:r>
                        <a:rPr lang="en" sz="700">
                          <a:latin typeface="Inter"/>
                          <a:ea typeface="Inter"/>
                          <a:cs typeface="Inter"/>
                          <a:sym typeface="Inter"/>
                        </a:rPr>
                        <a:t>1</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Scale</a:t>
                      </a:r>
                      <a:endParaRPr sz="700">
                        <a:solidFill>
                          <a:schemeClr val="dk1"/>
                        </a:solidFill>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N/a</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https://ojairecovery.com/blog/how-long-does-detox-take</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March 16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High-traffic blog - solution aware = lead capture</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tc>
              </a:tr>
              <a:tr h="297225">
                <a:tc>
                  <a:txBody>
                    <a:bodyPr/>
                    <a:lstStyle/>
                    <a:p>
                      <a:pPr indent="0" lvl="0" marL="0" rtl="0" algn="l">
                        <a:spcBef>
                          <a:spcPts val="0"/>
                        </a:spcBef>
                        <a:spcAft>
                          <a:spcPts val="0"/>
                        </a:spcAft>
                        <a:buNone/>
                      </a:pPr>
                      <a:r>
                        <a:rPr lang="en" sz="700">
                          <a:latin typeface="Inter"/>
                          <a:ea typeface="Inter"/>
                          <a:cs typeface="Inter"/>
                          <a:sym typeface="Inter"/>
                        </a:rPr>
                        <a:t>2</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Service</a:t>
                      </a:r>
                      <a:endParaRPr sz="700">
                        <a:solidFill>
                          <a:schemeClr val="dk1"/>
                        </a:solidFill>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N/a</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https://ojairecovery.com/levels-of-care/detox-services/alcohol-detox</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March 18</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Stabilizing core service pages </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tc>
              </a:tr>
              <a:tr h="297225">
                <a:tc>
                  <a:txBody>
                    <a:bodyPr/>
                    <a:lstStyle/>
                    <a:p>
                      <a:pPr indent="0" lvl="0" marL="0" rtl="0" algn="l">
                        <a:spcBef>
                          <a:spcPts val="0"/>
                        </a:spcBef>
                        <a:spcAft>
                          <a:spcPts val="0"/>
                        </a:spcAft>
                        <a:buNone/>
                      </a:pPr>
                      <a:r>
                        <a:rPr lang="en" sz="700">
                          <a:latin typeface="Inter"/>
                          <a:ea typeface="Inter"/>
                          <a:cs typeface="Inter"/>
                          <a:sym typeface="Inter"/>
                        </a:rPr>
                        <a:t>2</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Service</a:t>
                      </a:r>
                      <a:endParaRPr sz="700">
                        <a:solidFill>
                          <a:schemeClr val="dk1"/>
                        </a:solidFill>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N/a</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https://ojairecovery.com/what-we-treat/depression</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March 25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Stabilizing core service pages </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tc>
              </a:tr>
              <a:tr h="297225">
                <a:tc>
                  <a:txBody>
                    <a:bodyPr/>
                    <a:lstStyle/>
                    <a:p>
                      <a:pPr indent="0" lvl="0" marL="0" rtl="0" algn="l">
                        <a:spcBef>
                          <a:spcPts val="0"/>
                        </a:spcBef>
                        <a:spcAft>
                          <a:spcPts val="0"/>
                        </a:spcAft>
                        <a:buNone/>
                      </a:pPr>
                      <a:r>
                        <a:rPr lang="en" sz="700">
                          <a:latin typeface="Inter"/>
                          <a:ea typeface="Inter"/>
                          <a:cs typeface="Inter"/>
                          <a:sym typeface="Inter"/>
                        </a:rPr>
                        <a:t>0</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CRO Update</a:t>
                      </a:r>
                      <a:endParaRPr sz="700">
                        <a:solidFill>
                          <a:schemeClr val="dk1"/>
                        </a:solidFill>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N/a</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March 30</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Requires update to go with the changes we’ve made </a:t>
                      </a:r>
                      <a:endParaRPr sz="700">
                        <a:latin typeface="Inter"/>
                        <a:ea typeface="Inter"/>
                        <a:cs typeface="Inter"/>
                        <a:sym typeface="Inter"/>
                      </a:endParaRPr>
                    </a:p>
                  </a:txBody>
                  <a:tcPr marT="91425" marB="91425" marR="91425" marL="91425"/>
                </a:tc>
              </a:tr>
              <a:tr h="421875">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8</a:t>
                      </a:r>
                      <a:r>
                        <a:rPr lang="en" sz="700">
                          <a:solidFill>
                            <a:schemeClr val="dk1"/>
                          </a:solidFill>
                          <a:latin typeface="Inter"/>
                          <a:ea typeface="Inter"/>
                          <a:cs typeface="Inter"/>
                          <a:sym typeface="Inter"/>
                        </a:rPr>
                        <a:t> total Credits</a:t>
                      </a:r>
                      <a:endParaRPr sz="700">
                        <a:solidFill>
                          <a:schemeClr val="dk1"/>
                        </a:solidFill>
                        <a:latin typeface="Inter"/>
                        <a:ea typeface="Inter"/>
                        <a:cs typeface="Inter"/>
                        <a:sym typeface="Inter"/>
                      </a:endParaRPr>
                    </a:p>
                  </a:txBody>
                  <a:tcPr marT="91425" marB="91425" marR="91425" marL="91425">
                    <a:lnL cap="flat" cmpd="sng" w="9525">
                      <a:solidFill>
                        <a:srgbClr val="BCC0C5"/>
                      </a:solidFill>
                      <a:prstDash val="solid"/>
                      <a:round/>
                      <a:headEnd len="sm" w="sm" type="none"/>
                      <a:tailEnd len="sm" w="sm" type="none"/>
                    </a:lnL>
                    <a:lnR cap="flat" cmpd="sng" w="9525">
                      <a:solidFill>
                        <a:srgbClr val="BCC0C5"/>
                      </a:solidFill>
                      <a:prstDash val="solid"/>
                      <a:round/>
                      <a:headEnd len="sm" w="sm" type="none"/>
                      <a:tailEnd len="sm" w="sm" type="none"/>
                    </a:lnR>
                    <a:lnB cap="flat" cmpd="sng" w="9525">
                      <a:solidFill>
                        <a:srgbClr val="BCC0C5"/>
                      </a:solidFill>
                      <a:prstDash val="solid"/>
                      <a:round/>
                      <a:headEnd len="sm" w="sm" type="none"/>
                      <a:tailEnd len="sm" w="sm" type="none"/>
                    </a:lnB>
                    <a:solidFill>
                      <a:srgbClr val="B8B7B6"/>
                    </a:solidFill>
                  </a:tcPr>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*credit types are allocated by the Webserv team on level of work required </a:t>
                      </a:r>
                      <a:endParaRPr sz="700">
                        <a:solidFill>
                          <a:schemeClr val="dk1"/>
                        </a:solidFill>
                        <a:latin typeface="Inter"/>
                        <a:ea typeface="Inter"/>
                        <a:cs typeface="Inter"/>
                        <a:sym typeface="Inter"/>
                      </a:endParaRPr>
                    </a:p>
                  </a:txBody>
                  <a:tcPr marT="91425" marB="91425" marR="91425" marL="91425">
                    <a:lnL cap="flat" cmpd="sng" w="9525">
                      <a:solidFill>
                        <a:srgbClr val="BCC0C5"/>
                      </a:solidFill>
                      <a:prstDash val="solid"/>
                      <a:round/>
                      <a:headEnd len="sm" w="sm" type="none"/>
                      <a:tailEnd len="sm" w="sm" type="none"/>
                    </a:lnL>
                    <a:lnR cap="flat" cmpd="sng" w="9525">
                      <a:solidFill>
                        <a:srgbClr val="BCC0C5"/>
                      </a:solidFill>
                      <a:prstDash val="solid"/>
                      <a:round/>
                      <a:headEnd len="sm" w="sm" type="none"/>
                      <a:tailEnd len="sm" w="sm" type="none"/>
                    </a:lnR>
                    <a:lnB cap="flat" cmpd="sng" w="9525">
                      <a:solidFill>
                        <a:srgbClr val="BCC0C5"/>
                      </a:solidFill>
                      <a:prstDash val="solid"/>
                      <a:round/>
                      <a:headEnd len="sm" w="sm" type="none"/>
                      <a:tailEnd len="sm" w="sm" type="none"/>
                    </a:lnB>
                    <a:solidFill>
                      <a:srgbClr val="B8B7B6"/>
                    </a:solidFill>
                  </a:tcPr>
                </a:tc>
                <a:tc>
                  <a:txBody>
                    <a:bodyPr/>
                    <a:lstStyle/>
                    <a:p>
                      <a:pPr indent="0" lvl="0" marL="0" rtl="0" algn="l">
                        <a:spcBef>
                          <a:spcPts val="0"/>
                        </a:spcBef>
                        <a:spcAft>
                          <a:spcPts val="0"/>
                        </a:spcAft>
                        <a:buNone/>
                      </a:pPr>
                      <a:r>
                        <a:t/>
                      </a:r>
                      <a:endParaRPr sz="700">
                        <a:solidFill>
                          <a:schemeClr val="dk1"/>
                        </a:solidFill>
                        <a:latin typeface="Inter"/>
                        <a:ea typeface="Inter"/>
                        <a:cs typeface="Inter"/>
                        <a:sym typeface="Inter"/>
                      </a:endParaRPr>
                    </a:p>
                  </a:txBody>
                  <a:tcPr marT="91425" marB="91425" marR="91425" marL="91425">
                    <a:lnL cap="flat" cmpd="sng" w="9525">
                      <a:solidFill>
                        <a:srgbClr val="BCC0C5"/>
                      </a:solidFill>
                      <a:prstDash val="solid"/>
                      <a:round/>
                      <a:headEnd len="sm" w="sm" type="none"/>
                      <a:tailEnd len="sm" w="sm" type="none"/>
                    </a:lnL>
                    <a:lnR cap="flat" cmpd="sng" w="9525">
                      <a:solidFill>
                        <a:srgbClr val="BCC0C5"/>
                      </a:solidFill>
                      <a:prstDash val="solid"/>
                      <a:round/>
                      <a:headEnd len="sm" w="sm" type="none"/>
                      <a:tailEnd len="sm" w="sm" type="none"/>
                    </a:lnR>
                    <a:lnB cap="flat" cmpd="sng" w="9525">
                      <a:solidFill>
                        <a:srgbClr val="BCC0C5"/>
                      </a:solidFill>
                      <a:prstDash val="solid"/>
                      <a:round/>
                      <a:headEnd len="sm" w="sm" type="none"/>
                      <a:tailEnd len="sm" w="sm" type="none"/>
                    </a:lnB>
                    <a:solidFill>
                      <a:srgbClr val="B8B7B6"/>
                    </a:solidFill>
                  </a:tcPr>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URL changes are required for better information architecture </a:t>
                      </a:r>
                      <a:endParaRPr sz="700">
                        <a:solidFill>
                          <a:schemeClr val="dk1"/>
                        </a:solidFill>
                        <a:latin typeface="Inter"/>
                        <a:ea typeface="Inter"/>
                        <a:cs typeface="Inter"/>
                        <a:sym typeface="Inter"/>
                      </a:endParaRPr>
                    </a:p>
                  </a:txBody>
                  <a:tcPr marT="91425" marB="91425" marR="91425" marL="91425">
                    <a:lnL cap="flat" cmpd="sng" w="9525">
                      <a:solidFill>
                        <a:srgbClr val="BCC0C5"/>
                      </a:solidFill>
                      <a:prstDash val="solid"/>
                      <a:round/>
                      <a:headEnd len="sm" w="sm" type="none"/>
                      <a:tailEnd len="sm" w="sm" type="none"/>
                    </a:lnL>
                    <a:lnR cap="flat" cmpd="sng" w="9525">
                      <a:solidFill>
                        <a:srgbClr val="BCC0C5"/>
                      </a:solidFill>
                      <a:prstDash val="solid"/>
                      <a:round/>
                      <a:headEnd len="sm" w="sm" type="none"/>
                      <a:tailEnd len="sm" w="sm" type="none"/>
                    </a:lnR>
                    <a:lnB cap="flat" cmpd="sng" w="9525">
                      <a:solidFill>
                        <a:srgbClr val="BCC0C5"/>
                      </a:solidFill>
                      <a:prstDash val="solid"/>
                      <a:round/>
                      <a:headEnd len="sm" w="sm" type="none"/>
                      <a:tailEnd len="sm" w="sm" type="none"/>
                    </a:lnB>
                    <a:solidFill>
                      <a:srgbClr val="B8B7B6"/>
                    </a:solidFill>
                  </a:tcPr>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Due dates subject to change due to internal Webserv production workflows</a:t>
                      </a:r>
                      <a:endParaRPr sz="700">
                        <a:solidFill>
                          <a:schemeClr val="dk1"/>
                        </a:solidFill>
                        <a:latin typeface="Inter"/>
                        <a:ea typeface="Inter"/>
                        <a:cs typeface="Inter"/>
                        <a:sym typeface="Inter"/>
                      </a:endParaRPr>
                    </a:p>
                  </a:txBody>
                  <a:tcPr marT="91425" marB="91425" marR="91425" marL="91425">
                    <a:lnL cap="flat" cmpd="sng" w="9525">
                      <a:solidFill>
                        <a:srgbClr val="BCC0C5"/>
                      </a:solidFill>
                      <a:prstDash val="solid"/>
                      <a:round/>
                      <a:headEnd len="sm" w="sm" type="none"/>
                      <a:tailEnd len="sm" w="sm" type="none"/>
                    </a:lnL>
                    <a:lnR cap="flat" cmpd="sng" w="9525">
                      <a:solidFill>
                        <a:srgbClr val="BCC0C5"/>
                      </a:solidFill>
                      <a:prstDash val="solid"/>
                      <a:round/>
                      <a:headEnd len="sm" w="sm" type="none"/>
                      <a:tailEnd len="sm" w="sm" type="none"/>
                    </a:lnR>
                    <a:lnB cap="flat" cmpd="sng" w="9525">
                      <a:solidFill>
                        <a:srgbClr val="BCC0C5"/>
                      </a:solidFill>
                      <a:prstDash val="solid"/>
                      <a:round/>
                      <a:headEnd len="sm" w="sm" type="none"/>
                      <a:tailEnd len="sm" w="sm" type="none"/>
                    </a:lnB>
                    <a:solidFill>
                      <a:srgbClr val="B8B7B6"/>
                    </a:solidFill>
                  </a:tcPr>
                </a:tc>
                <a:tc>
                  <a:txBody>
                    <a:bodyPr/>
                    <a:lstStyle/>
                    <a:p>
                      <a:pPr indent="0" lvl="0" marL="0" rtl="0" algn="l">
                        <a:spcBef>
                          <a:spcPts val="0"/>
                        </a:spcBef>
                        <a:spcAft>
                          <a:spcPts val="0"/>
                        </a:spcAft>
                        <a:buNone/>
                      </a:pPr>
                      <a:r>
                        <a:t/>
                      </a:r>
                      <a:endParaRPr sz="700">
                        <a:solidFill>
                          <a:schemeClr val="dk1"/>
                        </a:solidFill>
                        <a:latin typeface="Inter"/>
                        <a:ea typeface="Inter"/>
                        <a:cs typeface="Inter"/>
                        <a:sym typeface="Inter"/>
                      </a:endParaRPr>
                    </a:p>
                  </a:txBody>
                  <a:tcPr marT="91425" marB="91425" marR="91425" marL="91425">
                    <a:lnL cap="flat" cmpd="sng" w="9525">
                      <a:solidFill>
                        <a:srgbClr val="BCC0C5"/>
                      </a:solidFill>
                      <a:prstDash val="solid"/>
                      <a:round/>
                      <a:headEnd len="sm" w="sm" type="none"/>
                      <a:tailEnd len="sm" w="sm" type="none"/>
                    </a:lnL>
                    <a:lnR cap="flat" cmpd="sng" w="9525">
                      <a:solidFill>
                        <a:srgbClr val="BCC0C5"/>
                      </a:solidFill>
                      <a:prstDash val="solid"/>
                      <a:round/>
                      <a:headEnd len="sm" w="sm" type="none"/>
                      <a:tailEnd len="sm" w="sm" type="none"/>
                    </a:lnR>
                    <a:lnB cap="flat" cmpd="sng" w="9525">
                      <a:solidFill>
                        <a:srgbClr val="BCC0C5"/>
                      </a:solidFill>
                      <a:prstDash val="solid"/>
                      <a:round/>
                      <a:headEnd len="sm" w="sm" type="none"/>
                      <a:tailEnd len="sm" w="sm" type="none"/>
                    </a:lnB>
                    <a:solidFill>
                      <a:srgbClr val="B8B7B6"/>
                    </a:solidFill>
                  </a:tcPr>
                </a:tc>
              </a:tr>
            </a:tbl>
          </a:graphicData>
        </a:graphic>
      </p:graphicFrame>
      <p:sp>
        <p:nvSpPr>
          <p:cNvPr id="251" name="Google Shape;251;p35"/>
          <p:cNvSpPr/>
          <p:nvPr/>
        </p:nvSpPr>
        <p:spPr>
          <a:xfrm>
            <a:off x="71363" y="-118987"/>
            <a:ext cx="3639300" cy="705000"/>
          </a:xfrm>
          <a:prstGeom prst="rect">
            <a:avLst/>
          </a:prstGeom>
          <a:noFill/>
          <a:ln>
            <a:noFill/>
          </a:ln>
        </p:spPr>
        <p:txBody>
          <a:bodyPr anchorCtr="0" anchor="ctr" bIns="39100" lIns="78225" spcFirstLastPara="1" rIns="78225" wrap="square" tIns="39100">
            <a:noAutofit/>
          </a:bodyPr>
          <a:lstStyle/>
          <a:p>
            <a:pPr indent="0" lvl="0" marL="0" marR="0" rtl="0" algn="l">
              <a:lnSpc>
                <a:spcPct val="75000"/>
              </a:lnSpc>
              <a:spcBef>
                <a:spcPts val="0"/>
              </a:spcBef>
              <a:spcAft>
                <a:spcPts val="0"/>
              </a:spcAft>
              <a:buClr>
                <a:srgbClr val="FFFFFF"/>
              </a:buClr>
              <a:buSzPts val="4491"/>
              <a:buFont typeface="Inter"/>
              <a:buNone/>
            </a:pPr>
            <a:r>
              <a:rPr b="1" lang="en" sz="3022">
                <a:solidFill>
                  <a:srgbClr val="080808"/>
                </a:solidFill>
                <a:latin typeface="Archivo"/>
                <a:ea typeface="Archivo"/>
                <a:cs typeface="Archivo"/>
                <a:sym typeface="Archivo"/>
              </a:rPr>
              <a:t>March</a:t>
            </a:r>
            <a:endParaRPr b="1" i="0" sz="3022" u="none" cap="none" strike="noStrike">
              <a:solidFill>
                <a:srgbClr val="080808"/>
              </a:solidFill>
              <a:latin typeface="Archivo"/>
              <a:ea typeface="Archivo"/>
              <a:cs typeface="Archivo"/>
              <a:sym typeface="Archiv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EAEA"/>
        </a:solidFill>
      </p:bgPr>
    </p:bg>
    <p:spTree>
      <p:nvGrpSpPr>
        <p:cNvPr id="255" name="Shape 255"/>
        <p:cNvGrpSpPr/>
        <p:nvPr/>
      </p:nvGrpSpPr>
      <p:grpSpPr>
        <a:xfrm>
          <a:off x="0" y="0"/>
          <a:ext cx="0" cy="0"/>
          <a:chOff x="0" y="0"/>
          <a:chExt cx="0" cy="0"/>
        </a:xfrm>
      </p:grpSpPr>
      <p:pic>
        <p:nvPicPr>
          <p:cNvPr id="256" name="Google Shape;256;p36" title="W Full blk txt.png"/>
          <p:cNvPicPr preferRelativeResize="0"/>
          <p:nvPr/>
        </p:nvPicPr>
        <p:blipFill>
          <a:blip r:embed="rId3">
            <a:alphaModFix/>
          </a:blip>
          <a:stretch>
            <a:fillRect/>
          </a:stretch>
        </p:blipFill>
        <p:spPr>
          <a:xfrm>
            <a:off x="363550" y="4571275"/>
            <a:ext cx="1026251" cy="246300"/>
          </a:xfrm>
          <a:prstGeom prst="rect">
            <a:avLst/>
          </a:prstGeom>
          <a:noFill/>
          <a:ln>
            <a:noFill/>
          </a:ln>
        </p:spPr>
      </p:pic>
      <p:sp>
        <p:nvSpPr>
          <p:cNvPr id="257" name="Google Shape;257;p36"/>
          <p:cNvSpPr/>
          <p:nvPr/>
        </p:nvSpPr>
        <p:spPr>
          <a:xfrm>
            <a:off x="581725" y="1957638"/>
            <a:ext cx="3639300" cy="750300"/>
          </a:xfrm>
          <a:prstGeom prst="rect">
            <a:avLst/>
          </a:prstGeom>
          <a:noFill/>
          <a:ln>
            <a:noFill/>
          </a:ln>
        </p:spPr>
        <p:txBody>
          <a:bodyPr anchorCtr="0" anchor="t" bIns="38025" lIns="76025" spcFirstLastPara="1" rIns="76025" wrap="square" tIns="38025">
            <a:noAutofit/>
          </a:bodyPr>
          <a:lstStyle/>
          <a:p>
            <a:pPr indent="0" lvl="0" marL="0" marR="0" rtl="0" algn="l">
              <a:lnSpc>
                <a:spcPct val="120000"/>
              </a:lnSpc>
              <a:spcBef>
                <a:spcPts val="0"/>
              </a:spcBef>
              <a:spcAft>
                <a:spcPts val="0"/>
              </a:spcAft>
              <a:buClr>
                <a:srgbClr val="BCC0C5"/>
              </a:buClr>
              <a:buSzPts val="873"/>
              <a:buFont typeface="Inter"/>
              <a:buNone/>
            </a:pPr>
            <a:r>
              <a:rPr lang="en" sz="914">
                <a:solidFill>
                  <a:srgbClr val="2B2B2A"/>
                </a:solidFill>
                <a:latin typeface="Archivo"/>
                <a:ea typeface="Archivo"/>
                <a:cs typeface="Archivo"/>
                <a:sym typeface="Archivo"/>
              </a:rPr>
              <a:t>March builds on February’s foundational stabilization by expanding coverage of high-intent treatment topics and capturing demand across both service and informational search. Work this month includes launching and scaling core “What We Treat” and Levels of Care pages, publishing high-traffic educational content designed to support lead capture, and aligning site-wide conversion elements with the structural changes already in place.</a:t>
            </a:r>
            <a:endParaRPr sz="914">
              <a:solidFill>
                <a:srgbClr val="2B2B2A"/>
              </a:solidFill>
              <a:latin typeface="Archivo"/>
              <a:ea typeface="Archivo"/>
              <a:cs typeface="Archivo"/>
              <a:sym typeface="Archivo"/>
            </a:endParaRPr>
          </a:p>
          <a:p>
            <a:pPr indent="0" lvl="0" marL="0" marR="0" rtl="0" algn="l">
              <a:lnSpc>
                <a:spcPct val="120000"/>
              </a:lnSpc>
              <a:spcBef>
                <a:spcPts val="0"/>
              </a:spcBef>
              <a:spcAft>
                <a:spcPts val="0"/>
              </a:spcAft>
              <a:buClr>
                <a:srgbClr val="BCC0C5"/>
              </a:buClr>
              <a:buSzPts val="873"/>
              <a:buFont typeface="Inter"/>
              <a:buNone/>
            </a:pPr>
            <a:r>
              <a:t/>
            </a:r>
            <a:endParaRPr sz="914">
              <a:solidFill>
                <a:srgbClr val="2B2B2A"/>
              </a:solidFill>
              <a:latin typeface="Archivo"/>
              <a:ea typeface="Archivo"/>
              <a:cs typeface="Archivo"/>
              <a:sym typeface="Archivo"/>
            </a:endParaRPr>
          </a:p>
          <a:p>
            <a:pPr indent="0" lvl="0" marL="0" marR="0" rtl="0" algn="l">
              <a:lnSpc>
                <a:spcPct val="120000"/>
              </a:lnSpc>
              <a:spcBef>
                <a:spcPts val="0"/>
              </a:spcBef>
              <a:spcAft>
                <a:spcPts val="0"/>
              </a:spcAft>
              <a:buClr>
                <a:srgbClr val="BCC0C5"/>
              </a:buClr>
              <a:buSzPts val="873"/>
              <a:buFont typeface="Inter"/>
              <a:buNone/>
            </a:pPr>
            <a:r>
              <a:rPr lang="en" sz="914">
                <a:solidFill>
                  <a:srgbClr val="2B2B2A"/>
                </a:solidFill>
                <a:latin typeface="Archivo"/>
                <a:ea typeface="Archivo"/>
                <a:cs typeface="Archivo"/>
                <a:sym typeface="Archivo"/>
              </a:rPr>
              <a:t>This phase shifts the strategy from cleanup and stabilization to intent-driven growth, ensuring the site can capture users earlier in their decision process while reinforcing core service authority.</a:t>
            </a:r>
            <a:endParaRPr sz="914">
              <a:solidFill>
                <a:srgbClr val="2B2B2A"/>
              </a:solidFill>
              <a:latin typeface="Archivo"/>
              <a:ea typeface="Archivo"/>
              <a:cs typeface="Archivo"/>
              <a:sym typeface="Archivo"/>
            </a:endParaRPr>
          </a:p>
          <a:p>
            <a:pPr indent="0" lvl="0" marL="0" marR="0" rtl="0" algn="l">
              <a:lnSpc>
                <a:spcPct val="120000"/>
              </a:lnSpc>
              <a:spcBef>
                <a:spcPts val="0"/>
              </a:spcBef>
              <a:spcAft>
                <a:spcPts val="0"/>
              </a:spcAft>
              <a:buClr>
                <a:srgbClr val="BCC0C5"/>
              </a:buClr>
              <a:buSzPts val="873"/>
              <a:buFont typeface="Inter"/>
              <a:buNone/>
            </a:pPr>
            <a:r>
              <a:t/>
            </a:r>
            <a:endParaRPr sz="914">
              <a:solidFill>
                <a:srgbClr val="2B2B2A"/>
              </a:solidFill>
              <a:latin typeface="Archivo"/>
              <a:ea typeface="Archivo"/>
              <a:cs typeface="Archivo"/>
              <a:sym typeface="Archivo"/>
            </a:endParaRPr>
          </a:p>
        </p:txBody>
      </p:sp>
      <p:sp>
        <p:nvSpPr>
          <p:cNvPr id="258" name="Google Shape;258;p36"/>
          <p:cNvSpPr/>
          <p:nvPr/>
        </p:nvSpPr>
        <p:spPr>
          <a:xfrm>
            <a:off x="529875" y="1307363"/>
            <a:ext cx="3639300" cy="705000"/>
          </a:xfrm>
          <a:prstGeom prst="rect">
            <a:avLst/>
          </a:prstGeom>
          <a:noFill/>
          <a:ln>
            <a:noFill/>
          </a:ln>
        </p:spPr>
        <p:txBody>
          <a:bodyPr anchorCtr="0" anchor="ctr" bIns="39100" lIns="78225" spcFirstLastPara="1" rIns="78225" wrap="square" tIns="39100">
            <a:noAutofit/>
          </a:bodyPr>
          <a:lstStyle/>
          <a:p>
            <a:pPr indent="0" lvl="0" marL="0" marR="0" rtl="0" algn="l">
              <a:lnSpc>
                <a:spcPct val="75000"/>
              </a:lnSpc>
              <a:spcBef>
                <a:spcPts val="0"/>
              </a:spcBef>
              <a:spcAft>
                <a:spcPts val="0"/>
              </a:spcAft>
              <a:buClr>
                <a:srgbClr val="FFFFFF"/>
              </a:buClr>
              <a:buSzPts val="4491"/>
              <a:buFont typeface="Inter"/>
              <a:buNone/>
            </a:pPr>
            <a:r>
              <a:rPr b="1" lang="en" sz="3022">
                <a:solidFill>
                  <a:srgbClr val="080808"/>
                </a:solidFill>
                <a:latin typeface="Archivo"/>
                <a:ea typeface="Archivo"/>
                <a:cs typeface="Archivo"/>
                <a:sym typeface="Archivo"/>
              </a:rPr>
              <a:t>March</a:t>
            </a:r>
            <a:endParaRPr b="1" i="0" sz="3022" u="none" cap="none" strike="noStrike">
              <a:solidFill>
                <a:srgbClr val="080808"/>
              </a:solidFill>
              <a:latin typeface="Archivo"/>
              <a:ea typeface="Archivo"/>
              <a:cs typeface="Archivo"/>
              <a:sym typeface="Archivo"/>
            </a:endParaRPr>
          </a:p>
        </p:txBody>
      </p:sp>
      <p:sp>
        <p:nvSpPr>
          <p:cNvPr id="259" name="Google Shape;259;p36"/>
          <p:cNvSpPr/>
          <p:nvPr/>
        </p:nvSpPr>
        <p:spPr>
          <a:xfrm>
            <a:off x="447087" y="1489054"/>
            <a:ext cx="82800" cy="83100"/>
          </a:xfrm>
          <a:prstGeom prst="ellipse">
            <a:avLst/>
          </a:prstGeom>
          <a:solidFill>
            <a:srgbClr val="FF2F0A"/>
          </a:solidFill>
          <a:ln>
            <a:noFill/>
          </a:ln>
        </p:spPr>
        <p:txBody>
          <a:bodyPr anchorCtr="0" anchor="ctr" bIns="74500" lIns="74500" spcFirstLastPara="1" rIns="74500" wrap="square" tIns="74500">
            <a:noAutofit/>
          </a:bodyPr>
          <a:lstStyle/>
          <a:p>
            <a:pPr indent="0" lvl="0" marL="0" rtl="0" algn="ctr">
              <a:spcBef>
                <a:spcPts val="0"/>
              </a:spcBef>
              <a:spcAft>
                <a:spcPts val="0"/>
              </a:spcAft>
              <a:buNone/>
            </a:pPr>
            <a:r>
              <a:t/>
            </a:r>
            <a:endParaRPr sz="1141"/>
          </a:p>
        </p:txBody>
      </p:sp>
      <p:sp>
        <p:nvSpPr>
          <p:cNvPr id="260" name="Google Shape;260;p36"/>
          <p:cNvSpPr/>
          <p:nvPr/>
        </p:nvSpPr>
        <p:spPr>
          <a:xfrm>
            <a:off x="664582" y="1259650"/>
            <a:ext cx="1371900" cy="175800"/>
          </a:xfrm>
          <a:prstGeom prst="rect">
            <a:avLst/>
          </a:prstGeom>
          <a:noFill/>
          <a:ln>
            <a:noFill/>
          </a:ln>
        </p:spPr>
        <p:txBody>
          <a:bodyPr anchorCtr="0" anchor="ctr" bIns="34100" lIns="68175" spcFirstLastPara="1" rIns="68175" wrap="square" tIns="34100">
            <a:noAutofit/>
          </a:bodyPr>
          <a:lstStyle/>
          <a:p>
            <a:pPr indent="0" lvl="0" marL="0" marR="0" rtl="0" algn="l">
              <a:lnSpc>
                <a:spcPct val="120000"/>
              </a:lnSpc>
              <a:spcBef>
                <a:spcPts val="0"/>
              </a:spcBef>
              <a:spcAft>
                <a:spcPts val="0"/>
              </a:spcAft>
              <a:buClr>
                <a:srgbClr val="BCC0C5"/>
              </a:buClr>
              <a:buSzPts val="783"/>
              <a:buFont typeface="Inter"/>
              <a:buNone/>
            </a:pPr>
            <a:r>
              <a:rPr i="1" lang="en" sz="983">
                <a:solidFill>
                  <a:srgbClr val="080808"/>
                </a:solidFill>
                <a:latin typeface="Archivo Medium"/>
                <a:ea typeface="Archivo Medium"/>
                <a:cs typeface="Archivo Medium"/>
                <a:sym typeface="Archivo Medium"/>
              </a:rPr>
              <a:t>SEO Strategy</a:t>
            </a:r>
            <a:endParaRPr i="1" sz="983">
              <a:solidFill>
                <a:srgbClr val="080808"/>
              </a:solidFill>
              <a:latin typeface="Archivo Medium"/>
              <a:ea typeface="Archivo Medium"/>
              <a:cs typeface="Archivo Medium"/>
              <a:sym typeface="Archivo Medium"/>
            </a:endParaRPr>
          </a:p>
        </p:txBody>
      </p:sp>
      <p:sp>
        <p:nvSpPr>
          <p:cNvPr id="261" name="Google Shape;261;p36"/>
          <p:cNvSpPr/>
          <p:nvPr/>
        </p:nvSpPr>
        <p:spPr>
          <a:xfrm>
            <a:off x="5883900" y="467325"/>
            <a:ext cx="2363100" cy="12603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This is a title slide for the third month of service - this should say June, and then some copy on what we’re doing and why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graphicFrame>
        <p:nvGraphicFramePr>
          <p:cNvPr id="266" name="Google Shape;266;p37"/>
          <p:cNvGraphicFramePr/>
          <p:nvPr/>
        </p:nvGraphicFramePr>
        <p:xfrm>
          <a:off x="207475" y="510525"/>
          <a:ext cx="3000000" cy="3000000"/>
        </p:xfrm>
        <a:graphic>
          <a:graphicData uri="http://schemas.openxmlformats.org/drawingml/2006/table">
            <a:tbl>
              <a:tblPr>
                <a:noFill/>
                <a:tableStyleId>{68EEDE57-7064-4DF5-A204-3597CC6C9D8C}</a:tableStyleId>
              </a:tblPr>
              <a:tblGrid>
                <a:gridCol w="948350"/>
                <a:gridCol w="1118275"/>
                <a:gridCol w="1588850"/>
                <a:gridCol w="1994025"/>
                <a:gridCol w="1092550"/>
                <a:gridCol w="1732200"/>
              </a:tblGrid>
              <a:tr h="412025">
                <a:tc>
                  <a:txBody>
                    <a:bodyPr/>
                    <a:lstStyle/>
                    <a:p>
                      <a:pPr indent="0" lvl="0" marL="0" rtl="0" algn="l">
                        <a:spcBef>
                          <a:spcPts val="0"/>
                        </a:spcBef>
                        <a:spcAft>
                          <a:spcPts val="0"/>
                        </a:spcAft>
                        <a:buNone/>
                      </a:pPr>
                      <a:r>
                        <a:rPr b="1" lang="en" sz="900">
                          <a:solidFill>
                            <a:schemeClr val="lt1"/>
                          </a:solidFill>
                          <a:latin typeface="Inter"/>
                          <a:ea typeface="Inter"/>
                          <a:cs typeface="Inter"/>
                          <a:sym typeface="Inter"/>
                        </a:rPr>
                        <a:t>Credit Cost </a:t>
                      </a:r>
                      <a:endParaRPr b="1" sz="900">
                        <a:solidFill>
                          <a:schemeClr val="lt1"/>
                        </a:solidFill>
                        <a:latin typeface="Inter"/>
                        <a:ea typeface="Inter"/>
                        <a:cs typeface="Inter"/>
                        <a:sym typeface="Inter"/>
                      </a:endParaRPr>
                    </a:p>
                  </a:txBody>
                  <a:tcPr marT="91425" marB="91425" marR="91425" marL="91425" anchor="ctr">
                    <a:solidFill>
                      <a:srgbClr val="0E0E0E"/>
                    </a:solidFill>
                  </a:tcPr>
                </a:tc>
                <a:tc>
                  <a:txBody>
                    <a:bodyPr/>
                    <a:lstStyle/>
                    <a:p>
                      <a:pPr indent="0" lvl="0" marL="0" rtl="0" algn="l">
                        <a:spcBef>
                          <a:spcPts val="0"/>
                        </a:spcBef>
                        <a:spcAft>
                          <a:spcPts val="0"/>
                        </a:spcAft>
                        <a:buNone/>
                      </a:pPr>
                      <a:r>
                        <a:rPr b="1" lang="en" sz="900">
                          <a:solidFill>
                            <a:schemeClr val="lt1"/>
                          </a:solidFill>
                          <a:latin typeface="Inter"/>
                          <a:ea typeface="Inter"/>
                          <a:cs typeface="Inter"/>
                          <a:sym typeface="Inter"/>
                        </a:rPr>
                        <a:t>Credit Type</a:t>
                      </a:r>
                      <a:endParaRPr b="1" sz="900">
                        <a:solidFill>
                          <a:schemeClr val="lt1"/>
                        </a:solidFill>
                        <a:latin typeface="Inter"/>
                        <a:ea typeface="Inter"/>
                        <a:cs typeface="Inter"/>
                        <a:sym typeface="Inter"/>
                      </a:endParaRPr>
                    </a:p>
                  </a:txBody>
                  <a:tcPr marT="91425" marB="91425" marR="91425" marL="91425" anchor="ctr">
                    <a:solidFill>
                      <a:srgbClr val="0E0E0E"/>
                    </a:solidFill>
                  </a:tcPr>
                </a:tc>
                <a:tc>
                  <a:txBody>
                    <a:bodyPr/>
                    <a:lstStyle/>
                    <a:p>
                      <a:pPr indent="0" lvl="0" marL="0" rtl="0" algn="l">
                        <a:spcBef>
                          <a:spcPts val="0"/>
                        </a:spcBef>
                        <a:spcAft>
                          <a:spcPts val="0"/>
                        </a:spcAft>
                        <a:buNone/>
                      </a:pPr>
                      <a:r>
                        <a:rPr b="1" lang="en" sz="900">
                          <a:solidFill>
                            <a:schemeClr val="lt1"/>
                          </a:solidFill>
                          <a:latin typeface="Inter"/>
                          <a:ea typeface="Inter"/>
                          <a:cs typeface="Inter"/>
                          <a:sym typeface="Inter"/>
                        </a:rPr>
                        <a:t>URL</a:t>
                      </a:r>
                      <a:endParaRPr b="1" sz="900">
                        <a:solidFill>
                          <a:schemeClr val="lt1"/>
                        </a:solidFill>
                        <a:latin typeface="Inter"/>
                        <a:ea typeface="Inter"/>
                        <a:cs typeface="Inter"/>
                        <a:sym typeface="Inter"/>
                      </a:endParaRPr>
                    </a:p>
                  </a:txBody>
                  <a:tcPr marT="91425" marB="91425" marR="91425" marL="91425" anchor="ctr">
                    <a:solidFill>
                      <a:srgbClr val="0E0E0E"/>
                    </a:solidFill>
                  </a:tcPr>
                </a:tc>
                <a:tc>
                  <a:txBody>
                    <a:bodyPr/>
                    <a:lstStyle/>
                    <a:p>
                      <a:pPr indent="0" lvl="0" marL="0" rtl="0" algn="l">
                        <a:spcBef>
                          <a:spcPts val="0"/>
                        </a:spcBef>
                        <a:spcAft>
                          <a:spcPts val="0"/>
                        </a:spcAft>
                        <a:buNone/>
                      </a:pPr>
                      <a:r>
                        <a:rPr b="1" lang="en" sz="900">
                          <a:solidFill>
                            <a:schemeClr val="lt1"/>
                          </a:solidFill>
                          <a:latin typeface="Inter"/>
                          <a:ea typeface="Inter"/>
                          <a:cs typeface="Inter"/>
                          <a:sym typeface="Inter"/>
                        </a:rPr>
                        <a:t>New URL</a:t>
                      </a:r>
                      <a:endParaRPr b="1" sz="900">
                        <a:solidFill>
                          <a:schemeClr val="lt1"/>
                        </a:solidFill>
                        <a:latin typeface="Inter"/>
                        <a:ea typeface="Inter"/>
                        <a:cs typeface="Inter"/>
                        <a:sym typeface="Inter"/>
                      </a:endParaRPr>
                    </a:p>
                  </a:txBody>
                  <a:tcPr marT="91425" marB="91425" marR="91425" marL="91425" anchor="ctr">
                    <a:solidFill>
                      <a:srgbClr val="0E0E0E"/>
                    </a:solidFill>
                  </a:tcPr>
                </a:tc>
                <a:tc>
                  <a:txBody>
                    <a:bodyPr/>
                    <a:lstStyle/>
                    <a:p>
                      <a:pPr indent="0" lvl="0" marL="0" rtl="0" algn="l">
                        <a:spcBef>
                          <a:spcPts val="0"/>
                        </a:spcBef>
                        <a:spcAft>
                          <a:spcPts val="0"/>
                        </a:spcAft>
                        <a:buNone/>
                      </a:pPr>
                      <a:r>
                        <a:rPr b="1" lang="en" sz="900">
                          <a:solidFill>
                            <a:schemeClr val="lt1"/>
                          </a:solidFill>
                          <a:latin typeface="Inter"/>
                          <a:ea typeface="Inter"/>
                          <a:cs typeface="Inter"/>
                          <a:sym typeface="Inter"/>
                        </a:rPr>
                        <a:t>Date published </a:t>
                      </a:r>
                      <a:endParaRPr b="1" sz="900">
                        <a:solidFill>
                          <a:schemeClr val="lt1"/>
                        </a:solidFill>
                        <a:latin typeface="Inter"/>
                        <a:ea typeface="Inter"/>
                        <a:cs typeface="Inter"/>
                        <a:sym typeface="Inter"/>
                      </a:endParaRPr>
                    </a:p>
                  </a:txBody>
                  <a:tcPr marT="91425" marB="91425" marR="91425" marL="91425" anchor="ctr">
                    <a:solidFill>
                      <a:srgbClr val="0E0E0E"/>
                    </a:solidFill>
                  </a:tcPr>
                </a:tc>
                <a:tc>
                  <a:txBody>
                    <a:bodyPr/>
                    <a:lstStyle/>
                    <a:p>
                      <a:pPr indent="0" lvl="0" marL="0" rtl="0" algn="l">
                        <a:spcBef>
                          <a:spcPts val="0"/>
                        </a:spcBef>
                        <a:spcAft>
                          <a:spcPts val="0"/>
                        </a:spcAft>
                        <a:buNone/>
                      </a:pPr>
                      <a:r>
                        <a:rPr b="1" lang="en" sz="900">
                          <a:solidFill>
                            <a:schemeClr val="lt1"/>
                          </a:solidFill>
                          <a:latin typeface="Inter"/>
                          <a:ea typeface="Inter"/>
                          <a:cs typeface="Inter"/>
                          <a:sym typeface="Inter"/>
                        </a:rPr>
                        <a:t>Reasoning </a:t>
                      </a:r>
                      <a:endParaRPr b="1" sz="900">
                        <a:solidFill>
                          <a:schemeClr val="lt1"/>
                        </a:solidFill>
                        <a:latin typeface="Inter"/>
                        <a:ea typeface="Inter"/>
                        <a:cs typeface="Inter"/>
                        <a:sym typeface="Inter"/>
                      </a:endParaRPr>
                    </a:p>
                  </a:txBody>
                  <a:tcPr marT="91425" marB="91425" marR="91425" marL="91425" anchor="ctr">
                    <a:solidFill>
                      <a:srgbClr val="0E0E0E"/>
                    </a:solidFill>
                  </a:tcPr>
                </a:tc>
              </a:tr>
              <a:tr h="297225">
                <a:tc>
                  <a:txBody>
                    <a:bodyPr/>
                    <a:lstStyle/>
                    <a:p>
                      <a:pPr indent="0" lvl="0" marL="0" rtl="0" algn="l">
                        <a:spcBef>
                          <a:spcPts val="0"/>
                        </a:spcBef>
                        <a:spcAft>
                          <a:spcPts val="0"/>
                        </a:spcAft>
                        <a:buNone/>
                      </a:pPr>
                      <a:r>
                        <a:rPr lang="en" sz="700">
                          <a:latin typeface="Inter"/>
                          <a:ea typeface="Inter"/>
                          <a:cs typeface="Inter"/>
                          <a:sym typeface="Inter"/>
                        </a:rPr>
                        <a:t>1</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Scale</a:t>
                      </a:r>
                      <a:endParaRPr sz="700">
                        <a:solidFill>
                          <a:schemeClr val="dk1"/>
                        </a:solidFill>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N/a</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https://ojairecovery.com/blog/end-stage-alcoholism</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March 3</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High-traffic blog - key symptom recognition = lead capture</a:t>
                      </a:r>
                      <a:endParaRPr sz="700">
                        <a:latin typeface="Inter"/>
                        <a:ea typeface="Inter"/>
                        <a:cs typeface="Inter"/>
                        <a:sym typeface="Inter"/>
                      </a:endParaRPr>
                    </a:p>
                  </a:txBody>
                  <a:tcPr marT="91425" marB="91425" marR="91425" marL="91425"/>
                </a:tc>
              </a:tr>
              <a:tr h="297225">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1</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Scale</a:t>
                      </a:r>
                      <a:endParaRPr sz="700">
                        <a:solidFill>
                          <a:schemeClr val="dk1"/>
                        </a:solidFill>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https://ojairecovery.com/alcohol-addiction-treatment/</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https://ojairecovery.com/what-we-treat/alcohol-addiction-treatment</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March 6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Stabilizing core service pages </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tc>
              </a:tr>
              <a:tr h="297225">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1</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Scale</a:t>
                      </a:r>
                      <a:endParaRPr sz="700">
                        <a:solidFill>
                          <a:schemeClr val="dk1"/>
                        </a:solidFill>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https://ojairecovery.com/opioid-addiction-treatment/</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https://ojairecovery.com/what-we-treat/opioid-addiction-treatment</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March 11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Stabilizing core service pages </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tc>
              </a:tr>
              <a:tr h="297225">
                <a:tc>
                  <a:txBody>
                    <a:bodyPr/>
                    <a:lstStyle/>
                    <a:p>
                      <a:pPr indent="0" lvl="0" marL="0" rtl="0" algn="l">
                        <a:spcBef>
                          <a:spcPts val="0"/>
                        </a:spcBef>
                        <a:spcAft>
                          <a:spcPts val="0"/>
                        </a:spcAft>
                        <a:buNone/>
                      </a:pPr>
                      <a:r>
                        <a:rPr lang="en" sz="700">
                          <a:latin typeface="Inter"/>
                          <a:ea typeface="Inter"/>
                          <a:cs typeface="Inter"/>
                          <a:sym typeface="Inter"/>
                        </a:rPr>
                        <a:t>1</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Scale</a:t>
                      </a:r>
                      <a:endParaRPr sz="700">
                        <a:solidFill>
                          <a:schemeClr val="dk1"/>
                        </a:solidFill>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N/a</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https://ojairecovery.com/blog/how-long-does-detox-take</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March 16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High-traffic blog - solution aware = lead capture</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tc>
              </a:tr>
              <a:tr h="297225">
                <a:tc>
                  <a:txBody>
                    <a:bodyPr/>
                    <a:lstStyle/>
                    <a:p>
                      <a:pPr indent="0" lvl="0" marL="0" rtl="0" algn="l">
                        <a:spcBef>
                          <a:spcPts val="0"/>
                        </a:spcBef>
                        <a:spcAft>
                          <a:spcPts val="0"/>
                        </a:spcAft>
                        <a:buNone/>
                      </a:pPr>
                      <a:r>
                        <a:rPr lang="en" sz="700">
                          <a:latin typeface="Inter"/>
                          <a:ea typeface="Inter"/>
                          <a:cs typeface="Inter"/>
                          <a:sym typeface="Inter"/>
                        </a:rPr>
                        <a:t>2</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Service</a:t>
                      </a:r>
                      <a:endParaRPr sz="700">
                        <a:solidFill>
                          <a:schemeClr val="dk1"/>
                        </a:solidFill>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N/a</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https://ojairecovery.com/levels-of-care/detox-services/alcohol-detox</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March 18</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Stabilizing core service pages </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tc>
              </a:tr>
              <a:tr h="297225">
                <a:tc>
                  <a:txBody>
                    <a:bodyPr/>
                    <a:lstStyle/>
                    <a:p>
                      <a:pPr indent="0" lvl="0" marL="0" rtl="0" algn="l">
                        <a:spcBef>
                          <a:spcPts val="0"/>
                        </a:spcBef>
                        <a:spcAft>
                          <a:spcPts val="0"/>
                        </a:spcAft>
                        <a:buNone/>
                      </a:pPr>
                      <a:r>
                        <a:rPr lang="en" sz="700">
                          <a:latin typeface="Inter"/>
                          <a:ea typeface="Inter"/>
                          <a:cs typeface="Inter"/>
                          <a:sym typeface="Inter"/>
                        </a:rPr>
                        <a:t>2</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Service</a:t>
                      </a:r>
                      <a:endParaRPr sz="700">
                        <a:solidFill>
                          <a:schemeClr val="dk1"/>
                        </a:solidFill>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N/a</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https://ojairecovery.com/what-we-treat/depression</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March 25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Stabilizing core service pages </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tc>
              </a:tr>
              <a:tr h="297225">
                <a:tc>
                  <a:txBody>
                    <a:bodyPr/>
                    <a:lstStyle/>
                    <a:p>
                      <a:pPr indent="0" lvl="0" marL="0" rtl="0" algn="l">
                        <a:spcBef>
                          <a:spcPts val="0"/>
                        </a:spcBef>
                        <a:spcAft>
                          <a:spcPts val="0"/>
                        </a:spcAft>
                        <a:buNone/>
                      </a:pPr>
                      <a:r>
                        <a:rPr lang="en" sz="700">
                          <a:latin typeface="Inter"/>
                          <a:ea typeface="Inter"/>
                          <a:cs typeface="Inter"/>
                          <a:sym typeface="Inter"/>
                        </a:rPr>
                        <a:t>0</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CRO Update</a:t>
                      </a:r>
                      <a:endParaRPr sz="700">
                        <a:solidFill>
                          <a:schemeClr val="dk1"/>
                        </a:solidFill>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N/a</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March 30</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Requires update to go with the changes we’ve made </a:t>
                      </a:r>
                      <a:endParaRPr sz="700">
                        <a:latin typeface="Inter"/>
                        <a:ea typeface="Inter"/>
                        <a:cs typeface="Inter"/>
                        <a:sym typeface="Inter"/>
                      </a:endParaRPr>
                    </a:p>
                  </a:txBody>
                  <a:tcPr marT="91425" marB="91425" marR="91425" marL="91425"/>
                </a:tc>
              </a:tr>
              <a:tr h="421875">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8 total Credits</a:t>
                      </a:r>
                      <a:endParaRPr sz="700">
                        <a:solidFill>
                          <a:schemeClr val="dk1"/>
                        </a:solidFill>
                        <a:latin typeface="Inter"/>
                        <a:ea typeface="Inter"/>
                        <a:cs typeface="Inter"/>
                        <a:sym typeface="Inter"/>
                      </a:endParaRPr>
                    </a:p>
                  </a:txBody>
                  <a:tcPr marT="91425" marB="91425" marR="91425" marL="91425">
                    <a:lnL cap="flat" cmpd="sng" w="9525">
                      <a:solidFill>
                        <a:srgbClr val="BCC0C5"/>
                      </a:solidFill>
                      <a:prstDash val="solid"/>
                      <a:round/>
                      <a:headEnd len="sm" w="sm" type="none"/>
                      <a:tailEnd len="sm" w="sm" type="none"/>
                    </a:lnL>
                    <a:lnR cap="flat" cmpd="sng" w="9525">
                      <a:solidFill>
                        <a:srgbClr val="BCC0C5"/>
                      </a:solidFill>
                      <a:prstDash val="solid"/>
                      <a:round/>
                      <a:headEnd len="sm" w="sm" type="none"/>
                      <a:tailEnd len="sm" w="sm" type="none"/>
                    </a:lnR>
                    <a:lnB cap="flat" cmpd="sng" w="9525">
                      <a:solidFill>
                        <a:srgbClr val="BCC0C5"/>
                      </a:solidFill>
                      <a:prstDash val="solid"/>
                      <a:round/>
                      <a:headEnd len="sm" w="sm" type="none"/>
                      <a:tailEnd len="sm" w="sm" type="none"/>
                    </a:lnB>
                    <a:solidFill>
                      <a:srgbClr val="B8B7B6"/>
                    </a:solidFill>
                  </a:tcPr>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*credit types are allocated by the Webserv team on level of work required </a:t>
                      </a:r>
                      <a:endParaRPr sz="700">
                        <a:solidFill>
                          <a:schemeClr val="dk1"/>
                        </a:solidFill>
                        <a:latin typeface="Inter"/>
                        <a:ea typeface="Inter"/>
                        <a:cs typeface="Inter"/>
                        <a:sym typeface="Inter"/>
                      </a:endParaRPr>
                    </a:p>
                  </a:txBody>
                  <a:tcPr marT="91425" marB="91425" marR="91425" marL="91425">
                    <a:lnL cap="flat" cmpd="sng" w="9525">
                      <a:solidFill>
                        <a:srgbClr val="BCC0C5"/>
                      </a:solidFill>
                      <a:prstDash val="solid"/>
                      <a:round/>
                      <a:headEnd len="sm" w="sm" type="none"/>
                      <a:tailEnd len="sm" w="sm" type="none"/>
                    </a:lnL>
                    <a:lnR cap="flat" cmpd="sng" w="9525">
                      <a:solidFill>
                        <a:srgbClr val="BCC0C5"/>
                      </a:solidFill>
                      <a:prstDash val="solid"/>
                      <a:round/>
                      <a:headEnd len="sm" w="sm" type="none"/>
                      <a:tailEnd len="sm" w="sm" type="none"/>
                    </a:lnR>
                    <a:lnB cap="flat" cmpd="sng" w="9525">
                      <a:solidFill>
                        <a:srgbClr val="BCC0C5"/>
                      </a:solidFill>
                      <a:prstDash val="solid"/>
                      <a:round/>
                      <a:headEnd len="sm" w="sm" type="none"/>
                      <a:tailEnd len="sm" w="sm" type="none"/>
                    </a:lnB>
                    <a:solidFill>
                      <a:srgbClr val="B8B7B6"/>
                    </a:solidFill>
                  </a:tcPr>
                </a:tc>
                <a:tc>
                  <a:txBody>
                    <a:bodyPr/>
                    <a:lstStyle/>
                    <a:p>
                      <a:pPr indent="0" lvl="0" marL="0" rtl="0" algn="l">
                        <a:spcBef>
                          <a:spcPts val="0"/>
                        </a:spcBef>
                        <a:spcAft>
                          <a:spcPts val="0"/>
                        </a:spcAft>
                        <a:buNone/>
                      </a:pPr>
                      <a:r>
                        <a:t/>
                      </a:r>
                      <a:endParaRPr sz="700">
                        <a:solidFill>
                          <a:schemeClr val="dk1"/>
                        </a:solidFill>
                        <a:latin typeface="Inter"/>
                        <a:ea typeface="Inter"/>
                        <a:cs typeface="Inter"/>
                        <a:sym typeface="Inter"/>
                      </a:endParaRPr>
                    </a:p>
                  </a:txBody>
                  <a:tcPr marT="91425" marB="91425" marR="91425" marL="91425">
                    <a:lnL cap="flat" cmpd="sng" w="9525">
                      <a:solidFill>
                        <a:srgbClr val="BCC0C5"/>
                      </a:solidFill>
                      <a:prstDash val="solid"/>
                      <a:round/>
                      <a:headEnd len="sm" w="sm" type="none"/>
                      <a:tailEnd len="sm" w="sm" type="none"/>
                    </a:lnL>
                    <a:lnR cap="flat" cmpd="sng" w="9525">
                      <a:solidFill>
                        <a:srgbClr val="BCC0C5"/>
                      </a:solidFill>
                      <a:prstDash val="solid"/>
                      <a:round/>
                      <a:headEnd len="sm" w="sm" type="none"/>
                      <a:tailEnd len="sm" w="sm" type="none"/>
                    </a:lnR>
                    <a:lnB cap="flat" cmpd="sng" w="9525">
                      <a:solidFill>
                        <a:srgbClr val="BCC0C5"/>
                      </a:solidFill>
                      <a:prstDash val="solid"/>
                      <a:round/>
                      <a:headEnd len="sm" w="sm" type="none"/>
                      <a:tailEnd len="sm" w="sm" type="none"/>
                    </a:lnB>
                    <a:solidFill>
                      <a:srgbClr val="B8B7B6"/>
                    </a:solidFill>
                  </a:tcPr>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URL changes are required for better information architecture </a:t>
                      </a:r>
                      <a:endParaRPr sz="700">
                        <a:solidFill>
                          <a:schemeClr val="dk1"/>
                        </a:solidFill>
                        <a:latin typeface="Inter"/>
                        <a:ea typeface="Inter"/>
                        <a:cs typeface="Inter"/>
                        <a:sym typeface="Inter"/>
                      </a:endParaRPr>
                    </a:p>
                  </a:txBody>
                  <a:tcPr marT="91425" marB="91425" marR="91425" marL="91425">
                    <a:lnL cap="flat" cmpd="sng" w="9525">
                      <a:solidFill>
                        <a:srgbClr val="BCC0C5"/>
                      </a:solidFill>
                      <a:prstDash val="solid"/>
                      <a:round/>
                      <a:headEnd len="sm" w="sm" type="none"/>
                      <a:tailEnd len="sm" w="sm" type="none"/>
                    </a:lnL>
                    <a:lnR cap="flat" cmpd="sng" w="9525">
                      <a:solidFill>
                        <a:srgbClr val="BCC0C5"/>
                      </a:solidFill>
                      <a:prstDash val="solid"/>
                      <a:round/>
                      <a:headEnd len="sm" w="sm" type="none"/>
                      <a:tailEnd len="sm" w="sm" type="none"/>
                    </a:lnR>
                    <a:lnB cap="flat" cmpd="sng" w="9525">
                      <a:solidFill>
                        <a:srgbClr val="BCC0C5"/>
                      </a:solidFill>
                      <a:prstDash val="solid"/>
                      <a:round/>
                      <a:headEnd len="sm" w="sm" type="none"/>
                      <a:tailEnd len="sm" w="sm" type="none"/>
                    </a:lnB>
                    <a:solidFill>
                      <a:srgbClr val="B8B7B6"/>
                    </a:solidFill>
                  </a:tcPr>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Due dates subject to change due to internal Webserv production workflows</a:t>
                      </a:r>
                      <a:endParaRPr sz="700">
                        <a:solidFill>
                          <a:schemeClr val="dk1"/>
                        </a:solidFill>
                        <a:latin typeface="Inter"/>
                        <a:ea typeface="Inter"/>
                        <a:cs typeface="Inter"/>
                        <a:sym typeface="Inter"/>
                      </a:endParaRPr>
                    </a:p>
                  </a:txBody>
                  <a:tcPr marT="91425" marB="91425" marR="91425" marL="91425">
                    <a:lnL cap="flat" cmpd="sng" w="9525">
                      <a:solidFill>
                        <a:srgbClr val="BCC0C5"/>
                      </a:solidFill>
                      <a:prstDash val="solid"/>
                      <a:round/>
                      <a:headEnd len="sm" w="sm" type="none"/>
                      <a:tailEnd len="sm" w="sm" type="none"/>
                    </a:lnL>
                    <a:lnR cap="flat" cmpd="sng" w="9525">
                      <a:solidFill>
                        <a:srgbClr val="BCC0C5"/>
                      </a:solidFill>
                      <a:prstDash val="solid"/>
                      <a:round/>
                      <a:headEnd len="sm" w="sm" type="none"/>
                      <a:tailEnd len="sm" w="sm" type="none"/>
                    </a:lnR>
                    <a:lnB cap="flat" cmpd="sng" w="9525">
                      <a:solidFill>
                        <a:srgbClr val="BCC0C5"/>
                      </a:solidFill>
                      <a:prstDash val="solid"/>
                      <a:round/>
                      <a:headEnd len="sm" w="sm" type="none"/>
                      <a:tailEnd len="sm" w="sm" type="none"/>
                    </a:lnB>
                    <a:solidFill>
                      <a:srgbClr val="B8B7B6"/>
                    </a:solidFill>
                  </a:tcPr>
                </a:tc>
                <a:tc>
                  <a:txBody>
                    <a:bodyPr/>
                    <a:lstStyle/>
                    <a:p>
                      <a:pPr indent="0" lvl="0" marL="0" rtl="0" algn="l">
                        <a:spcBef>
                          <a:spcPts val="0"/>
                        </a:spcBef>
                        <a:spcAft>
                          <a:spcPts val="0"/>
                        </a:spcAft>
                        <a:buNone/>
                      </a:pPr>
                      <a:r>
                        <a:t/>
                      </a:r>
                      <a:endParaRPr sz="700">
                        <a:solidFill>
                          <a:schemeClr val="dk1"/>
                        </a:solidFill>
                        <a:latin typeface="Inter"/>
                        <a:ea typeface="Inter"/>
                        <a:cs typeface="Inter"/>
                        <a:sym typeface="Inter"/>
                      </a:endParaRPr>
                    </a:p>
                  </a:txBody>
                  <a:tcPr marT="91425" marB="91425" marR="91425" marL="91425">
                    <a:lnL cap="flat" cmpd="sng" w="9525">
                      <a:solidFill>
                        <a:srgbClr val="BCC0C5"/>
                      </a:solidFill>
                      <a:prstDash val="solid"/>
                      <a:round/>
                      <a:headEnd len="sm" w="sm" type="none"/>
                      <a:tailEnd len="sm" w="sm" type="none"/>
                    </a:lnL>
                    <a:lnR cap="flat" cmpd="sng" w="9525">
                      <a:solidFill>
                        <a:srgbClr val="BCC0C5"/>
                      </a:solidFill>
                      <a:prstDash val="solid"/>
                      <a:round/>
                      <a:headEnd len="sm" w="sm" type="none"/>
                      <a:tailEnd len="sm" w="sm" type="none"/>
                    </a:lnR>
                    <a:lnB cap="flat" cmpd="sng" w="9525">
                      <a:solidFill>
                        <a:srgbClr val="BCC0C5"/>
                      </a:solidFill>
                      <a:prstDash val="solid"/>
                      <a:round/>
                      <a:headEnd len="sm" w="sm" type="none"/>
                      <a:tailEnd len="sm" w="sm" type="none"/>
                    </a:lnB>
                    <a:solidFill>
                      <a:srgbClr val="B8B7B6"/>
                    </a:solidFill>
                  </a:tcPr>
                </a:tc>
              </a:tr>
            </a:tbl>
          </a:graphicData>
        </a:graphic>
      </p:graphicFrame>
      <p:sp>
        <p:nvSpPr>
          <p:cNvPr id="267" name="Google Shape;267;p37"/>
          <p:cNvSpPr/>
          <p:nvPr/>
        </p:nvSpPr>
        <p:spPr>
          <a:xfrm>
            <a:off x="71363" y="-118987"/>
            <a:ext cx="3639300" cy="705000"/>
          </a:xfrm>
          <a:prstGeom prst="rect">
            <a:avLst/>
          </a:prstGeom>
          <a:noFill/>
          <a:ln>
            <a:noFill/>
          </a:ln>
        </p:spPr>
        <p:txBody>
          <a:bodyPr anchorCtr="0" anchor="ctr" bIns="39100" lIns="78225" spcFirstLastPara="1" rIns="78225" wrap="square" tIns="39100">
            <a:noAutofit/>
          </a:bodyPr>
          <a:lstStyle/>
          <a:p>
            <a:pPr indent="0" lvl="0" marL="0" marR="0" rtl="0" algn="l">
              <a:lnSpc>
                <a:spcPct val="75000"/>
              </a:lnSpc>
              <a:spcBef>
                <a:spcPts val="0"/>
              </a:spcBef>
              <a:spcAft>
                <a:spcPts val="0"/>
              </a:spcAft>
              <a:buClr>
                <a:srgbClr val="FFFFFF"/>
              </a:buClr>
              <a:buSzPts val="4491"/>
              <a:buFont typeface="Inter"/>
              <a:buNone/>
            </a:pPr>
            <a:r>
              <a:rPr b="1" lang="en" sz="3022">
                <a:solidFill>
                  <a:srgbClr val="080808"/>
                </a:solidFill>
                <a:latin typeface="Archivo"/>
                <a:ea typeface="Archivo"/>
                <a:cs typeface="Archivo"/>
                <a:sym typeface="Archivo"/>
              </a:rPr>
              <a:t>March</a:t>
            </a:r>
            <a:endParaRPr b="1" i="0" sz="3022" u="none" cap="none" strike="noStrike">
              <a:solidFill>
                <a:srgbClr val="080808"/>
              </a:solidFill>
              <a:latin typeface="Archivo"/>
              <a:ea typeface="Archivo"/>
              <a:cs typeface="Archivo"/>
              <a:sym typeface="Archiv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8"/>
          <p:cNvSpPr/>
          <p:nvPr/>
        </p:nvSpPr>
        <p:spPr>
          <a:xfrm>
            <a:off x="435875" y="1945385"/>
            <a:ext cx="4195200" cy="1218600"/>
          </a:xfrm>
          <a:prstGeom prst="rect">
            <a:avLst/>
          </a:prstGeom>
          <a:noFill/>
          <a:ln>
            <a:noFill/>
          </a:ln>
        </p:spPr>
        <p:txBody>
          <a:bodyPr anchorCtr="0" anchor="ctr" bIns="39100" lIns="78225" spcFirstLastPara="1" rIns="78225" wrap="square" tIns="39100">
            <a:noAutofit/>
          </a:bodyPr>
          <a:lstStyle/>
          <a:p>
            <a:pPr indent="0" lvl="0" marL="0" marR="0" rtl="0" algn="l">
              <a:lnSpc>
                <a:spcPct val="85000"/>
              </a:lnSpc>
              <a:spcBef>
                <a:spcPts val="0"/>
              </a:spcBef>
              <a:spcAft>
                <a:spcPts val="0"/>
              </a:spcAft>
              <a:buClr>
                <a:srgbClr val="FFFFFF"/>
              </a:buClr>
              <a:buSzPts val="4491"/>
              <a:buFont typeface="Inter"/>
              <a:buNone/>
            </a:pPr>
            <a:r>
              <a:rPr b="1" lang="en" sz="2822">
                <a:solidFill>
                  <a:srgbClr val="080808"/>
                </a:solidFill>
                <a:latin typeface="Archivo"/>
                <a:ea typeface="Archivo"/>
                <a:cs typeface="Archivo"/>
                <a:sym typeface="Archivo"/>
              </a:rPr>
              <a:t>Q2 QBR  </a:t>
            </a:r>
            <a:endParaRPr b="1" sz="2822">
              <a:solidFill>
                <a:srgbClr val="080808"/>
              </a:solidFill>
              <a:latin typeface="Archivo"/>
              <a:ea typeface="Archivo"/>
              <a:cs typeface="Archivo"/>
              <a:sym typeface="Archivo"/>
            </a:endParaRPr>
          </a:p>
        </p:txBody>
      </p:sp>
      <p:sp>
        <p:nvSpPr>
          <p:cNvPr id="273" name="Google Shape;273;p38"/>
          <p:cNvSpPr txBox="1"/>
          <p:nvPr/>
        </p:nvSpPr>
        <p:spPr>
          <a:xfrm>
            <a:off x="4875550" y="1069050"/>
            <a:ext cx="11130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 sz="1200">
                <a:solidFill>
                  <a:srgbClr val="080808"/>
                </a:solidFill>
                <a:latin typeface="Archivo Medium"/>
                <a:ea typeface="Archivo Medium"/>
                <a:cs typeface="Archivo Medium"/>
                <a:sym typeface="Archivo Medium"/>
              </a:rPr>
              <a:t>What we do</a:t>
            </a:r>
            <a:endParaRPr sz="1200">
              <a:solidFill>
                <a:srgbClr val="080808"/>
              </a:solidFill>
              <a:latin typeface="Archivo Medium"/>
              <a:ea typeface="Archivo Medium"/>
              <a:cs typeface="Archivo Medium"/>
              <a:sym typeface="Archivo Medium"/>
            </a:endParaRPr>
          </a:p>
        </p:txBody>
      </p:sp>
      <p:cxnSp>
        <p:nvCxnSpPr>
          <p:cNvPr id="274" name="Google Shape;274;p38"/>
          <p:cNvCxnSpPr/>
          <p:nvPr/>
        </p:nvCxnSpPr>
        <p:spPr>
          <a:xfrm flipH="1">
            <a:off x="5988425" y="1159788"/>
            <a:ext cx="2184000" cy="3300"/>
          </a:xfrm>
          <a:prstGeom prst="straightConnector1">
            <a:avLst/>
          </a:prstGeom>
          <a:noFill/>
          <a:ln cap="flat" cmpd="sng" w="19050">
            <a:solidFill>
              <a:srgbClr val="FF2F0A"/>
            </a:solidFill>
            <a:prstDash val="solid"/>
            <a:round/>
            <a:headEnd len="med" w="med" type="none"/>
            <a:tailEnd len="med" w="med" type="none"/>
          </a:ln>
        </p:spPr>
      </p:cxnSp>
      <p:sp>
        <p:nvSpPr>
          <p:cNvPr id="275" name="Google Shape;275;p38"/>
          <p:cNvSpPr txBox="1"/>
          <p:nvPr/>
        </p:nvSpPr>
        <p:spPr>
          <a:xfrm>
            <a:off x="5073500" y="1383350"/>
            <a:ext cx="3938100" cy="3463200"/>
          </a:xfrm>
          <a:prstGeom prst="rect">
            <a:avLst/>
          </a:prstGeom>
          <a:noFill/>
          <a:ln>
            <a:noFill/>
          </a:ln>
        </p:spPr>
        <p:txBody>
          <a:bodyPr anchorCtr="0" anchor="t" bIns="91425" lIns="0" spcFirstLastPara="1" rIns="91425" wrap="square" tIns="0">
            <a:noAutofit/>
          </a:bodyPr>
          <a:lstStyle/>
          <a:p>
            <a:pPr indent="-298450" lvl="0" marL="457200" rtl="0" algn="l">
              <a:lnSpc>
                <a:spcPct val="115000"/>
              </a:lnSpc>
              <a:spcBef>
                <a:spcPts val="1200"/>
              </a:spcBef>
              <a:spcAft>
                <a:spcPts val="0"/>
              </a:spcAft>
              <a:buClr>
                <a:srgbClr val="FF2F0A"/>
              </a:buClr>
              <a:buSzPts val="1100"/>
              <a:buChar char="●"/>
            </a:pPr>
            <a:r>
              <a:rPr b="1" lang="en" sz="1100">
                <a:solidFill>
                  <a:schemeClr val="dk1"/>
                </a:solidFill>
                <a:latin typeface="Archivo"/>
                <a:ea typeface="Archivo"/>
                <a:cs typeface="Archivo"/>
                <a:sym typeface="Archivo"/>
              </a:rPr>
              <a:t>Performance &amp; signals</a:t>
            </a:r>
            <a:br>
              <a:rPr b="1" lang="en" sz="1100">
                <a:solidFill>
                  <a:schemeClr val="dk1"/>
                </a:solidFill>
                <a:latin typeface="Archivo"/>
                <a:ea typeface="Archivo"/>
                <a:cs typeface="Archivo"/>
                <a:sym typeface="Archivo"/>
              </a:rPr>
            </a:br>
            <a:r>
              <a:rPr lang="en" sz="1100">
                <a:solidFill>
                  <a:schemeClr val="dk1"/>
                </a:solidFill>
                <a:latin typeface="Archivo"/>
                <a:ea typeface="Archivo"/>
                <a:cs typeface="Archivo"/>
                <a:sym typeface="Archivo"/>
              </a:rPr>
              <a:t>Organic visibility and traffic trends, high-level call and lead signals, and early indicators of conversion health following structural changes.</a:t>
            </a:r>
            <a:endParaRPr sz="1100">
              <a:solidFill>
                <a:schemeClr val="dk1"/>
              </a:solidFill>
              <a:latin typeface="Archivo"/>
              <a:ea typeface="Archivo"/>
              <a:cs typeface="Archivo"/>
              <a:sym typeface="Archivo"/>
            </a:endParaRPr>
          </a:p>
          <a:p>
            <a:pPr indent="-298450" lvl="0" marL="457200" rtl="0" algn="l">
              <a:lnSpc>
                <a:spcPct val="115000"/>
              </a:lnSpc>
              <a:spcBef>
                <a:spcPts val="1000"/>
              </a:spcBef>
              <a:spcAft>
                <a:spcPts val="0"/>
              </a:spcAft>
              <a:buClr>
                <a:srgbClr val="FF2F0A"/>
              </a:buClr>
              <a:buSzPts val="1100"/>
              <a:buChar char="●"/>
            </a:pPr>
            <a:r>
              <a:rPr b="1" lang="en" sz="1100">
                <a:solidFill>
                  <a:schemeClr val="dk1"/>
                </a:solidFill>
                <a:latin typeface="Archivo"/>
                <a:ea typeface="Archivo"/>
                <a:cs typeface="Archivo"/>
                <a:sym typeface="Archivo"/>
              </a:rPr>
              <a:t>Foundation readiness</a:t>
            </a:r>
            <a:br>
              <a:rPr b="1" lang="en" sz="1100">
                <a:solidFill>
                  <a:schemeClr val="dk1"/>
                </a:solidFill>
                <a:latin typeface="Archivo"/>
                <a:ea typeface="Archivo"/>
                <a:cs typeface="Archivo"/>
                <a:sym typeface="Archivo"/>
              </a:rPr>
            </a:br>
            <a:r>
              <a:rPr lang="en" sz="1100">
                <a:solidFill>
                  <a:schemeClr val="dk1"/>
                </a:solidFill>
                <a:latin typeface="Archivo"/>
                <a:ea typeface="Archivo"/>
                <a:cs typeface="Archivo"/>
                <a:sym typeface="Archivo"/>
              </a:rPr>
              <a:t>Confirmation that core service pages, site structure, and conversion pathways are stable and ready to scale.</a:t>
            </a:r>
            <a:endParaRPr sz="1100">
              <a:solidFill>
                <a:schemeClr val="dk1"/>
              </a:solidFill>
              <a:latin typeface="Archivo"/>
              <a:ea typeface="Archivo"/>
              <a:cs typeface="Archivo"/>
              <a:sym typeface="Archivo"/>
            </a:endParaRPr>
          </a:p>
          <a:p>
            <a:pPr indent="-298450" lvl="0" marL="457200" rtl="0" algn="l">
              <a:lnSpc>
                <a:spcPct val="115000"/>
              </a:lnSpc>
              <a:spcBef>
                <a:spcPts val="1200"/>
              </a:spcBef>
              <a:spcAft>
                <a:spcPts val="0"/>
              </a:spcAft>
              <a:buClr>
                <a:srgbClr val="FF2F0A"/>
              </a:buClr>
              <a:buSzPts val="1100"/>
              <a:buChar char="●"/>
            </a:pPr>
            <a:r>
              <a:rPr b="1" lang="en" sz="1100">
                <a:solidFill>
                  <a:schemeClr val="dk1"/>
                </a:solidFill>
                <a:latin typeface="Archivo"/>
                <a:ea typeface="Archivo"/>
                <a:cs typeface="Archivo"/>
                <a:sym typeface="Archivo"/>
              </a:rPr>
              <a:t>What’s working vs. what’s next</a:t>
            </a:r>
            <a:br>
              <a:rPr b="1" lang="en" sz="1100">
                <a:solidFill>
                  <a:schemeClr val="dk1"/>
                </a:solidFill>
                <a:latin typeface="Archivo"/>
                <a:ea typeface="Archivo"/>
                <a:cs typeface="Archivo"/>
                <a:sym typeface="Archivo"/>
              </a:rPr>
            </a:br>
            <a:r>
              <a:rPr lang="en" sz="1100">
                <a:solidFill>
                  <a:schemeClr val="dk1"/>
                </a:solidFill>
                <a:latin typeface="Archivo"/>
                <a:ea typeface="Archivo"/>
                <a:cs typeface="Archivo"/>
                <a:sym typeface="Archivo"/>
              </a:rPr>
              <a:t>Identify which page types, topics, and pathways are driving momentum—and where to focus next for maximum impact.</a:t>
            </a:r>
            <a:endParaRPr sz="1100">
              <a:solidFill>
                <a:schemeClr val="dk1"/>
              </a:solidFill>
              <a:latin typeface="Archivo"/>
              <a:ea typeface="Archivo"/>
              <a:cs typeface="Archivo"/>
              <a:sym typeface="Archivo"/>
            </a:endParaRPr>
          </a:p>
          <a:p>
            <a:pPr indent="-298450" lvl="0" marL="457200" rtl="0" algn="l">
              <a:lnSpc>
                <a:spcPct val="115000"/>
              </a:lnSpc>
              <a:spcBef>
                <a:spcPts val="1000"/>
              </a:spcBef>
              <a:spcAft>
                <a:spcPts val="0"/>
              </a:spcAft>
              <a:buClr>
                <a:srgbClr val="FF2F0A"/>
              </a:buClr>
              <a:buSzPts val="1100"/>
              <a:buChar char="●"/>
            </a:pPr>
            <a:r>
              <a:rPr b="1" lang="en" sz="1100">
                <a:solidFill>
                  <a:schemeClr val="dk1"/>
                </a:solidFill>
              </a:rPr>
              <a:t>Outcome</a:t>
            </a:r>
            <a:br>
              <a:rPr b="1" lang="en" sz="1100">
                <a:solidFill>
                  <a:schemeClr val="dk1"/>
                </a:solidFill>
              </a:rPr>
            </a:br>
            <a:r>
              <a:rPr lang="en" sz="1100">
                <a:solidFill>
                  <a:schemeClr val="dk1"/>
                </a:solidFill>
              </a:rPr>
              <a:t>A refined quarterly roadmap that shifts from stabilization and expansion into </a:t>
            </a:r>
            <a:r>
              <a:rPr b="1" lang="en" sz="1100">
                <a:solidFill>
                  <a:schemeClr val="dk1"/>
                </a:solidFill>
              </a:rPr>
              <a:t>sustained growth and demand capture</a:t>
            </a:r>
            <a:r>
              <a:rPr lang="en" sz="1100">
                <a:solidFill>
                  <a:schemeClr val="dk1"/>
                </a:solidFill>
              </a:rPr>
              <a:t>, aligned with business and admissions priorities.</a:t>
            </a:r>
            <a:endParaRPr sz="1100">
              <a:solidFill>
                <a:schemeClr val="dk1"/>
              </a:solidFill>
            </a:endParaRPr>
          </a:p>
          <a:p>
            <a:pPr indent="0" lvl="0" marL="457200" rtl="0" algn="l">
              <a:lnSpc>
                <a:spcPct val="115000"/>
              </a:lnSpc>
              <a:spcBef>
                <a:spcPts val="1200"/>
              </a:spcBef>
              <a:spcAft>
                <a:spcPts val="0"/>
              </a:spcAft>
              <a:buNone/>
            </a:pPr>
            <a:r>
              <a:t/>
            </a:r>
            <a:endParaRPr b="1" sz="1600">
              <a:solidFill>
                <a:schemeClr val="dk1"/>
              </a:solidFill>
              <a:latin typeface="Archivo"/>
              <a:ea typeface="Archivo"/>
              <a:cs typeface="Archivo"/>
              <a:sym typeface="Archivo"/>
            </a:endParaRPr>
          </a:p>
          <a:p>
            <a:pPr indent="0" lvl="0" marL="0" rtl="0" algn="l">
              <a:lnSpc>
                <a:spcPct val="115000"/>
              </a:lnSpc>
              <a:spcBef>
                <a:spcPts val="1200"/>
              </a:spcBef>
              <a:spcAft>
                <a:spcPts val="0"/>
              </a:spcAft>
              <a:buNone/>
            </a:pPr>
            <a:br>
              <a:rPr lang="en" sz="1100">
                <a:solidFill>
                  <a:schemeClr val="dk1"/>
                </a:solidFill>
                <a:latin typeface="Archivo"/>
                <a:ea typeface="Archivo"/>
                <a:cs typeface="Archivo"/>
                <a:sym typeface="Archivo"/>
              </a:rPr>
            </a:br>
            <a:br>
              <a:rPr lang="en" sz="1100">
                <a:solidFill>
                  <a:schemeClr val="dk1"/>
                </a:solidFill>
                <a:latin typeface="Archivo"/>
                <a:ea typeface="Archivo"/>
                <a:cs typeface="Archivo"/>
                <a:sym typeface="Archivo"/>
              </a:rPr>
            </a:br>
            <a:endParaRPr sz="1200">
              <a:solidFill>
                <a:srgbClr val="2B2B2A"/>
              </a:solidFill>
              <a:latin typeface="Archivo"/>
              <a:ea typeface="Archivo"/>
              <a:cs typeface="Archivo"/>
              <a:sym typeface="Archivo"/>
            </a:endParaRPr>
          </a:p>
          <a:p>
            <a:pPr indent="0" lvl="0" marL="0" rtl="0" algn="l">
              <a:lnSpc>
                <a:spcPct val="115000"/>
              </a:lnSpc>
              <a:spcBef>
                <a:spcPts val="1200"/>
              </a:spcBef>
              <a:spcAft>
                <a:spcPts val="1000"/>
              </a:spcAft>
              <a:buNone/>
            </a:pPr>
            <a:r>
              <a:t/>
            </a:r>
            <a:endParaRPr sz="1200">
              <a:solidFill>
                <a:srgbClr val="EAEAEA"/>
              </a:solidFill>
              <a:latin typeface="Archivo"/>
              <a:ea typeface="Archivo"/>
              <a:cs typeface="Archivo"/>
              <a:sym typeface="Archivo"/>
            </a:endParaRPr>
          </a:p>
        </p:txBody>
      </p:sp>
      <p:sp>
        <p:nvSpPr>
          <p:cNvPr id="276" name="Google Shape;276;p38"/>
          <p:cNvSpPr txBox="1"/>
          <p:nvPr/>
        </p:nvSpPr>
        <p:spPr>
          <a:xfrm>
            <a:off x="521675" y="2974544"/>
            <a:ext cx="4023600" cy="435000"/>
          </a:xfrm>
          <a:prstGeom prst="rect">
            <a:avLst/>
          </a:prstGeom>
          <a:noFill/>
          <a:ln>
            <a:noFill/>
          </a:ln>
        </p:spPr>
        <p:txBody>
          <a:bodyPr anchorCtr="0" anchor="t" bIns="91425" lIns="0" spcFirstLastPara="1" rIns="91425" wrap="square" tIns="0">
            <a:noAutofit/>
          </a:bodyPr>
          <a:lstStyle/>
          <a:p>
            <a:pPr indent="0" lvl="0" marL="0" rtl="0" algn="l">
              <a:lnSpc>
                <a:spcPct val="115000"/>
              </a:lnSpc>
              <a:spcBef>
                <a:spcPts val="0"/>
              </a:spcBef>
              <a:spcAft>
                <a:spcPts val="1000"/>
              </a:spcAft>
              <a:buNone/>
            </a:pPr>
            <a:r>
              <a:rPr i="1" lang="en" sz="1200">
                <a:solidFill>
                  <a:srgbClr val="2B2B2A"/>
                </a:solidFill>
                <a:latin typeface="Archivo"/>
                <a:ea typeface="Archivo"/>
                <a:cs typeface="Archivo"/>
                <a:sym typeface="Archivo"/>
              </a:rPr>
              <a:t>Evaluate the impact of foundational stabilization and early growth execution, then align on priorities for the next phase.</a:t>
            </a:r>
            <a:endParaRPr i="1" sz="1200">
              <a:solidFill>
                <a:srgbClr val="2B2B2A"/>
              </a:solidFill>
              <a:latin typeface="Archivo"/>
              <a:ea typeface="Archivo"/>
              <a:cs typeface="Archivo"/>
              <a:sym typeface="Archivo"/>
            </a:endParaRPr>
          </a:p>
        </p:txBody>
      </p:sp>
      <p:sp>
        <p:nvSpPr>
          <p:cNvPr id="277" name="Google Shape;277;p38"/>
          <p:cNvSpPr/>
          <p:nvPr/>
        </p:nvSpPr>
        <p:spPr>
          <a:xfrm>
            <a:off x="675900" y="417425"/>
            <a:ext cx="2363100" cy="12603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Triple check this to make sure its accurate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9"/>
          <p:cNvSpPr txBox="1"/>
          <p:nvPr>
            <p:ph type="title"/>
          </p:nvPr>
        </p:nvSpPr>
        <p:spPr>
          <a:xfrm>
            <a:off x="171950" y="272275"/>
            <a:ext cx="4901700" cy="6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Next Steps</a:t>
            </a:r>
            <a:endParaRPr/>
          </a:p>
        </p:txBody>
      </p:sp>
      <p:sp>
        <p:nvSpPr>
          <p:cNvPr id="283" name="Google Shape;283;p39"/>
          <p:cNvSpPr txBox="1"/>
          <p:nvPr>
            <p:ph idx="1" type="body"/>
          </p:nvPr>
        </p:nvSpPr>
        <p:spPr>
          <a:xfrm>
            <a:off x="535050" y="1074900"/>
            <a:ext cx="7055700" cy="265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Webserv:</a:t>
            </a:r>
            <a:endParaRPr/>
          </a:p>
          <a:p>
            <a:pPr indent="-317500" lvl="0" marL="457200" rtl="0" algn="l">
              <a:spcBef>
                <a:spcPts val="0"/>
              </a:spcBef>
              <a:spcAft>
                <a:spcPts val="0"/>
              </a:spcAft>
              <a:buSzPts val="1400"/>
              <a:buChar char="➔"/>
            </a:pPr>
            <a:r>
              <a:rPr lang="en"/>
              <a:t>Jay to book </a:t>
            </a:r>
            <a:r>
              <a:rPr lang="en"/>
              <a:t>Monthly</a:t>
            </a:r>
            <a:r>
              <a:rPr lang="en"/>
              <a:t> &amp; Bi weekly calls  </a:t>
            </a:r>
            <a:endParaRPr/>
          </a:p>
          <a:p>
            <a:pPr indent="-317500" lvl="0" marL="457200" rtl="0" algn="l">
              <a:spcBef>
                <a:spcPts val="0"/>
              </a:spcBef>
              <a:spcAft>
                <a:spcPts val="0"/>
              </a:spcAft>
              <a:buSzPts val="1400"/>
              <a:buChar char="➔"/>
            </a:pPr>
            <a:r>
              <a:rPr lang="en"/>
              <a:t>Jay to start on site work after </a:t>
            </a:r>
            <a:r>
              <a:rPr lang="en"/>
              <a:t>alignment</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rPr lang="en"/>
              <a:t>Bliss Team: </a:t>
            </a:r>
            <a:endParaRPr/>
          </a:p>
          <a:p>
            <a:pPr indent="-317500" lvl="0" marL="457200" rtl="0" algn="l">
              <a:spcBef>
                <a:spcPts val="0"/>
              </a:spcBef>
              <a:spcAft>
                <a:spcPts val="0"/>
              </a:spcAft>
              <a:buSzPts val="1400"/>
              <a:buChar char="➔"/>
            </a:pPr>
            <a:r>
              <a:rPr lang="en"/>
              <a:t>XYZ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WebServ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