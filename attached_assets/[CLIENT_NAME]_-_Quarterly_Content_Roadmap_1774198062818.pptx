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Inter"/>
      <p:regular r:id="rId14"/>
      <p:bold r:id="rId15"/>
      <p:italic r:id="rId16"/>
      <p:boldItalic r:id="rId17"/>
    </p:embeddedFont>
    <p:embeddedFont>
      <p:font typeface="Archivo Medium"/>
      <p:regular r:id="rId18"/>
      <p:bold r:id="rId19"/>
      <p:italic r:id="rId20"/>
      <p:boldItalic r:id="rId21"/>
    </p:embeddedFont>
    <p:embeddedFont>
      <p:font typeface="Mulish Medium"/>
      <p:regular r:id="rId22"/>
      <p:bold r:id="rId23"/>
      <p:italic r:id="rId24"/>
      <p:boldItalic r:id="rId25"/>
    </p:embeddedFont>
    <p:embeddedFont>
      <p:font typeface="Inter Medium"/>
      <p:regular r:id="rId26"/>
      <p:bold r:id="rId27"/>
      <p:italic r:id="rId28"/>
      <p:boldItalic r:id="rId29"/>
    </p:embeddedFont>
    <p:embeddedFont>
      <p:font typeface="Archivo"/>
      <p:regular r:id="rId30"/>
      <p:bold r:id="rId31"/>
      <p:italic r:id="rId32"/>
      <p:boldItalic r:id="rId33"/>
    </p:embeddedFont>
    <p:embeddedFont>
      <p:font typeface="Archivo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B04CDF-3623-44DF-B574-6A83584BD0CE}">
  <a:tblStyle styleId="{D7B04CDF-3623-44DF-B574-6A83584BD0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chivoMedium-italic.fntdata"/><Relationship Id="rId22" Type="http://schemas.openxmlformats.org/officeDocument/2006/relationships/font" Target="fonts/MulishMedium-regular.fntdata"/><Relationship Id="rId21" Type="http://schemas.openxmlformats.org/officeDocument/2006/relationships/font" Target="fonts/ArchivoMedium-boldItalic.fntdata"/><Relationship Id="rId24" Type="http://schemas.openxmlformats.org/officeDocument/2006/relationships/font" Target="fonts/MulishMedium-italic.fntdata"/><Relationship Id="rId23" Type="http://schemas.openxmlformats.org/officeDocument/2006/relationships/font" Target="fonts/Mulish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regular.fntdata"/><Relationship Id="rId25" Type="http://schemas.openxmlformats.org/officeDocument/2006/relationships/font" Target="fonts/MulishMedium-boldItalic.fntdata"/><Relationship Id="rId28" Type="http://schemas.openxmlformats.org/officeDocument/2006/relationships/font" Target="fonts/InterMedium-italic.fntdata"/><Relationship Id="rId27" Type="http://schemas.openxmlformats.org/officeDocument/2006/relationships/font" Target="fonts/Inter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chivo-bold.fntdata"/><Relationship Id="rId30" Type="http://schemas.openxmlformats.org/officeDocument/2006/relationships/font" Target="fonts/Archivo-regular.fntdata"/><Relationship Id="rId11" Type="http://schemas.openxmlformats.org/officeDocument/2006/relationships/slide" Target="slides/slide5.xml"/><Relationship Id="rId33" Type="http://schemas.openxmlformats.org/officeDocument/2006/relationships/font" Target="fonts/Archivo-boldItalic.fntdata"/><Relationship Id="rId10" Type="http://schemas.openxmlformats.org/officeDocument/2006/relationships/slide" Target="slides/slide4.xml"/><Relationship Id="rId32" Type="http://schemas.openxmlformats.org/officeDocument/2006/relationships/font" Target="fonts/Archivo-italic.fntdata"/><Relationship Id="rId13" Type="http://schemas.openxmlformats.org/officeDocument/2006/relationships/slide" Target="slides/slide7.xml"/><Relationship Id="rId35" Type="http://schemas.openxmlformats.org/officeDocument/2006/relationships/font" Target="fonts/ArchivoSemiBold-bold.fntdata"/><Relationship Id="rId12" Type="http://schemas.openxmlformats.org/officeDocument/2006/relationships/slide" Target="slides/slide6.xml"/><Relationship Id="rId34" Type="http://schemas.openxmlformats.org/officeDocument/2006/relationships/font" Target="fonts/ArchivoSemiBold-regular.fntdata"/><Relationship Id="rId15" Type="http://schemas.openxmlformats.org/officeDocument/2006/relationships/font" Target="fonts/Inter-bold.fntdata"/><Relationship Id="rId37" Type="http://schemas.openxmlformats.org/officeDocument/2006/relationships/font" Target="fonts/ArchivoSemiBold-boldItalic.fntdata"/><Relationship Id="rId14" Type="http://schemas.openxmlformats.org/officeDocument/2006/relationships/font" Target="fonts/Inter-regular.fntdata"/><Relationship Id="rId36" Type="http://schemas.openxmlformats.org/officeDocument/2006/relationships/font" Target="fonts/ArchivoSemiBold-italic.fntdata"/><Relationship Id="rId17" Type="http://schemas.openxmlformats.org/officeDocument/2006/relationships/font" Target="fonts/Inter-boldItalic.fntdata"/><Relationship Id="rId16" Type="http://schemas.openxmlformats.org/officeDocument/2006/relationships/font" Target="fonts/Inter-italic.fntdata"/><Relationship Id="rId19" Type="http://schemas.openxmlformats.org/officeDocument/2006/relationships/font" Target="fonts/ArchivoMedium-bold.fntdata"/><Relationship Id="rId18" Type="http://schemas.openxmlformats.org/officeDocument/2006/relationships/font" Target="fonts/Archivo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cfe015d89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g3cfe015d890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fe015d8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cfe015d89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fe015d89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fe015d89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fe015d89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cfe015d89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fe015d89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fe015d89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fe015d89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cfe015d890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e015d89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fe015d89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chemeClr val="lt1"/>
        </a:solidFill>
      </p:bgPr>
    </p:bg>
    <p:spTree>
      <p:nvGrpSpPr>
        <p:cNvPr id="51" name="Shape 51"/>
        <p:cNvGrpSpPr/>
        <p:nvPr/>
      </p:nvGrpSpPr>
      <p:grpSpPr>
        <a:xfrm>
          <a:off x="0" y="0"/>
          <a:ext cx="0" cy="0"/>
          <a:chOff x="0" y="0"/>
          <a:chExt cx="0" cy="0"/>
        </a:xfrm>
      </p:grpSpPr>
      <p:sp>
        <p:nvSpPr>
          <p:cNvPr id="52" name="Google Shape;52;p14"/>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53" name="Google Shape;53;p14"/>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cxnSp>
        <p:nvCxnSpPr>
          <p:cNvPr id="54" name="Google Shape;54;p14"/>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pic>
        <p:nvPicPr>
          <p:cNvPr id="55" name="Google Shape;55;p14"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
        <p:nvSpPr>
          <p:cNvPr id="56" name="Google Shape;56;p14"/>
          <p:cNvSpPr txBox="1"/>
          <p:nvPr>
            <p:ph type="title"/>
          </p:nvPr>
        </p:nvSpPr>
        <p:spPr>
          <a:xfrm>
            <a:off x="171950" y="272275"/>
            <a:ext cx="4901700" cy="6402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txBox="1"/>
          <p:nvPr>
            <p:ph idx="1" type="body"/>
          </p:nvPr>
        </p:nvSpPr>
        <p:spPr>
          <a:xfrm>
            <a:off x="535050" y="1074900"/>
            <a:ext cx="4672200" cy="2656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FF2F0A"/>
              </a:buClr>
              <a:buSzPts val="18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5"/>
          <p:cNvSpPr/>
          <p:nvPr/>
        </p:nvSpPr>
        <p:spPr>
          <a:xfrm>
            <a:off x="481030" y="2831914"/>
            <a:ext cx="5105400" cy="370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00">
                <a:solidFill>
                  <a:srgbClr val="141413"/>
                </a:solidFill>
                <a:latin typeface="Archivo Medium"/>
                <a:ea typeface="Archivo Medium"/>
                <a:cs typeface="Archivo Medium"/>
                <a:sym typeface="Archivo Medium"/>
              </a:rPr>
              <a:t>Building durable organic performance with purpose. </a:t>
            </a:r>
            <a:endParaRPr i="0" sz="1200" u="none" cap="none" strike="noStrike">
              <a:solidFill>
                <a:srgbClr val="141413"/>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i="0" lang="en" sz="1200" u="none" cap="none" strike="noStrike">
                <a:solidFill>
                  <a:srgbClr val="141413"/>
                </a:solidFill>
                <a:latin typeface="Archivo Medium"/>
                <a:ea typeface="Archivo Medium"/>
                <a:cs typeface="Archivo Medium"/>
                <a:sym typeface="Archivo Medium"/>
              </a:rPr>
              <a:t>Date:</a:t>
            </a:r>
            <a:r>
              <a:rPr lang="en" sz="1200">
                <a:solidFill>
                  <a:srgbClr val="141413"/>
                </a:solidFill>
                <a:latin typeface="Archivo Medium"/>
                <a:ea typeface="Archivo Medium"/>
                <a:cs typeface="Archivo Medium"/>
                <a:sym typeface="Archivo Medium"/>
              </a:rPr>
              <a:t> [DATE] </a:t>
            </a:r>
            <a:endParaRPr sz="1200">
              <a:solidFill>
                <a:srgbClr val="141413"/>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lang="en" sz="1200">
                <a:solidFill>
                  <a:srgbClr val="141413"/>
                </a:solidFill>
                <a:latin typeface="Archivo Medium"/>
                <a:ea typeface="Archivo Medium"/>
                <a:cs typeface="Archivo Medium"/>
                <a:sym typeface="Archivo Medium"/>
              </a:rPr>
              <a:t>Prepared by: [AM Name] </a:t>
            </a:r>
            <a:endParaRPr i="0" sz="1200" u="none" cap="none" strike="noStrike">
              <a:solidFill>
                <a:srgbClr val="141413"/>
              </a:solidFill>
              <a:latin typeface="Archivo Medium"/>
              <a:ea typeface="Archivo Medium"/>
              <a:cs typeface="Archivo Medium"/>
              <a:sym typeface="Archivo Medium"/>
            </a:endParaRPr>
          </a:p>
        </p:txBody>
      </p:sp>
      <p:sp>
        <p:nvSpPr>
          <p:cNvPr id="63" name="Google Shape;63;p15"/>
          <p:cNvSpPr/>
          <p:nvPr/>
        </p:nvSpPr>
        <p:spPr>
          <a:xfrm>
            <a:off x="483969" y="1941076"/>
            <a:ext cx="7410600" cy="1620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50">
                <a:solidFill>
                  <a:srgbClr val="141413"/>
                </a:solidFill>
                <a:latin typeface="Archivo Medium"/>
                <a:ea typeface="Archivo Medium"/>
                <a:cs typeface="Archivo Medium"/>
                <a:sym typeface="Archivo Medium"/>
              </a:rPr>
              <a:t>Q2 2026 Content Plan</a:t>
            </a:r>
            <a:endParaRPr i="0" sz="1250" u="none" cap="none" strike="noStrike">
              <a:solidFill>
                <a:srgbClr val="141413"/>
              </a:solidFill>
              <a:latin typeface="Archivo Medium"/>
              <a:ea typeface="Archivo Medium"/>
              <a:cs typeface="Archivo Medium"/>
              <a:sym typeface="Archivo Medium"/>
            </a:endParaRPr>
          </a:p>
        </p:txBody>
      </p:sp>
      <p:sp>
        <p:nvSpPr>
          <p:cNvPr id="64" name="Google Shape;64;p15"/>
          <p:cNvSpPr/>
          <p:nvPr/>
        </p:nvSpPr>
        <p:spPr>
          <a:xfrm>
            <a:off x="459450" y="2061099"/>
            <a:ext cx="8225100" cy="773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5250"/>
              <a:buFont typeface="Inter"/>
              <a:buNone/>
            </a:pPr>
            <a:r>
              <a:rPr lang="en" sz="3150">
                <a:solidFill>
                  <a:schemeClr val="dk1"/>
                </a:solidFill>
                <a:latin typeface="Archivo SemiBold"/>
                <a:ea typeface="Archivo SemiBold"/>
                <a:cs typeface="Archivo SemiBold"/>
                <a:sym typeface="Archivo SemiBold"/>
              </a:rPr>
              <a:t>[CLIENT]</a:t>
            </a:r>
            <a:endParaRPr i="0" sz="3150" u="none" cap="none" strike="noStrike">
              <a:solidFill>
                <a:schemeClr val="dk1"/>
              </a:solidFill>
              <a:latin typeface="Archivo SemiBold"/>
              <a:ea typeface="Archivo SemiBold"/>
              <a:cs typeface="Archivo SemiBold"/>
              <a:sym typeface="Archivo SemiBold"/>
            </a:endParaRPr>
          </a:p>
        </p:txBody>
      </p:sp>
      <p:pic>
        <p:nvPicPr>
          <p:cNvPr id="65" name="Google Shape;65;p15" title="W Full blk txt.png"/>
          <p:cNvPicPr preferRelativeResize="0"/>
          <p:nvPr/>
        </p:nvPicPr>
        <p:blipFill>
          <a:blip r:embed="rId3">
            <a:alphaModFix/>
          </a:blip>
          <a:stretch>
            <a:fillRect/>
          </a:stretch>
        </p:blipFill>
        <p:spPr>
          <a:xfrm>
            <a:off x="568275" y="447625"/>
            <a:ext cx="1026251" cy="24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69" name="Shape 69"/>
        <p:cNvGrpSpPr/>
        <p:nvPr/>
      </p:nvGrpSpPr>
      <p:grpSpPr>
        <a:xfrm>
          <a:off x="0" y="0"/>
          <a:ext cx="0" cy="0"/>
          <a:chOff x="0" y="0"/>
          <a:chExt cx="0" cy="0"/>
        </a:xfrm>
      </p:grpSpPr>
      <p:pic>
        <p:nvPicPr>
          <p:cNvPr id="70" name="Google Shape;70;p16"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71" name="Google Shape;71;p16"/>
          <p:cNvSpPr/>
          <p:nvPr/>
        </p:nvSpPr>
        <p:spPr>
          <a:xfrm>
            <a:off x="581725" y="1957667"/>
            <a:ext cx="3639300" cy="17742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February is concentrated on stabilizing the site’s core service architecture and strengthening conversion pathways. Work this month includes restructuring and redirecting legacy URLs, launching and optimizing priority Levels of Care and “What We Treat” pages, refining conversion-critical pages, and updating the Google Business Profile to support local visibility.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foundational work ensures search engines clearly understand core offerings, users encounter less friction, and future SEO efforts can scale without being undermined by structural or legacy issues.</a:t>
            </a:r>
            <a:endParaRPr sz="914">
              <a:solidFill>
                <a:srgbClr val="2B2B2A"/>
              </a:solidFill>
              <a:latin typeface="Archivo"/>
              <a:ea typeface="Archivo"/>
              <a:cs typeface="Archivo"/>
              <a:sym typeface="Archivo"/>
            </a:endParaRPr>
          </a:p>
        </p:txBody>
      </p:sp>
      <p:sp>
        <p:nvSpPr>
          <p:cNvPr id="72" name="Google Shape;72;p16"/>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April</a:t>
            </a:r>
            <a:endParaRPr b="1" i="0" sz="3022" u="none" cap="none" strike="noStrike">
              <a:solidFill>
                <a:srgbClr val="080808"/>
              </a:solidFill>
              <a:latin typeface="Archivo"/>
              <a:ea typeface="Archivo"/>
              <a:cs typeface="Archivo"/>
              <a:sym typeface="Archivo"/>
            </a:endParaRPr>
          </a:p>
        </p:txBody>
      </p:sp>
      <p:sp>
        <p:nvSpPr>
          <p:cNvPr id="73" name="Google Shape;73;p16"/>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74" name="Google Shape;74;p16"/>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75" name="Google Shape;75;p16"/>
          <p:cNvSpPr/>
          <p:nvPr/>
        </p:nvSpPr>
        <p:spPr>
          <a:xfrm>
            <a:off x="5720025" y="1047325"/>
            <a:ext cx="2618400" cy="20544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slide should say why you’ve chosen the </a:t>
            </a:r>
            <a:r>
              <a:rPr lang="en"/>
              <a:t>content in April and how it supports the goals of the site. Do not mention tier structures, Do mention supporting admits, strengthening architecture etc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aphicFrame>
        <p:nvGraphicFramePr>
          <p:cNvPr id="80" name="Google Shape;80;p17"/>
          <p:cNvGraphicFramePr/>
          <p:nvPr/>
        </p:nvGraphicFramePr>
        <p:xfrm>
          <a:off x="207475" y="510525"/>
          <a:ext cx="3000000" cy="3000000"/>
        </p:xfrm>
        <a:graphic>
          <a:graphicData uri="http://schemas.openxmlformats.org/drawingml/2006/table">
            <a:tbl>
              <a:tblPr>
                <a:noFill/>
                <a:tableStyleId>{D7B04CDF-3623-44DF-B574-6A83584BD0CE}</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0.5</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Optimization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https://ojairecovery.com/programs/</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Stabilizing core service pages </a:t>
                      </a:r>
                      <a:endParaRPr sz="700">
                        <a:latin typeface="Inter"/>
                        <a:ea typeface="Inter"/>
                        <a:cs typeface="Inter"/>
                        <a:sym typeface="Inter"/>
                      </a:endParaRPr>
                    </a:p>
                  </a:txBody>
                  <a:tcPr marT="91425" marB="91425" marR="91425" marL="91425"/>
                </a:tc>
              </a:tr>
              <a:tr h="298300">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0.5</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Optimization</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https://ojairecovery.com/addictions-treated/</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10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429125">
                <a:tc>
                  <a:txBody>
                    <a:bodyPr/>
                    <a:lstStyle/>
                    <a:p>
                      <a:pPr indent="0" lvl="0" marL="0" rtl="0" algn="l">
                        <a:spcBef>
                          <a:spcPts val="0"/>
                        </a:spcBef>
                        <a:spcAft>
                          <a:spcPts val="0"/>
                        </a:spcAft>
                        <a:buNone/>
                      </a:pPr>
                      <a:r>
                        <a:rPr lang="en" sz="700">
                          <a:latin typeface="Inter"/>
                          <a:ea typeface="Inter"/>
                          <a:cs typeface="Inter"/>
                          <a:sym typeface="Inter"/>
                        </a:rPr>
                        <a:t>0 (we do one CRO update per month)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CRO Update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https://ojairecovery.com/verify-insurance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12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be optimized for conversion</a:t>
                      </a:r>
                      <a:endParaRPr sz="700">
                        <a:latin typeface="Inter"/>
                        <a:ea typeface="Inter"/>
                        <a:cs typeface="Inter"/>
                        <a:sym typeface="Inter"/>
                      </a:endParaRPr>
                    </a:p>
                  </a:txBody>
                  <a:tcPr marT="91425" marB="91425" marR="91425" marL="91425"/>
                </a:tc>
              </a:tr>
              <a:tr h="30557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New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https://ojairecovery.com/levels-of-care/intensive-outpatient-program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Feb 17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586350">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Scale</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https://ojairecovery.com/ventura-county-residential-treatment/</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https://ojairecovery.com/levels-of-care/ventura-county-residential-treatment</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19</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100000">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New</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https://ojairecovery.com/levels-of-care/outpatient-program</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20</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8457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Service </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New</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https://ojairecovery.com/levels-of-care/partial-hospitalization-prorgram</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24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480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https://ojairecovery.com/co-occurring-disorders/</a:t>
                      </a:r>
                      <a:endParaRPr sz="700">
                        <a:solidFill>
                          <a:schemeClr val="dk1"/>
                        </a:solidFill>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https://ojairecovery.com/levels-of-care/dual-diagnosis</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Feb 26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lnT cap="flat" cmpd="sng" w="9525">
                      <a:solidFill>
                        <a:srgbClr val="9E9E9E"/>
                      </a:solidFill>
                      <a:prstDash val="solid"/>
                      <a:round/>
                      <a:headEnd len="sm" w="sm" type="none"/>
                      <a:tailEnd len="sm" w="sm" type="none"/>
                    </a:lnT>
                    <a:lnB cap="flat" cmpd="sng" w="9525">
                      <a:solidFill>
                        <a:srgbClr val="BCC0C5"/>
                      </a:solidFill>
                      <a:prstDash val="solid"/>
                      <a:round/>
                      <a:headEnd len="sm" w="sm" type="none"/>
                      <a:tailEnd len="sm" w="sm" type="none"/>
                    </a:lnB>
                  </a:tcPr>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9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T cap="flat" cmpd="sng" w="9525">
                      <a:solidFill>
                        <a:srgbClr val="BCC0C5"/>
                      </a:solidFill>
                      <a:prstDash val="solid"/>
                      <a:round/>
                      <a:headEnd len="sm" w="sm" type="none"/>
                      <a:tailEnd len="sm" w="sm" type="none"/>
                    </a:lnT>
                    <a:lnB cap="flat" cmpd="sng" w="9525">
                      <a:solidFill>
                        <a:srgbClr val="BCC0C5"/>
                      </a:solidFill>
                      <a:prstDash val="solid"/>
                      <a:round/>
                      <a:headEnd len="sm" w="sm" type="none"/>
                      <a:tailEnd len="sm" w="sm" type="none"/>
                    </a:lnB>
                    <a:solidFill>
                      <a:srgbClr val="B8B7B6"/>
                    </a:solidFill>
                  </a:tcPr>
                </a:tc>
              </a:tr>
            </a:tbl>
          </a:graphicData>
        </a:graphic>
      </p:graphicFrame>
      <p:sp>
        <p:nvSpPr>
          <p:cNvPr id="81" name="Google Shape;81;p17"/>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April </a:t>
            </a:r>
            <a:endParaRPr b="1" i="0" sz="3022" u="none" cap="none" strike="noStrike">
              <a:solidFill>
                <a:srgbClr val="080808"/>
              </a:solidFill>
              <a:latin typeface="Archivo"/>
              <a:ea typeface="Archivo"/>
              <a:cs typeface="Archivo"/>
              <a:sym typeface="Archivo"/>
            </a:endParaRPr>
          </a:p>
        </p:txBody>
      </p:sp>
      <p:sp>
        <p:nvSpPr>
          <p:cNvPr id="82" name="Google Shape;82;p17"/>
          <p:cNvSpPr txBox="1"/>
          <p:nvPr/>
        </p:nvSpPr>
        <p:spPr>
          <a:xfrm>
            <a:off x="1868313" y="171825"/>
            <a:ext cx="6982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2F0A"/>
                </a:solidFill>
                <a:latin typeface="Inter"/>
                <a:ea typeface="Inter"/>
                <a:cs typeface="Inter"/>
                <a:sym typeface="Inter"/>
              </a:rPr>
              <a:t>ADDITIONAL NOTE HERE IF YOU’RE DOING BONUS THINGS</a:t>
            </a:r>
            <a:endParaRPr sz="1000">
              <a:solidFill>
                <a:srgbClr val="FF2F0A"/>
              </a:solidFill>
              <a:latin typeface="Inter"/>
              <a:ea typeface="Inter"/>
              <a:cs typeface="Inter"/>
              <a:sym typeface="Inter"/>
            </a:endParaRPr>
          </a:p>
        </p:txBody>
      </p:sp>
      <p:sp>
        <p:nvSpPr>
          <p:cNvPr id="83" name="Google Shape;83;p17"/>
          <p:cNvSpPr/>
          <p:nvPr/>
        </p:nvSpPr>
        <p:spPr>
          <a:xfrm>
            <a:off x="7009525" y="3938475"/>
            <a:ext cx="1672200" cy="13869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This slide should be customized to show the breakdown for each item you’re planning to do  for the month. </a:t>
            </a:r>
            <a:endParaRPr sz="800"/>
          </a:p>
          <a:p>
            <a:pPr indent="0" lvl="0" marL="0" rtl="0" algn="ctr">
              <a:spcBef>
                <a:spcPts val="0"/>
              </a:spcBef>
              <a:spcAft>
                <a:spcPts val="0"/>
              </a:spcAft>
              <a:buNone/>
            </a:pPr>
            <a:r>
              <a:t/>
            </a:r>
            <a:endParaRPr sz="800"/>
          </a:p>
          <a:p>
            <a:pPr indent="0" lvl="0" marL="0" rtl="0" algn="ctr">
              <a:spcBef>
                <a:spcPts val="0"/>
              </a:spcBef>
              <a:spcAft>
                <a:spcPts val="0"/>
              </a:spcAft>
              <a:buNone/>
            </a:pPr>
            <a:r>
              <a:rPr lang="en" sz="800"/>
              <a:t>If the client has a lot of credits just made another </a:t>
            </a:r>
            <a:r>
              <a:rPr lang="en" sz="800"/>
              <a:t>slide</a:t>
            </a:r>
            <a:r>
              <a:rPr lang="en" sz="800"/>
              <a:t>, don’t make it super tiny </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87" name="Shape 87"/>
        <p:cNvGrpSpPr/>
        <p:nvPr/>
      </p:nvGrpSpPr>
      <p:grpSpPr>
        <a:xfrm>
          <a:off x="0" y="0"/>
          <a:ext cx="0" cy="0"/>
          <a:chOff x="0" y="0"/>
          <a:chExt cx="0" cy="0"/>
        </a:xfrm>
      </p:grpSpPr>
      <p:pic>
        <p:nvPicPr>
          <p:cNvPr id="88" name="Google Shape;88;p18"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89" name="Google Shape;89;p18"/>
          <p:cNvSpPr/>
          <p:nvPr/>
        </p:nvSpPr>
        <p:spPr>
          <a:xfrm>
            <a:off x="581725" y="1957638"/>
            <a:ext cx="3639300" cy="7503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March builds on February’s foundational stabilization by expanding coverage of high-intent treatment topics and capturing demand across both service and informational search. Work this month includes launching and scaling core “What We Treat” and Levels of Care pages, publishing high-traffic educational content designed to support lead capture, and aligning site-wide conversion elements with the structural changes already in place.</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phase shifts the strategy from cleanup and stabilization to intent-driven growth, ensuring the site can capture users earlier in their decision process while reinforcing core service authority.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p:txBody>
      </p:sp>
      <p:sp>
        <p:nvSpPr>
          <p:cNvPr id="90" name="Google Shape;90;p18"/>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May</a:t>
            </a:r>
            <a:endParaRPr b="1" i="0" sz="3022" u="none" cap="none" strike="noStrike">
              <a:solidFill>
                <a:srgbClr val="080808"/>
              </a:solidFill>
              <a:latin typeface="Archivo"/>
              <a:ea typeface="Archivo"/>
              <a:cs typeface="Archivo"/>
              <a:sym typeface="Archivo"/>
            </a:endParaRPr>
          </a:p>
        </p:txBody>
      </p:sp>
      <p:sp>
        <p:nvSpPr>
          <p:cNvPr id="91" name="Google Shape;91;p18"/>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92" name="Google Shape;92;p18"/>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93" name="Google Shape;93;p18"/>
          <p:cNvSpPr/>
          <p:nvPr/>
        </p:nvSpPr>
        <p:spPr>
          <a:xfrm>
            <a:off x="5720025" y="1047325"/>
            <a:ext cx="2618400" cy="20544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slide should say why you’ve chosen the content in May and how it supports the goals of the site. Do not mention tier structures, Do mention supporting admits, strengthening architecture etc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aphicFrame>
        <p:nvGraphicFramePr>
          <p:cNvPr id="98" name="Google Shape;98;p19"/>
          <p:cNvGraphicFramePr/>
          <p:nvPr/>
        </p:nvGraphicFramePr>
        <p:xfrm>
          <a:off x="207475" y="510525"/>
          <a:ext cx="3000000" cy="3000000"/>
        </p:xfrm>
        <a:graphic>
          <a:graphicData uri="http://schemas.openxmlformats.org/drawingml/2006/table">
            <a:tbl>
              <a:tblPr>
                <a:noFill/>
                <a:tableStyleId>{D7B04CDF-3623-44DF-B574-6A83584BD0CE}</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https://ojairecovery.com/blog/end-stage-alcoholism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High-traffic blog - key symptom recognition = lead capture</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11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https://ojairecovery.com/blog/how-long-does-detox-take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High-traffic blog - solution aware = lead capture</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https://ojairecovery.com/levels-of-care/detox-services/alcohol-detox</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18</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https://ojairecovery.com/what-we-treat/depression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25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CRO Update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go with the changes we’ve made </a:t>
                      </a:r>
                      <a:endParaRPr sz="700">
                        <a:latin typeface="Inter"/>
                        <a:ea typeface="Inter"/>
                        <a:cs typeface="Inter"/>
                        <a:sym typeface="Inter"/>
                      </a:endParaRPr>
                    </a:p>
                  </a:txBody>
                  <a:tcPr marT="91425" marB="91425" marR="91425" marL="91425"/>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8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r>
            </a:tbl>
          </a:graphicData>
        </a:graphic>
      </p:graphicFrame>
      <p:sp>
        <p:nvSpPr>
          <p:cNvPr id="99" name="Google Shape;99;p19"/>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May</a:t>
            </a:r>
            <a:endParaRPr b="1" i="0" sz="3022" u="none" cap="none" strike="noStrike">
              <a:solidFill>
                <a:srgbClr val="080808"/>
              </a:solidFill>
              <a:latin typeface="Archivo"/>
              <a:ea typeface="Archivo"/>
              <a:cs typeface="Archivo"/>
              <a:sym typeface="Archivo"/>
            </a:endParaRPr>
          </a:p>
        </p:txBody>
      </p:sp>
      <p:sp>
        <p:nvSpPr>
          <p:cNvPr id="100" name="Google Shape;100;p19"/>
          <p:cNvSpPr/>
          <p:nvPr/>
        </p:nvSpPr>
        <p:spPr>
          <a:xfrm>
            <a:off x="2274100" y="3876475"/>
            <a:ext cx="1487700" cy="13230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This slide should be customized to show the breakdown for each item you’re planning to do  for the month. </a:t>
            </a:r>
            <a:endParaRPr sz="800"/>
          </a:p>
          <a:p>
            <a:pPr indent="0" lvl="0" marL="0" rtl="0" algn="ctr">
              <a:spcBef>
                <a:spcPts val="0"/>
              </a:spcBef>
              <a:spcAft>
                <a:spcPts val="0"/>
              </a:spcAft>
              <a:buNone/>
            </a:pPr>
            <a:r>
              <a:t/>
            </a:r>
            <a:endParaRPr sz="800"/>
          </a:p>
          <a:p>
            <a:pPr indent="0" lvl="0" marL="0" rtl="0" algn="ctr">
              <a:spcBef>
                <a:spcPts val="0"/>
              </a:spcBef>
              <a:spcAft>
                <a:spcPts val="0"/>
              </a:spcAft>
              <a:buNone/>
            </a:pPr>
            <a:r>
              <a:rPr lang="en" sz="800"/>
              <a:t>If the client has a lot of credits just made another slide, don’t make it super tiny </a:t>
            </a:r>
            <a:endParaRPr sz="800"/>
          </a:p>
        </p:txBody>
      </p:sp>
      <p:sp>
        <p:nvSpPr>
          <p:cNvPr id="101" name="Google Shape;101;p19"/>
          <p:cNvSpPr txBox="1"/>
          <p:nvPr/>
        </p:nvSpPr>
        <p:spPr>
          <a:xfrm>
            <a:off x="1868313" y="171825"/>
            <a:ext cx="6982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2F0A"/>
                </a:solidFill>
                <a:latin typeface="Inter"/>
                <a:ea typeface="Inter"/>
                <a:cs typeface="Inter"/>
                <a:sym typeface="Inter"/>
              </a:rPr>
              <a:t>ADDITIONAL NOTE HERE IF YOU’RE DOING BONUS THINGS</a:t>
            </a:r>
            <a:endParaRPr sz="1000">
              <a:solidFill>
                <a:srgbClr val="FF2F0A"/>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EAEA"/>
        </a:solidFill>
      </p:bgPr>
    </p:bg>
    <p:spTree>
      <p:nvGrpSpPr>
        <p:cNvPr id="105" name="Shape 105"/>
        <p:cNvGrpSpPr/>
        <p:nvPr/>
      </p:nvGrpSpPr>
      <p:grpSpPr>
        <a:xfrm>
          <a:off x="0" y="0"/>
          <a:ext cx="0" cy="0"/>
          <a:chOff x="0" y="0"/>
          <a:chExt cx="0" cy="0"/>
        </a:xfrm>
      </p:grpSpPr>
      <p:pic>
        <p:nvPicPr>
          <p:cNvPr id="106" name="Google Shape;106;p20" title="W Full blk txt.png"/>
          <p:cNvPicPr preferRelativeResize="0"/>
          <p:nvPr/>
        </p:nvPicPr>
        <p:blipFill>
          <a:blip r:embed="rId3">
            <a:alphaModFix/>
          </a:blip>
          <a:stretch>
            <a:fillRect/>
          </a:stretch>
        </p:blipFill>
        <p:spPr>
          <a:xfrm>
            <a:off x="363550" y="4571275"/>
            <a:ext cx="1026251" cy="246300"/>
          </a:xfrm>
          <a:prstGeom prst="rect">
            <a:avLst/>
          </a:prstGeom>
          <a:noFill/>
          <a:ln>
            <a:noFill/>
          </a:ln>
        </p:spPr>
      </p:pic>
      <p:sp>
        <p:nvSpPr>
          <p:cNvPr id="107" name="Google Shape;107;p20"/>
          <p:cNvSpPr/>
          <p:nvPr/>
        </p:nvSpPr>
        <p:spPr>
          <a:xfrm>
            <a:off x="581725" y="1957638"/>
            <a:ext cx="3639300" cy="750300"/>
          </a:xfrm>
          <a:prstGeom prst="rect">
            <a:avLst/>
          </a:prstGeom>
          <a:noFill/>
          <a:ln>
            <a:noFill/>
          </a:ln>
        </p:spPr>
        <p:txBody>
          <a:bodyPr anchorCtr="0" anchor="t" bIns="38025" lIns="76025" spcFirstLastPara="1" rIns="76025" wrap="square" tIns="38025">
            <a:noAutofit/>
          </a:bodyPr>
          <a:lstStyle/>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March builds on February’s foundational stabilization by expanding coverage of high-intent treatment topics and capturing demand across both service and informational search. Work this month includes launching and scaling core “What We Treat” and Levels of Care pages, publishing high-traffic educational content designed to support lead capture, and aligning site-wide conversion elements with the structural changes already in place.</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rPr lang="en" sz="914">
                <a:solidFill>
                  <a:srgbClr val="2B2B2A"/>
                </a:solidFill>
                <a:latin typeface="Archivo"/>
                <a:ea typeface="Archivo"/>
                <a:cs typeface="Archivo"/>
                <a:sym typeface="Archivo"/>
              </a:rPr>
              <a:t>This phase shifts the strategy from cleanup and stabilization to intent-driven growth, ensuring the site can capture users earlier in their decision process while reinforcing core service authority.</a:t>
            </a:r>
            <a:endParaRPr sz="914">
              <a:solidFill>
                <a:srgbClr val="2B2B2A"/>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873"/>
              <a:buFont typeface="Inter"/>
              <a:buNone/>
            </a:pPr>
            <a:r>
              <a:t/>
            </a:r>
            <a:endParaRPr sz="914">
              <a:solidFill>
                <a:srgbClr val="2B2B2A"/>
              </a:solidFill>
              <a:latin typeface="Archivo"/>
              <a:ea typeface="Archivo"/>
              <a:cs typeface="Archivo"/>
              <a:sym typeface="Archivo"/>
            </a:endParaRPr>
          </a:p>
        </p:txBody>
      </p:sp>
      <p:sp>
        <p:nvSpPr>
          <p:cNvPr id="108" name="Google Shape;108;p20"/>
          <p:cNvSpPr/>
          <p:nvPr/>
        </p:nvSpPr>
        <p:spPr>
          <a:xfrm>
            <a:off x="529875" y="1307363"/>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June</a:t>
            </a:r>
            <a:endParaRPr b="1" i="0" sz="3022" u="none" cap="none" strike="noStrike">
              <a:solidFill>
                <a:srgbClr val="080808"/>
              </a:solidFill>
              <a:latin typeface="Archivo"/>
              <a:ea typeface="Archivo"/>
              <a:cs typeface="Archivo"/>
              <a:sym typeface="Archivo"/>
            </a:endParaRPr>
          </a:p>
        </p:txBody>
      </p:sp>
      <p:sp>
        <p:nvSpPr>
          <p:cNvPr id="109" name="Google Shape;109;p20"/>
          <p:cNvSpPr/>
          <p:nvPr/>
        </p:nvSpPr>
        <p:spPr>
          <a:xfrm>
            <a:off x="447087" y="1489054"/>
            <a:ext cx="82800" cy="83100"/>
          </a:xfrm>
          <a:prstGeom prst="ellipse">
            <a:avLst/>
          </a:prstGeom>
          <a:solidFill>
            <a:srgbClr val="FF2F0A"/>
          </a:solidFill>
          <a:ln>
            <a:noFill/>
          </a:ln>
        </p:spPr>
        <p:txBody>
          <a:bodyPr anchorCtr="0" anchor="ctr" bIns="74500" lIns="74500" spcFirstLastPara="1" rIns="74500" wrap="square" tIns="74500">
            <a:noAutofit/>
          </a:bodyPr>
          <a:lstStyle/>
          <a:p>
            <a:pPr indent="0" lvl="0" marL="0" rtl="0" algn="ctr">
              <a:spcBef>
                <a:spcPts val="0"/>
              </a:spcBef>
              <a:spcAft>
                <a:spcPts val="0"/>
              </a:spcAft>
              <a:buNone/>
            </a:pPr>
            <a:r>
              <a:t/>
            </a:r>
            <a:endParaRPr sz="1141"/>
          </a:p>
        </p:txBody>
      </p:sp>
      <p:sp>
        <p:nvSpPr>
          <p:cNvPr id="110" name="Google Shape;110;p20"/>
          <p:cNvSpPr/>
          <p:nvPr/>
        </p:nvSpPr>
        <p:spPr>
          <a:xfrm>
            <a:off x="664582" y="1259650"/>
            <a:ext cx="13719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rgbClr val="080808"/>
                </a:solidFill>
                <a:latin typeface="Archivo Medium"/>
                <a:ea typeface="Archivo Medium"/>
                <a:cs typeface="Archivo Medium"/>
                <a:sym typeface="Archivo Medium"/>
              </a:rPr>
              <a:t>SEO Strategy</a:t>
            </a:r>
            <a:endParaRPr i="1" sz="983">
              <a:solidFill>
                <a:srgbClr val="080808"/>
              </a:solidFill>
              <a:latin typeface="Archivo Medium"/>
              <a:ea typeface="Archivo Medium"/>
              <a:cs typeface="Archivo Medium"/>
              <a:sym typeface="Archivo Medium"/>
            </a:endParaRPr>
          </a:p>
        </p:txBody>
      </p:sp>
      <p:sp>
        <p:nvSpPr>
          <p:cNvPr id="111" name="Google Shape;111;p20"/>
          <p:cNvSpPr/>
          <p:nvPr/>
        </p:nvSpPr>
        <p:spPr>
          <a:xfrm>
            <a:off x="5720025" y="1047325"/>
            <a:ext cx="2618400" cy="20544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slide should say why you’ve chosen the content in June and how it supports the goals of the site. Do not mention tier structures, Do mention supporting admits, strengthening architecture etc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graphicFrame>
        <p:nvGraphicFramePr>
          <p:cNvPr id="116" name="Google Shape;116;p21"/>
          <p:cNvGraphicFramePr/>
          <p:nvPr/>
        </p:nvGraphicFramePr>
        <p:xfrm>
          <a:off x="207475" y="510525"/>
          <a:ext cx="3000000" cy="3000000"/>
        </p:xfrm>
        <a:graphic>
          <a:graphicData uri="http://schemas.openxmlformats.org/drawingml/2006/table">
            <a:tbl>
              <a:tblPr>
                <a:noFill/>
                <a:tableStyleId>{D7B04CDF-3623-44DF-B574-6A83584BD0CE}</a:tableStyleId>
              </a:tblPr>
              <a:tblGrid>
                <a:gridCol w="948350"/>
                <a:gridCol w="1118275"/>
                <a:gridCol w="1588850"/>
                <a:gridCol w="1994025"/>
                <a:gridCol w="1092550"/>
                <a:gridCol w="1732200"/>
              </a:tblGrid>
              <a:tr h="412025">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Cost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Credit Type</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New URL</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Date published </a:t>
                      </a:r>
                      <a:endParaRPr b="1" sz="900">
                        <a:solidFill>
                          <a:schemeClr val="lt1"/>
                        </a:solidFill>
                        <a:latin typeface="Inter"/>
                        <a:ea typeface="Inter"/>
                        <a:cs typeface="Inter"/>
                        <a:sym typeface="Inter"/>
                      </a:endParaRPr>
                    </a:p>
                  </a:txBody>
                  <a:tcPr marT="91425" marB="91425" marR="91425" marL="91425" anchor="ctr">
                    <a:solidFill>
                      <a:srgbClr val="0E0E0E"/>
                    </a:solidFill>
                  </a:tcPr>
                </a:tc>
                <a:tc>
                  <a:txBody>
                    <a:bodyPr/>
                    <a:lstStyle/>
                    <a:p>
                      <a:pPr indent="0" lvl="0" marL="0" rtl="0" algn="l">
                        <a:spcBef>
                          <a:spcPts val="0"/>
                        </a:spcBef>
                        <a:spcAft>
                          <a:spcPts val="0"/>
                        </a:spcAft>
                        <a:buNone/>
                      </a:pPr>
                      <a:r>
                        <a:rPr b="1" lang="en" sz="900">
                          <a:solidFill>
                            <a:schemeClr val="lt1"/>
                          </a:solidFill>
                          <a:latin typeface="Inter"/>
                          <a:ea typeface="Inter"/>
                          <a:cs typeface="Inter"/>
                          <a:sym typeface="Inter"/>
                        </a:rPr>
                        <a:t>Reasoning </a:t>
                      </a:r>
                      <a:endParaRPr b="1" sz="900">
                        <a:solidFill>
                          <a:schemeClr val="lt1"/>
                        </a:solidFill>
                        <a:latin typeface="Inter"/>
                        <a:ea typeface="Inter"/>
                        <a:cs typeface="Inter"/>
                        <a:sym typeface="Inter"/>
                      </a:endParaRPr>
                    </a:p>
                  </a:txBody>
                  <a:tcPr marT="91425" marB="91425" marR="91425" marL="91425" anchor="ctr">
                    <a:solidFill>
                      <a:srgbClr val="0E0E0E"/>
                    </a:solidFill>
                  </a:tcPr>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https://ojairecovery.com/blog/end-stage-alcoholism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High-traffic blog - key symptom recognition = lead capture</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https://ojairecovery.com/what-we-treat/alcohol-addiction-treatment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https://ojairecovery.com/what-we-treat/opioid-addiction-treatment</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11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1</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Scale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https://ojairecovery.com/blog/how-long-does-detox-take</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16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High-traffic blog - solution aware = lead capture</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https://ojairecovery.com/levels-of-care/detox-services/alcohol-detox</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18</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2</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Service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N/a</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https://ojairecovery.com/what-we-treat/depression</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25 </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Inter"/>
                          <a:ea typeface="Inter"/>
                          <a:cs typeface="Inter"/>
                          <a:sym typeface="Inter"/>
                        </a:rPr>
                        <a:t>Stabilizing core service pages </a:t>
                      </a:r>
                      <a:endParaRPr sz="700">
                        <a:solidFill>
                          <a:schemeClr val="dk1"/>
                        </a:solidFill>
                        <a:latin typeface="Inter"/>
                        <a:ea typeface="Inter"/>
                        <a:cs typeface="Inter"/>
                        <a:sym typeface="Inter"/>
                      </a:endParaRPr>
                    </a:p>
                    <a:p>
                      <a:pPr indent="0" lvl="0" marL="0" rtl="0" algn="l">
                        <a:spcBef>
                          <a:spcPts val="0"/>
                        </a:spcBef>
                        <a:spcAft>
                          <a:spcPts val="0"/>
                        </a:spcAft>
                        <a:buNone/>
                      </a:pPr>
                      <a:r>
                        <a:t/>
                      </a:r>
                      <a:endParaRPr sz="700">
                        <a:latin typeface="Inter"/>
                        <a:ea typeface="Inter"/>
                        <a:cs typeface="Inter"/>
                        <a:sym typeface="Inter"/>
                      </a:endParaRPr>
                    </a:p>
                  </a:txBody>
                  <a:tcPr marT="91425" marB="91425" marR="91425" marL="91425"/>
                </a:tc>
              </a:tr>
              <a:tr h="297225">
                <a:tc>
                  <a:txBody>
                    <a:bodyPr/>
                    <a:lstStyle/>
                    <a:p>
                      <a:pPr indent="0" lvl="0" marL="0" rtl="0" algn="l">
                        <a:spcBef>
                          <a:spcPts val="0"/>
                        </a:spcBef>
                        <a:spcAft>
                          <a:spcPts val="0"/>
                        </a:spcAft>
                        <a:buNone/>
                      </a:pPr>
                      <a:r>
                        <a:rPr lang="en" sz="700">
                          <a:latin typeface="Inter"/>
                          <a:ea typeface="Inter"/>
                          <a:cs typeface="Inter"/>
                          <a:sym typeface="Inter"/>
                        </a:rPr>
                        <a:t>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CRO Update</a:t>
                      </a:r>
                      <a:endParaRPr sz="700">
                        <a:solidFill>
                          <a:schemeClr val="dk1"/>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N/a</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https://ojairecovery.com/</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March 30</a:t>
                      </a:r>
                      <a:endParaRPr sz="7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Requires update to go with the changes we’ve made </a:t>
                      </a:r>
                      <a:endParaRPr sz="700">
                        <a:latin typeface="Inter"/>
                        <a:ea typeface="Inter"/>
                        <a:cs typeface="Inter"/>
                        <a:sym typeface="Inter"/>
                      </a:endParaRPr>
                    </a:p>
                  </a:txBody>
                  <a:tcPr marT="91425" marB="91425" marR="91425" marL="91425"/>
                </a:tc>
              </a:tr>
              <a:tr h="421875">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8 total Credits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*credit types are allocated by the Webserv team on level of work required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URL changes are required for better information architecture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rPr lang="en" sz="700">
                          <a:solidFill>
                            <a:schemeClr val="dk1"/>
                          </a:solidFill>
                          <a:latin typeface="Inter"/>
                          <a:ea typeface="Inter"/>
                          <a:cs typeface="Inter"/>
                          <a:sym typeface="Inter"/>
                        </a:rPr>
                        <a:t>Due dates subject to change due to internal Webserv production workflows</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c>
                  <a:txBody>
                    <a:bodyPr/>
                    <a:lstStyle/>
                    <a:p>
                      <a:pPr indent="0" lvl="0" marL="0" rtl="0" algn="l">
                        <a:spcBef>
                          <a:spcPts val="0"/>
                        </a:spcBef>
                        <a:spcAft>
                          <a:spcPts val="0"/>
                        </a:spcAft>
                        <a:buNone/>
                      </a:pPr>
                      <a:r>
                        <a:t/>
                      </a:r>
                      <a:endParaRPr sz="700">
                        <a:solidFill>
                          <a:schemeClr val="dk1"/>
                        </a:solidFill>
                        <a:latin typeface="Inter"/>
                        <a:ea typeface="Inter"/>
                        <a:cs typeface="Inter"/>
                        <a:sym typeface="Inter"/>
                      </a:endParaRPr>
                    </a:p>
                  </a:txBody>
                  <a:tcPr marT="91425" marB="91425" marR="91425" marL="91425">
                    <a:lnL cap="flat" cmpd="sng" w="9525">
                      <a:solidFill>
                        <a:srgbClr val="BCC0C5"/>
                      </a:solidFill>
                      <a:prstDash val="solid"/>
                      <a:round/>
                      <a:headEnd len="sm" w="sm" type="none"/>
                      <a:tailEnd len="sm" w="sm" type="none"/>
                    </a:lnL>
                    <a:lnR cap="flat" cmpd="sng" w="9525">
                      <a:solidFill>
                        <a:srgbClr val="BCC0C5"/>
                      </a:solidFill>
                      <a:prstDash val="solid"/>
                      <a:round/>
                      <a:headEnd len="sm" w="sm" type="none"/>
                      <a:tailEnd len="sm" w="sm" type="none"/>
                    </a:lnR>
                    <a:lnB cap="flat" cmpd="sng" w="9525">
                      <a:solidFill>
                        <a:srgbClr val="BCC0C5"/>
                      </a:solidFill>
                      <a:prstDash val="solid"/>
                      <a:round/>
                      <a:headEnd len="sm" w="sm" type="none"/>
                      <a:tailEnd len="sm" w="sm" type="none"/>
                    </a:lnB>
                    <a:solidFill>
                      <a:srgbClr val="B8B7B6"/>
                    </a:solidFill>
                  </a:tcPr>
                </a:tc>
              </a:tr>
            </a:tbl>
          </a:graphicData>
        </a:graphic>
      </p:graphicFrame>
      <p:sp>
        <p:nvSpPr>
          <p:cNvPr id="117" name="Google Shape;117;p21"/>
          <p:cNvSpPr/>
          <p:nvPr/>
        </p:nvSpPr>
        <p:spPr>
          <a:xfrm>
            <a:off x="71363" y="-118987"/>
            <a:ext cx="3639300" cy="705000"/>
          </a:xfrm>
          <a:prstGeom prst="rect">
            <a:avLst/>
          </a:prstGeom>
          <a:noFill/>
          <a:ln>
            <a:noFill/>
          </a:ln>
        </p:spPr>
        <p:txBody>
          <a:bodyPr anchorCtr="0" anchor="ctr" bIns="39100" lIns="78225" spcFirstLastPara="1" rIns="78225" wrap="square" tIns="39100">
            <a:noAutofit/>
          </a:bodyPr>
          <a:lstStyle/>
          <a:p>
            <a:pPr indent="0" lvl="0" marL="0" marR="0" rtl="0" algn="l">
              <a:lnSpc>
                <a:spcPct val="75000"/>
              </a:lnSpc>
              <a:spcBef>
                <a:spcPts val="0"/>
              </a:spcBef>
              <a:spcAft>
                <a:spcPts val="0"/>
              </a:spcAft>
              <a:buClr>
                <a:srgbClr val="FFFFFF"/>
              </a:buClr>
              <a:buSzPts val="4491"/>
              <a:buFont typeface="Inter"/>
              <a:buNone/>
            </a:pPr>
            <a:r>
              <a:rPr b="1" lang="en" sz="3022">
                <a:solidFill>
                  <a:srgbClr val="080808"/>
                </a:solidFill>
                <a:latin typeface="Archivo"/>
                <a:ea typeface="Archivo"/>
                <a:cs typeface="Archivo"/>
                <a:sym typeface="Archivo"/>
              </a:rPr>
              <a:t>June</a:t>
            </a:r>
            <a:endParaRPr b="1" i="0" sz="3022" u="none" cap="none" strike="noStrike">
              <a:solidFill>
                <a:srgbClr val="080808"/>
              </a:solidFill>
              <a:latin typeface="Archivo"/>
              <a:ea typeface="Archivo"/>
              <a:cs typeface="Archivo"/>
              <a:sym typeface="Archivo"/>
            </a:endParaRPr>
          </a:p>
        </p:txBody>
      </p:sp>
      <p:sp>
        <p:nvSpPr>
          <p:cNvPr id="118" name="Google Shape;118;p21"/>
          <p:cNvSpPr/>
          <p:nvPr/>
        </p:nvSpPr>
        <p:spPr>
          <a:xfrm>
            <a:off x="2316750" y="3907500"/>
            <a:ext cx="1546200" cy="12360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t>This slide should be customized to show the breakdown for each item you’re planning to do  for the month. </a:t>
            </a:r>
            <a:endParaRPr sz="7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If the client has a lot of credits just made another slide, don’t make it super tiny </a:t>
            </a:r>
            <a:endParaRPr sz="700"/>
          </a:p>
        </p:txBody>
      </p:sp>
      <p:sp>
        <p:nvSpPr>
          <p:cNvPr id="119" name="Google Shape;119;p21"/>
          <p:cNvSpPr txBox="1"/>
          <p:nvPr/>
        </p:nvSpPr>
        <p:spPr>
          <a:xfrm>
            <a:off x="1868313" y="171825"/>
            <a:ext cx="6982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2F0A"/>
                </a:solidFill>
                <a:latin typeface="Inter"/>
                <a:ea typeface="Inter"/>
                <a:cs typeface="Inter"/>
                <a:sym typeface="Inter"/>
              </a:rPr>
              <a:t>ADDITIONAL NOTE HERE IF YOU’RE DOING BONUS THINGS</a:t>
            </a:r>
            <a:endParaRPr sz="1000">
              <a:solidFill>
                <a:srgbClr val="FF2F0A"/>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